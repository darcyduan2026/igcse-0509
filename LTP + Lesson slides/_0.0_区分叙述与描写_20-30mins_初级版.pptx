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建议用时：约1分钟。直接用“快进 / 慢镜头”建立概念，不做长解释。全课学生均可坐在原位完成。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完整路径约27分钟。若只有20分钟：完成Slides 1–6，然后直接进入Slides 8–10，跳过删除测试。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答案：1叙，2描，3叙，4描。先让学生独立写，再快速同桌核对，不要立即解释。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强调功能判断。可问：如果只剩1和3，事情还能讲通吗？能；但画面明显变薄。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学生独立标注约3分钟，同桌核对约2分钟。不要要求整段抄写，最好让学生直接在教师打印的段落上划线；若无打印件，可只写句号顺序1–8并标“叙/描”。答案见下一页。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可快速追问：哪一句最像电影中的“特写镜头”？学生可能选第6或第8句。接受不同答案，但要求说明“它没有继续推进事情，而是在放大瞬间”。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答案：叙述骨架为“老师叫到了我的名字，我走上讲台。……我走到讲台中央，开始演讲。”中间两句为描写。若时间不足，本页可跳过。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独立写约4分钟；同桌交换读约2分钟。提醒：不能继续写“老师发卷”“铃响了”“我开始答题”等新事件，否则又变成叙述。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让学生用自己的句子做一次自检：我新增的是镜头，还是新事件？此页不要讲太久。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可收走作为形成性证据。快速判断：若学生写“然后我跑向车站/我碰到了朋友”，说明仍在叙述；下一节可针对性反馈。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叙述 VS 描写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快进，还是慢镜头？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2926080"/>
            <a:ext cx="658368" cy="493776"/>
          </a:xfrm>
          <a:prstGeom prst="chevron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2907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叙述 = 快进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3246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事情发生了什么？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时间和情节向前走。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2926080"/>
            <a:ext cx="658368" cy="493776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2907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描写 = 慢镜头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223760" y="3246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当时是什么样？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把一个瞬间放慢、放大。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IGCSE 0509 中文第一语言｜写作微技能活动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今天只练一件事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看得出 → 说得清 → 写得出来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402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 分钟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3970">
            <a:solidFill>
              <a:srgbClr val="D8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学习目标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443484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我能区分一段文字中哪些语言在“推进事情”，哪些语言在“放大画面”。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3703320"/>
            <a:ext cx="44348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最后，我能把一句简单的叙述扩写成有画面的描写。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今天的判断口诀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629400" y="23957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DE68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删掉这句话以后……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62940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事情还会继续发生吗？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29400" y="3794760"/>
            <a:ext cx="44805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会 → 很可能是描写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不会 / 情节断了 → 很可能是叙述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580644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完整版本约 27 分钟｜20 分钟版本可跳过“删除测试”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30 秒判断｜叙，还是描？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在本子上写：1叙 / 2描……不要解释，先凭直觉。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402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 分钟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764792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3794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783080"/>
            <a:ext cx="3840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放学铃响后，我背起书包，匆匆走出了教室。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764792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3794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783080"/>
            <a:ext cx="3840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走廊里挤满了学生，笑声、脚步声和桌椅碰撞声混在一起。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370332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959352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3250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3977640"/>
            <a:ext cx="3840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我下了楼，穿过操场，向校门走去。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959352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03250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3977640"/>
            <a:ext cx="38404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厚厚的乌云压在教学楼上方，空气闷得让人有些喘不过气。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答案｜你刚才其实用了什么判断？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不是看“有没有形容词”，而是看文字在做什么。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402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 分钟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71907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693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叙述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59152"/>
            <a:ext cx="45262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放学铃响后，我背起书包，匆匆走出了教室。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401568"/>
            <a:ext cx="4526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 我下了楼，穿过操场，向校门走去。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4754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作用：交代动作、事件、时间变化。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71907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693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描写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359152"/>
            <a:ext cx="4526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 走廊里挤满了学生，笑声、脚步声和桌椅碰撞声混在一起。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37960" y="3502152"/>
            <a:ext cx="4526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④ 厚厚的乌云压在教学楼上方，空气闷得让人有些喘不过气。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37960" y="475488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作用：放大一个瞬间，让读者看见 / 听见 / 感觉到。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3C2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关键：有动作 ≠ 一定是叙述；有形容词 ≠ 一定是描写。看它有没有推进情节。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活动一｜给段落做标记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直线 ______ = 叙述　　波浪线 〰〰〰 = 描写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402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 分钟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9728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64208"/>
            <a:ext cx="10424160" cy="3703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放学铃响后，我背起书包，匆匆走出了教室。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走廊里挤满了学生，笑声、脚步声和桌椅碰撞的声音混在一起，像突然沸腾起来的水。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我下了楼，穿过操场，向校门走去。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天空阴沉沉的，厚厚的乌云压在教学楼上方，空气闷得让人有些喘不过气。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我刚走到校门口，雨便落了下来。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豆大的雨点砸在地面上，水花一朵一朵地溅起来，远处的建筑渐渐消失在灰白色的雨幕中。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我只好转身跑回教学楼。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我的鞋底不断打滑，裤脚很快湿透，冰冷的雨水顺着额头流进衣领。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961888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完成后和旁边同学核对：你们有哪一句分歧最大？为什么？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核对｜哪里在快进？哪里在慢放？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橙色 = 叙述　　绿色 = 描写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402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 分钟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97280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10424160" cy="3657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放学铃响后，我背起书包，匆匆走出了教室。</a:t>
            </a:r>
            <a:pPr indent="0" marL="0">
              <a:buNone/>
            </a:pP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走廊里挤满了学生，笑声、脚步声和桌椅碰撞的声音混在一起，像突然沸腾起来的水。</a:t>
            </a:r>
            <a:endParaRPr lang="en-US" sz="1950" dirty="0"/>
          </a:p>
          <a:p>
            <a:pPr indent="0" marL="0">
              <a:buNone/>
            </a:pPr>
            <a:endParaRPr lang="en-US" sz="1950" dirty="0"/>
          </a:p>
          <a:p>
            <a:pPr indent="0" marL="0">
              <a:buNone/>
            </a:pPr>
            <a:r>
              <a:rPr lang="en-US" sz="195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我下了楼，穿过操场，向校门走去。</a:t>
            </a:r>
            <a:endParaRPr lang="en-US" sz="1950" dirty="0"/>
          </a:p>
          <a:p>
            <a:pPr indent="0" marL="0">
              <a:buNone/>
            </a:pP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天空阴沉沉的，厚厚的乌云压在教学楼上方，空气闷得让人有些喘不过气。</a:t>
            </a:r>
            <a:endParaRPr lang="en-US" sz="1950" dirty="0"/>
          </a:p>
          <a:p>
            <a:pPr indent="0" marL="0">
              <a:buNone/>
            </a:pPr>
            <a:endParaRPr lang="en-US" sz="1950" dirty="0"/>
          </a:p>
          <a:p>
            <a:pPr indent="0" marL="0">
              <a:buNone/>
            </a:pPr>
            <a:r>
              <a:rPr lang="en-US" sz="195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我刚走到校门口，雨便落了下来。</a:t>
            </a:r>
            <a:endParaRPr lang="en-US" sz="1950" dirty="0"/>
          </a:p>
          <a:p>
            <a:pPr indent="0" marL="0">
              <a:buNone/>
            </a:pP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豆大的雨点砸在地面上，水花一朵一朵地溅起来，远处的建筑渐渐消失在灰白色的雨幕中。</a:t>
            </a:r>
            <a:endParaRPr lang="en-US" sz="1950" dirty="0"/>
          </a:p>
          <a:p>
            <a:pPr indent="0" marL="0">
              <a:buNone/>
            </a:pPr>
            <a:endParaRPr lang="en-US" sz="1950" dirty="0"/>
          </a:p>
          <a:p>
            <a:pPr indent="0" marL="0">
              <a:buNone/>
            </a:pPr>
            <a:r>
              <a:rPr lang="en-US" sz="195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我只好转身跑回教学楼。</a:t>
            </a:r>
            <a:endParaRPr lang="en-US" sz="1950" dirty="0"/>
          </a:p>
          <a:p>
            <a:pPr indent="0" marL="0">
              <a:buNone/>
            </a:pP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我的鞋底不断打滑，裤脚很快湿透，冰冷的雨水顺着额头流进衣领。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011680" y="5833872"/>
            <a:ext cx="8183880" cy="475488"/>
          </a:xfrm>
          <a:prstGeom prst="roundRect">
            <a:avLst>
              <a:gd name="adj" fmla="val 15385"/>
            </a:avLst>
          </a:prstGeom>
          <a:solidFill>
            <a:srgbClr val="FFF8E8"/>
          </a:solidFill>
          <a:ln w="12700">
            <a:solidFill>
              <a:srgbClr val="E9D7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5952744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发现了吗？叙述像“骨架”，描写像“镜头”——两者通常交替出现。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活动二｜删除测试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把所有“描写”划掉，只留下故事骨架。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402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 分钟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06527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74520"/>
            <a:ext cx="987552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老师叫到了我的名字，我走上讲台。几十双眼睛一下子转向我，我甚至能听见自己的鞋底摩擦地面的声音。我的手紧紧抓着演讲稿，纸角已经被捏得皱成了一团。我走到讲台中央，开始演讲。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划掉描写后，剩下哪两句？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897880" y="507492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 故事还讲得通吗？失去了什么？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577900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提示：剩下的应该是“老师叫到我 → 我走上台 → 我开始演讲”。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活动三｜把一个动作写成“镜头”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不能改变事情本身；只允许把这一刻放大。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402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6 分钟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1325880"/>
            <a:ext cx="10058400" cy="960120"/>
          </a:xfrm>
          <a:prstGeom prst="roundRect">
            <a:avLst>
              <a:gd name="adj" fmla="val 1142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5819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我走进考场，坐到了自己的位置上。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任选两个“镜头”，补写 2–3 句描写。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15468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45643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看见什么？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78408" y="4023360"/>
            <a:ext cx="174650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光线、桌椅、试卷、同学的表情……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11880" y="315468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345643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听见什么？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13048" y="4023360"/>
            <a:ext cx="174650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翻纸声、咳嗽声、钟声、安静……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46520" y="315468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345643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身体感觉？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47688" y="4023360"/>
            <a:ext cx="174650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手心、心跳、喉咙、呼吸、温度……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281160" y="315468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5752" y="345643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细小动作？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482328" y="4023360"/>
            <a:ext cx="174650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捏笔、抿嘴、抖腿、整理纸张……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583387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完成后用波浪线把你新增的“描写”划出来。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示范｜描写不是“多写”，而是“停下来写”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检查：有没有偷偷让故事继续往前跑？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402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 分钟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065276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65960"/>
            <a:ext cx="992124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我走进考场，坐到了自己的位置上。</a:t>
            </a:r>
            <a:pPr indent="0" marL="0">
              <a:buNone/>
            </a:pPr>
            <a:r>
              <a:rPr lang="en-US" sz="2500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教室里安静得出奇，只听见试卷翻动时细碎的沙沙声。</a:t>
            </a:r>
            <a:pPr indent="0" marL="0">
              <a:buNone/>
            </a:pPr>
            <a:r>
              <a:rPr lang="en-US" sz="2500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我的手心已经微微冒汗，手中的笔被捏得有些发滑。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470916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49560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✓ 这是“慢镜头”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15568" y="5349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声音 + 身体感觉，把同一个瞬间放大。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470916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CE8E2"/>
          </a:solidFill>
          <a:ln w="12700">
            <a:solidFill>
              <a:srgbClr val="A23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4928616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23C2A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✗ “老师发下试卷，我开始答题。”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56248" y="5349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这是新事件：时间继续前进了。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Ticket｜只写描写，不许推进情节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 1–2 句，交之前自己做“删除测试”。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835640" y="34747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4023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 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10058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我冲出了家门。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D9770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街道上已经挤满了人。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1051560" y="2971800"/>
            <a:ext cx="10058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336499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______________________________________________________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______________________________________________________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4892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交之前检查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0" y="4800600"/>
            <a:ext cx="7955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□ 我有没有写出新的事件？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63238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□ 我有没有让读者“看见 / 听见 / 感觉到”这个瞬间？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2960" y="6053328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带走一句话：叙述让故事往前走；描写让读者停下来，看见它。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7F3EA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Ka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Kait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叙述 VS 描写：快进还是慢镜头？</dc:title>
  <dc:subject>IGCSE 0509 中文第一语言｜叙述与描写微技能活动</dc:subject>
  <dc:creator>OpenAI</dc:creator>
  <cp:lastModifiedBy>OpenAI</cp:lastModifiedBy>
  <cp:revision>1</cp:revision>
  <dcterms:created xsi:type="dcterms:W3CDTF">2026-09-30T05:48:40Z</dcterms:created>
  <dcterms:modified xsi:type="dcterms:W3CDTF">2026-09-30T05:48:40Z</dcterms:modified>
</cp:coreProperties>
</file>