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4c7291c624ad0" /><Relationship Type="http://schemas.openxmlformats.org/officeDocument/2006/relationships/extended-properties" Target="/docProps/app.xml" Id="R7f6b348128d64238" /><Relationship Type="http://schemas.openxmlformats.org/officeDocument/2006/relationships/officeDocument" Target="/ppt/presentation.xml" Id="R7ab86f183caf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12c8c7a57a4c94"/>
  </p:sldMasterIdLst>
  <p:notesMasterIdLst>
    <p:notesMasterId xmlns:r="http://schemas.openxmlformats.org/officeDocument/2006/relationships" r:id="R1494fa9aae1d4e0f"/>
  </p:notesMasterIdLst>
  <p:sldIdLst>
    <p:sldId xmlns:r="http://schemas.openxmlformats.org/officeDocument/2006/relationships" id="256" r:id="R89d910f6dade4123"/>
    <p:sldId xmlns:r="http://schemas.openxmlformats.org/officeDocument/2006/relationships" id="257" r:id="R61163161f98e41f8"/>
    <p:sldId xmlns:r="http://schemas.openxmlformats.org/officeDocument/2006/relationships" id="258" r:id="Rcc3a2d07580c4cc5"/>
    <p:sldId xmlns:r="http://schemas.openxmlformats.org/officeDocument/2006/relationships" id="259" r:id="R2c8bbb4901054f77"/>
    <p:sldId xmlns:r="http://schemas.openxmlformats.org/officeDocument/2006/relationships" id="260" r:id="R0169dbc757ef4e6e"/>
    <p:sldId xmlns:r="http://schemas.openxmlformats.org/officeDocument/2006/relationships" id="261" r:id="R0b4bfabd5b0845aa"/>
    <p:sldId xmlns:r="http://schemas.openxmlformats.org/officeDocument/2006/relationships" id="262" r:id="R2dae370dd9b44ca4"/>
    <p:sldId xmlns:r="http://schemas.openxmlformats.org/officeDocument/2006/relationships" id="263" r:id="R5afb85e41e374764"/>
    <p:sldId xmlns:r="http://schemas.openxmlformats.org/officeDocument/2006/relationships" id="264" r:id="R302c4809944c4166"/>
    <p:sldId xmlns:r="http://schemas.openxmlformats.org/officeDocument/2006/relationships" id="265" r:id="R6e91d820ce1143db"/>
    <p:sldId xmlns:r="http://schemas.openxmlformats.org/officeDocument/2006/relationships" id="266" r:id="Ree425103e435457b"/>
    <p:sldId xmlns:r="http://schemas.openxmlformats.org/officeDocument/2006/relationships" id="267" r:id="Rdeac167bff5e48e5"/>
    <p:sldId xmlns:r="http://schemas.openxmlformats.org/officeDocument/2006/relationships" id="268" r:id="R132a840819d34dc6"/>
    <p:sldId xmlns:r="http://schemas.openxmlformats.org/officeDocument/2006/relationships" id="269" r:id="Ra0dc31a2f9c04d10"/>
    <p:sldId xmlns:r="http://schemas.openxmlformats.org/officeDocument/2006/relationships" id="270" r:id="R4a5c485b69964a64"/>
    <p:sldId xmlns:r="http://schemas.openxmlformats.org/officeDocument/2006/relationships" id="271" r:id="R2c6b1379bb5b4d38"/>
    <p:sldId xmlns:r="http://schemas.openxmlformats.org/officeDocument/2006/relationships" id="272" r:id="Rc4812567cccf45a7"/>
    <p:sldId xmlns:r="http://schemas.openxmlformats.org/officeDocument/2006/relationships" id="273" r:id="Ra36c0b125d8e484b"/>
    <p:sldId xmlns:r="http://schemas.openxmlformats.org/officeDocument/2006/relationships" id="274" r:id="R087313f1a87848db"/>
    <p:sldId xmlns:r="http://schemas.openxmlformats.org/officeDocument/2006/relationships" id="275" r:id="R8f853f98b6eb45b3"/>
    <p:sldId xmlns:r="http://schemas.openxmlformats.org/officeDocument/2006/relationships" id="276" r:id="Rf78bf5587d8b4a23"/>
    <p:sldId xmlns:r="http://schemas.openxmlformats.org/officeDocument/2006/relationships" id="277" r:id="R8cc4c8754cbf4892"/>
    <p:sldId xmlns:r="http://schemas.openxmlformats.org/officeDocument/2006/relationships" id="278" r:id="Rfea4ea4d499a4974"/>
    <p:sldId xmlns:r="http://schemas.openxmlformats.org/officeDocument/2006/relationships" id="279" r:id="R8afdcbd69ddb44eb"/>
    <p:sldId xmlns:r="http://schemas.openxmlformats.org/officeDocument/2006/relationships" id="280" r:id="R4b4e3d5567954ce2"/>
    <p:sldId xmlns:r="http://schemas.openxmlformats.org/officeDocument/2006/relationships" id="281" r:id="R5f0b5a2919124c2d"/>
    <p:sldId xmlns:r="http://schemas.openxmlformats.org/officeDocument/2006/relationships" id="282" r:id="Rb8f390e714b24af8"/>
    <p:sldId xmlns:r="http://schemas.openxmlformats.org/officeDocument/2006/relationships" id="283" r:id="R07fbc1a0c6354378"/>
    <p:sldId xmlns:r="http://schemas.openxmlformats.org/officeDocument/2006/relationships" id="284" r:id="R49903bc692464ac2"/>
    <p:sldId xmlns:r="http://schemas.openxmlformats.org/officeDocument/2006/relationships" id="285" r:id="R23a311b528b04634"/>
    <p:sldId xmlns:r="http://schemas.openxmlformats.org/officeDocument/2006/relationships" id="286" r:id="R9b9db036ec51448f"/>
    <p:sldId xmlns:r="http://schemas.openxmlformats.org/officeDocument/2006/relationships" id="287" r:id="Rf7df9b8b8d1c46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7effd0af6741a6" /><Relationship Type="http://schemas.openxmlformats.org/officeDocument/2006/relationships/slideMaster" Target="/ppt/slideMasters/slideMaster1.xml" Id="R0412c8c7a57a4c94" /><Relationship Type="http://schemas.openxmlformats.org/officeDocument/2006/relationships/notesMaster" Target="/ppt/notesMasters/notesMaster1.xml" Id="R1494fa9aae1d4e0f" /><Relationship Type="http://schemas.openxmlformats.org/officeDocument/2006/relationships/presProps" Target="/ppt/presProps.xml" Id="R616a81076f8346f3" /><Relationship Type="http://schemas.openxmlformats.org/officeDocument/2006/relationships/tableStyles" Target="/ppt/tableStyles.xml" Id="R05e643d9adc64448" /><Relationship Type="http://schemas.openxmlformats.org/officeDocument/2006/relationships/slide" Target="/ppt/slides/slide1.xml" Id="R89d910f6dade4123" /><Relationship Type="http://schemas.openxmlformats.org/officeDocument/2006/relationships/slide" Target="/ppt/slides/slide2.xml" Id="R61163161f98e41f8" /><Relationship Type="http://schemas.openxmlformats.org/officeDocument/2006/relationships/slide" Target="/ppt/slides/slide3.xml" Id="Rcc3a2d07580c4cc5" /><Relationship Type="http://schemas.openxmlformats.org/officeDocument/2006/relationships/slide" Target="/ppt/slides/slide4.xml" Id="R2c8bbb4901054f77" /><Relationship Type="http://schemas.openxmlformats.org/officeDocument/2006/relationships/slide" Target="/ppt/slides/slide5.xml" Id="R0169dbc757ef4e6e" /><Relationship Type="http://schemas.openxmlformats.org/officeDocument/2006/relationships/slide" Target="/ppt/slides/slide6.xml" Id="R0b4bfabd5b0845aa" /><Relationship Type="http://schemas.openxmlformats.org/officeDocument/2006/relationships/slide" Target="/ppt/slides/slide7.xml" Id="R2dae370dd9b44ca4" /><Relationship Type="http://schemas.openxmlformats.org/officeDocument/2006/relationships/slide" Target="/ppt/slides/slide8.xml" Id="R5afb85e41e374764" /><Relationship Type="http://schemas.openxmlformats.org/officeDocument/2006/relationships/slide" Target="/ppt/slides/slide9.xml" Id="R302c4809944c4166" /><Relationship Type="http://schemas.openxmlformats.org/officeDocument/2006/relationships/slide" Target="/ppt/slides/slide10.xml" Id="R6e91d820ce1143db" /><Relationship Type="http://schemas.openxmlformats.org/officeDocument/2006/relationships/slide" Target="/ppt/slides/slide11.xml" Id="Ree425103e435457b" /><Relationship Type="http://schemas.openxmlformats.org/officeDocument/2006/relationships/slide" Target="/ppt/slides/slide12.xml" Id="Rdeac167bff5e48e5" /><Relationship Type="http://schemas.openxmlformats.org/officeDocument/2006/relationships/slide" Target="/ppt/slides/slide13.xml" Id="R132a840819d34dc6" /><Relationship Type="http://schemas.openxmlformats.org/officeDocument/2006/relationships/slide" Target="/ppt/slides/slide14.xml" Id="Ra0dc31a2f9c04d10" /><Relationship Type="http://schemas.openxmlformats.org/officeDocument/2006/relationships/slide" Target="/ppt/slides/slide15.xml" Id="R4a5c485b69964a64" /><Relationship Type="http://schemas.openxmlformats.org/officeDocument/2006/relationships/slide" Target="/ppt/slides/slide16.xml" Id="R2c6b1379bb5b4d38" /><Relationship Type="http://schemas.openxmlformats.org/officeDocument/2006/relationships/slide" Target="/ppt/slides/slide17.xml" Id="Rc4812567cccf45a7" /><Relationship Type="http://schemas.openxmlformats.org/officeDocument/2006/relationships/slide" Target="/ppt/slides/slide18.xml" Id="Ra36c0b125d8e484b" /><Relationship Type="http://schemas.openxmlformats.org/officeDocument/2006/relationships/slide" Target="/ppt/slides/slide19.xml" Id="R087313f1a87848db" /><Relationship Type="http://schemas.openxmlformats.org/officeDocument/2006/relationships/slide" Target="/ppt/slides/slide20.xml" Id="R8f853f98b6eb45b3" /><Relationship Type="http://schemas.openxmlformats.org/officeDocument/2006/relationships/slide" Target="/ppt/slides/slide21.xml" Id="Rf78bf5587d8b4a23" /><Relationship Type="http://schemas.openxmlformats.org/officeDocument/2006/relationships/slide" Target="/ppt/slides/slide22.xml" Id="R8cc4c8754cbf4892" /><Relationship Type="http://schemas.openxmlformats.org/officeDocument/2006/relationships/slide" Target="/ppt/slides/slide23.xml" Id="Rfea4ea4d499a4974" /><Relationship Type="http://schemas.openxmlformats.org/officeDocument/2006/relationships/slide" Target="/ppt/slides/slide24.xml" Id="R8afdcbd69ddb44eb" /><Relationship Type="http://schemas.openxmlformats.org/officeDocument/2006/relationships/slide" Target="/ppt/slides/slide25.xml" Id="R4b4e3d5567954ce2" /><Relationship Type="http://schemas.openxmlformats.org/officeDocument/2006/relationships/slide" Target="/ppt/slides/slide26.xml" Id="R5f0b5a2919124c2d" /><Relationship Type="http://schemas.openxmlformats.org/officeDocument/2006/relationships/slide" Target="/ppt/slides/slide27.xml" Id="Rb8f390e714b24af8" /><Relationship Type="http://schemas.openxmlformats.org/officeDocument/2006/relationships/slide" Target="/ppt/slides/slide28.xml" Id="R07fbc1a0c6354378" /><Relationship Type="http://schemas.openxmlformats.org/officeDocument/2006/relationships/slide" Target="/ppt/slides/slide29.xml" Id="R49903bc692464ac2" /><Relationship Type="http://schemas.openxmlformats.org/officeDocument/2006/relationships/slide" Target="/ppt/slides/slide30.xml" Id="R23a311b528b04634" /><Relationship Type="http://schemas.openxmlformats.org/officeDocument/2006/relationships/slide" Target="/ppt/slides/slide31.xml" Id="R9b9db036ec51448f" /><Relationship Type="http://schemas.openxmlformats.org/officeDocument/2006/relationships/slide" Target="/ppt/slides/slide32.xml" Id="Rf7df9b8b8d1c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6d883085f4c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056c24a9954ebf" /><Relationship Type="http://schemas.openxmlformats.org/officeDocument/2006/relationships/notesMaster" Target="/ppt/notesMasters/notesMaster1.xml" Id="R9647ca6e948847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db15102a13403b" /><Relationship Type="http://schemas.openxmlformats.org/officeDocument/2006/relationships/notesMaster" Target="/ppt/notesMasters/notesMaster1.xml" Id="R3a811c5bf03b4d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0da359860049e2" /><Relationship Type="http://schemas.openxmlformats.org/officeDocument/2006/relationships/notesMaster" Target="/ppt/notesMasters/notesMaster1.xml" Id="R4ce69574df41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bdcecd5419459d" /><Relationship Type="http://schemas.openxmlformats.org/officeDocument/2006/relationships/notesMaster" Target="/ppt/notesMasters/notesMaster1.xml" Id="Rad5ba7dba8954a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c83e77d5f4e3a" /><Relationship Type="http://schemas.openxmlformats.org/officeDocument/2006/relationships/notesMaster" Target="/ppt/notesMasters/notesMaster1.xml" Id="R46f90859e71e4f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ba6ee5859a4f1a" /><Relationship Type="http://schemas.openxmlformats.org/officeDocument/2006/relationships/notesMaster" Target="/ppt/notesMasters/notesMaster1.xml" Id="R1d74c89cb04940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4327d96ab74814" /><Relationship Type="http://schemas.openxmlformats.org/officeDocument/2006/relationships/notesMaster" Target="/ppt/notesMasters/notesMaster1.xml" Id="R57b338da05aa49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5ebf7c91854975" /><Relationship Type="http://schemas.openxmlformats.org/officeDocument/2006/relationships/notesMaster" Target="/ppt/notesMasters/notesMaster1.xml" Id="R9f7276f695d64d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659cb945ac4621" /><Relationship Type="http://schemas.openxmlformats.org/officeDocument/2006/relationships/notesMaster" Target="/ppt/notesMasters/notesMaster1.xml" Id="R84297a49edc040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6b913744364d68" /><Relationship Type="http://schemas.openxmlformats.org/officeDocument/2006/relationships/notesMaster" Target="/ppt/notesMasters/notesMaster1.xml" Id="R2aa465eba52442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04b867e8664490" /><Relationship Type="http://schemas.openxmlformats.org/officeDocument/2006/relationships/notesMaster" Target="/ppt/notesMasters/notesMaster1.xml" Id="Rbcf21b1c305b40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d9aa51cecb4366" /><Relationship Type="http://schemas.openxmlformats.org/officeDocument/2006/relationships/notesMaster" Target="/ppt/notesMasters/notesMaster1.xml" Id="Re5d9a622ddc340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d6555991674ede" /><Relationship Type="http://schemas.openxmlformats.org/officeDocument/2006/relationships/notesMaster" Target="/ppt/notesMasters/notesMaster1.xml" Id="R7780b44f073647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e2660d015840d5" /><Relationship Type="http://schemas.openxmlformats.org/officeDocument/2006/relationships/notesMaster" Target="/ppt/notesMasters/notesMaster1.xml" Id="R5cddabb026db46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8f54810a4a4f08" /><Relationship Type="http://schemas.openxmlformats.org/officeDocument/2006/relationships/notesMaster" Target="/ppt/notesMasters/notesMaster1.xml" Id="Rd9d70155fc2547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475745201a4b95" /><Relationship Type="http://schemas.openxmlformats.org/officeDocument/2006/relationships/notesMaster" Target="/ppt/notesMasters/notesMaster1.xml" Id="Rf8c858c9a86340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e050a4fb6741ea" /><Relationship Type="http://schemas.openxmlformats.org/officeDocument/2006/relationships/notesMaster" Target="/ppt/notesMasters/notesMaster1.xml" Id="R23c03b5f028641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d150901d3b46ad" /><Relationship Type="http://schemas.openxmlformats.org/officeDocument/2006/relationships/notesMaster" Target="/ppt/notesMasters/notesMaster1.xml" Id="Rcc09ee95f73044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e46d216b404edc" /><Relationship Type="http://schemas.openxmlformats.org/officeDocument/2006/relationships/notesMaster" Target="/ppt/notesMasters/notesMaster1.xml" Id="R5ad853b0993b49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72422c3c564857" /><Relationship Type="http://schemas.openxmlformats.org/officeDocument/2006/relationships/notesMaster" Target="/ppt/notesMasters/notesMaster1.xml" Id="R4faa44bbdd0143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ad1f9d809234715" /><Relationship Type="http://schemas.openxmlformats.org/officeDocument/2006/relationships/notesMaster" Target="/ppt/notesMasters/notesMaster1.xml" Id="Recfefe2bd6d249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71ccdd65cf74583" /><Relationship Type="http://schemas.openxmlformats.org/officeDocument/2006/relationships/notesMaster" Target="/ppt/notesMasters/notesMaster1.xml" Id="Race91dfe83db47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7e0d1cc7724b09" /><Relationship Type="http://schemas.openxmlformats.org/officeDocument/2006/relationships/notesMaster" Target="/ppt/notesMasters/notesMaster1.xml" Id="Rcb71e1ae6d0e44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bdbd0ed27145db" /><Relationship Type="http://schemas.openxmlformats.org/officeDocument/2006/relationships/notesMaster" Target="/ppt/notesMasters/notesMaster1.xml" Id="R26bfd3d0a15b43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aed40f0a2447dc" /><Relationship Type="http://schemas.openxmlformats.org/officeDocument/2006/relationships/notesMaster" Target="/ppt/notesMasters/notesMaster1.xml" Id="R8a67e713c8384e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88587c85394495" /><Relationship Type="http://schemas.openxmlformats.org/officeDocument/2006/relationships/notesMaster" Target="/ppt/notesMasters/notesMaster1.xml" Id="Re9087dea107549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5cfe9ebbb54927" /><Relationship Type="http://schemas.openxmlformats.org/officeDocument/2006/relationships/notesMaster" Target="/ppt/notesMasters/notesMaster1.xml" Id="Rc134a260bafe4b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18bf9673c64992" /><Relationship Type="http://schemas.openxmlformats.org/officeDocument/2006/relationships/notesMaster" Target="/ppt/notesMasters/notesMaster1.xml" Id="R95a3398f34384d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9aa0d1b7e444e9" /><Relationship Type="http://schemas.openxmlformats.org/officeDocument/2006/relationships/notesMaster" Target="/ppt/notesMasters/notesMaster1.xml" Id="R0016d96f3fe2413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9f8bbe8c60409f" /><Relationship Type="http://schemas.openxmlformats.org/officeDocument/2006/relationships/notesMaster" Target="/ppt/notesMasters/notesMaster1.xml" Id="R5d26f73af1b649a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1c7e89acd142b9" /><Relationship Type="http://schemas.openxmlformats.org/officeDocument/2006/relationships/notesMaster" Target="/ppt/notesMasters/notesMaster1.xml" Id="Rcfdcc1aa12a34fa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8812bcfe56140da" /><Relationship Type="http://schemas.openxmlformats.org/officeDocument/2006/relationships/notesMaster" Target="/ppt/notesMasters/notesMaster1.xml" Id="Ra79d9ddef6ee49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开场。请学生先看插图中的物件，再回答：什么东西能让人想起自己的家人、语言或地方？不要求学生分享私密经历。</a:t>
            </a:r>
          </a:p>
          <a:p xmlns:a="http://schemas.openxmlformats.org/drawingml/2006/main">
            <a:r>
              <a:t>插图为原创 AI 插图，只用作课堂引入。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用本页说明学期产出。逐项阅读即可，不需要讲评分细则。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让学生安静书写 2 分钟。可选一题作答，保留到单元末回看。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用学生熟悉的节日、语言或家庭习惯示范。提醒学生：同一文化背景的人不一定有相同经验。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课导入。先不解释人物身份。请学生看画面，写下两项可以观察到的事实和一项不能从画面确定的事。</a:t>
            </a:r>
          </a:p>
          <a:p xmlns:a="http://schemas.openxmlformats.org/drawingml/2006/main">
            <a:r>
              <a:t>插图为原创 AI 插图，不代表文本人物的真实肖像。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课。请各组先阅读指定段落，再在课本标出一个称呼和一处关系细节。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教师先示范一个不涉及标准答案的例子。学生随后从课本挑选另一个细节完成同样的三步。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课。先投票，再阅读课文。讨论时不评价人物“好不好”，只解释她为什么这样做。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替换为一张横向风景照片。图片只作情境，不承担文本证据。建议把照片裁切成左侧留出空白。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让每组任选一项细节完成三层解释。课堂只接受有课文依据的推断。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课。先让学生以小组将事件排成时间线，然后回到标题。不要先给出作者意图。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课。投影后先给 8 分钟构思，再写开头。学生可改写自己的经验，也可从提供的虚构情境出发。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交换段落。每位学生只写两条反馈，并圈出相应句子。避免“很好”“多一点细节”等泛泛评价。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用《假黎婆》一小段或陌生现代文。先让学生标出题目动词，再独立完成其中一题。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本节以教材《新加坡多种族政策》的两则短文为材料组。先让学生看到：这是一项指导写作练习，不是分别概括两篇短文。插图只作课堂情境。</a:t>
            </a:r>
          </a:p>
          <a:p xmlns:a="http://schemas.openxmlformats.org/drawingml/2006/main">
            <a:r>
              <a:t>材料依据：用户提供的教材页面截图。</a:t>
            </a:r>
          </a:p>
          <a:p xmlns:a="http://schemas.openxmlformats.org/drawingml/2006/main">
            <a:r>
              <a:t>教学重点：用 ①A1、①B1 等标注，将材料信息归入题目的三个要点。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步：用本页建立任务意识。强调写作不是压缩材料，而是选取、整合和评价两则短文中的相关信息。</a:t>
            </a:r>
          </a:p>
          <a:p xmlns:a="http://schemas.openxmlformats.org/drawingml/2006/main">
            <a:r>
              <a:t>材料依据：用户提供的教材页面截图；字数与任务形式依据 Cambridge IGCSE 0509 Paper 1 Section 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步：投影仿真题干。学生用三种颜色圈出题目要点，并口头复述每一个要点要他们做什么。第 3 点要特别提示：它要求整合和评价，不是重复前两点。</a:t>
            </a:r>
          </a:p>
          <a:p xmlns:a="http://schemas.openxmlformats.org/drawingml/2006/main">
            <a:r>
              <a:t>本题为根据用户提供材料编制的课堂仿真任务。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步：示范编号。学生在教材上直接做标记，优先圈关键词。要求学生在页边补半句话，例如“平等地位”后写“保障文化特点”。这样编号保留了信息的用途，而不是成为摘抄。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步：全班共同完成短文一的示范。先由学生提议编号，教师再追问“它回答①还是②？为什么？”无需把所有内容都标完。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步：学生两人一组完成短文二的编号，再与投影答案核对。特别讨论③B1：它为什么不是单纯的活动例子，而是说明“共同认同”形成的过程。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步：教师示范从①A1、②A1、②B1、③B1抽取信息，写成一个整合判断。提醒学生：这不是外加的个人例子，而是根据材料关系作出的解释。</a:t>
            </a:r>
          </a:p>
          <a:p xmlns:a="http://schemas.openxmlformats.org/drawingml/2006/main">
            <a:r>
              <a:t>材料依据：用户提供的教材页面截图。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步：50 分钟限时练习可分为读题与编号 10 分钟、计划 5 分钟、写作 30 分钟、检查 5 分钟。批改与同伴反馈分开记录内容目标和写作目标。</a:t>
            </a:r>
          </a:p>
          <a:p xmlns:a="http://schemas.openxmlformats.org/drawingml/2006/main">
            <a:r>
              <a:t>评分结构与字数依据 Cambridge IGCSE 0509 Paper 1 Section 2。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本课为独立议论文阅读。先让学生从标题说出他们预测的争议，再读课文验证标题是否等于作者真正的立场。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将此处替换成一张具有对比感的横向照片。投影后先让学生写下“我以为问题在于……”。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把课文分为四段阅读。每组负责一部分，分享时只用一句“作者在这里想让读者看到……”。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在学生读完全文后使用。让学生先完成左右两栏，再结合第 5 至 8 段修订自己的答案。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让学生各找一处论点和一项对应证据。若认为推理不足，也要说明缺少什么信息。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课本列有多种论证法。本页只保留最适合本篇的四种，便于学生真正找得到例子。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先让每位学生写下个人立场，再组成四人小组。要求学生至少引用课文一个例子，也可以保留条件式立场。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提示学生先选立场与文体。不要要求全班得出同一个结论。可作为 30 分钟计划练习或卷二作文准备。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本页用于期末回顾。请学生将原稿、反馈和修订稿放在一起，以便下一学期继续使用。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教师页，可不投影。检查教材页码、课时安排和校内任务字数。插图位置均可替换，图片只用于导入或场景感，不承担阅读证据。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0cfa9a88246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9440e82cd4604" /><Relationship Type="http://schemas.openxmlformats.org/officeDocument/2006/relationships/slideLayout" Target="/ppt/slideLayouts/slideLayout1.xml" Id="R86ad5781b0fc4e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ad5781b0fc4e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e12835c3e49c2" /><Relationship Type="http://schemas.openxmlformats.org/officeDocument/2006/relationships/image" Target="/ppt/media/image.png" Id="R4d60ba4ef77b4365" /><Relationship Type="http://schemas.openxmlformats.org/officeDocument/2006/relationships/notesSlide" Target="/ppt/notesSlides/notesSlide1.xml" Id="R1823d726eed843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a901cdcac4339" /><Relationship Type="http://schemas.openxmlformats.org/officeDocument/2006/relationships/notesSlide" Target="/ppt/notesSlides/notesSlide2.xml" Id="R82a13a3bcac744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f3a5a697649e0" /><Relationship Type="http://schemas.openxmlformats.org/officeDocument/2006/relationships/notesSlide" Target="/ppt/notesSlides/notesSlide3.xml" Id="R69602d5f2d2249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a032685784999" /><Relationship Type="http://schemas.openxmlformats.org/officeDocument/2006/relationships/notesSlide" Target="/ppt/notesSlides/notesSlide4.xml" Id="R5b9dcbb654df43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d9872c0974a5e" /><Relationship Type="http://schemas.openxmlformats.org/officeDocument/2006/relationships/image" Target="/ppt/media/image2.png" Id="Rf49160d8a97740c7" /><Relationship Type="http://schemas.openxmlformats.org/officeDocument/2006/relationships/notesSlide" Target="/ppt/notesSlides/notesSlide5.xml" Id="R83f1686b6f2f4c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01b8ce4b1433f" /><Relationship Type="http://schemas.openxmlformats.org/officeDocument/2006/relationships/notesSlide" Target="/ppt/notesSlides/notesSlide6.xml" Id="Rf3d95ad2ea164a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7cc977fdf4f26" /><Relationship Type="http://schemas.openxmlformats.org/officeDocument/2006/relationships/notesSlide" Target="/ppt/notesSlides/notesSlide7.xml" Id="R325f040fbded4e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8917e18cc416e" /><Relationship Type="http://schemas.openxmlformats.org/officeDocument/2006/relationships/notesSlide" Target="/ppt/notesSlides/notesSlide8.xml" Id="Rcf34ccd5178747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7b507f7b140d0" /><Relationship Type="http://schemas.openxmlformats.org/officeDocument/2006/relationships/notesSlide" Target="/ppt/notesSlides/notesSlide9.xml" Id="R8a86f932d85a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44dcc5b354102" /><Relationship Type="http://schemas.openxmlformats.org/officeDocument/2006/relationships/notesSlide" Target="/ppt/notesSlides/notesSlide10.xml" Id="R6f82a25b00de4f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599133f46478f" /><Relationship Type="http://schemas.openxmlformats.org/officeDocument/2006/relationships/notesSlide" Target="/ppt/notesSlides/notesSlide11.xml" Id="R8e25758fdd2f48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6f2764a3446d1" /><Relationship Type="http://schemas.openxmlformats.org/officeDocument/2006/relationships/notesSlide" Target="/ppt/notesSlides/notesSlide12.xml" Id="R751cde40af4d47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dc22141164dc3" /><Relationship Type="http://schemas.openxmlformats.org/officeDocument/2006/relationships/notesSlide" Target="/ppt/notesSlides/notesSlide13.xml" Id="R000fb9435b7c4b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7c07add3c4c30" /><Relationship Type="http://schemas.openxmlformats.org/officeDocument/2006/relationships/notesSlide" Target="/ppt/notesSlides/notesSlide14.xml" Id="Re16c464784834f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b673b7f3f4270" /><Relationship Type="http://schemas.openxmlformats.org/officeDocument/2006/relationships/image" Target="/ppt/media/image3.png" Id="R408954b0ff094612" /><Relationship Type="http://schemas.openxmlformats.org/officeDocument/2006/relationships/notesSlide" Target="/ppt/notesSlides/notesSlide15.xml" Id="Rc2e6028a60c547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f3684dc5f41ff" /><Relationship Type="http://schemas.openxmlformats.org/officeDocument/2006/relationships/notesSlide" Target="/ppt/notesSlides/notesSlide16.xml" Id="R08d71e3b330345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1e062f3864fcb" /><Relationship Type="http://schemas.openxmlformats.org/officeDocument/2006/relationships/notesSlide" Target="/ppt/notesSlides/notesSlide17.xml" Id="Rb44248fda6eb42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ecd1f642b4b38" /><Relationship Type="http://schemas.openxmlformats.org/officeDocument/2006/relationships/notesSlide" Target="/ppt/notesSlides/notesSlide18.xml" Id="Ra4d1d7437fa542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bf5780eb34830" /><Relationship Type="http://schemas.openxmlformats.org/officeDocument/2006/relationships/notesSlide" Target="/ppt/notesSlides/notesSlide19.xml" Id="Rf62bb7c6888941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d34d8a8024c2f" /><Relationship Type="http://schemas.openxmlformats.org/officeDocument/2006/relationships/notesSlide" Target="/ppt/notesSlides/notesSlide20.xml" Id="Rf1949a0b8fec48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8767c6c94e3a" /><Relationship Type="http://schemas.openxmlformats.org/officeDocument/2006/relationships/notesSlide" Target="/ppt/notesSlides/notesSlide21.xml" Id="R17ab842f84a243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ecf9dbc80404c" /><Relationship Type="http://schemas.openxmlformats.org/officeDocument/2006/relationships/notesSlide" Target="/ppt/notesSlides/notesSlide22.xml" Id="R013bab1482eb46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9817961264ed4" /><Relationship Type="http://schemas.openxmlformats.org/officeDocument/2006/relationships/notesSlide" Target="/ppt/notesSlides/notesSlide23.xml" Id="R960386a503204f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988c3c52d4c83" /><Relationship Type="http://schemas.openxmlformats.org/officeDocument/2006/relationships/notesSlide" Target="/ppt/notesSlides/notesSlide24.xml" Id="R478506b5bb6240c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cae25173e4e93" /><Relationship Type="http://schemas.openxmlformats.org/officeDocument/2006/relationships/notesSlide" Target="/ppt/notesSlides/notesSlide25.xml" Id="R054fa06166d54b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a9e6386474157" /><Relationship Type="http://schemas.openxmlformats.org/officeDocument/2006/relationships/notesSlide" Target="/ppt/notesSlides/notesSlide26.xml" Id="R0468a8793d5e46e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d760d5a6241ae" /><Relationship Type="http://schemas.openxmlformats.org/officeDocument/2006/relationships/notesSlide" Target="/ppt/notesSlides/notesSlide27.xml" Id="R431f2db7cffd4a9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0f28c51fb4d23" /><Relationship Type="http://schemas.openxmlformats.org/officeDocument/2006/relationships/notesSlide" Target="/ppt/notesSlides/notesSlide28.xml" Id="R4961635a7a954b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790336a1e46c2" /><Relationship Type="http://schemas.openxmlformats.org/officeDocument/2006/relationships/notesSlide" Target="/ppt/notesSlides/notesSlide29.xml" Id="R12f01fc5824146d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76cfb5d684c6f" /><Relationship Type="http://schemas.openxmlformats.org/officeDocument/2006/relationships/notesSlide" Target="/ppt/notesSlides/notesSlide30.xml" Id="Rdffc7c7e28df416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3ab03f5c649b2" /><Relationship Type="http://schemas.openxmlformats.org/officeDocument/2006/relationships/notesSlide" Target="/ppt/notesSlides/notesSlide31.xml" Id="R244b779ace524d4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c496ea15041c1" /><Relationship Type="http://schemas.openxmlformats.org/officeDocument/2006/relationships/notesSlide" Target="/ppt/notesSlides/notesSlide32.xml" Id="Rce417ec9edca4d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0ba4ef77b43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6FC6-AC73-47C3-8925-B214CF9F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5DCF9-C03A-47AE-9E8F-DC8B736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IGCSE 0509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E9E1D3"/>
                </a:solidFill>
                <a:latin typeface="STKaiti"/>
                <a:ea typeface="STKaiti"/>
                <a:cs typeface="STKaiti"/>
              </a:rPr>
              <a:t>中文第一语言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170D-BAC9-471B-AD7B-13FFF30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00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第一单元</a:t>
            </a:r>
          </a:p>
          <a:p xmlns:a="http://schemas.openxmlformats.org/drawingml/2006/main">
            <a:pPr>
              <a:buNone/>
              <a:def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46876-FEE9-4323-88A3-B0481214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>
              <a:buNone/>
              <a:def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95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Y10 第一个学期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9F32-BC8C-4047-BBC0-E0C518B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指导写作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1650" b="0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</p:spTree>
    <p:extLst>
      <p:ext uri="{BB962C8B-B14F-4D97-AF65-F5344CB8AC3E}">
        <p14:creationId xmlns:p14="http://schemas.microsoft.com/office/powerpoint/2010/main" val="211324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2EDC-8E0B-4F9A-89DD-B3050E86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B1035-820B-40FC-AA2E-D547FE9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本单元的学习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C7F34-4D59-4A53-921F-5609FEF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课文学习要留下可以看见的阅读与写作证据。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41BD-9DB4-4ED0-87E1-1F110CC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C863-7E07-4F67-9120-5E8B82F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8359-0E77-4B2D-998D-61C46F1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从细节推断人物、立场和表达效果。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2CBB-4AFC-40C1-BBAC-478C62B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DA29A-3466-48B0-97BF-CA01DCE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EC96A-8BEA-4EBE-A9DF-4581872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814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把两篇材料放在同一问题下，选择真正有用的信息。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7200B-A5FA-4E8E-909B-79382173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70EA-FA6F-49E1-9A25-69580A3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14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03"/>
          </a:bodyPr>
          <a:lstStyle xmlns:a="http://schemas.openxmlformats.org/drawingml/2006/main"/>
          <a:p xmlns:a="http://schemas.openxmlformats.org/drawingml/2006/main">
            <a:pPr>
              <a:buNone/>
              <a:def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46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D2F39-9F09-4E8F-80AD-08DB9179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让具体细节、清楚组织和恰当语气服务题目。</a:t>
            </a:r>
          </a:p>
        </p:txBody>
      </p:sp>
    </p:spTree>
    <p:extLst>
      <p:ext uri="{BB962C8B-B14F-4D97-AF65-F5344CB8AC3E}">
        <p14:creationId xmlns:p14="http://schemas.microsoft.com/office/powerpoint/2010/main" val="1134930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888A-82C4-48D1-8160-996D5A0A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2F227-5B28-403B-84D6-4459D45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文化认同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6B00-7135-4411-AFD3-B39ABA7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先观察，再解释；先理解差异，再提出判断。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0C93-FA8E-4308-AD8B-0B6EFC5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6DAF9-C8C7-469A-A8C1-A77DD48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一个人如何认识自己？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D5277-0E28-43FB-A3AA-54FD7A1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谁给一个人命名？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87BC-994E-48CF-8067-50EE422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语言、记忆和地方怎样影响归属感？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12D89-6C7D-4578-81A1-24E5874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1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F0B25-7304-40D1-B331-FAF67BA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写下一个初步回答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F33C-2891-4713-A978-0065F50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89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先写一个具体观察，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再写你的判断。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037C-0C76-46C7-B330-7633746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9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840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D399-3A99-410D-9552-F8E2406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8C70-DFB3-4C80-9D48-44D689C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从现象走向意义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A2EC-7F6B-47E1-8543-1CE90CB6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文化分析不是给人贴标签，而是寻找行为背后的经验和价值。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3AE4-C282-40B5-9BED-037F9319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22D39-7698-4B7B-9237-3B9CCFB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看见什么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0578A-6F09-4E9D-974D-A02FF46E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3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一顿年夜饭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一种称呼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一首熟悉的歌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AA91-8CE3-4140-8FAA-E0D59BC1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D844-41AA-41A1-A202-3A2AFD7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怎样做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F8695-1CC4-4211-89EB-CE46AE6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在什么时间做？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和谁一起做？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什么反复出现？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3B9B4-F137-40C2-A13C-9AE0528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7FB64-3DB3-4E8D-9859-5BB4696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意味着什么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197B7-3886-4EF7-9F33-6C73B2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35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关系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记忆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C5315-ACBA-46B0-909E-843E9AA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buNone/>
              <a:def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好答案会说明：哪一个文本细节支持我的解释？</a:t>
            </a:r>
          </a:p>
        </p:txBody>
      </p:sp>
    </p:spTree>
    <p:extLst>
      <p:ext uri="{BB962C8B-B14F-4D97-AF65-F5344CB8AC3E}">
        <p14:creationId xmlns:p14="http://schemas.microsoft.com/office/powerpoint/2010/main" val="506532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160d8a97740c7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8B0C-0735-44BD-A4F3-A786A03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B3FC4-6A7F-4B94-9F0D-EC07969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185D2-C9E7-4CA1-A85A-1C0A09A9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《假黎婆》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A2AD-3FF1-41F6-9D71-5D8427F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人物、称呼、记忆与归属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36A94-A387-46E3-989A-FF04B67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448750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90E6F-F4F8-4968-B515-496FA0E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3F077-B6EF-445F-A6A3-D08EFF2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谁在命名她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5FC2-552A-46C1-8962-022F972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别人给的称呼与“我”认识的人，可能并不相同。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F2A5F-0505-4C0B-B14C-48FD8AA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1186-124F-42FF-909F-B0BF535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别人看到的她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BDBD8-C7BC-43FF-B613-C5924D0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外貌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住处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83A28-8F2A-4265-939A-A083376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3A86F-624F-4FDC-8016-F4D2AD2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18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“我”认识的她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45F54-A54E-4A1F-AB1B-56D3885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59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</a:t>
            </a:r>
          </a:p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A17E-8795-4693-9D72-43ACA9E6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说一说：我们目前认为她是一个怎样的人？哪一处细节支持这个判断？</a:t>
            </a:r>
          </a:p>
        </p:txBody>
      </p:sp>
    </p:spTree>
    <p:extLst>
      <p:ext uri="{BB962C8B-B14F-4D97-AF65-F5344CB8AC3E}">
        <p14:creationId xmlns:p14="http://schemas.microsoft.com/office/powerpoint/2010/main" val="748557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E0898-518B-43C2-A60E-EAFD5685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D4D8-9614-4506-AB4B-F42F435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从细节到推断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4842B-9116-4973-A5E1-D0C2ABE3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把“她很……”改成能够被同学核对的解释。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1277E-6680-418A-AE4F-2388491D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72B81-649A-4199-8E68-919B64C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文本写了什么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8B598-196C-455C-800B-E543318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动作、语气、物件或称呼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1A9E5-15F4-47A6-8386-3207D0D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F46B-FA72-4778-96A5-EB0B661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我怎样理解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97E43-24AF-4A07-B35C-2C2E82B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这个细节可能暗示……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0D03F-44EF-44EC-ADC2-2843EA0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EBBD8-82B4-4168-98B1-3109057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002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为什么这样理解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A4AE0-3BBE-46F5-B11F-928F3C8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003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联系上下文，说明理由。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EB5B6-F81F-45D5-BDFE-91B3869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答题句：作者写“……”。这个细节显示……，因为……。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42211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CF04-33EC-4310-AC69-72006E2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0EBB7-E53F-4651-8CC2-AA0E2D2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一包盐，一斗米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E5824-0ABA-4E27-B030-EEECF37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人物的选择常常透露处境、原则与关系。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F40D6-A019-4525-828D-86DFBD9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AB86-25E3-43DB-BA70-8FEC7BDF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如果是你，会怎样处理？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28A38-6229-46D8-BC96-C327A48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03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收下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拒绝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留下部分</a:t>
            </a:r>
          </a:p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另想办法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FF17-EB46-460D-86E9-352384CD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BA4C9-B88D-4188-A0F7-7485992F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读完后改写你的选择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8113F-0018-4CA1-9258-A278631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286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她的行动回应了什么处境？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她的语气怎样帮助读者理解？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哪一个词或动作最能支持你的说法？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179E-5116-4B8A-B063-8AF4A12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buNone/>
              <a:def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可以有不同解释，但每一种解释都要回到文本。</a:t>
            </a:r>
          </a:p>
        </p:txBody>
      </p:sp>
    </p:spTree>
    <p:extLst>
      <p:ext uri="{BB962C8B-B14F-4D97-AF65-F5344CB8AC3E}">
        <p14:creationId xmlns:p14="http://schemas.microsoft.com/office/powerpoint/2010/main" val="1810590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26B7E-75AA-4FFE-9720-1D1B875F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A6D91-EC56-4FF1-AD06-B57C0FC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山路上的歌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6AEC1-B93E-4C34-93BB-A89FF69D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场景的变化，怎样让读者看见奶奶与“我”的不同感受？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CC382-4812-4896-8CDE-58A3C26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72A7F-CE80-4274-841B-92629F4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85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DF1A-CED9-44B3-8FB1-B05DF08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340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6A3D-9AC3-4C82-87F3-7541B9C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290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A9361-319A-4ABD-826D-53C6B60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2099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雾气中的山路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或树林里的人影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避免使用人物肖像替代课文人物。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46BB9-1C72-4633-9428-C5AD81D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奶奶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D2153-8CAC-49F5-AD2A-30D64011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3C626-D9CF-43A8-B5A9-86B1275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“我”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B0931-3FDF-476A-99FB-3895263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起点：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过程：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终点：</a:t>
            </a:r>
          </a:p>
        </p:txBody>
      </p:sp>
    </p:spTree>
    <p:extLst>
      <p:ext uri="{BB962C8B-B14F-4D97-AF65-F5344CB8AC3E}">
        <p14:creationId xmlns:p14="http://schemas.microsoft.com/office/powerpoint/2010/main" val="1305551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A165D-ABCA-492A-99E6-B884B83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703BC-12A2-4A7F-96F8-B58E0F8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看得见的细节，看不见的经历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BC84B-5518-47FC-A48A-FDD223A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用文化冰山帮助解释山路、歌声、语言和服饰。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46CA-1C86-416E-8518-BFAA211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70F7-78BC-4C42-BAD4-640AAF4D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课文细节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EBE0-53B9-441F-BA93-D165621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1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走山路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唱歌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使用的语言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穿着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54967-1267-4ABA-AB1A-2FC18BA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BA5C9-A0F4-4489-9B73-B3A489BB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8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经验与习惯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DA18D-E1BC-4A49-9BF0-2F8DD51E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86050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哪些生活经验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让这个行为显得自然？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FAFF9-EAC5-46AE-9BC3-DFBD6C1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71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3A936-2BDB-4B86-95A6-24B629DF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71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可以推断的意义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588F8-EBC1-4CBB-BEBE-B4AEC4E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6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归属、记忆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被忽略的自我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0D946-A909-422B-A94F-0C6BB7F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提醒：推断不是猜测。每一步都要带着课文细节。</a:t>
            </a:r>
          </a:p>
        </p:txBody>
      </p:sp>
    </p:spTree>
    <p:extLst>
      <p:ext uri="{BB962C8B-B14F-4D97-AF65-F5344CB8AC3E}">
        <p14:creationId xmlns:p14="http://schemas.microsoft.com/office/powerpoint/2010/main" val="1207164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A5022-0CF7-4110-9B74-13C7AA3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1936-C2EB-418C-A724-0E0543D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标题与结构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FF6BA-1116-457D-BF6C-ED2054C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“假黎婆”这个标题，保留了谁的眼光？又改变了什么？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87BA-12D8-4FE9-A13A-5EF52729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14858-3D31-4C2C-A916-731C83F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时间线拼图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5132-AB53-4C00-82E0-DB22264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57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童年相处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上山唱歌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离家求学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再见弟弟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扫墓回忆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04161-9A7B-4E4E-903A-6815F8CA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2EA1-0822-4228-BE26-B81058B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717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标题再读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4B78A-7801-4EB4-8968-41CB83FD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如果题目叫《我的奶奶》，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文章会少掉什么？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称呼怎样呈现社会的眼光？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“我”的理解怎样变化？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9222813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0D2BC-C013-49C5-B773-15F9717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BC31E-99EE-4D6F-9727-F4D5CC0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描写：一个瞬间，看见一个人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675EC-64A4-4152-8E14-72B0C10A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把“文化”放进人物、物件、动作和环境，不写成口号。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A47D0-A4CD-48AB-9F1F-FD709F4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A9FEC-DE1C-4D98-B93C-305E487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92567-075B-44F0-9E61-5C69F14B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2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谁在做什么？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F99E-79A8-4E01-B299-4CAF8D4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一个物件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E0355-0889-45DC-B343-6B13DC4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0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什么东西留下记忆？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69286-717B-4637-BC07-883B6B2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一个场景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4930-C21C-401A-AB7D-1C0AB89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06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时间、声音和光线怎样变化？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19DE-33B0-4754-AEE8-E083A9C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C567-0685-4EFC-9529-05F280E7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962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任务：描写一位熟悉的人在一个具体场景中的样子，让读者从细节发现这个人与一种生活文化的联系。</a:t>
            </a:r>
          </a:p>
        </p:txBody>
      </p:sp>
    </p:spTree>
    <p:extLst>
      <p:ext uri="{BB962C8B-B14F-4D97-AF65-F5344CB8AC3E}">
        <p14:creationId xmlns:p14="http://schemas.microsoft.com/office/powerpoint/2010/main" val="42710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404C9-38AA-4357-9EFB-DEA2BF6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C10A-49C9-4AA9-944C-0F30DA1C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描写的同伴反馈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49BB-9178-4F3A-BE9C-390B94A8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反馈要告诉作者：哪一处有效，下一步应该改哪里。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B24BE-C6D8-4969-B4E6-C351FBD3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DE70E-C495-43CE-AD9B-0C633D0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我看见了……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B430-CC13-41A2-B976-193B3CB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45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“……”这一个细节让我看见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人物、场景或关系。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DC4EC-B617-483D-86DD-1AF8081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9B970-6E49-4AA8-A53D-D3C31BB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我还想看见……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D0FF-7C8B-49B0-B613-02860F5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如果补上“……”，</a:t>
            </a:r>
          </a:p>
          <a:p xmlns:a="http://schemas.openxmlformats.org/drawingml/2006/main">
            <a:pPr>
              <a:buNone/>
              <a:def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4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读者会更理解……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6FA1E-2443-4B7F-AA84-34F8CF0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最后检查：删掉“文化”二字后，文章中的人物和场景仍然成立吗？</a:t>
            </a:r>
          </a:p>
        </p:txBody>
      </p:sp>
    </p:spTree>
    <p:extLst>
      <p:ext uri="{BB962C8B-B14F-4D97-AF65-F5344CB8AC3E}">
        <p14:creationId xmlns:p14="http://schemas.microsoft.com/office/powerpoint/2010/main" val="17804373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6259F-33C5-4481-BCD5-A6777CB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019A-7514-4D0F-9051-11E7124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阅读短答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317E3-7687-403D-BF64-3E8A641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语言理解题通常要求理解、推断或分析表达效果。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E78C8-8E9D-4B67-B277-BEE85DEB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9B1A-E8AD-4E5F-B799-3281D55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A832-104B-404C-914F-BDA123B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发生了什么？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人物怎样反应？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A43D3-B94D-470C-8E67-B24C87C4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083E-AB3A-4EF8-8CAF-70E676F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这句话暗示什么？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哪一个细节支持？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E891-B66E-4D66-A8B2-72ABA7C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C7458-7749-44D7-BDA2-26D4401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作者怎样写？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这给读者什么感受？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468DF-7CBF-4A6C-8BC5-B60F1B04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效果题的答案要有两部分：语言特征 + 对读者理解的影响。</a:t>
            </a:r>
          </a:p>
        </p:txBody>
      </p:sp>
    </p:spTree>
    <p:extLst>
      <p:ext uri="{BB962C8B-B14F-4D97-AF65-F5344CB8AC3E}">
        <p14:creationId xmlns:p14="http://schemas.microsoft.com/office/powerpoint/2010/main" val="511071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954b0ff094612"/>
          <a:srcRect xmlns:a="http://schemas.openxmlformats.org/drawingml/2006/main" l="19124" t="0" r="191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0"/>
            <a:ext cx="7524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DD27-14E6-4B9A-88F4-279D8E2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62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2E">
              <a:alpha val="9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F7DD8-A2D9-45AF-86AC-96E30B2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97BCD-B231-4B0B-9913-3733A6AC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新加坡多种族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政策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D714-CD37-4673-B268-6E242EA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指导写作：双文本整合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1C6E-E6EB-477F-AA5B-05E3BBA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用编号找证据，用段落完成论证。</a:t>
            </a:r>
          </a:p>
        </p:txBody>
      </p:sp>
    </p:spTree>
    <p:extLst>
      <p:ext uri="{BB962C8B-B14F-4D97-AF65-F5344CB8AC3E}">
        <p14:creationId xmlns:p14="http://schemas.microsoft.com/office/powerpoint/2010/main" val="1562088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4B9B6-8730-4B3B-829F-AB1E25D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B17FF-97B5-4EF3-9142-19CF35D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两则短文，一个题目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B109C-8266-4097-A289-A212409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短文一介绍政策设计；短文二呈现促进交流的社会实践。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A3FD6-7A25-4BF1-BF6C-96AC3CC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4C52E-20CD-4EF1-A045-A56DC0BB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短文一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8826-3E49-4D4A-B0E3-08CDBEF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政策与制度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CMIO 模式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语言、住房、融入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D83A7-77A8-4141-B279-9D921D49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67C33-56F7-4B48-917F-07F4CFF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8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短文二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AAE75-79AD-4898-8E4F-C1988C8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66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社会实践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跨族群活动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公共假日、国民服役、种族和谐日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CD178-F208-410F-9132-41899FF3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先问：每一则短文在回答同一个问题时，能提供什么不同帮助？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B5F25-6299-45A3-8E98-D631D4C9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C48C2-3A9F-4533-9CF7-9EBE5907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E79C0-114B-4337-ADD8-CE08465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指导写作：从材料到有针对性的文章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628DE-29CD-4C9E-9BE5-6BA42A7E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两篇材料服务同一问题；答案必须回答题目指定的三个要点。 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E5703-E288-4E25-93AC-2260F52E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D4C6B-70C5-4FBE-9823-6EFF0089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476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CE1D9-DD88-407A-A503-5481CF97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9826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99826C"/>
                </a:solidFill>
                <a:latin typeface="STKaiti"/>
                <a:ea typeface="STKaiti"/>
                <a:cs typeface="STKaiti"/>
              </a:rPr>
              <a:t>材料输入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928FB-DA4D-4722-B32A-D4894D64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65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政策、制度与融入安排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7B7EB-924B-4913-A564-1062C32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CMIO、双语、居住配额、</a:t>
            </a:r>
          </a:p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融入与归化倡导员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CEAF4-436D-4758-A96F-D7AB92BB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22E8D-3AF5-4D6A-BE0B-68464369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学校、社区与共同经历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CDD6B-803D-43C1-A0B7-B717AF6C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4E1AE-8B07-4C86-B6CF-52C5F3E4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文章产出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D1972-3D8A-4B4D-BAB7-D60E24FC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向指定读者写一篇</a:t>
            </a:r>
          </a:p>
          <a:p xmlns:a="http://schemas.openxmlformats.org/drawingml/2006/main">
            <a:pPr>
              <a:defRPr sz="187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论证／讨论性回应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4AA97-C38E-41A8-8D98-9269245E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答全三个要点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使用两篇材料</a:t>
            </a:r>
          </a:p>
          <a:p xmlns:a="http://schemas.openxmlformats.org/drawingml/2006/main">
            <a:pPr>
              <a:defRPr sz="150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0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250–350 字，以自己的话表达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FA3D7-878A-4DA2-B6C9-3A91646D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编号帮助你覆盖题目；它不是文章的最终结构。</a:t>
            </a:r>
          </a:p>
        </p:txBody>
      </p:sp>
    </p:spTree>
    <p:extLst>
      <p:ext uri="{BB962C8B-B14F-4D97-AF65-F5344CB8AC3E}">
        <p14:creationId xmlns:p14="http://schemas.microsoft.com/office/powerpoint/2010/main" val="1359772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8D005-9BBD-41C2-B083-2ABAC7C1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36CC-5214-467F-9F64-25B1A3C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第一遍阅读：给信息分类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521D7-2FF1-4178-9216-1499459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不急着写答案，先分清事实、想法和意见。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65F7-EF1E-47E1-A7A0-D7340AD0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E9D5-6312-4F55-9299-20CB925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事实信息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5817E-DEF6-4F6F-B456-57CADE8C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可核对的政策、做法、时间或活动。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C4EB-83DF-4B76-B7DA-D344767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想法信息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76101-D014-473C-9CE7-278820C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作者怎样解释一项做法的意义。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D4C86-551B-4E30-BD7E-D3D42D4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7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意见信息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2120E-701D-4C5D-A01C-41385BB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作者或材料希望读者接受的判断。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B5C25-974C-404F-9D24-CC32004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DD840-6360-4529-866D-B0FA505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写在页边：这条信息将来可以回答题目中的哪一个要求？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C6FAA-2488-4F55-B56A-A3DE0DE9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DD419-A517-451D-9245-7780DAC3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E9C0F-CA87-41B3-9038-FB67EF82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先拆题：三个要点就是三项写作任务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DEB42-89AD-4BBC-9567-E7101AAE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先圈身份、读者、目的，再给每一个内容要求编号。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9EE00-C7A4-45F5-9732-BDBDF1C7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15073-89F4-45E8-9C8E-F99761D3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1043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52F87-E6FF-4A9B-B4C8-5374CCD1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336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校报正在讨论：多元社会如何形成真正的归属感？请根据两则短文，给同学写一篇文章。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999F7-849D-4B01-9F50-48E8B41E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841ED-A241-45FC-913A-BDBE6F5E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05B65-2DA9-4452-BF9F-7DF01F5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385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说明政府怎样维护不同族群的平等地位与文化特点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35DD9-AA20-4D5C-BC1D-DDBA122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00D88-F58C-43DD-B372-EC58CB2C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76025-FC47-431D-A288-A18DB4B5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说明学校、社区等怎样创造跨族群交流的机会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D384F-777A-4068-996F-347268B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704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E0840-6940-49E5-B03E-B08771B7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21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A4424-81BB-40B7-9220-0C1D1A10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结合两则短文，评价制度安排和日常互动怎样共同促进认同</a:t>
            </a:r>
          </a:p>
        </p:txBody>
      </p:sp>
    </p:spTree>
    <p:extLst>
      <p:ext uri="{BB962C8B-B14F-4D97-AF65-F5344CB8AC3E}">
        <p14:creationId xmlns:p14="http://schemas.microsoft.com/office/powerpoint/2010/main" val="1656147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022A6-5454-4D91-90AD-54ED648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ED9ED-7FAF-4292-87C9-6136CB2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从材料到问题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F47E5-31AA-44C9-A4E8-DE571BA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政策怎样回应身份认同、接触机会和融入社会的需要？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25DD-198B-407E-87BC-F8223C0B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9E4D8-434A-4A49-B6A7-820D9513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家庭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DDB22-4E49-4E09-B143-5C01282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希望保留什么？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担心什么？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9C3EA-A5B6-4A66-83E7-B9FE2F4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C4E47-7B9E-476E-80A0-C9A086E9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怎样创造交流机会？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哪一种活动最有用？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84C5B-0DDC-4FFE-9EEF-DF6EEA3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社区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7943B-7210-40B9-A47E-D58CAA18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538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什么让人愿意参与？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谁可能被遗漏？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F0EAC-3366-4289-9A0F-C10440F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19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新移民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510FF-06A7-4D15-A4D2-35ED760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最需要哪一种支持？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D0856-1A18-4671-B239-943A5AA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每一组只能用短文一、二中的两项信息，提出一项具体建议。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23737-A2C3-45FD-B185-B0F1AD60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24A5A-A67E-46BA-8F2D-A8770F73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D7555-1425-4FBB-B797-C34CF60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证据编号法：每个标签都说明“答什么、来自哪里”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EA15D-5099-487F-944F-B79796A6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格式：题目要点＋材料来源＋该要点下的序号。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76AEE-6DCD-4493-B069-48BCFC1E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17D6E-75FD-4D45-8EF8-CDEF7DDB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322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 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F251A-0CD5-497B-BACE-0BCFA9F7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  对应题目的第一个要点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ED544-26DC-41B2-A4BC-3A775B36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A  来自短文一；B 来自短文二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F17E9-404D-4880-819E-C8D5DA3C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1  同一要点下的第一项可用信息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337D9-F40B-479F-A369-FB87AB22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35C09-EF0C-4827-BDC5-CEE2B5A7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在原文边上这样标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C7C37-56ED-401B-8EC6-9B6EF439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842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①A1  CMIO：不同族群享有平等地位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①A2  双语教育保留母语与族群语言</a:t>
            </a:r>
          </a:p>
          <a:p xmlns:a="http://schemas.openxmlformats.org/drawingml/2006/main">
            <a:pPr>
              <a:defRPr sz="157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57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②B1  跨族群课外活动创造交流机会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758AE-B3AD-4D54-870A-57AC34C2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86275"/>
            <a:ext cx="1666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不要抄整句。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圈关键词，再写“它说明什么”。</a:t>
            </a:r>
          </a:p>
        </p:txBody>
      </p:sp>
    </p:spTree>
    <p:extLst>
      <p:ext uri="{BB962C8B-B14F-4D97-AF65-F5344CB8AC3E}">
        <p14:creationId xmlns:p14="http://schemas.microsoft.com/office/powerpoint/2010/main" val="702837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7FA6-4B02-42CA-9CE4-D18DD16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0E07-F057-47F2-B1C5-A3D6C18A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28D59-7E83-4EED-8522-4D6AC85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先分别找信息，再判断共通与差异。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58261-793F-43E5-A1C6-3655193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56000"/>
                <a:gridCol w="3556000"/>
                <a:gridCol w="35560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材料问题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短文一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短文二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政策或做法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回应的问题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页码／关键词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我怎样使用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比较／举例／评价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1FDBB-D3D3-4412-B5C6-1D77CBBE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15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你的每一格都要能够回到原文。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9B7FD-6CEB-465C-A10A-CDBC070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A6FEA-785B-4519-BC6E-25035730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963E5-6543-4124-8752-4982FED6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短文一 A：政策怎样为认同提供基础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C6685-CD6C-470F-8FFE-CD81D5E2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先把短文一的材料放进最合适的题目要点，不求每一句都编号。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F45F1-990F-4339-94BA-F6287B94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59C3A-C6AC-4108-AD36-66B66D65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91183-C299-48BB-9DAE-A58494EC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A2BE5-B71C-4C9A-AD3D-B62046AE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822B3-D335-4DCE-BCC4-CD891DE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6A995-0E31-400B-A449-9883E978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F0675-29D6-46AE-B777-23ECED07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62D38-EFDB-439C-B83F-C7F5AADD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CMIO 模式让华人、马来人、印度人与其他族群享有平等地位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CF3B9-51DC-4C59-B64C-1A84896A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维护平等地位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A8B9E-2F19-469F-827A-861D813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6B983-7238-426D-A535-D0D65C1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①A2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C74E8-4508-4210-8951-6C1688C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双语教育中的母语学习保留各族群的语言特点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BCA00-D6FB-4BC9-91EA-0DAC0060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保留文化特点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45E12-4D48-4369-8528-576A125D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675F6-F0A7-46C1-8FCC-7AE76207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D9EE61-2BA5-42D3-B557-FB17CD2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种族配额制与公共场所让不同族群有接触机会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B0D90-6219-43D5-9995-07B7B320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创造交流条件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68C1E-FDB3-4F2D-8A0C-ACA5FF71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B523D9-A45D-4D9C-8056-CF2FEF4E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②A2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52A80E-350D-4708-86B8-9C4CDF5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融入与归化倡导员协助新移民参与社区生活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794CB-7638-41AC-9C84-341691B7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帮助融入社会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36D2D-F23D-4E3A-BA24-BB84EB27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学生核对：我标的不是“有趣的信息”，而是能直接回应题目的一点。</a:t>
            </a:r>
          </a:p>
        </p:txBody>
      </p:sp>
    </p:spTree>
    <p:extLst>
      <p:ext uri="{BB962C8B-B14F-4D97-AF65-F5344CB8AC3E}">
        <p14:creationId xmlns:p14="http://schemas.microsoft.com/office/powerpoint/2010/main" val="1082808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D528-B740-46B6-905C-86B97B6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FA530-188E-423D-845E-107001BE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BC691-2CCC-45E3-90F4-364C223D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以学生代表身份，为“多元文化周”开幕活动写一篇发言。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583AF-220A-494B-9E74-5E398B4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92A1D-C142-44CE-815E-7423882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你的读者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E44F4-2269-4A2E-BF97-F465F5AF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74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同学、家长和社区成员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7311-1F6B-4238-8D06-648E7A6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你的目的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D6447-AABD-4650-92F4-5383B10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说明一项成效、一项挑战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并提出一项有根据的建议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52D25-A6E8-4320-B311-54B1238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616"/>
          </a:bodyPr>
          <a:lstStyle xmlns:a="http://schemas.openxmlformats.org/drawingml/2006/main"/>
          <a:p xmlns:a="http://schemas.openxmlformats.org/drawingml/2006/main">
            <a:pPr>
              <a:buNone/>
              <a:def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材料要求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D800A-0D7F-497F-B988-C71C497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336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874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两则短文都要发挥作用。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用自己的话表达。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2C6F3-0D2F-46FC-8458-30832125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637D-3F7E-46D4-9AE7-CBBCEA4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18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交稿前问自己：我的每一段都在回答任务吗？我有没有把材料改写成自己的表达？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70B2C-6BFE-4A5A-8C73-07664F3A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F2167-A2ED-4676-81CD-93EDB1FF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042C9-4FC3-40DD-893C-5721C3E5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短文二 B：共同经历怎样把“接触”变成理解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FECEA-75D9-463E-BA83-92284248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短文二主要帮助回答第②与第③点。 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001C3-72E9-4FA4-8B92-50AAA05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4ACB5-B590-4459-A4BF-ACBCE53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C31C6-3FCA-4458-A9DE-E20594CD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编号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A691F-1F63-484D-9A93-7BFCB3CF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97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材料关键词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B85C0-EC92-46DC-8248-5ACA9CD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9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350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它回答什么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2C02C-1189-4051-950A-D2BC9DF5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7E97D-019F-46DF-BC9F-3A5984C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282FBD-499D-4753-8C5B-875887E9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跨越种族的课外活动让学生一起参与、消磨课余时间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CA3F3-543B-4E10-95FD-BAF7728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学校中的交流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F85A1-6423-49C2-A69D-559657FC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D6E569-BF88-4B19-8F02-994BE19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8612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07B46-0C15-4F40-BD0E-C2ED5658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种族和谐日、校园庆祝与社区文化周让居民共同参与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3A66E9-4F84-4F4E-81A3-0FD37FE5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86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社区中的交流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1480CE-0FBF-47C3-AC9B-9008AF55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73E5D9-ED46-4F94-8D29-73542F8D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②B3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C3129B-BF25-4005-B731-0A61123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国民服役让不同背景的人共同维护国家安全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8D4B64-63C3-4AC5-BEE7-0E70C1A6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共同经历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0CA4B-AEB3-4893-A2EE-20FE6AB9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104394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E454D8-8665-4A81-9257-6BF1AB70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500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③B1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1793A-AF01-45E7-9FCB-B5BC2E14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672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共同经历使人学习相互理解与尊重，体会社会多元性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2D9040-B8E1-45C3-9702-EAC71DC1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42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认同如何形成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FCF494-BC64-4E1F-A623-5FE92F31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35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一个信息先归入最主要的要点；写作时可以在另一段把它用于联结。</a:t>
            </a:r>
          </a:p>
        </p:txBody>
      </p:sp>
    </p:spTree>
    <p:extLst>
      <p:ext uri="{BB962C8B-B14F-4D97-AF65-F5344CB8AC3E}">
        <p14:creationId xmlns:p14="http://schemas.microsoft.com/office/powerpoint/2010/main" val="5381845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445D-3253-4723-AE26-22F93DE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FFDD-A68B-4F7D-879B-383888C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写前计划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3549D-0A19-4852-B177-0BC6B28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写之前决定每一则材料在答案中的工作。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0688-E48D-41DD-856E-9ED08DB7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17C6D-A7D3-4C44-8634-0817931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74562-E465-44E9-9850-582280A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身份、受众、我要回应的问题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9C1E-D8C1-4620-95DF-ACA98EE2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第一段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E5239-7660-4951-9040-5304F33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一项有用的做法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来自哪则材料？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D9AFD-F667-42FA-B533-5B38C34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第二段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745A3-88B1-430E-AD59-8193EA3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一个需要面对的问题</a:t>
            </a:r>
          </a:p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如何回应？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905A8-E999-44CE-B805-8BEC3D5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24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C6FAA-0863-4525-82F8-9FB14E40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1460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232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具体建议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7465F-F525-4D6A-8750-9B6DDA9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不要为每一则短文各写一段。围绕问题组织信息，才能真正整合材料。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4F136-42BB-43FF-99F7-D4CA2B8B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28EC2-0EDA-42F8-B211-2354F408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ABB7C-E246-4C80-8C01-4F763234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第三个要点：把两篇材料放进同一个判断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37346-79CA-42C2-99ED-2A4FBF3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整合不是“短文一说……短文二说……”，而是说明两者怎样共同回答问题。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CBC6D-0D2E-4DAC-B2C7-20074986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2223C-7B87-4B99-92A1-5CAD0B1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19DA8-30F4-472A-8F43-D65CB7C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短文一提供条件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9CFF4-9C5D-4248-A0E4-7460F05A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平等地位、文化空间、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接触机会与融入安排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C3DE2-D9CF-4F49-82CA-C248D0FD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191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DEC85-8840-4A7B-98E4-DC4FE883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短文二呈现过程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1FC32-89E5-4750-AA14-614F77B4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一起学习、参与活动、</a:t>
            </a:r>
          </a:p>
          <a:p xmlns:a="http://schemas.openxmlformats.org/drawingml/2006/main">
            <a:pPr>
              <a:defRPr sz="17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7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承担共同责任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63DE9-B28D-429F-91E1-7CC33466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33625"/>
            <a:ext cx="137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9DC53-3A20-49B2-81A4-14A96F19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66975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共同</a:t>
            </a:r>
          </a:p>
          <a:p xmlns:a="http://schemas.openxmlformats.org/drawingml/2006/main">
            <a:pPr>
              <a:defRPr sz="1875" b="1">
                <a:solidFill>
                  <a:srgbClr val="FBFAF7"/>
                </a:solidFill>
                <a:latin typeface="STKaiti"/>
                <a:ea typeface="STKaiti"/>
                <a:cs typeface="STKaiti"/>
              </a:defRPr>
            </a:pPr>
            <a:r>
              <a:rPr sz="1875" b="1">
                <a:solidFill>
                  <a:srgbClr val="FBFAF7"/>
                </a:solidFill>
                <a:latin typeface="STKaiti"/>
                <a:ea typeface="STKaiti"/>
                <a:cs typeface="STKaiti"/>
              </a:rPr>
              <a:t>认同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FC34A-D6F0-4358-BA6F-3BB2ECD6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DC0"/>
          </a:solidFill>
          <a:ln xmlns:a="http://schemas.openxmlformats.org/drawingml/2006/main" w="0">
            <a:solidFill>
              <a:srgbClr val="D7CDC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7A425C-78C9-4585-9737-C37AB505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把编号改写成判断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870C1-934D-4CAB-8CE2-0D5CF9EA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制度安排让不同群体有平等地位和相遇的机会；学校、社区与国民服役中的共同经历，</a:t>
            </a:r>
          </a:p>
          <a:p xmlns:a="http://schemas.openxmlformats.org/drawingml/2006/main">
            <a:pPr>
              <a:defRPr sz="165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65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则把“有机会接触”转化为理解、尊重与较稳定的归属感。</a:t>
            </a:r>
          </a:p>
        </p:txBody>
      </p:sp>
    </p:spTree>
    <p:extLst>
      <p:ext uri="{BB962C8B-B14F-4D97-AF65-F5344CB8AC3E}">
        <p14:creationId xmlns:p14="http://schemas.microsoft.com/office/powerpoint/2010/main" val="12893008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2283D-779F-425D-A35E-0455EAC2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121B5-D1DB-48E3-A0A5-A67670C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回应概括性写作反馈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37CD-F64D-4F92-9146-20C021E3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批改时看材料怎样被使用，而不只看材料出现了几次。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A4990-4634-4E1A-90A6-BC5D2C40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8B81-0486-44D0-B5AD-C756941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59C40-4718-4DE6-9D0C-013E9552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我选的信息是否服务题目？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5C7E-CE5F-4CDE-BCED-A0F77268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9C5A-5E55-4804-8E21-1413C58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两则材料是否在同一回答中发生关系？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FA485-19A6-451A-A2ED-DDE3B293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3150D-446B-4815-89F9-5F6CD72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598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我是否用自己的语言表达材料？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5F2B-38DB-4EC7-8AAE-7DE41A9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语体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B5D3F-C9D4-430E-8F98-B10AA99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19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19"/>
          </a:bodyPr>
          <a:lstStyle xmlns:a="http://schemas.openxmlformats.org/drawingml/2006/main"/>
          <a:p xmlns:a="http://schemas.openxmlformats.org/drawingml/2006/main">
            <a:pPr>
              <a:buNone/>
              <a:def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1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读者能听出我是向谁说话吗？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23F7-B7AF-4B67-83A1-50C7CBA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一个优点：__________     下一次我先做到：__________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E5448-73AB-4285-BDCA-75C4368A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648DB-2D90-4457-B4B8-56B2587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72F"/>
          </a:solidFill>
          <a:ln xmlns:a="http://schemas.openxmlformats.org/drawingml/2006/main" w="0">
            <a:solidFill>
              <a:srgbClr val="40372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622C6-0F1E-4A38-B6D8-B504140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849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2325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从编号到限时写作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A14B4-15B6-4AD4-9E88-A0E9EB46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00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按题目要点组织文章；提交前分别检查“内容”与“表达”。 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56745-5E9A-4304-8364-68DA833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75C"/>
          </a:solidFill>
          <a:ln xmlns:a="http://schemas.openxmlformats.org/drawingml/2006/main" w="0">
            <a:solidFill>
              <a:srgbClr val="B277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7C58D-BD1C-4409-ADDA-F6DD8D0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F0ADD-7FE1-48C7-AA22-EB4E8A73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开头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C3DAE-90F2-4D5C-B51C-76F7B765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说明议题与对象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C80DE-2422-4E3D-B3B7-C81AD788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B4EFB-D78D-425F-AD56-D1BD8927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954FA-611A-4D0B-9986-0666C74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选①A1、①A2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53F91-D5CC-4B87-8F42-F8DD024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7DF"/>
          </a:solidFill>
          <a:ln xmlns:a="http://schemas.openxmlformats.org/drawingml/2006/main" w="0">
            <a:solidFill>
              <a:srgbClr val="F2E7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3305E-8E9F-47B3-8491-026741EA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EFA55-5B38-4821-B066-EBC11A9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约70字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整合②A、②B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32772-E9AE-4B09-9182-4A05DC9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DBE61-FC93-4CB8-885F-DE9A7677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BA38A9-C4F1-4A6D-802B-D45DEE30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约90字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作出整合判断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72C2E1-D0C8-418C-B906-5AE3FA54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1752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0ECC40-BF08-4DA0-AE14-50303F45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1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结尾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0B7269-C55A-49A9-A37B-169A3174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约30字</a:t>
            </a:r>
          </a:p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回应核心问题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A14576-46A2-4087-B7B3-DD9D983A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6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3"/>
          </a:solidFill>
          <a:ln xmlns:a="http://schemas.openxmlformats.org/drawingml/2006/main" w="0">
            <a:solidFill>
              <a:srgbClr val="EFEAE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F97DAD-B177-4FA3-A5F3-FB8621A7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775C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B2775C"/>
                </a:solidFill>
                <a:latin typeface="STKaiti"/>
                <a:ea typeface="STKaiti"/>
                <a:cs typeface="STKaiti"/>
              </a:rPr>
              <a:t>内容 15 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656D9D-F4A8-4D68-BDE5-C7E17D49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三个要点都回应了吗？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两则短文都发挥作用了吗？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我的判断能回到材料吗？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BF917F-5D03-4EFA-8796-12C7C467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9720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0">
            <a:solidFill>
              <a:srgbClr val="E7EEE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8AA72C-6FC3-4683-A4A4-10091BFC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57C70"/>
                </a:solidFill>
                <a:latin typeface="STKaiti"/>
                <a:ea typeface="STKaiti"/>
                <a:cs typeface="STKaiti"/>
              </a:defRPr>
            </a:pPr>
            <a:r>
              <a:rPr sz="1275" b="1">
                <a:solidFill>
                  <a:srgbClr val="657C70"/>
                </a:solidFill>
                <a:latin typeface="STKaiti"/>
                <a:ea typeface="STKaiti"/>
                <a:cs typeface="STKaiti"/>
              </a:rPr>
              <a:t>写作 10 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0D8596-0110-4951-ACE7-0BB25090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语气适合校报读者吗？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我用自己的话组织了吗？</a:t>
            </a:r>
          </a:p>
          <a:p xmlns:a="http://schemas.openxmlformats.org/drawingml/2006/main">
            <a:pPr>
              <a:defRPr sz="1425" b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425" b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□ 250–350 字，字词与标点准确吗？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36E1EF-79D0-4E9B-9A9C-686A0B5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6A62"/>
                </a:solidFill>
                <a:latin typeface="STKaiti"/>
                <a:ea typeface="STKaiti"/>
                <a:cs typeface="STKaiti"/>
              </a:defRPr>
            </a:pPr>
            <a:r>
              <a:rPr sz="1275" b="0">
                <a:solidFill>
                  <a:srgbClr val="736A62"/>
                </a:solidFill>
                <a:latin typeface="STKaiti"/>
                <a:ea typeface="STKaiti"/>
                <a:cs typeface="STKaiti"/>
              </a:rPr>
              <a:t>反馈只留一个内容目标和一个写作目标，例如：③段要真正整合两篇材料。</a:t>
            </a:r>
          </a:p>
        </p:txBody>
      </p:sp>
    </p:spTree>
    <p:extLst>
      <p:ext uri="{BB962C8B-B14F-4D97-AF65-F5344CB8AC3E}">
        <p14:creationId xmlns:p14="http://schemas.microsoft.com/office/powerpoint/2010/main" val="944169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715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1C37-CE46-42B9-A400-4DF6728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9198-81B0-4617-9A9D-21BE410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课文三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5050C-32A1-446E-932A-239824C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270"/>
          </a:bodyPr>
          <a:lstStyle xmlns:a="http://schemas.openxmlformats.org/drawingml/2006/main"/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文化入侵故宫</a:t>
            </a:r>
          </a:p>
          <a:p xmlns:a="http://schemas.openxmlformats.org/drawingml/2006/main">
            <a:pPr>
              <a:buNone/>
              <a:def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defRPr>
            </a:pPr>
            <a:r>
              <a:rPr sz="4350" b="1" i="0">
                <a:solidFill>
                  <a:srgbClr val="FFFFFF"/>
                </a:solidFill>
                <a:latin typeface="STKaiti"/>
                <a:ea typeface="STKaiti"/>
                <a:cs typeface="STKaiti"/>
              </a:rPr>
              <a:t>星巴克的伪问题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1E62-299D-44DB-94EC-D9A2928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defRPr>
            </a:pPr>
            <a:r>
              <a:rPr sz="2100" b="0" i="0">
                <a:solidFill>
                  <a:srgbClr val="F2E8D8"/>
                </a:solidFill>
                <a:latin typeface="STKaiti"/>
                <a:ea typeface="STKaiti"/>
                <a:cs typeface="STKaiti"/>
              </a:rPr>
              <a:t>议论文阅读、论证与评价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B27D1-E614-4065-8879-62A04EC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E7D7BB"/>
                </a:solidFill>
                <a:latin typeface="STKaiti"/>
                <a:ea typeface="STKaiti"/>
                <a:cs typeface="STKaiti"/>
              </a:rPr>
              <a:t>阅读要落到证据；写作要回应目的和受众。</a:t>
            </a:r>
          </a:p>
        </p:txBody>
      </p:sp>
    </p:spTree>
    <p:extLst>
      <p:ext uri="{BB962C8B-B14F-4D97-AF65-F5344CB8AC3E}">
        <p14:creationId xmlns:p14="http://schemas.microsoft.com/office/powerpoint/2010/main" val="18477834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68F5-594A-45C0-BB29-CF23992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14C6-0601-4325-B7EA-8BAF2872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争议的表面与核心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D97F-17E0-44D0-8243-82DB5AE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一间星巴克进驻故宫，为什么会引起“文化入侵”的讨论？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48537-8963-4F15-A217-D00E6C6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7F6DD-654A-4520-9F71-505C5E5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9D8A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DACDD-FDCD-4141-8EBE-2538323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buNone/>
              <a:def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0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插图位置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58C90-8551-4901-81CA-85FDD47C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8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270D-B399-479A-A99E-32D5FF4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34480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建议搜寻：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故宫外景与现代咖啡店招牌的对照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选择版权清晰、没有人物特写的图片。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7869-39F6-4E26-A522-D5797BC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381"/>
          </a:bodyPr>
          <a:lstStyle xmlns:a="http://schemas.openxmlformats.org/drawingml/2006/main"/>
          <a:p xmlns:a="http://schemas.openxmlformats.org/drawingml/2006/main">
            <a:pPr>
              <a:buNone/>
              <a:def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625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标题中的问题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4C15-6213-471C-A76C-5C60028E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46"/>
          </a:bodyPr>
          <a:lstStyle xmlns:a="http://schemas.openxmlformats.org/drawingml/2006/main"/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“星巴克在故宫”</a:t>
            </a:r>
          </a:p>
          <a:p xmlns:a="http://schemas.openxmlformats.org/drawingml/2006/main">
            <a:pPr>
              <a:buNone/>
              <a:def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15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是不是文化入侵？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88B1F-C3A9-453C-9E7D-DB76366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5"/>
          </a:bodyPr>
          <a:lstStyle xmlns:a="http://schemas.openxmlformats.org/drawingml/2006/main"/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阅读后再问：</a:t>
            </a:r>
          </a:p>
          <a:p xmlns:a="http://schemas.openxmlformats.org/drawingml/2006/main">
            <a:pPr>
              <a:buNone/>
              <a:def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75" b="0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作者认为真正需要讨论的是什么？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20334426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040F1-3E61-4DE3-AD32-BA1DC7B0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2ECDC-D36A-4A71-91A0-9AB62CD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阅读路线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9EC4-1187-4D7D-B5C7-33523F8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先追踪作者的思路，再评价他的结论。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3928-F628-458A-B5C9-021AB4C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52A16-E6B3-433B-9179-858A7C83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1 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954-85B1-417B-B667-191A2B1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初进故宫的错愕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760D-586F-4B5A-B471-258FD05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3 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DEBBA-C3BA-4EA1-9883-2CE25C6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什么让作者“又难堪又心痛”？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539F-081F-4842-9D25-B6D1249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4 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B8FC8-C2D4-4A71-95AF-26B3A90C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50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公众争论了什么？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67E4C-C0BF-4923-A345-4EE5FCC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第 5 至 8 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AFE5C-11AC-4810-BDFB-D1C96FA3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559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作者把焦点放在哪里？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BA1B3-29C4-453A-A7ED-1C0E705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小组汇报句：这一部分的事实是……；作者的判断是……。</a:t>
            </a:r>
          </a:p>
        </p:txBody>
      </p:sp>
    </p:spTree>
    <p:extLst>
      <p:ext uri="{BB962C8B-B14F-4D97-AF65-F5344CB8AC3E}">
        <p14:creationId xmlns:p14="http://schemas.microsoft.com/office/powerpoint/2010/main" val="1714844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0E848-69B2-4BD3-8482-33A404D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5AA53-3924-4BF6-ACAE-D99946A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把问题读清楚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4014C-49C9-4E48-829F-BA72E2C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“伪问题”不是否认争议，而是把注意力从口号转向场地管理与文化形象。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5560-40FF-4E58-B439-3D422BA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1E438-9DD6-4248-AE35-F5641D49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公众最容易争论的事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A0CD2-412D-46FF-9C0E-A46CB37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1"/>
          </a:bodyPr>
          <a:lstStyle xmlns:a="http://schemas.openxmlformats.org/drawingml/2006/main"/>
          <a:p xmlns:a="http://schemas.openxmlformats.org/drawingml/2006/main">
            <a:pPr>
              <a:buNone/>
              <a:def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0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星巴克该不该离开故宫？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4C369-67B9-4AA2-BFB8-6B66FD08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F510-2095-42BA-AD5D-1D92BF2F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作者真正追问的事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2DA8-C27F-481D-8923-536C4A49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4048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941"/>
          </a:bodyPr>
          <a:lstStyle xmlns:a="http://schemas.openxmlformats.org/drawingml/2006/main"/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故宫要留下怎样的整体形象？</a:t>
            </a:r>
          </a:p>
          <a:p xmlns:a="http://schemas.openxmlformats.org/drawingml/2006/main">
            <a:pPr>
              <a:buNone/>
              <a:def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5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管理者怎样安排空间、商店与游客体验？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10150-898B-4FC1-996E-F41D5BE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回答必须同时写出“表面争议”和“作者的核心问题”。</a:t>
            </a:r>
          </a:p>
        </p:txBody>
      </p:sp>
    </p:spTree>
    <p:extLst>
      <p:ext uri="{BB962C8B-B14F-4D97-AF65-F5344CB8AC3E}">
        <p14:creationId xmlns:p14="http://schemas.microsoft.com/office/powerpoint/2010/main" val="10256493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FAE2B-7B74-4D35-B8B4-84F6F2F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B83CE-6119-416E-AE64-D66C6B5D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论点、证据、推理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75F79-4390-4BF3-9F77-4C8D3E5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评价议论文时，先看作者怎样把读者带到结论。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34A7E-9C42-42C2-9043-18BAB908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8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74CC5-6EEA-4B23-BAF2-7F93276D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论点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F035D-B4C4-4129-A881-1D620C8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263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作者希望读者接受什么？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2BFF-435B-4F1E-A79F-360F120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3FF79-500D-4DFB-AD88-D04EE125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01803-399D-4D22-A56E-B52725B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他举了什么事例、对比或现象？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59CD7-56FB-4936-ADE6-1D9B5E3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337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758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1F8CF-918D-486D-9688-F55B508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526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90D06-E9E7-46D4-93F1-797BA1E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19375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4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证据怎样支持结论？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62367-7E18-4501-977E-B098FA2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2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评价句：这个事例能说明……，但还不能完全说明……，因为……。</a:t>
            </a:r>
          </a:p>
        </p:txBody>
      </p:sp>
    </p:spTree>
    <p:extLst>
      <p:ext uri="{BB962C8B-B14F-4D97-AF65-F5344CB8AC3E}">
        <p14:creationId xmlns:p14="http://schemas.microsoft.com/office/powerpoint/2010/main" val="13565913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5A7EC-AF52-4635-B234-2194442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CAB1-A1D5-4095-8EA1-E6F6A94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论证手法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A0468-ED03-48C2-AC72-7424B1D3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作者怎样安排事例、对比和提问，来增强自己的立场？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6FD6C-5E6D-4DD0-BB01-150C25B1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19500"/>
                <a:gridCol w="3619500"/>
                <a:gridCol w="361950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手法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课文中可找的地方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STKaiti"/>
                          <a:ea typeface="STKaiti"/>
                          <a:cs typeface="STKaiti"/>
                        </a:rPr>
                        <a:t>可能的作用</a:t>
                      </a:r>
                    </a:p>
                  </a:txBody>
                  <a:tcPr marL="91440" marR="91440" marT="45720" marB="45720">
                    <a:solidFill>
                      <a:srgbClr val="715C4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举例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故宫中的具体景象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让问题可见、可感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对比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不同场地与不同商业安排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突出场地定位的差异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反问或追问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作者连续提出的问题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推动读者重新思考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类比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以其他地点说明管理逻辑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D2926"/>
                          </a:solidFill>
                          <a:latin typeface="STKaiti"/>
                          <a:ea typeface="STKaiti"/>
                          <a:cs typeface="STKaiti"/>
                        </a:rPr>
                        <a:t>让抽象判断更容易理解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609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7ECC2-CCF5-4DD4-92A0-01C5C10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9F5BC-2BC1-42FB-984D-9084C67F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小组讨论：文化空间与商业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1F25-27C3-40F1-87C4-8AF4179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传统文化景点应该完全拒绝商业活动吗？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B974E-CC54-4818-94FC-F3A3BC15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CCC32-A6DC-45E2-B7A5-3507F9B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可以完全拒绝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D2E44-9973-478D-93B8-6170EB01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重点保护神圣性与整体形象。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1DDC6-263C-4EF8-A6FA-97522368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可以有条件允许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5508-243D-44B1-B955-21944C5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看场地定位、品牌选择和空间设计。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B3B9D-536F-4F66-AF87-920623A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70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还需要更多资料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188D4-17E5-42BC-88D6-37976B7C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98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75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先了解管理目标、游客需求与当地居民看法。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7482-613B-4CA0-A949-6830E253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>
              <a:buNone/>
              <a:def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325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讨论规则：不同意观点，可以；忽略证据，不可以。</a:t>
            </a:r>
          </a:p>
        </p:txBody>
      </p:sp>
    </p:spTree>
    <p:extLst>
      <p:ext uri="{BB962C8B-B14F-4D97-AF65-F5344CB8AC3E}">
        <p14:creationId xmlns:p14="http://schemas.microsoft.com/office/powerpoint/2010/main" val="14829082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048DF-075A-4C3B-98CA-91CCB23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A245D-CF26-4ED7-A73A-8B74DD5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从议论文到自己的写作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BEC26-4CDA-41AB-8A4A-AFF672F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把一篇时事评论的阅读方法，迁移到自己的论证或讨论文。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5279A-8287-473B-8E90-FCDF8108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9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20B23-5BF5-4C7C-A21E-8ACD408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B88936"/>
                </a:solidFill>
                <a:latin typeface="STKaiti"/>
                <a:ea typeface="STKaiti"/>
                <a:cs typeface="STKaiti"/>
              </a:rPr>
              <a:t>题目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1DDE-F581-4602-97BE-3E61405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36"/>
          </a:bodyPr>
          <a:lstStyle xmlns:a="http://schemas.openxmlformats.org/drawingml/2006/main"/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传统文化受到全球化影响，是难以避免的问题。</a:t>
            </a:r>
          </a:p>
          <a:p xmlns:a="http://schemas.openxmlformats.org/drawingml/2006/main">
            <a:pPr>
              <a:buNone/>
              <a:def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77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我们应该怎样保护传统文化？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D9781-3957-47F1-9098-433C5CAC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3DFE8-086A-4839-9673-13E6C2C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我的文体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5891-EEA7-42B1-AA52-DE435323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议论 / 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30EFC-6374-4107-BA3B-079E900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29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我的判断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57F74-AF0C-4F6D-9B58-3A9F07B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E288-85D5-4822-8605-14D300A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29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A75845"/>
                </a:solidFill>
                <a:latin typeface="STKaiti"/>
                <a:ea typeface="STKaiti"/>
                <a:cs typeface="STKaiti"/>
              </a:rPr>
              <a:t>我要用的例子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F2D1C-6D45-48EA-8A10-75B7FF2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591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1405509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FA9BA-4A95-49EE-BAC0-DB72B05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A846D-A2F4-4F92-88B4-A156253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本学期的作品档案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5DE23-B8C6-41D6-B767-6487BF6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每一次完成后，只记录一个稳定优势和一个下一步目标。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DE5C2-9401-4CAF-B0F0-0F2560D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16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3C7F-9E75-4D11-99E9-35C0237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阅读证据表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40AB1-E948-4E2D-A219-2787DE6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我能用哪一处细节支持推断？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8DF7-A45F-479A-9F6B-2F20066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指导写作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3567-54DF-4B68-8E0B-AA15AC5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我怎样用③段整合两则材料？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09449-78A9-432B-8E67-AFA08C2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描写或议论文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66B45-75DF-4D5B-96A6-DCD856C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>
              <a:buNone/>
              <a:def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250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我下一次优先改善什么？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6EAFF-F8C2-40F5-88AD-F1EFD62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2C533-B525-40D5-AC53-8D8CB00E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>
              <a:buNone/>
              <a:def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40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下一步目标句：下一次写作前，我先……。</a:t>
            </a:r>
          </a:p>
        </p:txBody>
      </p:sp>
    </p:spTree>
    <p:extLst>
      <p:ext uri="{BB962C8B-B14F-4D97-AF65-F5344CB8AC3E}">
        <p14:creationId xmlns:p14="http://schemas.microsoft.com/office/powerpoint/2010/main" val="79747696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581BB-AD03-483D-9147-6631125D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E2005-5DE6-4B6B-8C8C-67B6A16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>
              <a:buNone/>
              <a:def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3300" b="1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教师使用提示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4211-48A8-4156-AA94-27C766F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defRPr>
            </a:pPr>
            <a:r>
              <a:rPr sz="1875" b="0" i="0">
                <a:solidFill>
                  <a:srgbClr val="6E6A65"/>
                </a:solidFill>
                <a:latin typeface="STKaiti"/>
                <a:ea typeface="STKaiti"/>
                <a:cs typeface="STKaiti"/>
              </a:rPr>
              <a:t>这套投影片按课文与技能重新排序，教材文本仍以学校版本为准。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84C1-B71F-40BE-AF06-2518FF0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C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8E994-894B-4EC3-A955-408F1640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使用顺序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81ABF-ED52-4124-8BAD-A3D005F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《假黎婆》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指导写作：新加坡多种族政策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defRPr>
            </a:pPr>
            <a:r>
              <a:rPr sz="1800" b="0" i="0">
                <a:solidFill>
                  <a:srgbClr val="40372F"/>
                </a:solidFill>
                <a:latin typeface="STKaiti"/>
                <a:ea typeface="STKaiti"/>
                <a:cs typeface="STKaiti"/>
              </a:rPr>
              <a:t>《文化入侵故宫星巴克的伪问题》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EC233-5096-4D06-9B83-1BFF0DF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5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F578E-90C9-462A-80CC-1B42D693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buNone/>
              <a:def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defRPr>
            </a:pPr>
            <a:r>
              <a:rPr sz="2550" b="1" i="0">
                <a:solidFill>
                  <a:srgbClr val="715C4A"/>
                </a:solidFill>
                <a:latin typeface="STKaiti"/>
                <a:ea typeface="STKaiti"/>
                <a:cs typeface="STKaiti"/>
              </a:rPr>
              <a:t>课堂原则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ED7E-83AD-45F2-B898-EFD0C59B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338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95"/>
          </a:bodyPr>
          <a:lstStyle xmlns:a="http://schemas.openxmlformats.org/drawingml/2006/main"/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先独立思考，再讨论。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答案必须回到材料。</a:t>
            </a:r>
          </a:p>
          <a:p xmlns:a="http://schemas.openxmlformats.org/drawingml/2006/main">
            <a:pPr>
              <a:buNone/>
              <a:def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defRPr>
            </a:pPr>
            <a:r>
              <a:rPr sz="2325" b="0" i="0">
                <a:solidFill>
                  <a:srgbClr val="2D2926"/>
                </a:solidFill>
                <a:latin typeface="STKaiti"/>
                <a:ea typeface="STKaiti"/>
                <a:cs typeface="STKaiti"/>
              </a:rPr>
              <a:t>反馈只给一个优点和一个下一步。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5EF15-EC90-44C4-BB6B-932EBA5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buNone/>
              <a:def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defRPr>
            </a:pPr>
            <a:r>
              <a:rPr sz="2175" b="1" i="0">
                <a:solidFill>
                  <a:srgbClr val="4D716B"/>
                </a:solidFill>
                <a:latin typeface="STKaiti"/>
                <a:ea typeface="STKaiti"/>
                <a:cs typeface="STKaiti"/>
              </a:rPr>
              <a:t>中文文字均设为 STKaiti（楷体）。</a:t>
            </a:r>
          </a:p>
        </p:txBody>
      </p:sp>
    </p:spTree>
    <p:extLst>
      <p:ext uri="{BB962C8B-B14F-4D97-AF65-F5344CB8AC3E}">
        <p14:creationId xmlns:p14="http://schemas.microsoft.com/office/powerpoint/2010/main" val="153403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2026-09-24T04:54:15.9650000Z</dcterms:created>
  <dcterms:modified xsi:type="dcterms:W3CDTF">2026-09-24T04:54:15.9650000Z</dcterms:modified>
</coreProperties>
</file>