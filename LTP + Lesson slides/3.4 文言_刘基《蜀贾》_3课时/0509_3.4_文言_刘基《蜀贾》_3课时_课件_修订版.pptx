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第一课45分钟。课前准备：学生纸质教材P124–126、中文作业本、笔。切勿提前展示药商结局；先预测，再读文验证。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Intention：理解文章前半段语言并分析药商经营策略。成功标准：①能自行正确解释至少4个文言点；②能准确说明三人的经营和结局；③解释结局反差需援引原文。时间：第1课开头约1分钟。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不要让道德判断取代商业预测。可能讨论：价格、质量、信任、信息差、短期利润。后续正文会颠覆部分学生预期；不要评价学生预测对错，等待阅读验证。5分钟含全班快速反馈。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教材P124。原文不是按经营成功程度排列，结局顺序稍有变化。引导观察“其一人／一人／一人”结构，避免一上来整段直译。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核对：贾gǔ商人；于市=在市场；专取良=只采购好的药材；计入以为出=按进价核算卖价；不虚价=不漫天要价；赢=盈利/利润；亦不过取赢=不过分牟利。强调“经营成本与利润的关系”，不机械教成“绝对不获利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良不良皆取=好坏药材都进货；贱贵=价格的低和高；惟=根据、只看；应之=回应买者的需求。语法“其价之贱贵”中的“之”连接主谓，不是代词；“而”表承接。小心：不是“顾客任意讲价”，而是以顾客需求匹配药材质量和价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请益则益之不较”：顾客要求增加（货物数量），他便增加，不计较。益=增加（两处动词语义均为“增加”）；较=计较。争趋之=争相前往；限=门槛；易=更换；门槛磨损需每月更换体现夸张的间接描写。谨慎解释“惟其多卖，则贱其价”：以大量销售为重，降低价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期：期读jī，一周年；再期=两年。肆：店铺；日中如宵：白天如同深夜，生意门可罗雀，是比喻/夸张性的反差描写。旦食则昏不足：早饭吃了晚饭不够，生活贫困。注意截图原文“旦食则昏不足”，其他版本也有“旦食而昏不足”。教学一律以用户提供的教材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教材P127的纸质表格，不需另印worksheet。预期：甲只卖良药、诚信定价、不取暴利、肆日中如宵且食不果腹；乙良劣兼取、随顾客需求定品质和价格、两年致富；丙不取良、低价多销且多给不计、1年多大富。提醒学生不要以“品德好=最会经商”直接替代文本观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不要求唯一解释。可引向利益驱动、顾客对品质的不知情、社会奖励标准被颠倒、后文官员类比的铺垫。此处不要把寓言理解成经商普遍定律。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建议先遮挡右列或暂让学生不看下结论，口头回忆后教师归纳。口头自检：以、为在句中的关系；连续两个益的意思。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核对：肆日中如宵不是店铺真的不开门，而是顾客寥寥。再期不要误译成“下次约定的时间”。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按教材P126“理解”活动一操作，直接利用原有练习纸。不要将老师归纳表让学生机械抄写；先自主做，随后追问原文语境。教师可以指定词：应、益、较、限、易。若前面讲解已延时，本页可作为课后巩固。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计答案①顾客要求多给药材，他便增加给药的数量，不计较。②“门之限月一易”与“肆日中如宵”构成门庭若市与门可罗雀的对照；要说明表达效果，不只摘句。课后作业：复习P124原文和本节批注，尝试预读后半段，不要求完整翻译。课堂用时总计约45分钟，可适当缩减知识表汇报时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第二课45分钟。重点比第一课更深入：前18分钟读官员段，再比较结构和作者态度。将教师反馈与学生探索分成不同页，避免立刻给答案。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成功标准：①解释“获于上官／僦舟／尤／诸／哉”等；②说明类比对应；③能区别社会人士称赞与作者评价。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答案：只卖劣药者“岁余而大富”；良药者“肆日中如宵，旦食则昏不足”。前者“其门之限月一易”含夸张（门槛被踩磨），两处相互对照；注意不要强求唯一修辞标签。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“为士者”这里指做官的人；“是”指这种情形；“夫”语气词，表达感叹。不是泛泛表明士人的道德品格，功能是提示下文三个官员与三个药商对应的论证结构。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楚鄙=楚国偏远地区；尹=县官；其一廉=第一名廉洁；不获于上官=不为上级所认可/上级对其不满；其去也=他离任时；僦jiù=租赁；无以僦舟=连租船的钱都没有；“人皆笑以为痴”是社会评价，不是作者赞同。提醒“其去”不是“去世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择可而取=看情况索取/选择可索取的好处；其取指收取利益/财物；尤=责怪、埋怨；能贤=能干且贤明，属于外部称赞。以其在官场有一定限度地谋取私利，获得认可；反讽从“人不尤”开始。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所不取=无论什么好处都要；以交于上官=借此结交上级权贵；子吏卒=把属吏兵卒当子女一样对待；宾富民=把富人当宾客对待（两者意动用法，亦可称名词活用为动词）；不待三年=不到三年；举=被举荐；任诸=任命到，诸=之于的合音；纲纪之司=掌管法纪的官署；虽=即使；哉=反问语气。注意“被推举到法纪部门”的制度讽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先请学生根据刚才批注口头复现词义，再展示。引导区别“去=离开/离任”不是去某个地方；“尤”不是“尤其”的副词。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不要把“子吏卒而宾富民”简单翻译成“他有子女和宾客”。“诸”用于“任诸”可理解为任命到某类官署。文言核心要让学生先识别，再归类。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材P126。可让学生在书上完成活动一余下的第4–8题及活动二的选项判断。因为讲解与教材版本、划线位置可能有差异，不要向学生投影未经确认的选项文本；让学生依据纸质教材作答并口头解释。若时间不足只选部分，不牺牲核心文本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类比：坚持道德原则者反而贫乏受笑；有所妥协者利己且被认可；肆无忌惮逐利者获最大收益和官场褒奖。注意类比的是“逐利行为与所获回报的反常关系”，不是让学生把经营行为和腐败行为认定完全等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鼓励学生回答“二者都有，但文本通过第三类被提拔、获称赞，凸显更广泛评价体系的荒谬”。并提醒寓言有浓缩和夸张，不能当实证统计。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这是全篇文学分析最高价值的环节：人物/公众对官员的称赞不等于作者认同；通过叙述评价与道德判断相反制造反讽；末句“不亦怪哉”揭示反常。鼓励有不同理解，但必须解释发声主体。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应具体命名“两个世界的类比”“三类人层层递进”“表面称赞实则讽刺”“末尾反问”；最佳答题不是手法罗列，而是引用证据加解释。可示范：“第三药商一年多暴富，对应无所不取的官员不足三年晋升，以相似的不正当获益形成类比，反讽社会评价被利益扭曲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写教材P128的问题表达，但明确页码题号。可能答案：末句“不亦怪哉”表达惊讶、愤慨与批判；借寓言类比、对照、层递与反讽，避免直说教而让读者自行体悟反常。注意“作者不直接批判”不是“作者态度模糊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优秀答：两组人物形成对应，清廉者无以僦舟且被笑为痴，贪婪者“举而任诸纲纪之司”且百姓称善，突出官场升迁与社会评价的荒谬，从而表达对道德标准颠倒的批判。可分化：弱学生允许句式框架，强学生解释何以“百姓亦称其善”更辛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第三课45分钟。纸质教材P127-128及作业本。重点在逻辑和论证，不给出唯一道德立场。不要将“高薪”和“廉洁”简单画上等号。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Criteria：不把观点当证据；能回应最强反方；能用课文出发思考当代制度，但避免直接将寓言视作现代政策实证。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使用事先约定指令：1手指完全同意；2比较同意；3比较不同意；4完全不同意。班级空间小不走动。学生需说理由，教师记录最有争议的理由。投票只为激活先验立场，课后再次检验。耗时5分钟。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7min。示例：个人：无所不取；上级：以交于上官／举而任诸纲纪之司；社会：虽百姓亦称其善。追问：三种解释能否同时成立？避免说“全都是制度问题”或“只有个人的问题”；原文本身并未分析现代监管制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应训练条件化判断。可以讨论高薪可能降低经济压力和违法的机会成本，但不能当做未经验证的必然因果。反方可从道德、权力、监督角度论证。尽量不展开未经查证的国家政策成效。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教材P127–128：活动三①讨论廉洁奉公官员遇到什么诱惑或阻力；②小组合作政府部门可采取哪些措施增加透明度。幻灯片示例只是启发，不应作为唯一正确答案。空间小，不移动座位。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重点解释“例子不是越多越好，而是要与论点相关”；没有统计资料时可用明确的假设情境进行逻辑论证，但不装作有真实数据。用“四种句子的功能”减少空话。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第3课辩论总计约10–12分钟含此页。分组策略：同桌A支持、B质疑，下一轮交换立场；学生不得把立场批判上升为人身道德评判。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同桌辩论不用走动。组织者计时；可用计时器但投影片不用设自动播放。快速点名两组发表有价值的反驳，分析是否回应因果机制。注意不应给政治立场打分，只评估论证质量。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教材P128原任务：有人说“高薪可以养廉”，是否同意？写有说服力的文章，说明赞成或不赞成。此处强调受众、目的、文体，而不是为了写故事。没有特定字数规定；课堂写作长度由老师布置，作为阶段练习，不冒充IGCSE考试字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10分钟独立写作；学生写作本约150–200字，非考试规定字数。弱学生可以用句式支架；强学生移除支架并加条件、反例与结论。写前提醒不能空喊“人人都应廉洁”，论点聚焦“高薪是否有效”。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固定短反馈框架：“你用___解释了___，最有说服力；你可以补充___，因为___。” 避免不具体的“写得好／多写一点”。时间紧可以只做前两项和反驳项。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课堂反思：允许学生观点不改变，但论据必须变得更精细。作业是完成教材P128文章，不规定课本没有提供的考试字数。建议课堂段落保留作为文章主体一段，扩展为结构完整的报社评论。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此页教师专用，不投影；也可在课堂开始前放到阅读模式最后。需要根据实际节奏调节，每节核心目标不可让位于完整展示所有答案。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课文不同电子古籍版本的“其去／其支”“旦食则／旦食而”有异文。课堂统一采用用户截图所示教材P124。外部文字交叉核验：维基文库《郁离子／蜀贾》 https://zh.wikisource.org/zh-hans/郁离子/蜀贾 ；中国哲学书电子化计划 https://ctext.org/yulizi/shujia/zh 。必须以教材为最终准绳。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640080"/>
            <a:ext cx="1417320" cy="566928"/>
          </a:xfrm>
          <a:prstGeom prst="roundRect">
            <a:avLst>
              <a:gd name="adj" fmla="val 25806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2237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0936" y="1965960"/>
            <a:ext cx="10698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三名药商：谁赚得最多？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704088" y="33467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语言理解｜用原文解释行为、动机与结果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5175504"/>
            <a:ext cx="10744200" cy="0"/>
          </a:xfrm>
          <a:prstGeom prst="line">
            <a:avLst/>
          </a:prstGeom>
          <a:noFill/>
          <a:ln w="38100">
            <a:solidFill>
              <a:srgbClr val="BF7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5605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0509 中文第一语言  ·  刘基《郁离子》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036808" y="64008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学习目标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今天要完成什么？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" y="1655064"/>
            <a:ext cx="342900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819656"/>
            <a:ext cx="91440" cy="2688336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856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88136" y="2359152"/>
            <a:ext cx="277063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准确疏通前半段文言文，解释重要实词、虚词和句式。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379976" y="1655064"/>
            <a:ext cx="342900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1819656"/>
            <a:ext cx="91440" cy="2688336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856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3168" y="2359152"/>
            <a:ext cx="277063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找出三个药商的经营方式与结果，完成有文本依据的比较。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065008" y="1655064"/>
            <a:ext cx="342900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819656"/>
            <a:ext cx="91440" cy="2688336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856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推断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58200" y="2359152"/>
            <a:ext cx="277063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分析作者为什么把诚信与利益放在如此反常的关系中。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051560" y="5029200"/>
            <a:ext cx="10104120" cy="640080"/>
          </a:xfrm>
          <a:prstGeom prst="roundRect">
            <a:avLst>
              <a:gd name="adj" fmla="val 22857"/>
            </a:avLst>
          </a:prstGeom>
          <a:solidFill>
            <a:srgbClr val="FFF0D5"/>
          </a:solidFill>
          <a:ln w="12700">
            <a:solidFill>
              <a:srgbClr val="FFF0D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5102352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本课产出：重点文言注释＋药商比较表＋一句有证据的解释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Starter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你会怎样经营药铺？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91640"/>
            <a:ext cx="10771632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764792"/>
            <a:ext cx="10222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假如你开了一家药铺，下面哪一种策略最容易赚钱？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13232" y="2660904"/>
            <a:ext cx="3419856" cy="204825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825496"/>
            <a:ext cx="91440" cy="1719072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86207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1｜坚持品质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06424" y="3364992"/>
            <a:ext cx="27614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只出售品质好的药材，定价公道。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79976" y="2660904"/>
            <a:ext cx="3419856" cy="204825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4568" y="2825496"/>
            <a:ext cx="91440" cy="1719072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86207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2｜迎合买家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73168" y="3364992"/>
            <a:ext cx="27614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顾客出得起多少钱，就卖相应品质的药材。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046720" y="2660904"/>
            <a:ext cx="3419856" cy="204825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2825496"/>
            <a:ext cx="91440" cy="1719072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286207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3｜低价多销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39912" y="3364992"/>
            <a:ext cx="27614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只售较差的药材，尽量降低价格和多卖。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94944" y="5138928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22122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2＋2分钟  ｜  举1–3根手指  ｜  先选择，再告诉同桌你的理由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5458968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产出：作业本写：我预计第__家盈利最多，因为……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初读 · 1分钟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先读故事，不急着翻译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1764792"/>
            <a:ext cx="1056132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04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蜀贾三人，皆卖药于市。</a:t>
            </a:r>
            <a:endParaRPr lang="en-US" sz="2900" dirty="0"/>
          </a:p>
          <a:p>
            <a:pPr algn="l" indent="0" marL="0">
              <a:buNone/>
            </a:pP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其一人专取良……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一人良不良皆取焉……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一人不取良……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94944" y="5138928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22122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1分钟  ｜  独立  ｜  圈出“其一人／一人／一人”，标出三个经营策略的分界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458968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产出：在教材P124标注人物甲、乙、丙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精读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药商甲：何为“不虚价”？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" y="1719072"/>
            <a:ext cx="1083564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01952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其一人专取良，计入以为出，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不虚价，亦不过取赢。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749808" y="3273552"/>
            <a:ext cx="5138928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38144"/>
            <a:ext cx="91440" cy="1298448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74720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先拆解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977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专取良 ／ 计入以为出 ／ 不虚价 ／ 不过取赢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62472" y="3273552"/>
            <a:ext cx="5138928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3438144"/>
            <a:ext cx="91440" cy="1298448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3474720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再判断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664" y="3977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这个人坚持的原则是“价格高”，还是“价格公道”？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4944" y="5212080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94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2＋2分钟  ｜  先个人后同桌  ｜  逐句解释；每人至少标出2个重要字词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产出：用自己的话解释这位药商如何定价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精读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药商乙：谁来决定价格？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91640"/>
            <a:ext cx="10780776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74520"/>
            <a:ext cx="10323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一人良不良皆取焉，其价之贱贵，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惟买者之欲，而随以其良不良应之。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49808" y="3273552"/>
            <a:ext cx="10725912" cy="1234440"/>
          </a:xfrm>
          <a:prstGeom prst="roundRect">
            <a:avLst>
              <a:gd name="adj" fmla="val 11852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520440"/>
            <a:ext cx="9930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惟买者之欲  →  随以其良不良应之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94944" y="5129784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21208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2＋2分钟  ｜  同桌角色互换  ｜  A解释前半句，B解释后半句，再交换并检验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449824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产出：说清楚“买者”如何影响商品品质与价格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精读 · 5分钟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药商丙：为什么门槛要常换？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55064"/>
            <a:ext cx="10753344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37944"/>
            <a:ext cx="10296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一人不取良，惟其多卖，则贱其价，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请益则益之不较，于是争趋之，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其门之限月一易，岁余而大富。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40664" y="3822192"/>
            <a:ext cx="5120640" cy="106070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3986784"/>
            <a:ext cx="91440" cy="731520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语言突破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33856" y="452628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“益”为什么连续出现两次？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44184" y="3822192"/>
            <a:ext cx="5120640" cy="106070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3986784"/>
            <a:ext cx="91440" cy="731520"/>
          </a:xfrm>
          <a:prstGeom prst="roundRect">
            <a:avLst>
              <a:gd name="adj" fmla="val 160000"/>
            </a:avLst>
          </a:prstGeom>
          <a:solidFill>
            <a:srgbClr val="BF7835"/>
          </a:solidFill>
          <a:ln w="12700">
            <a:solidFill>
              <a:srgbClr val="BF78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表达效果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37376" y="4526280"/>
            <a:ext cx="4462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门槛每月一换，暗示怎样的客流？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4944" y="5212080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94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3＋2分钟  ｜  个人→同桌  ｜  先翻译，再说明作者如何把“生意好”写得可见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产出：解释“请益则益之不较”及“限月一易”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精读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结果揭晓：三种策略，三种结局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" y="1700784"/>
            <a:ext cx="10689336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83664"/>
            <a:ext cx="10232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其兼取者趋稍缓，再期亦富。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其专取良者，肆日中如宵，旦食则昏不足。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49808" y="3364992"/>
            <a:ext cx="4586630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415284"/>
            <a:ext cx="4417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原文细节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350154" y="3364992"/>
            <a:ext cx="6084418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1594" y="3415284"/>
            <a:ext cx="5915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理解任务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9808" y="3849624"/>
            <a:ext cx="4586630" cy="516941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913632"/>
            <a:ext cx="438089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“再期亦富”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350154" y="3849624"/>
            <a:ext cx="6084418" cy="516941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9882" y="3913632"/>
            <a:ext cx="587867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“再期”到底是多久？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49808" y="4383024"/>
            <a:ext cx="4586630" cy="516941"/>
          </a:xfrm>
          <a:prstGeom prst="roundRect">
            <a:avLst>
              <a:gd name="adj" fmla="val 4422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447032"/>
            <a:ext cx="438089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“肆日中如宵”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350154" y="4383024"/>
            <a:ext cx="6084418" cy="516941"/>
          </a:xfrm>
          <a:prstGeom prst="roundRect">
            <a:avLst>
              <a:gd name="adj" fmla="val 4422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9882" y="4447032"/>
            <a:ext cx="587867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这句话如何描写生意？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49808" y="4916424"/>
            <a:ext cx="4586630" cy="516941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980432"/>
            <a:ext cx="438089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“旦食则昏不足”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350154" y="4916424"/>
            <a:ext cx="6084418" cy="516941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59882" y="4980432"/>
            <a:ext cx="587867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贫困程度如何被写出来？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比较 · 6分钟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整理人物：回到原文找依据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591056"/>
            <a:ext cx="3931920" cy="384048"/>
          </a:xfrm>
          <a:prstGeom prst="roundRect">
            <a:avLst>
              <a:gd name="adj" fmla="val 23810"/>
            </a:avLst>
          </a:prstGeom>
          <a:solidFill>
            <a:srgbClr val="FFF0D5"/>
          </a:solidFill>
          <a:ln w="12700">
            <a:solidFill>
              <a:srgbClr val="FFF0D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591056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P127｜活动一（药商的表现）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2139696"/>
            <a:ext cx="2455347" cy="530352"/>
          </a:xfrm>
          <a:prstGeom prst="roundRect">
            <a:avLst>
              <a:gd name="adj" fmla="val 603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89988"/>
            <a:ext cx="228618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比较角度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18871" y="2139696"/>
            <a:ext cx="2734458" cy="530352"/>
          </a:xfrm>
          <a:prstGeom prst="roundRect">
            <a:avLst>
              <a:gd name="adj" fmla="val 603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311" y="2189988"/>
            <a:ext cx="25652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第一名药商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67045" y="2139696"/>
            <a:ext cx="2734458" cy="530352"/>
          </a:xfrm>
          <a:prstGeom prst="roundRect">
            <a:avLst>
              <a:gd name="adj" fmla="val 603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8485" y="2189988"/>
            <a:ext cx="25652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第二名药商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715220" y="2139696"/>
            <a:ext cx="2755928" cy="530352"/>
          </a:xfrm>
          <a:prstGeom prst="roundRect">
            <a:avLst>
              <a:gd name="adj" fmla="val 603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06660" y="2189988"/>
            <a:ext cx="25867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第三名药商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9808" y="2670048"/>
            <a:ext cx="2455347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734056"/>
            <a:ext cx="2249607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药材品质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18871" y="2670048"/>
            <a:ext cx="2734458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599" y="2734056"/>
            <a:ext cx="252871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67045" y="2670048"/>
            <a:ext cx="2734458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6773" y="2734056"/>
            <a:ext cx="252871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15220" y="2670048"/>
            <a:ext cx="2755928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4948" y="2734056"/>
            <a:ext cx="255018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9808" y="3486912"/>
            <a:ext cx="2455347" cy="800405"/>
          </a:xfrm>
          <a:prstGeom prst="roundRect">
            <a:avLst>
              <a:gd name="adj" fmla="val 285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550920"/>
            <a:ext cx="2249607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定价或销售策略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18871" y="3486912"/>
            <a:ext cx="2734458" cy="800405"/>
          </a:xfrm>
          <a:prstGeom prst="roundRect">
            <a:avLst>
              <a:gd name="adj" fmla="val 285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599" y="3550920"/>
            <a:ext cx="252871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967045" y="3486912"/>
            <a:ext cx="2734458" cy="800405"/>
          </a:xfrm>
          <a:prstGeom prst="roundRect">
            <a:avLst>
              <a:gd name="adj" fmla="val 285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6773" y="3550920"/>
            <a:ext cx="252871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715220" y="3486912"/>
            <a:ext cx="2755928" cy="800405"/>
          </a:xfrm>
          <a:prstGeom prst="roundRect">
            <a:avLst>
              <a:gd name="adj" fmla="val 285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4948" y="3550920"/>
            <a:ext cx="255018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49808" y="4303776"/>
            <a:ext cx="2455347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367784"/>
            <a:ext cx="2249607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最终结局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218871" y="4303776"/>
            <a:ext cx="2734458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599" y="4367784"/>
            <a:ext cx="252871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967045" y="4303776"/>
            <a:ext cx="2734458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6773" y="4367784"/>
            <a:ext cx="252871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8715220" y="4303776"/>
            <a:ext cx="2755928" cy="800405"/>
          </a:xfrm>
          <a:prstGeom prst="roundRect">
            <a:avLst>
              <a:gd name="adj" fmla="val 285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24948" y="4367784"/>
            <a:ext cx="2550188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94944" y="5431536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51383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3＋3分钟  ｜  独立→同桌核对  ｜  在教材P127表格里填写，并在P124划出相应原文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4400" y="5751576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产出：每格至少写一个可核查的关键词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反馈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证据反馈：哪种关系令人不安？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700784"/>
            <a:ext cx="2670048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51076"/>
            <a:ext cx="2500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人物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33572" y="1700784"/>
            <a:ext cx="4065605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751076"/>
            <a:ext cx="38964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关键做法（简述）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12893" y="1700784"/>
            <a:ext cx="3958255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4333" y="1751076"/>
            <a:ext cx="37890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原文中的结果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9808" y="2185416"/>
            <a:ext cx="2670048" cy="882701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249424"/>
            <a:ext cx="2464308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甲：良药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433572" y="2185416"/>
            <a:ext cx="4065605" cy="882701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3300" y="2249424"/>
            <a:ext cx="3859865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守品质、定价公道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12893" y="2185416"/>
            <a:ext cx="3958255" cy="882701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2621" y="2249424"/>
            <a:ext cx="3752515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“肆日中如宵”“昏不足”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9808" y="3084576"/>
            <a:ext cx="2670048" cy="882701"/>
          </a:xfrm>
          <a:prstGeom prst="roundRect">
            <a:avLst>
              <a:gd name="adj" fmla="val 2590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148584"/>
            <a:ext cx="2464308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乙：良劣兼售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33572" y="3084576"/>
            <a:ext cx="4065605" cy="882701"/>
          </a:xfrm>
          <a:prstGeom prst="roundRect">
            <a:avLst>
              <a:gd name="adj" fmla="val 2590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3148584"/>
            <a:ext cx="3859865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按买者需要供应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512893" y="3084576"/>
            <a:ext cx="3958255" cy="882701"/>
          </a:xfrm>
          <a:prstGeom prst="roundRect">
            <a:avLst>
              <a:gd name="adj" fmla="val 2590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2621" y="3148584"/>
            <a:ext cx="3752515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“再期亦富”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9808" y="3983736"/>
            <a:ext cx="2670048" cy="882701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047744"/>
            <a:ext cx="2464308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丙：不取良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433572" y="3983736"/>
            <a:ext cx="4065605" cy="882701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3300" y="4047744"/>
            <a:ext cx="3859865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低价多销、不计多给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512893" y="3983736"/>
            <a:ext cx="3958255" cy="882701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2621" y="4047744"/>
            <a:ext cx="3752515" cy="771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“岁余而大富”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04672" y="5202936"/>
            <a:ext cx="10561320" cy="740664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5276088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请解释：作者为什么不让卖良药的人最先致富？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知识归纳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本课重点文言知识 ①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4537253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77924"/>
            <a:ext cx="43680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27625" y="1627632"/>
            <a:ext cx="6270955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9065" y="1677924"/>
            <a:ext cx="610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引导学生发现的文言知识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76656" y="2176272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240280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“皆卖药于市”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27625" y="2176272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7353" y="2240280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“于市”在动词后，表示地点：在市场上卖药。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6656" y="3072384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36392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“计入以为出”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227625" y="3072384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7353" y="3136392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“以……为……”结构；按进价核算卖价。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" y="3968496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032504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“不虚价／取赢”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27625" y="3968496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7353" y="4032504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“虚价”指虚抬价格；“赢”指利润。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6656" y="4864608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928616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“请益则益之不较”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227625" y="4864608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7353" y="4928616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“益”为增加；“较”为计较。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" y="5980176"/>
            <a:ext cx="10808208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5980176"/>
            <a:ext cx="10625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先独立解释句子中的字词／句式，再看老师的归纳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知识归纳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本课重点文言知识 ②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1627632"/>
            <a:ext cx="4537253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77924"/>
            <a:ext cx="43680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27625" y="1627632"/>
            <a:ext cx="6270955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9065" y="1677924"/>
            <a:ext cx="610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引导学生发现的文言知识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76656" y="2176272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240280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“其门之限月一易”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27625" y="2176272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7353" y="2240280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“限”指门槛；“易”指更换；夸张突出客流。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6656" y="3072384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36392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“再期亦富”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227625" y="3072384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7353" y="3136392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“期”读 jī，一周年；再期即两年。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" y="3968496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032504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“肆日中如宵”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27625" y="3968496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7353" y="4032504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“肆”是店铺；以白日似黑夜写生意冷清。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6656" y="4864608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928616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“旦食则昏不足”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227625" y="4864608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7353" y="4928616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“旦”为早晨；“昏”为傍晚，表现生活拮据。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" y="5980176"/>
            <a:ext cx="10808208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5980176"/>
            <a:ext cx="10625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先独立解释句子中的字词／句式，再看老师的归纳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教材实践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教材练习：把词义写清楚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" y="1682496"/>
            <a:ext cx="5678424" cy="384048"/>
          </a:xfrm>
          <a:prstGeom prst="roundRect">
            <a:avLst>
              <a:gd name="adj" fmla="val 23810"/>
            </a:avLst>
          </a:prstGeom>
          <a:solidFill>
            <a:srgbClr val="FFF0D5"/>
          </a:solidFill>
          <a:ln w="12700">
            <a:solidFill>
              <a:srgbClr val="FFF0D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8249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请翻到教材 P126｜“理解” 活动一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2276856"/>
            <a:ext cx="10698480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35000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先在书上完成与药商段落相关的题目，再说出判断依据。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58952" y="3319272"/>
            <a:ext cx="106984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66160"/>
            <a:ext cx="10177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特别检查：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“而随以其良不良应之”／“请益则益之不较”／“其门之限月一易”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94944" y="5175504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57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2＋1分钟  ｜  独立完成  ｜  直接在纸质教材括号中书写；同桌核对1分钟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495544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产出：至少纠正一处起初不确定的解释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F7835"/>
          </a:solidFill>
          <a:ln w="12700">
            <a:solidFill>
              <a:srgbClr val="BF7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78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·  学习检测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Ticket：理解不等于只会翻译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10512"/>
            <a:ext cx="10671048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103120"/>
            <a:ext cx="1007668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用现代汉语解释：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    “请益则益之不较”。</a:t>
            </a:r>
            <a:endParaRPr lang="en-US" sz="2600" dirty="0"/>
          </a:p>
          <a:p>
            <a:pPr algn="l" indent="0" marL="0">
              <a:buNone/>
            </a:pP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引用一处原文，说明作者如何写出药商之间的反差。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68096" y="5239512"/>
            <a:ext cx="10689336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239512"/>
            <a:ext cx="10506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独立写在作业本上｜离开课堂前交给老师检查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640080"/>
            <a:ext cx="1417320" cy="566928"/>
          </a:xfrm>
          <a:prstGeom prst="roundRect">
            <a:avLst>
              <a:gd name="adj" fmla="val 25806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2237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0936" y="1965960"/>
            <a:ext cx="10698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三名官员：谁才是“能贤”？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704088" y="33467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类比／对照／反讽｜把经商故事转化为社会批判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5175504"/>
            <a:ext cx="10744200" cy="0"/>
          </a:xfrm>
          <a:prstGeom prst="line">
            <a:avLst/>
          </a:prstGeom>
          <a:noFill/>
          <a:ln w="38100">
            <a:solidFill>
              <a:srgbClr val="1A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5605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0509 中文第一语言  ·  刘基《郁离子》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036808" y="64008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学习目标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本课学习目标与流程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91640"/>
            <a:ext cx="3383280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56232"/>
            <a:ext cx="91440" cy="2505456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928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文言疏通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395728"/>
            <a:ext cx="272491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能读懂三位官员的行为、遭遇与社会评价。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07408" y="1691640"/>
            <a:ext cx="3383280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56232"/>
            <a:ext cx="91440" cy="2505456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8928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结构分析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2395728"/>
            <a:ext cx="272491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能用原文证明药商与官员一一对应。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1691640"/>
            <a:ext cx="3383280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38744" y="1856232"/>
            <a:ext cx="91440" cy="2505456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8928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文学赏析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7344" y="2395728"/>
            <a:ext cx="272491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能解释为什么称赞反而构成讽刺。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51560" y="4919472"/>
            <a:ext cx="10113264" cy="667512"/>
          </a:xfrm>
          <a:prstGeom prst="roundRect">
            <a:avLst>
              <a:gd name="adj" fmla="val 21918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010912"/>
            <a:ext cx="9756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本课产出：官员词句批注＋双线对照＋“观点—证据—分析”段落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Starter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不看课文，你还记得吗？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837944"/>
            <a:ext cx="10104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只卖良药／良劣兼售／只卖劣药：谁在一年多后大富？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10625328" cy="138988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127248"/>
            <a:ext cx="9912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请说出两个造成反差的细节，并指出它们属于哪一种描写。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94944" y="5212080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294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2分钟  ｜  同桌抢答  ｜  先不翻书回忆，再打开P124核查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产出：给出准确原文而不是只说“大赚／没生意”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转折定位 · 1分钟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转折句：作者真正要说谁？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1810512"/>
            <a:ext cx="10661904" cy="1389888"/>
          </a:xfrm>
          <a:prstGeom prst="roundRect">
            <a:avLst>
              <a:gd name="adj" fmla="val 10526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112264"/>
            <a:ext cx="10040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今之为士者，亦若是夫！</a:t>
            </a:r>
            <a:endParaRPr lang="en-US" sz="3700" dirty="0"/>
          </a:p>
        </p:txBody>
      </p:sp>
      <p:sp>
        <p:nvSpPr>
          <p:cNvPr id="10" name="Shape 8"/>
          <p:cNvSpPr/>
          <p:nvPr/>
        </p:nvSpPr>
        <p:spPr>
          <a:xfrm>
            <a:off x="822960" y="3493008"/>
            <a:ext cx="4974336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3657600"/>
            <a:ext cx="91440" cy="996696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694176"/>
            <a:ext cx="4379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16152" y="419709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“士”“是”“夫”在这里怎么理解？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98464" y="3493008"/>
            <a:ext cx="498348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3657600"/>
            <a:ext cx="91440" cy="996696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6941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再预测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4197096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作者准备如何把“卖药”转到“做官”？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精读 · 5分钟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第一名官员：清廉为什么成了“痴”？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709928"/>
            <a:ext cx="10725912" cy="153619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892808"/>
            <a:ext cx="102687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昔楚鄙三县之尹三，其一廉而不获于上官，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其去也，无以僦舟，人皆笑以为痴。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58952" y="3456432"/>
            <a:ext cx="5029200" cy="1408176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3621024"/>
            <a:ext cx="91440" cy="1078992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6576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语言聚焦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4160520"/>
            <a:ext cx="43708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“获于上官”“去”“僦”分别指什么？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80176" y="3456432"/>
            <a:ext cx="5038344" cy="1408176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3621024"/>
            <a:ext cx="91440" cy="1078992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3657600"/>
            <a:ext cx="4443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评价聚焦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73368" y="4160520"/>
            <a:ext cx="4379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“人皆笑以为痴”是谁在评价他？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4944" y="5212080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94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3＋2分钟  ｜  独立→同桌  ｜  逐句翻译；用两种颜色标记“事实”与“评价”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产出：在教材P124画线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精读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第二名官员：何谓“择可而取”？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901952"/>
            <a:ext cx="10680192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084832"/>
            <a:ext cx="10222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其一择可而取之，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人不尤其取而称其能贤。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77240" y="3694176"/>
            <a:ext cx="10579608" cy="896112"/>
          </a:xfrm>
          <a:prstGeom prst="roundRect">
            <a:avLst>
              <a:gd name="adj" fmla="val 16327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895344"/>
            <a:ext cx="10021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“取”什么？ → “人不尤”说明大家对这种行为怎么看？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94944" y="5276088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5838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1＋2分钟  ｜  先个人后同桌  ｜  分清官员做了什么、旁人又怎么评价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96128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产出：用现代汉语解释整句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精读 · 6分钟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第三名官员：被提拔的是谁？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" y="1636776"/>
            <a:ext cx="10762488" cy="189280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819656"/>
            <a:ext cx="103052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其一无所不取，以交于上官，子吏卒而宾富民，</a:t>
            </a:r>
            <a:endParaRPr lang="en-US" sz="2500" dirty="0"/>
          </a:p>
          <a:p>
            <a:pPr algn="l" indent="0" marL="0">
              <a:buNone/>
            </a:pPr>
            <a:r>
              <a:rPr lang="en-US" sz="25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则不待三年，举而任诸纲纪之司，</a:t>
            </a:r>
            <a:endParaRPr lang="en-US" sz="2500" dirty="0"/>
          </a:p>
          <a:p>
            <a:pPr algn="l" indent="0" marL="0">
              <a:buNone/>
            </a:pPr>
            <a:r>
              <a:rPr lang="en-US" sz="25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虽百姓亦称其善，不亦怪哉！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40664" y="3758184"/>
            <a:ext cx="5120640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3922776"/>
            <a:ext cx="91440" cy="822960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9593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语法追问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33856" y="4462272"/>
            <a:ext cx="4462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为什么“子”“宾”不是普通名词？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62472" y="3758184"/>
            <a:ext cx="5111496" cy="1152144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3922776"/>
            <a:ext cx="91440" cy="822960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3959352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讽刺追问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664" y="4462272"/>
            <a:ext cx="4453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“诸纲纪之司”本应负责什么？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" y="5276088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5838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3＋2＋1分钟  ｜  独立→核对→反馈  ｜  翻译长句并给贪官行为画线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596128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产出：用原文说明他升迁与“称善”的反差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知识归纳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文言知识①：实词、句式与虚词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1636776"/>
            <a:ext cx="4537253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87068"/>
            <a:ext cx="43680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27625" y="1636776"/>
            <a:ext cx="6270955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9065" y="1687068"/>
            <a:ext cx="610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引导学生发现的文言知识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76656" y="2185416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249424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“昔楚鄙三县之尹三”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27625" y="2185416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7353" y="2249424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“鄙”是边远地区；“尹”指县官。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6656" y="3081528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45536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“廉而不获于上官”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227625" y="3081528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7353" y="3145536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“获于上官”指获上级认可；“而”表转折。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" y="3977640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041648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“其去也，无以僦舟”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27625" y="3977640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7353" y="4041648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“去”为离任；“僦”读 jiù，意为租赁。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6656" y="4873752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937760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“人不尤其取”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227625" y="4873752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7353" y="4937760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“尤”作动词，意为责怪。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" y="5980176"/>
            <a:ext cx="10808208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5980176"/>
            <a:ext cx="10625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先独立解释句子中的字词／句式，再看老师的归纳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知识归纳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文言知识②：活用与语气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1636776"/>
            <a:ext cx="4537253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87068"/>
            <a:ext cx="43680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27625" y="1636776"/>
            <a:ext cx="6270955" cy="548640"/>
          </a:xfrm>
          <a:prstGeom prst="roundRect">
            <a:avLst>
              <a:gd name="adj" fmla="val 583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9065" y="1687068"/>
            <a:ext cx="610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引导学生发现的文言知识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76656" y="2185416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249424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“子吏卒而宾富民”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27625" y="2185416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7353" y="2249424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“子”“宾”为名词意动用法：把……当作子女／宾客。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6656" y="3081528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45536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“以交于上官”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227625" y="3081528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7353" y="3145536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“以”表达目的、凭借；“于”表示对象。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" y="3977640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041648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“举而任诸纲纪之司”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27625" y="3977640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7353" y="4041648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“举”指被举荐；“诸”是“之于”合音。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6656" y="4873752"/>
            <a:ext cx="4537253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937760"/>
            <a:ext cx="43315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“虽百姓亦称其善，不亦怪哉”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227625" y="4873752"/>
            <a:ext cx="6270955" cy="879653"/>
          </a:xfrm>
          <a:prstGeom prst="roundRect">
            <a:avLst>
              <a:gd name="adj" fmla="val 259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7353" y="4937760"/>
            <a:ext cx="6065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“虽”是即使；“不亦……哉”为反问，强化批判。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" y="5980176"/>
            <a:ext cx="10808208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5980176"/>
            <a:ext cx="10625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先独立解释句子中的字词／句式，再看老师的归纳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教材实践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教材练习：理解与辨析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645920"/>
            <a:ext cx="5897880" cy="384048"/>
          </a:xfrm>
          <a:prstGeom prst="roundRect">
            <a:avLst>
              <a:gd name="adj" fmla="val 23810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645920"/>
            <a:ext cx="5751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P126｜“理解”活动一、活动二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8096" y="2267712"/>
            <a:ext cx="10661904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40864"/>
            <a:ext cx="10113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先独立完成官员段落相关字词题，并选出符合语境的答案。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4672" y="3310128"/>
            <a:ext cx="10616184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557016"/>
            <a:ext cx="10186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可优先完成含以下短语的题目：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“人皆笑以为痴”／“子吏卒而宾富民”／“虽百姓亦称其善”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4944" y="5294376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7667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1＋1分钟  ｜  书面回答  ｜  直接在教材P126作答；解释不能脱离句子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614416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产出：圈出自己最没有把握的1题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证据比较 · 5分钟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两组人物为什么能“一一对应”？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5934456" cy="384048"/>
          </a:xfrm>
          <a:prstGeom prst="roundRect">
            <a:avLst>
              <a:gd name="adj" fmla="val 23810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27632"/>
            <a:ext cx="5788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P127｜活动一（药商／官员的表现）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2157984"/>
            <a:ext cx="2986979" cy="539496"/>
          </a:xfrm>
          <a:prstGeom prst="roundRect">
            <a:avLst>
              <a:gd name="adj" fmla="val 5932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08276"/>
            <a:ext cx="28178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药商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50503" y="2157984"/>
            <a:ext cx="2879811" cy="539496"/>
          </a:xfrm>
          <a:prstGeom prst="roundRect">
            <a:avLst>
              <a:gd name="adj" fmla="val 5932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1943" y="2208276"/>
            <a:ext cx="27106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官员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44030" y="2157984"/>
            <a:ext cx="4808830" cy="539496"/>
          </a:xfrm>
          <a:prstGeom prst="roundRect">
            <a:avLst>
              <a:gd name="adj" fmla="val 5932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5470" y="2208276"/>
            <a:ext cx="46396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对应的行为／结局逻辑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" y="2697480"/>
            <a:ext cx="2986979" cy="693725"/>
          </a:xfrm>
          <a:prstGeom prst="roundRect">
            <a:avLst>
              <a:gd name="adj" fmla="val 329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761488"/>
            <a:ext cx="2781239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只卖良药者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750503" y="2697480"/>
            <a:ext cx="2879811" cy="693725"/>
          </a:xfrm>
          <a:prstGeom prst="roundRect">
            <a:avLst>
              <a:gd name="adj" fmla="val 329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0231" y="2761488"/>
            <a:ext cx="2674071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44030" y="2697480"/>
            <a:ext cx="4808830" cy="693725"/>
          </a:xfrm>
          <a:prstGeom prst="roundRect">
            <a:avLst>
              <a:gd name="adj" fmla="val 329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3758" y="2761488"/>
            <a:ext cx="460309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49808" y="3407664"/>
            <a:ext cx="2986979" cy="693725"/>
          </a:xfrm>
          <a:prstGeom prst="roundRect">
            <a:avLst>
              <a:gd name="adj" fmla="val 329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3471672"/>
            <a:ext cx="2781239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良劣兼售者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3750503" y="3407664"/>
            <a:ext cx="2879811" cy="693725"/>
          </a:xfrm>
          <a:prstGeom prst="roundRect">
            <a:avLst>
              <a:gd name="adj" fmla="val 329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0231" y="3471672"/>
            <a:ext cx="2674071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644030" y="3407664"/>
            <a:ext cx="4808830" cy="693725"/>
          </a:xfrm>
          <a:prstGeom prst="roundRect">
            <a:avLst>
              <a:gd name="adj" fmla="val 329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3758" y="3471672"/>
            <a:ext cx="460309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749808" y="4117848"/>
            <a:ext cx="2986979" cy="693725"/>
          </a:xfrm>
          <a:prstGeom prst="roundRect">
            <a:avLst>
              <a:gd name="adj" fmla="val 329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181856"/>
            <a:ext cx="2781239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不取良药者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750503" y="4117848"/>
            <a:ext cx="2879811" cy="693725"/>
          </a:xfrm>
          <a:prstGeom prst="roundRect">
            <a:avLst>
              <a:gd name="adj" fmla="val 329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0231" y="4181856"/>
            <a:ext cx="2674071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644030" y="4117848"/>
            <a:ext cx="4808830" cy="693725"/>
          </a:xfrm>
          <a:prstGeom prst="roundRect">
            <a:avLst>
              <a:gd name="adj" fmla="val 329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3758" y="4181856"/>
            <a:ext cx="460309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94944" y="5285232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3675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3＋2分钟  ｜  个人填表→同桌互查  ｜  书上完成P127表格；每组找出一对原文证据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4400" y="5605272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产出：再说这类比成立在哪里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反馈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对应关系：答案必须能回到原文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709928"/>
            <a:ext cx="3415650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760220"/>
            <a:ext cx="324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药商结局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70030" y="1709928"/>
            <a:ext cx="3951488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1470" y="1760220"/>
            <a:ext cx="3782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官员结局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5234" y="1709928"/>
            <a:ext cx="3308482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6674" y="1760220"/>
            <a:ext cx="3139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揭示的问题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0664" y="2194560"/>
            <a:ext cx="3415650" cy="815645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258568"/>
            <a:ext cx="320991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“肆日中如宵”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70030" y="2194560"/>
            <a:ext cx="3951488" cy="815645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758" y="2258568"/>
            <a:ext cx="37457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“人皆笑以为痴”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5234" y="2194560"/>
            <a:ext cx="3308482" cy="815645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4962" y="2258568"/>
            <a:ext cx="310274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守原则者失意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664" y="3026664"/>
            <a:ext cx="3415650" cy="815645"/>
          </a:xfrm>
          <a:prstGeom prst="roundRect">
            <a:avLst>
              <a:gd name="adj" fmla="val 280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090672"/>
            <a:ext cx="320991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“再期亦富”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170030" y="3026664"/>
            <a:ext cx="3951488" cy="815645"/>
          </a:xfrm>
          <a:prstGeom prst="roundRect">
            <a:avLst>
              <a:gd name="adj" fmla="val 280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758" y="3090672"/>
            <a:ext cx="37457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“称其能贤”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35234" y="3026664"/>
            <a:ext cx="3308482" cy="815645"/>
          </a:xfrm>
          <a:prstGeom prst="roundRect">
            <a:avLst>
              <a:gd name="adj" fmla="val 280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4962" y="3090672"/>
            <a:ext cx="310274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适度取利者受认可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0664" y="3858768"/>
            <a:ext cx="3415650" cy="815645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922776"/>
            <a:ext cx="320991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“岁余而大富”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170030" y="3858768"/>
            <a:ext cx="3951488" cy="815645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758" y="3922776"/>
            <a:ext cx="37457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“举而任诸纲纪之司”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35234" y="3858768"/>
            <a:ext cx="3308482" cy="815645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4962" y="3922776"/>
            <a:ext cx="310274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无所不取者得势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68096" y="5084064"/>
            <a:ext cx="10661904" cy="630936"/>
          </a:xfrm>
          <a:prstGeom prst="roundRect">
            <a:avLst>
              <a:gd name="adj" fmla="val 23188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175504"/>
            <a:ext cx="10277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追问：作者最不满的是“贪官个人”，还是“奖励失德的社会”？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反讽辨析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谁说“能贤”？谁说“怪哉”？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" y="1746504"/>
            <a:ext cx="5120640" cy="1984248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911096"/>
            <a:ext cx="91440" cy="1655064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194767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外部声音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9576" y="2450592"/>
            <a:ext cx="4462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“人皆笑以为痴”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“称其能贤”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“虽百姓亦称其善”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17336" y="1746504"/>
            <a:ext cx="5157216" cy="1984248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911096"/>
            <a:ext cx="91440" cy="1655064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947672"/>
            <a:ext cx="4562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作者声音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2450592"/>
            <a:ext cx="4498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“今之为士者，亦若是夫！”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“不亦怪哉！”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32104" y="4096512"/>
            <a:ext cx="10479024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4169664"/>
            <a:ext cx="993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为什么作者要写“称其善”，却不直接写“此人为恶”？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32104" y="5266944"/>
            <a:ext cx="10488168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266944"/>
            <a:ext cx="10305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先标记“谁在说” → 再解释字面称赞与真实态度的距离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文学分析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不是只答“运用了对比”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89336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947672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“手法”只是起点；真正重要的是它怎样让读者看见社会的荒谬。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" y="2825496"/>
            <a:ext cx="2333915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75788"/>
            <a:ext cx="21647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步骤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124871" y="2825496"/>
            <a:ext cx="8309701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6311" y="2875788"/>
            <a:ext cx="81405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思考提示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310128"/>
            <a:ext cx="2333915" cy="684581"/>
          </a:xfrm>
          <a:prstGeom prst="roundRect">
            <a:avLst>
              <a:gd name="adj" fmla="val 333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374136"/>
            <a:ext cx="2128175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124871" y="3310128"/>
            <a:ext cx="8309701" cy="684581"/>
          </a:xfrm>
          <a:prstGeom prst="roundRect">
            <a:avLst>
              <a:gd name="adj" fmla="val 333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4599" y="3374136"/>
            <a:ext cx="8103961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作者借___与___的对照，揭示___。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77240" y="4011168"/>
            <a:ext cx="2333915" cy="684581"/>
          </a:xfrm>
          <a:prstGeom prst="roundRect">
            <a:avLst>
              <a:gd name="adj" fmla="val 333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4075176"/>
            <a:ext cx="2128175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文本证据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24871" y="4011168"/>
            <a:ext cx="8309701" cy="684581"/>
          </a:xfrm>
          <a:prstGeom prst="roundRect">
            <a:avLst>
              <a:gd name="adj" fmla="val 3339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4599" y="4075176"/>
            <a:ext cx="8103961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例如“________”与“________”。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7240" y="4712208"/>
            <a:ext cx="2333915" cy="684581"/>
          </a:xfrm>
          <a:prstGeom prst="roundRect">
            <a:avLst>
              <a:gd name="adj" fmla="val 333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776216"/>
            <a:ext cx="2128175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效果分析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124871" y="4712208"/>
            <a:ext cx="8309701" cy="684581"/>
          </a:xfrm>
          <a:prstGeom prst="roundRect">
            <a:avLst>
              <a:gd name="adj" fmla="val 333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4599" y="4776216"/>
            <a:ext cx="8103961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原本应该___的人却___，使读者意识到___。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分析／评论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教材P128：作者为什么不直斥贪官？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45920"/>
            <a:ext cx="6071616" cy="384048"/>
          </a:xfrm>
          <a:prstGeom prst="roundRect">
            <a:avLst>
              <a:gd name="adj" fmla="val 23810"/>
            </a:avLst>
          </a:prstGeom>
          <a:solidFill>
            <a:srgbClr val="E0F2EF"/>
          </a:solidFill>
          <a:ln w="12700">
            <a:solidFill>
              <a:srgbClr val="E0F2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45920"/>
            <a:ext cx="5925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D4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P128｜“分析／评论”第1–3题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" y="2322576"/>
            <a:ext cx="10689336" cy="2505456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05456"/>
            <a:ext cx="102321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从结尾能看出作者怎样的态度？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作者运用了哪些论证手法？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以陈述为主、不直接严厉批判，有何效果？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94944" y="5239512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2180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2＋1分钟  ｜  独立先写→同桌交换  ｜  选择其中一题回答，必须引用或指向原文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59552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产出：写出“手法＋文本证据＋作用”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66E"/>
          </a:solidFill>
          <a:ln w="12700">
            <a:solidFill>
              <a:srgbClr val="1A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·  学习检测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Ticket：把证据变成分析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10512"/>
            <a:ext cx="10661904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039112"/>
            <a:ext cx="1006754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请写一个 70—100 字的文学分析段：</a:t>
            </a:r>
            <a:endParaRPr lang="en-US" sz="2500" dirty="0"/>
          </a:p>
          <a:p>
            <a:pPr algn="l" indent="0" marL="0">
              <a:buNone/>
            </a:pPr>
            <a:endParaRPr lang="en-US" sz="2500" dirty="0"/>
          </a:p>
          <a:p>
            <a:pPr algn="l" indent="0" marL="0">
              <a:buNone/>
            </a:pPr>
            <a:r>
              <a:rPr lang="en-US" sz="25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作者如何借三个药商的故事，讽刺官场中的不公平现象？</a:t>
            </a:r>
            <a:endParaRPr lang="en-US" sz="2500" dirty="0"/>
          </a:p>
          <a:p>
            <a:pPr algn="l" indent="0" marL="0">
              <a:buNone/>
            </a:pPr>
            <a:endParaRPr lang="en-US" sz="2500" dirty="0"/>
          </a:p>
          <a:p>
            <a:pPr algn="l" indent="0" marL="0">
              <a:buNone/>
            </a:pPr>
            <a:r>
              <a:rPr lang="en-US" sz="25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至少引用两处原文，并分析其作用。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86384" y="5285232"/>
            <a:ext cx="10634472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5285232"/>
            <a:ext cx="10451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 → 两处原文 → 手法 → 讽刺效果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640080"/>
            <a:ext cx="1417320" cy="566928"/>
          </a:xfrm>
          <a:prstGeom prst="roundRect">
            <a:avLst>
              <a:gd name="adj" fmla="val 25806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2237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0936" y="1965960"/>
            <a:ext cx="10698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“高薪可以养廉”吗？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704088" y="33467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从寓言到现实｜立场、论证与回应异议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5175504"/>
            <a:ext cx="10744200" cy="0"/>
          </a:xfrm>
          <a:prstGeom prst="line">
            <a:avLst/>
          </a:prstGeom>
          <a:noFill/>
          <a:ln w="38100">
            <a:solidFill>
              <a:srgbClr val="655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5605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0509 中文第一语言  ·  刘基《郁离子》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036808" y="64008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学习目标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本课目标：既敢判断，也能论证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" y="1700784"/>
            <a:ext cx="3419856" cy="2843784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865376"/>
            <a:ext cx="91440" cy="2514600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90195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评价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2404872"/>
            <a:ext cx="27614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区分个人品德、制度约束和社会评价等不同解释。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98264" y="1700784"/>
            <a:ext cx="3419856" cy="2843784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62856" y="1865376"/>
            <a:ext cx="91440" cy="2514600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90195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辩驳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91456" y="2404872"/>
            <a:ext cx="27614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能完整理解对立观点，并针对其最有力的理由回应。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1700784"/>
            <a:ext cx="3419856" cy="2843784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38744" y="1865376"/>
            <a:ext cx="91440" cy="2514600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90195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7344" y="2404872"/>
            <a:ext cx="27614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完成有立场、解释、例证、让步和反驳的议论段。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1832" y="4901184"/>
            <a:ext cx="10277856" cy="676656"/>
          </a:xfrm>
          <a:prstGeom prst="roundRect">
            <a:avLst>
              <a:gd name="adj" fmla="val 21622"/>
            </a:avLst>
          </a:prstGeom>
          <a:solidFill>
            <a:srgbClr val="EEEAF7"/>
          </a:solidFill>
          <a:ln w="12700">
            <a:solidFill>
              <a:srgbClr val="EEEA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5029200"/>
            <a:ext cx="99578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本课产出：责任分析＋小型辩论＋150—200字议论段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Starter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请表态：高薪就能减少贪腐吗？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" y="1700784"/>
            <a:ext cx="10643616" cy="832104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773936"/>
            <a:ext cx="10094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“只要官员薪酬足够高，贪腐行为就会明显减少。”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106424" y="2779776"/>
            <a:ext cx="3474720" cy="475488"/>
          </a:xfrm>
          <a:prstGeom prst="roundRect">
            <a:avLst>
              <a:gd name="adj" fmla="val 6731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2830068"/>
            <a:ext cx="33055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举几根手指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94860" y="2779776"/>
            <a:ext cx="6464808" cy="475488"/>
          </a:xfrm>
          <a:prstGeom prst="roundRect">
            <a:avLst>
              <a:gd name="adj" fmla="val 6731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6300" y="2830068"/>
            <a:ext cx="62956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你的立场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06424" y="3255264"/>
            <a:ext cx="3474720" cy="461315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319272"/>
            <a:ext cx="32689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94860" y="3255264"/>
            <a:ext cx="6464808" cy="461315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4588" y="3319272"/>
            <a:ext cx="62590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完全同意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06424" y="3733038"/>
            <a:ext cx="3474720" cy="461315"/>
          </a:xfrm>
          <a:prstGeom prst="roundRect">
            <a:avLst>
              <a:gd name="adj" fmla="val 495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3797046"/>
            <a:ext cx="32689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594860" y="3733038"/>
            <a:ext cx="6464808" cy="461315"/>
          </a:xfrm>
          <a:prstGeom prst="roundRect">
            <a:avLst>
              <a:gd name="adj" fmla="val 495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4588" y="3797046"/>
            <a:ext cx="62590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比较同意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06424" y="4210812"/>
            <a:ext cx="3474720" cy="461315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4274820"/>
            <a:ext cx="32689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594860" y="4210812"/>
            <a:ext cx="6464808" cy="461315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4588" y="4274820"/>
            <a:ext cx="62590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比较不同意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06424" y="4688586"/>
            <a:ext cx="3474720" cy="461315"/>
          </a:xfrm>
          <a:prstGeom prst="roundRect">
            <a:avLst>
              <a:gd name="adj" fmla="val 495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6152" y="4752594"/>
            <a:ext cx="32689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594860" y="4688586"/>
            <a:ext cx="6464808" cy="461315"/>
          </a:xfrm>
          <a:prstGeom prst="roundRect">
            <a:avLst>
              <a:gd name="adj" fmla="val 495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4588" y="4752594"/>
            <a:ext cx="62590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完全不同意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回到文本 · 5分钟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《蜀贾》：到底是谁让坏官得势？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10643616" cy="1746504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101864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“其一无所不取，以交于上官……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则不待三年，举而任诸纲纪之司，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虽百姓亦称其善。”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95528" y="3657600"/>
            <a:ext cx="3701948" cy="466344"/>
          </a:xfrm>
          <a:prstGeom prst="roundRect">
            <a:avLst>
              <a:gd name="adj" fmla="val 686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707892"/>
            <a:ext cx="3532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解释路径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11192" y="3657600"/>
            <a:ext cx="6886804" cy="466344"/>
          </a:xfrm>
          <a:prstGeom prst="roundRect">
            <a:avLst>
              <a:gd name="adj" fmla="val 6863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2632" y="3707892"/>
            <a:ext cx="671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能够支持你的原文细节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5528" y="4123944"/>
            <a:ext cx="3701948" cy="349301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187952"/>
            <a:ext cx="349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个人品德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11192" y="4123944"/>
            <a:ext cx="6886804" cy="349301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0920" y="4187952"/>
            <a:ext cx="668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528" y="4489704"/>
            <a:ext cx="3701948" cy="349301"/>
          </a:xfrm>
          <a:prstGeom prst="roundRect">
            <a:avLst>
              <a:gd name="adj" fmla="val 6544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553712"/>
            <a:ext cx="349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上级／制度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11192" y="4489704"/>
            <a:ext cx="6886804" cy="349301"/>
          </a:xfrm>
          <a:prstGeom prst="roundRect">
            <a:avLst>
              <a:gd name="adj" fmla="val 6544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0920" y="4553712"/>
            <a:ext cx="668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95528" y="4855464"/>
            <a:ext cx="3701948" cy="349301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4919472"/>
            <a:ext cx="349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社会评价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511192" y="4855464"/>
            <a:ext cx="6886804" cy="349301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0920" y="4919472"/>
            <a:ext cx="668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深化讨论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追问：是“高薪”还是“有效监督”？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719072"/>
            <a:ext cx="1071676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01952"/>
            <a:ext cx="10094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假设第三名官员已经得到很高薪酬，他还会“无所不取”吗？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68096" y="3108960"/>
            <a:ext cx="512064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273552"/>
            <a:ext cx="91440" cy="1152144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3101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可能减少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61288" y="3813048"/>
            <a:ext cx="4462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收入更充足，贪腐的诱因或许可降低。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80760" y="3108960"/>
            <a:ext cx="5138928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3273552"/>
            <a:ext cx="91440" cy="1152144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310128"/>
            <a:ext cx="4544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未必减少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73952" y="3813048"/>
            <a:ext cx="4480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若监督缺失、贪欲不受制约，高薪仍无法保证清廉。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04672" y="5276088"/>
            <a:ext cx="10588752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5276088"/>
            <a:ext cx="10405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先给条件：在什么情况下成立？在什么情况下不成立？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联系生活 · 4分钟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教材P127：现实中的清廉障碍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636776"/>
            <a:ext cx="6519672" cy="384048"/>
          </a:xfrm>
          <a:prstGeom prst="roundRect">
            <a:avLst>
              <a:gd name="adj" fmla="val 23810"/>
            </a:avLst>
          </a:prstGeom>
          <a:solidFill>
            <a:srgbClr val="EEEAF7"/>
          </a:solidFill>
          <a:ln w="12700">
            <a:solidFill>
              <a:srgbClr val="EEEA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636776"/>
            <a:ext cx="6373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P127–128｜“活动三·联系生活”第1–2题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2212848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2860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一个坚持廉洁原则的官员，可能面对哪些压力或阻力？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5120640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456432"/>
            <a:ext cx="91440" cy="1124712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4930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个人层面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70432" y="3995928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利益诱惑／家庭与同僚压力／升迁焦虑……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089904" y="3291840"/>
            <a:ext cx="5102352" cy="145389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3456432"/>
            <a:ext cx="91440" cy="1124712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3493008"/>
            <a:ext cx="4507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制度层面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83096" y="3995928"/>
            <a:ext cx="444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不透明／举报困难／监督与问责不足……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94944" y="5248656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3095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2＋2分钟  ｜  同桌讨论  ｜  每人提供一个现实假设，再提出对应的制度措施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5568696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产出：在教材P127–128或作业本写两条建议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论证训练 · 3分钟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辨析：主张≠理由≠证据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783080"/>
            <a:ext cx="2562697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833372"/>
            <a:ext cx="2393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要素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17077" y="1783080"/>
            <a:ext cx="8144927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8517" y="1833372"/>
            <a:ext cx="79757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示例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0664" y="2267712"/>
            <a:ext cx="2562697" cy="689915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331720"/>
            <a:ext cx="235695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主张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17077" y="2267712"/>
            <a:ext cx="8144927" cy="689915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6805" y="2331720"/>
            <a:ext cx="793918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高薪可以成为减少腐败的一项措施。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" y="2974086"/>
            <a:ext cx="2562697" cy="689915"/>
          </a:xfrm>
          <a:prstGeom prst="roundRect">
            <a:avLst>
              <a:gd name="adj" fmla="val 331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038094"/>
            <a:ext cx="235695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理由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17077" y="2974086"/>
            <a:ext cx="8144927" cy="689915"/>
          </a:xfrm>
          <a:prstGeom prst="roundRect">
            <a:avLst>
              <a:gd name="adj" fmla="val 331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6805" y="3038094"/>
            <a:ext cx="793918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高薪可能降低经济压力，并增加失去公职的代价。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664" y="3680460"/>
            <a:ext cx="2562697" cy="689915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744468"/>
            <a:ext cx="235695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17077" y="3680460"/>
            <a:ext cx="8144927" cy="689915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6805" y="3744468"/>
            <a:ext cx="793918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需要真实案例、合理数据或具体情境加以支持。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0664" y="4386834"/>
            <a:ext cx="2562697" cy="689915"/>
          </a:xfrm>
          <a:prstGeom prst="roundRect">
            <a:avLst>
              <a:gd name="adj" fmla="val 331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450842"/>
            <a:ext cx="235695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限度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317077" y="4386834"/>
            <a:ext cx="8144927" cy="689915"/>
          </a:xfrm>
          <a:prstGeom prst="roundRect">
            <a:avLst>
              <a:gd name="adj" fmla="val 3313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6805" y="4450842"/>
            <a:ext cx="7939187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但若权力不受监督，仍无法保证官员清廉。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68096" y="5376672"/>
            <a:ext cx="10671048" cy="393192"/>
          </a:xfrm>
          <a:prstGeom prst="roundRect">
            <a:avLst>
              <a:gd name="adj" fmla="val 37209"/>
            </a:avLst>
          </a:prstGeom>
          <a:solidFill>
            <a:srgbClr val="EEEAF7"/>
          </a:solidFill>
          <a:ln w="12700">
            <a:solidFill>
              <a:srgbClr val="EEEAF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5449824"/>
            <a:ext cx="10268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找出：哪一句在明确立场？哪一句在解释机制？哪一句提醒证据要求？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分工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准备小型辩论：先理解对方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1691640"/>
            <a:ext cx="5212080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856232"/>
            <a:ext cx="91440" cy="3072384"/>
          </a:xfrm>
          <a:prstGeom prst="roundRect">
            <a:avLst>
              <a:gd name="adj" fmla="val 160000"/>
            </a:avLst>
          </a:prstGeom>
          <a:solidFill>
            <a:srgbClr val="1A766E"/>
          </a:solidFill>
          <a:ln w="12700">
            <a:solidFill>
              <a:srgbClr val="1A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189280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" y="2395728"/>
            <a:ext cx="4553712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“高薪可以养廉”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试提出最有说服力的两个理由。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再猜测反方会如何质疑。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5212080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856232"/>
            <a:ext cx="91440" cy="3072384"/>
          </a:xfrm>
          <a:prstGeom prst="roundRect">
            <a:avLst>
              <a:gd name="adj" fmla="val 160000"/>
            </a:avLst>
          </a:prstGeom>
          <a:solidFill>
            <a:srgbClr val="65549A"/>
          </a:solidFill>
          <a:ln w="12700">
            <a:solidFill>
              <a:srgbClr val="6554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189280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质疑方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74536" y="2395728"/>
            <a:ext cx="4553712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“高薪不足以保证清廉”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试提出最有说服力的两个理由。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再猜测支持方会如何反驳。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616184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5486400"/>
            <a:ext cx="10433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坐在原位，同桌分别担任一方；不移动桌椅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辩论 · 6分钟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辩论规则：回应最强论点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773936"/>
            <a:ext cx="2115007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4228"/>
            <a:ext cx="194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步骤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905963" y="1773936"/>
            <a:ext cx="6585326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7403" y="1824228"/>
            <a:ext cx="64161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每人要说什么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505005" y="1773936"/>
            <a:ext cx="1902135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96445" y="1824228"/>
            <a:ext cx="17329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建议时间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2258568"/>
            <a:ext cx="2115007" cy="737921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322576"/>
            <a:ext cx="1909267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第一轮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905963" y="2258568"/>
            <a:ext cx="6585326" cy="737921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5691" y="2322576"/>
            <a:ext cx="637958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我认为……，因为……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505005" y="2258568"/>
            <a:ext cx="1902135" cy="737921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4733" y="2322576"/>
            <a:ext cx="169639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各 45 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77240" y="3012948"/>
            <a:ext cx="2115007" cy="737921"/>
          </a:xfrm>
          <a:prstGeom prst="roundRect">
            <a:avLst>
              <a:gd name="adj" fmla="val 309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076956"/>
            <a:ext cx="1909267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追问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905963" y="3012948"/>
            <a:ext cx="6585326" cy="737921"/>
          </a:xfrm>
          <a:prstGeom prst="roundRect">
            <a:avLst>
              <a:gd name="adj" fmla="val 309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5691" y="3076956"/>
            <a:ext cx="637958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你的理由需要什么条件才成立？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505005" y="3012948"/>
            <a:ext cx="1902135" cy="737921"/>
          </a:xfrm>
          <a:prstGeom prst="roundRect">
            <a:avLst>
              <a:gd name="adj" fmla="val 309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4733" y="3076956"/>
            <a:ext cx="169639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各 30 秒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77240" y="3767328"/>
            <a:ext cx="2115007" cy="737921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831336"/>
            <a:ext cx="1909267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回应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2905963" y="3767328"/>
            <a:ext cx="6585326" cy="737921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5691" y="3831336"/>
            <a:ext cx="637958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你的观点有道理，但它忽略了……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9505005" y="3767328"/>
            <a:ext cx="1902135" cy="737921"/>
          </a:xfrm>
          <a:prstGeom prst="roundRect">
            <a:avLst>
              <a:gd name="adj" fmla="val 309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14733" y="3831336"/>
            <a:ext cx="169639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各 45 秒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77240" y="4521708"/>
            <a:ext cx="2115007" cy="737921"/>
          </a:xfrm>
          <a:prstGeom prst="roundRect">
            <a:avLst>
              <a:gd name="adj" fmla="val 309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4585716"/>
            <a:ext cx="1909267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交换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2905963" y="4521708"/>
            <a:ext cx="6585326" cy="737921"/>
          </a:xfrm>
          <a:prstGeom prst="roundRect">
            <a:avLst>
              <a:gd name="adj" fmla="val 309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5691" y="4585716"/>
            <a:ext cx="637958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换一个立场，为对方做最强辩护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9505005" y="4521708"/>
            <a:ext cx="1902135" cy="737921"/>
          </a:xfrm>
          <a:prstGeom prst="roundRect">
            <a:avLst>
              <a:gd name="adj" fmla="val 309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14733" y="4585716"/>
            <a:ext cx="169639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各 45 秒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804672" y="5468112"/>
            <a:ext cx="10579608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5468112"/>
            <a:ext cx="103967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成功标准：不是“我不同意”，而是回应对方最有力的理由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教材创作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写作前：你要说服谁？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18488"/>
            <a:ext cx="3877056" cy="384048"/>
          </a:xfrm>
          <a:prstGeom prst="roundRect">
            <a:avLst>
              <a:gd name="adj" fmla="val 23810"/>
            </a:avLst>
          </a:prstGeom>
          <a:solidFill>
            <a:srgbClr val="EEEAF7"/>
          </a:solidFill>
          <a:ln w="12700">
            <a:solidFill>
              <a:srgbClr val="EEEA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18488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P128｜“创作”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" y="2231136"/>
            <a:ext cx="2981858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81428"/>
            <a:ext cx="2812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写作选择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54526" y="2231136"/>
            <a:ext cx="7689190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5966" y="2281428"/>
            <a:ext cx="7520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需要明确的内容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8952" y="2715768"/>
            <a:ext cx="2981858" cy="616763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79776"/>
            <a:ext cx="2776118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议题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54526" y="2715768"/>
            <a:ext cx="7689190" cy="616763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4254" y="2779776"/>
            <a:ext cx="748345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“高薪可以养廉”——你赞成还是不赞成？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952" y="3348990"/>
            <a:ext cx="2981858" cy="616763"/>
          </a:xfrm>
          <a:prstGeom prst="roundRect">
            <a:avLst>
              <a:gd name="adj" fmla="val 370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412998"/>
            <a:ext cx="2776118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受众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54526" y="3348990"/>
            <a:ext cx="7689190" cy="616763"/>
          </a:xfrm>
          <a:prstGeom prst="roundRect">
            <a:avLst>
              <a:gd name="adj" fmla="val 370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4254" y="3412998"/>
            <a:ext cx="748345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报社编辑及公众读者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8952" y="3982212"/>
            <a:ext cx="2981858" cy="616763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46220"/>
            <a:ext cx="2776118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文体与目的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754526" y="3982212"/>
            <a:ext cx="7689190" cy="616763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4254" y="4046220"/>
            <a:ext cx="748345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说服性议论文；表达立场并回应质疑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58952" y="4615434"/>
            <a:ext cx="2981858" cy="616763"/>
          </a:xfrm>
          <a:prstGeom prst="roundRect">
            <a:avLst>
              <a:gd name="adj" fmla="val 370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679442"/>
            <a:ext cx="2776118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材料安排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754526" y="4615434"/>
            <a:ext cx="7689190" cy="616763"/>
          </a:xfrm>
          <a:prstGeom prst="roundRect">
            <a:avLst>
              <a:gd name="adj" fmla="val 3706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4254" y="4679442"/>
            <a:ext cx="748345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文本启示＋逻辑解释＋适当例证（不虚构事实）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写作 · 9分钟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150—200字议论段：写出让步与反驳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" y="1773936"/>
            <a:ext cx="10579608" cy="3502152"/>
          </a:xfrm>
          <a:prstGeom prst="roundRect">
            <a:avLst>
              <a:gd name="adj" fmla="val 417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11680"/>
            <a:ext cx="99486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我的立场：我认为_______________________。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理由与解释：这是因为_________________。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例证或情境：例如_____________________。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让步与反驳：诚然________，但________。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回扣观点：因此_______________________。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04672" y="5495544"/>
            <a:ext cx="10597896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5495544"/>
            <a:ext cx="10415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先写完整论证，不追求华丽套语；每一句应承担不同论证功能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互评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同伴反馈：是怎样被说服的？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1819656"/>
            <a:ext cx="2860060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69948"/>
            <a:ext cx="269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核查项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41872" y="1819656"/>
            <a:ext cx="7756124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312" y="1869948"/>
            <a:ext cx="758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同伴要做的事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8096" y="2304288"/>
            <a:ext cx="2860060" cy="680771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368296"/>
            <a:ext cx="265432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明确立场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41872" y="2304288"/>
            <a:ext cx="7756124" cy="680771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1600" y="2368296"/>
            <a:ext cx="755038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给立场句画线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8096" y="3001518"/>
            <a:ext cx="2860060" cy="680771"/>
          </a:xfrm>
          <a:prstGeom prst="roundRect">
            <a:avLst>
              <a:gd name="adj" fmla="val 335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65526"/>
            <a:ext cx="265432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机制充分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41872" y="3001518"/>
            <a:ext cx="7756124" cy="680771"/>
          </a:xfrm>
          <a:prstGeom prst="roundRect">
            <a:avLst>
              <a:gd name="adj" fmla="val 335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1600" y="3065526"/>
            <a:ext cx="755038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圈出解释“为什么有效／无效”的部分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8096" y="3698748"/>
            <a:ext cx="2860060" cy="680771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762756"/>
            <a:ext cx="265432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回应异议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41872" y="3698748"/>
            <a:ext cx="7756124" cy="680771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1600" y="3762756"/>
            <a:ext cx="755038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标出让步与反驳是否针对对方观点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68096" y="4395978"/>
            <a:ext cx="2860060" cy="680771"/>
          </a:xfrm>
          <a:prstGeom prst="roundRect">
            <a:avLst>
              <a:gd name="adj" fmla="val 335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459986"/>
            <a:ext cx="2654320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表达准确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641872" y="4395978"/>
            <a:ext cx="7756124" cy="680771"/>
          </a:xfrm>
          <a:prstGeom prst="roundRect">
            <a:avLst>
              <a:gd name="adj" fmla="val 3358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1600" y="4459986"/>
            <a:ext cx="755038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挑出一句泛泛而谈的内容，提出具体修改建议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4944" y="5303520"/>
            <a:ext cx="10808208" cy="585216"/>
          </a:xfrm>
          <a:prstGeom prst="roundRect">
            <a:avLst>
              <a:gd name="adj" fmla="val 25000"/>
            </a:avLst>
          </a:prstGeom>
          <a:solidFill>
            <a:srgbClr val="F0F3F5"/>
          </a:solidFill>
          <a:ln w="12700">
            <a:solidFill>
              <a:srgbClr val="F0F3F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858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49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1＋1分钟  ｜  同桌交换作业本  ｜  先标注一个长处，再写一条可执行修改意见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4400" y="5623560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产出：每人修改最薄弱的一句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总结 · 2分钟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Ticket与作业：立场发生变化了吗？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" y="1728216"/>
            <a:ext cx="10707624" cy="1527048"/>
          </a:xfrm>
          <a:prstGeom prst="roundRect">
            <a:avLst>
              <a:gd name="adj" fmla="val 9581"/>
            </a:avLst>
          </a:prstGeom>
          <a:solidFill>
            <a:srgbClr val="EEEAF7"/>
          </a:solidFill>
          <a:ln w="12700">
            <a:solidFill>
              <a:srgbClr val="EEEA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947672"/>
            <a:ext cx="100401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重回开头的 1—4 手指表态：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你现在的立场是否发生变化？为什么？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86384" y="3657600"/>
            <a:ext cx="10671048" cy="1435608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913632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Homework｜教材 P128 “创作”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以“高薪可以养廉”为题意，完成面向报社读者的说服性文章。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5532120"/>
            <a:ext cx="10698480" cy="283464"/>
          </a:xfrm>
          <a:prstGeom prst="roundRect">
            <a:avLst>
              <a:gd name="adj" fmla="val 51613"/>
            </a:avLst>
          </a:prstGeom>
          <a:solidFill>
            <a:srgbClr val="EAF0F4"/>
          </a:solidFill>
          <a:ln w="12700">
            <a:solidFill>
              <a:srgbClr val="EAF0F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55321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4688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交稿前：立场明确／至少两条论据／有效反驳／内容真实准确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教师参考 · 不投影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教师使用：三课时课堂操作索引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1801368"/>
            <a:ext cx="2438522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51660"/>
            <a:ext cx="22693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课时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20334" y="1801368"/>
            <a:ext cx="4144427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1774" y="1851660"/>
            <a:ext cx="39752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关键课堂成果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78476" y="1801368"/>
            <a:ext cx="4037808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9916" y="1851660"/>
            <a:ext cx="3868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时间与取舍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8096" y="2286000"/>
            <a:ext cx="2438522" cy="867461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350008"/>
            <a:ext cx="223278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第1课｜45分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20334" y="2286000"/>
            <a:ext cx="4144427" cy="867461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0062" y="2350008"/>
            <a:ext cx="3938687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词句批注、药商P127比较表、Exit Ticket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78476" y="2286000"/>
            <a:ext cx="4037808" cy="867461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204" y="2350008"/>
            <a:ext cx="383206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优先保留逐句落实与原文证据；P125–126题可课后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" y="3169920"/>
            <a:ext cx="2438522" cy="867461"/>
          </a:xfrm>
          <a:prstGeom prst="roundRect">
            <a:avLst>
              <a:gd name="adj" fmla="val 263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233928"/>
            <a:ext cx="223278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第2课｜45分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20334" y="3169920"/>
            <a:ext cx="4144427" cy="867461"/>
          </a:xfrm>
          <a:prstGeom prst="roundRect">
            <a:avLst>
              <a:gd name="adj" fmla="val 263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0062" y="3233928"/>
            <a:ext cx="3938687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官员词句批注、类比对照、反讽分析段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78476" y="3169920"/>
            <a:ext cx="4037808" cy="867461"/>
          </a:xfrm>
          <a:prstGeom prst="roundRect">
            <a:avLst>
              <a:gd name="adj" fmla="val 2635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204" y="3233928"/>
            <a:ext cx="383206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优先保留“谁评价”“怎样反讽”；缩短集体汇报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8096" y="4053840"/>
            <a:ext cx="2438522" cy="867461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117848"/>
            <a:ext cx="223278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第3课｜45分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20334" y="4053840"/>
            <a:ext cx="4144427" cy="867461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0062" y="4117848"/>
            <a:ext cx="3938687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责任分析、同桌辩论、议论段落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378476" y="4053840"/>
            <a:ext cx="4037808" cy="867461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88204" y="4117848"/>
            <a:ext cx="383206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优先保留反驳与书面产出；概念讨论勿跑题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68096" y="5148072"/>
            <a:ext cx="10634472" cy="594360"/>
          </a:xfrm>
          <a:prstGeom prst="roundRect">
            <a:avLst>
              <a:gd name="adj" fmla="val 24615"/>
            </a:avLst>
          </a:prstGeom>
          <a:solidFill>
            <a:srgbClr val="EEEAF7"/>
          </a:solidFill>
          <a:ln w="12700">
            <a:solidFill>
              <a:srgbClr val="EEEAF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5266944"/>
            <a:ext cx="10213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教学顺序：独立思考 → 同伴核对 → 教师反馈 → 原文证据 → 迁移表达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5549A"/>
          </a:solidFill>
          <a:ln w="12700">
            <a:solidFill>
              <a:srgbClr val="6554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265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9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·  教师参考 · 不投影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教师使用：特别留意的理解误区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3504" y="1444752"/>
            <a:ext cx="10972800" cy="0"/>
          </a:xfrm>
          <a:prstGeom prst="line">
            <a:avLst/>
          </a:prstGeom>
          <a:noFill/>
          <a:ln w="12700">
            <a:solidFill>
              <a:srgbClr val="DD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6464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刘基《蜀贾》  ·  0509 中文第一语言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82528" y="64373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773936"/>
            <a:ext cx="3817986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4228"/>
            <a:ext cx="3648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易错表达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08942" y="1773936"/>
            <a:ext cx="6798198" cy="484632"/>
          </a:xfrm>
          <a:prstGeom prst="roundRect">
            <a:avLst>
              <a:gd name="adj" fmla="val 6604"/>
            </a:avLst>
          </a:prstGeom>
          <a:solidFill>
            <a:srgbClr val="264962"/>
          </a:solidFill>
          <a:ln w="12700">
            <a:solidFill>
              <a:srgbClr val="2649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382" y="1824228"/>
            <a:ext cx="6629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引导学生修正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258568"/>
            <a:ext cx="3817986" cy="721919"/>
          </a:xfrm>
          <a:prstGeom prst="roundRect">
            <a:avLst>
              <a:gd name="adj" fmla="val 316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322576"/>
            <a:ext cx="3612246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“卖良药一定赔钱”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08942" y="2258568"/>
            <a:ext cx="6798198" cy="721919"/>
          </a:xfrm>
          <a:prstGeom prst="roundRect">
            <a:avLst>
              <a:gd name="adj" fmla="val 316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670" y="2322576"/>
            <a:ext cx="6592458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寓言中的情节安排，不能直接当作一般商业规律。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2996946"/>
            <a:ext cx="3817986" cy="721919"/>
          </a:xfrm>
          <a:prstGeom prst="roundRect">
            <a:avLst>
              <a:gd name="adj" fmla="val 3167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060954"/>
            <a:ext cx="3612246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“称其善＝作者称赞”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08942" y="2996946"/>
            <a:ext cx="6798198" cy="721919"/>
          </a:xfrm>
          <a:prstGeom prst="roundRect">
            <a:avLst>
              <a:gd name="adj" fmla="val 3167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670" y="3060954"/>
            <a:ext cx="6592458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先区分评价主体，再看末句“不亦怪哉”。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77240" y="3735324"/>
            <a:ext cx="3817986" cy="721919"/>
          </a:xfrm>
          <a:prstGeom prst="roundRect">
            <a:avLst>
              <a:gd name="adj" fmla="val 316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799332"/>
            <a:ext cx="3612246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“两个故事说的是同一件事”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08942" y="3735324"/>
            <a:ext cx="6798198" cy="721919"/>
          </a:xfrm>
          <a:prstGeom prst="roundRect">
            <a:avLst>
              <a:gd name="adj" fmla="val 3167"/>
            </a:avLst>
          </a:prstGeom>
          <a:solidFill>
            <a:srgbClr val="FFFFFF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670" y="3799332"/>
            <a:ext cx="6592458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类比关系成立于行为与奖惩模式，而非事实完全等同。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77240" y="4473702"/>
            <a:ext cx="3817986" cy="721919"/>
          </a:xfrm>
          <a:prstGeom prst="roundRect">
            <a:avLst>
              <a:gd name="adj" fmla="val 3167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537710"/>
            <a:ext cx="3612246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“高薪一定能／不能养廉”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608942" y="4473702"/>
            <a:ext cx="6798198" cy="721919"/>
          </a:xfrm>
          <a:prstGeom prst="roundRect">
            <a:avLst>
              <a:gd name="adj" fmla="val 3167"/>
            </a:avLst>
          </a:prstGeom>
          <a:solidFill>
            <a:srgbClr val="F0F4F6"/>
          </a:solidFill>
          <a:ln w="12700">
            <a:solidFill>
              <a:srgbClr val="DD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670" y="4537710"/>
            <a:ext cx="6592458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7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讨论前提条件、制度约束与证据质量。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1248" y="5650992"/>
            <a:ext cx="10543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567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备课依据：课文与注释见用户提供教材 P124–125；活动与题目见 P125–128。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0509《蜀贾》三课时课堂课件</dc:title>
  <dc:subject>刘基《蜀贾》三课时文言精读、文学分析与议论写作</dc:subject>
  <dc:creator>Chinese First Language 0509</dc:creator>
  <cp:lastModifiedBy>Chinese First Language 0509</cp:lastModifiedBy>
  <cp:revision>1</cp:revision>
  <dcterms:created xsi:type="dcterms:W3CDTF">2026-10-26T15:42:54Z</dcterms:created>
  <dcterms:modified xsi:type="dcterms:W3CDTF">2026-10-26T15:42:54Z</dcterms:modified>
</cp:coreProperties>
</file>