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35"/>
    <p:sldId id="383" r:id="rId136"/>
    <p:sldId id="384" r:id="rId137"/>
    <p:sldId id="385" r:id="rId138"/>
    <p:sldId id="386" r:id="rId139"/>
    <p:sldId id="387" r:id="rId140"/>
    <p:sldId id="388" r:id="rId141"/>
    <p:sldId id="389" r:id="rId142"/>
    <p:sldId id="390" r:id="rId143"/>
    <p:sldId id="391" r:id="rId144"/>
    <p:sldId id="392" r:id="rId145"/>
    <p:sldId id="393" r:id="rId146"/>
    <p:sldId id="394" r:id="rId147"/>
    <p:sldId id="395" r:id="rId148"/>
    <p:sldId id="396" r:id="rId149"/>
    <p:sldId id="397" r:id="rId150"/>
    <p:sldId id="398" r:id="rId151"/>
  </p:sldIdLst>
  <p:sldSz cy="5143500" cx="9144000"/>
  <p:notesSz cx="6858000" cy="9144000"/>
  <p:embeddedFontLst>
    <p:embeddedFont>
      <p:font typeface="Playfair Display"/>
      <p:regular r:id="rId152"/>
      <p:bold r:id="rId153"/>
      <p:italic r:id="rId154"/>
      <p:boldItalic r:id="rId155"/>
    </p:embeddedFont>
    <p:embeddedFont>
      <p:font typeface="Amatic SC"/>
      <p:regular r:id="rId156"/>
      <p:bold r:id="rId157"/>
    </p:embeddedFont>
    <p:embeddedFont>
      <p:font typeface="Montserrat"/>
      <p:regular r:id="rId158"/>
      <p:bold r:id="rId159"/>
      <p:italic r:id="rId160"/>
      <p:boldItalic r:id="rId161"/>
    </p:embeddedFont>
    <p:embeddedFont>
      <p:font typeface="Inter"/>
      <p:regular r:id="rId162"/>
      <p:bold r:id="rId163"/>
      <p:italic r:id="rId164"/>
      <p:boldItalic r:id="rId165"/>
    </p:embeddedFont>
    <p:embeddedFont>
      <p:font typeface="Source Code Pro"/>
      <p:regular r:id="rId166"/>
      <p:bold r:id="rId167"/>
      <p:italic r:id="rId168"/>
      <p:boldItalic r:id="rId169"/>
    </p:embeddedFont>
    <p:embeddedFont>
      <p:font typeface="Inter ExtraBold"/>
      <p:bold r:id="rId170"/>
      <p:boldItalic r:id="rId171"/>
    </p:embeddedFont>
    <p:embeddedFont>
      <p:font typeface="Oswald"/>
      <p:regular r:id="rId172"/>
      <p:bold r:id="rId1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EC30E26-9E9A-4D88-8AED-F8757236A545}">
  <a:tblStyle styleId="{6EC30E26-9E9A-4D88-8AED-F8757236A54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DB37C38-08B4-4D8B-930D-383F00103916}"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675FCD34-EF06-41C9-BC1E-3197945F6E7B}"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slide" Target="slides/slide99.xml"/><Relationship Id="rId106" Type="http://schemas.openxmlformats.org/officeDocument/2006/relationships/slide" Target="slides/slide98.xml"/><Relationship Id="rId105" Type="http://schemas.openxmlformats.org/officeDocument/2006/relationships/slide" Target="slides/slide97.xml"/><Relationship Id="rId104" Type="http://schemas.openxmlformats.org/officeDocument/2006/relationships/slide" Target="slides/slide96.xml"/><Relationship Id="rId109" Type="http://schemas.openxmlformats.org/officeDocument/2006/relationships/slide" Target="slides/slide101.xml"/><Relationship Id="rId108" Type="http://schemas.openxmlformats.org/officeDocument/2006/relationships/slide" Target="slides/slide100.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173" Type="http://schemas.openxmlformats.org/officeDocument/2006/relationships/font" Target="fonts/Oswald-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29" Type="http://schemas.openxmlformats.org/officeDocument/2006/relationships/slide" Target="slides/slide121.xml"/><Relationship Id="rId128" Type="http://schemas.openxmlformats.org/officeDocument/2006/relationships/slide" Target="slides/slide120.xml"/><Relationship Id="rId127" Type="http://schemas.openxmlformats.org/officeDocument/2006/relationships/slide" Target="slides/slide119.xml"/><Relationship Id="rId126" Type="http://schemas.openxmlformats.org/officeDocument/2006/relationships/slide" Target="slides/slide118.xml"/><Relationship Id="rId26" Type="http://schemas.openxmlformats.org/officeDocument/2006/relationships/slide" Target="slides/slide18.xml"/><Relationship Id="rId121" Type="http://schemas.openxmlformats.org/officeDocument/2006/relationships/slide" Target="slides/slide113.xml"/><Relationship Id="rId25" Type="http://schemas.openxmlformats.org/officeDocument/2006/relationships/slide" Target="slides/slide17.xml"/><Relationship Id="rId120" Type="http://schemas.openxmlformats.org/officeDocument/2006/relationships/slide" Target="slides/slide112.xml"/><Relationship Id="rId28" Type="http://schemas.openxmlformats.org/officeDocument/2006/relationships/slide" Target="slides/slide20.xml"/><Relationship Id="rId27" Type="http://schemas.openxmlformats.org/officeDocument/2006/relationships/slide" Target="slides/slide19.xml"/><Relationship Id="rId125" Type="http://schemas.openxmlformats.org/officeDocument/2006/relationships/slide" Target="slides/slide117.xml"/><Relationship Id="rId29" Type="http://schemas.openxmlformats.org/officeDocument/2006/relationships/slide" Target="slides/slide21.xml"/><Relationship Id="rId124" Type="http://schemas.openxmlformats.org/officeDocument/2006/relationships/slide" Target="slides/slide116.xml"/><Relationship Id="rId123" Type="http://schemas.openxmlformats.org/officeDocument/2006/relationships/slide" Target="slides/slide115.xml"/><Relationship Id="rId122" Type="http://schemas.openxmlformats.org/officeDocument/2006/relationships/slide" Target="slides/slide114.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slide" Target="slides/slide110.xml"/><Relationship Id="rId117" Type="http://schemas.openxmlformats.org/officeDocument/2006/relationships/slide" Target="slides/slide109.xml"/><Relationship Id="rId116" Type="http://schemas.openxmlformats.org/officeDocument/2006/relationships/slide" Target="slides/slide108.xml"/><Relationship Id="rId115" Type="http://schemas.openxmlformats.org/officeDocument/2006/relationships/slide" Target="slides/slide107.xml"/><Relationship Id="rId119" Type="http://schemas.openxmlformats.org/officeDocument/2006/relationships/slide" Target="slides/slide111.xml"/><Relationship Id="rId15" Type="http://schemas.openxmlformats.org/officeDocument/2006/relationships/slide" Target="slides/slide7.xml"/><Relationship Id="rId110" Type="http://schemas.openxmlformats.org/officeDocument/2006/relationships/slide" Target="slides/slide102.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14" Type="http://schemas.openxmlformats.org/officeDocument/2006/relationships/slide" Target="slides/slide106.xml"/><Relationship Id="rId18" Type="http://schemas.openxmlformats.org/officeDocument/2006/relationships/slide" Target="slides/slide10.xml"/><Relationship Id="rId113" Type="http://schemas.openxmlformats.org/officeDocument/2006/relationships/slide" Target="slides/slide105.xml"/><Relationship Id="rId112" Type="http://schemas.openxmlformats.org/officeDocument/2006/relationships/slide" Target="slides/slide104.xml"/><Relationship Id="rId111" Type="http://schemas.openxmlformats.org/officeDocument/2006/relationships/slide" Target="slides/slide103.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150" Type="http://schemas.openxmlformats.org/officeDocument/2006/relationships/slide" Target="slides/slide142.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1.xml"/><Relationship Id="rId4" Type="http://schemas.openxmlformats.org/officeDocument/2006/relationships/tableStyles" Target="tableStyles.xml"/><Relationship Id="rId148" Type="http://schemas.openxmlformats.org/officeDocument/2006/relationships/slide" Target="slides/slide140.xml"/><Relationship Id="rId9" Type="http://schemas.openxmlformats.org/officeDocument/2006/relationships/slide" Target="slides/slide1.xml"/><Relationship Id="rId143" Type="http://schemas.openxmlformats.org/officeDocument/2006/relationships/slide" Target="slides/slide135.xml"/><Relationship Id="rId142" Type="http://schemas.openxmlformats.org/officeDocument/2006/relationships/slide" Target="slides/slide134.xml"/><Relationship Id="rId141" Type="http://schemas.openxmlformats.org/officeDocument/2006/relationships/slide" Target="slides/slide133.xml"/><Relationship Id="rId140" Type="http://schemas.openxmlformats.org/officeDocument/2006/relationships/slide" Target="slides/slide132.xml"/><Relationship Id="rId5" Type="http://schemas.openxmlformats.org/officeDocument/2006/relationships/slideMaster" Target="slideMasters/slideMaster1.xml"/><Relationship Id="rId147" Type="http://schemas.openxmlformats.org/officeDocument/2006/relationships/slide" Target="slides/slide139.xml"/><Relationship Id="rId6" Type="http://schemas.openxmlformats.org/officeDocument/2006/relationships/slideMaster" Target="slideMasters/slideMaster2.xml"/><Relationship Id="rId146" Type="http://schemas.openxmlformats.org/officeDocument/2006/relationships/slide" Target="slides/slide138.xml"/><Relationship Id="rId7" Type="http://schemas.openxmlformats.org/officeDocument/2006/relationships/slideMaster" Target="slideMasters/slideMaster3.xml"/><Relationship Id="rId145" Type="http://schemas.openxmlformats.org/officeDocument/2006/relationships/slide" Target="slides/slide137.xml"/><Relationship Id="rId8" Type="http://schemas.openxmlformats.org/officeDocument/2006/relationships/notesMaster" Target="notesMasters/notesMaster1.xml"/><Relationship Id="rId144" Type="http://schemas.openxmlformats.org/officeDocument/2006/relationships/slide" Target="slides/slide136.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139" Type="http://schemas.openxmlformats.org/officeDocument/2006/relationships/slide" Target="slides/slide131.xml"/><Relationship Id="rId138" Type="http://schemas.openxmlformats.org/officeDocument/2006/relationships/slide" Target="slides/slide130.xml"/><Relationship Id="rId137" Type="http://schemas.openxmlformats.org/officeDocument/2006/relationships/slide" Target="slides/slide129.xml"/><Relationship Id="rId132" Type="http://schemas.openxmlformats.org/officeDocument/2006/relationships/slide" Target="slides/slide124.xml"/><Relationship Id="rId131" Type="http://schemas.openxmlformats.org/officeDocument/2006/relationships/slide" Target="slides/slide123.xml"/><Relationship Id="rId130" Type="http://schemas.openxmlformats.org/officeDocument/2006/relationships/slide" Target="slides/slide122.xml"/><Relationship Id="rId136" Type="http://schemas.openxmlformats.org/officeDocument/2006/relationships/slide" Target="slides/slide128.xml"/><Relationship Id="rId135" Type="http://schemas.openxmlformats.org/officeDocument/2006/relationships/slide" Target="slides/slide127.xml"/><Relationship Id="rId134" Type="http://schemas.openxmlformats.org/officeDocument/2006/relationships/slide" Target="slides/slide126.xml"/><Relationship Id="rId133" Type="http://schemas.openxmlformats.org/officeDocument/2006/relationships/slide" Target="slides/slide125.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172" Type="http://schemas.openxmlformats.org/officeDocument/2006/relationships/font" Target="fonts/Oswald-regular.fntdata"/><Relationship Id="rId65" Type="http://schemas.openxmlformats.org/officeDocument/2006/relationships/slide" Target="slides/slide57.xml"/><Relationship Id="rId171" Type="http://schemas.openxmlformats.org/officeDocument/2006/relationships/font" Target="fonts/InterExtraBold-boldItalic.fntdata"/><Relationship Id="rId68" Type="http://schemas.openxmlformats.org/officeDocument/2006/relationships/slide" Target="slides/slide60.xml"/><Relationship Id="rId170" Type="http://schemas.openxmlformats.org/officeDocument/2006/relationships/font" Target="fonts/InterExtraBold-bold.fntdata"/><Relationship Id="rId67" Type="http://schemas.openxmlformats.org/officeDocument/2006/relationships/slide" Target="slides/slide59.xml"/><Relationship Id="rId60" Type="http://schemas.openxmlformats.org/officeDocument/2006/relationships/slide" Target="slides/slide52.xml"/><Relationship Id="rId165" Type="http://schemas.openxmlformats.org/officeDocument/2006/relationships/font" Target="fonts/Inter-boldItalic.fntdata"/><Relationship Id="rId69" Type="http://schemas.openxmlformats.org/officeDocument/2006/relationships/slide" Target="slides/slide61.xml"/><Relationship Id="rId164" Type="http://schemas.openxmlformats.org/officeDocument/2006/relationships/font" Target="fonts/Inter-italic.fntdata"/><Relationship Id="rId163" Type="http://schemas.openxmlformats.org/officeDocument/2006/relationships/font" Target="fonts/Inter-bold.fntdata"/><Relationship Id="rId162" Type="http://schemas.openxmlformats.org/officeDocument/2006/relationships/font" Target="fonts/Inter-regular.fntdata"/><Relationship Id="rId169" Type="http://schemas.openxmlformats.org/officeDocument/2006/relationships/font" Target="fonts/SourceCodePro-boldItalic.fntdata"/><Relationship Id="rId168" Type="http://schemas.openxmlformats.org/officeDocument/2006/relationships/font" Target="fonts/SourceCodePro-italic.fntdata"/><Relationship Id="rId167" Type="http://schemas.openxmlformats.org/officeDocument/2006/relationships/font" Target="fonts/SourceCodePro-bold.fntdata"/><Relationship Id="rId166" Type="http://schemas.openxmlformats.org/officeDocument/2006/relationships/font" Target="fonts/SourceCodePro-regular.fntdata"/><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161" Type="http://schemas.openxmlformats.org/officeDocument/2006/relationships/font" Target="fonts/Montserrat-boldItalic.fntdata"/><Relationship Id="rId54" Type="http://schemas.openxmlformats.org/officeDocument/2006/relationships/slide" Target="slides/slide46.xml"/><Relationship Id="rId160" Type="http://schemas.openxmlformats.org/officeDocument/2006/relationships/font" Target="fonts/Montserrat-italic.fntdata"/><Relationship Id="rId57" Type="http://schemas.openxmlformats.org/officeDocument/2006/relationships/slide" Target="slides/slide49.xml"/><Relationship Id="rId56" Type="http://schemas.openxmlformats.org/officeDocument/2006/relationships/slide" Target="slides/slide48.xml"/><Relationship Id="rId159" Type="http://schemas.openxmlformats.org/officeDocument/2006/relationships/font" Target="fonts/Montserrat-bold.fntdata"/><Relationship Id="rId59" Type="http://schemas.openxmlformats.org/officeDocument/2006/relationships/slide" Target="slides/slide51.xml"/><Relationship Id="rId154" Type="http://schemas.openxmlformats.org/officeDocument/2006/relationships/font" Target="fonts/PlayfairDisplay-italic.fntdata"/><Relationship Id="rId58" Type="http://schemas.openxmlformats.org/officeDocument/2006/relationships/slide" Target="slides/slide50.xml"/><Relationship Id="rId153" Type="http://schemas.openxmlformats.org/officeDocument/2006/relationships/font" Target="fonts/PlayfairDisplay-bold.fntdata"/><Relationship Id="rId152" Type="http://schemas.openxmlformats.org/officeDocument/2006/relationships/font" Target="fonts/PlayfairDisplay-regular.fntdata"/><Relationship Id="rId151" Type="http://schemas.openxmlformats.org/officeDocument/2006/relationships/slide" Target="slides/slide143.xml"/><Relationship Id="rId158" Type="http://schemas.openxmlformats.org/officeDocument/2006/relationships/font" Target="fonts/Montserrat-regular.fntdata"/><Relationship Id="rId157" Type="http://schemas.openxmlformats.org/officeDocument/2006/relationships/font" Target="fonts/AmaticSC-bold.fntdata"/><Relationship Id="rId156" Type="http://schemas.openxmlformats.org/officeDocument/2006/relationships/font" Target="fonts/AmaticSC-regular.fntdata"/><Relationship Id="rId155" Type="http://schemas.openxmlformats.org/officeDocument/2006/relationships/font" Target="fonts/PlayfairDisplay-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7592c5503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7592c5503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7592c55039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7592c55039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592c55039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7592c55039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f6dca9bb2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f6dca9bb2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6dca9bb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f6dca9bb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7592c55039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7592c5503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7592c55039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7592c55039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592c55039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7592c55039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7592c55039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7592c55039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6f42fe8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f6f42fe8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7592c55039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7592c55039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737e9e4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737e9e4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76e41cad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76e41cad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f9b3f54ee4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3f9b3f54ee4_0_693: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f9b3f54ee4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f9b3f54ee4_0_70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9b3f54ee4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g3f9b3f54ee4_0_722: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9b3f54ee4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g3f9b3f54ee4_0_74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9b3f54ee4_0_7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f9b3f54ee4_0_77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9b3f54ee4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3f9b3f54ee4_0_794: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f9b3f54ee4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3f9b3f54ee4_0_80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f9b3f54ee4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3f9b3f54ee4_0_823: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f9b3f54ee4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g3f9b3f54ee4_0_84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f9b3f54ee4_0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f9b3f54ee4_0_87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f9b3f54ee4_0_8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g3f9b3f54ee4_0_894: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f9b3f54ee4_0_9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g3f9b3f54ee4_0_919: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f9b3f54ee4_0_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g3f9b3f54ee4_0_933: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f9b3f54ee4_0_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g3f9b3f54ee4_0_95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f9b3f54ee4_0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g3f9b3f54ee4_0_973: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f9b3f54ee4_0_9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g3f9b3f54ee4_0_997: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f9b3f54ee4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g3f9b3f54ee4_0_1017: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f9b3f54ee4_0_1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g3f9b3f54ee4_0_1031: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f9b3f54ee4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g3f9b3f54ee4_0_104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9b3f54ee4_0_1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g3f9b3f54ee4_0_106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f9b3f54ee4_0_1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g3f9b3f54ee4_0_110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f9b3f54ee4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g3f9b3f54ee4_0_1114: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f9b3f54ee4_0_1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g3f9b3f54ee4_0_1134: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f9b3f54ee4_0_1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g3f9b3f54ee4_0_115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f9b3f54ee4_0_1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g3f9b3f54ee4_0_1172: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f9b3f54ee4_0_1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g3f9b3f54ee4_0_119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f9b3f54ee4_0_1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g3f9b3f54ee4_0_121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f9b3f54ee4_0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g3f9b3f54ee4_0_1229: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f9b3f54ee4_0_1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g3f9b3f54ee4_0_1243: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f9b3f54ee4_0_1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g3f9b3f54ee4_0_1267: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f9b3f54ee4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g3f9b3f54ee4_0_1289: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76e41cad0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376e41cad0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76e41cad0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376e41cad0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77248083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8" name="Google Shape;918;g377248083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77ae2fdc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g377ae2fdc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772480836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772480836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377ae2fdc2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377ae2fdc2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3f737e9e4d9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3f737e9e4d9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f737e9e4d9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3f737e9e4d9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77fe26996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77fe26996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f786f43c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3f786f43c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77ae2fdc2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377ae2fdc2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7800d3c3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37800d3c3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79fc8ab89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379fc8ab89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8524f282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38524f282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79fc8ab89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6" name="Google Shape;996;g379fc8ab89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79fc8ab8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379fc8ab8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85983285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385983285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77ae2fdc2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377ae2fdc2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86941d32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3f86941d32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fae7d3b24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3fae7d3b24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7c7c585f0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37c7c585f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79fc8ab89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5" name="Google Shape;1045;g379fc8ab89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79fc8ab89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1" name="Google Shape;1051;g379fc8ab89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7be58ada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37be58ada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7be58ada9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37be58ada9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7c7c585f0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g37c7c585f0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37fc8be81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37fc8be81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模拟题第二套</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fa6cafa88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3fa6cafa88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7fc8be81b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37fc8be81b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7fc8be81b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7fc8be81b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7fc8be81b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37fc8be81b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7fc8be81b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0" name="Google Shape;1110;g37fc8be81b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a6cafa88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3fa6cafa88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fa6cafa88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fa6cafa88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7fc8be81b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37fc8be81b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409ec7a6f4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409ec7a6f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h23f90c224d6c3c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4" name="Google Shape;1144;h23f90c224d6c3c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h23f90c224d6c3c0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0" name="Google Shape;1150;h23f90c224d6c3c0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h23f90c224d6c3c0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h23f90c224d6c3c0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3a015d181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3a015d181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a54fc24b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3a54fc24b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390eb98d7c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390eb98d7c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90eb98d7c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390eb98d7c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90eb98d7c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390eb98d7c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90eb98d7c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390eb98d7c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90eb98d7c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390eb98d7c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a54fc24bf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3a54fc24bf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a54fc24bf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3a54fc24bf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90eb98d7c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390eb98d7c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a4757102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6" name="Google Shape;1236;g3a4757102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论点</a:t>
            </a:r>
            <a:endParaRPr/>
          </a:p>
          <a:p>
            <a:pPr indent="0" lvl="0" marL="0" rtl="0" algn="l">
              <a:spcBef>
                <a:spcPts val="0"/>
              </a:spcBef>
              <a:spcAft>
                <a:spcPts val="0"/>
              </a:spcAft>
              <a:buNone/>
            </a:pPr>
            <a:r>
              <a:rPr lang="zh-CN"/>
              <a:t>原因/例子</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3a6b56140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3a6b56140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a97cde31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3a97cde31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3aa239c87a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3aa239c87a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aa239c87a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1" name="Google Shape;1261;g3aa239c87a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aa239c87a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3aa239c87a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3aa239c87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3" name="Google Shape;1273;g3aa239c87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3aa239c87a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3aa239c87a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3aa4bba204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3aa4bba204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3aa4bba204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6" name="Google Shape;1296;g3aa4bba2046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3aa4bba204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g3aa4bba204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aa4bba204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3aa4bba204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aa4bba204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3aa4bba204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3aa4bba204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3aa4bba204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3aa4bba204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3aa4bba204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3aa8e3d93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4" name="Google Shape;1334;g3aa8e3d93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g3afde43043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0" name="Google Shape;1340;g3afde43043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g3b6a55e6062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9" name="Google Shape;1349;g3b6a55e6062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3b6a55e6062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3b6a55e6062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3b6a55e6062_1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3b6a55e6062_1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3b6a55e6062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9" name="Google Shape;1369;g3b6a55e6062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b6a55e6062_1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3b6a55e6062_1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3b6a55e6062_1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3b6a55e6062_1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3b6a55e6062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3b6a55e6062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g3b6a55e6062_1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5" name="Google Shape;1395;g3b6a55e6062_1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3b6a55e6062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3b6a55e6062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g3b6a55e6062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7" name="Google Shape;1407;g3b6a55e6062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g3b6a55e6062_1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3" name="Google Shape;1413;g3b6a55e6062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3b6a55e6062_1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9" name="Google Shape;1419;g3b6a55e6062_1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b6a55e6062_1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3b6a55e6062_1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3b7fd3d8cb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3b7fd3d8cb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3afde43043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3afde43043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3b7fd3d8c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3" name="Google Shape;1443;g3b7fd3d8c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b851c219c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3b851c219c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g3b851c219c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7" name="Google Shape;1457;g3b851c219c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3b851c219c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3b851c219c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g3b8e93d248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0" name="Google Shape;1470;g3b8e93d24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3b8e93d248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5" name="Google Shape;1475;g3b8e93d248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3b8e93d248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2" name="Google Shape;1482;g3b8e93d248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3bf64da8c3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3bf64da8c3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3b8e93d248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3b8e93d248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g3bc293e4c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0" name="Google Shape;1500;g3bc293e4c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3bc293e4c2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6" name="Google Shape;1506;g3bc293e4c2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3bf64da8c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3" name="Google Shape;1513;g3bf64da8c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g3bc740edc8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9" name="Google Shape;1519;g3bc740edc8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3bc740edc8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5" name="Google Shape;1525;g3bc740edc86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3bca24340a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1" name="Google Shape;1531;g3bca24340a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g3bca24340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8" name="Google Shape;1538;g3bca24340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g3bca24340a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6" name="Google Shape;1546;g3bca24340a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58" name="Shape 58"/>
        <p:cNvGrpSpPr/>
        <p:nvPr/>
      </p:nvGrpSpPr>
      <p:grpSpPr>
        <a:xfrm>
          <a:off x="0" y="0"/>
          <a:ext cx="0" cy="0"/>
          <a:chOff x="0" y="0"/>
          <a:chExt cx="0" cy="0"/>
        </a:xfrm>
      </p:grpSpPr>
      <p:sp>
        <p:nvSpPr>
          <p:cNvPr id="59" name="Google Shape;59;p14"/>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61" name="Google Shape;61;p14"/>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62" name="Google Shape;62;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63" name="Shape 63"/>
        <p:cNvGrpSpPr/>
        <p:nvPr/>
      </p:nvGrpSpPr>
      <p:grpSpPr>
        <a:xfrm>
          <a:off x="0" y="0"/>
          <a:ext cx="0" cy="0"/>
          <a:chOff x="0" y="0"/>
          <a:chExt cx="0" cy="0"/>
        </a:xfrm>
      </p:grpSpPr>
      <p:sp>
        <p:nvSpPr>
          <p:cNvPr id="64" name="Google Shape;64;p15"/>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68" name="Google Shape;68;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72" name="Google Shape;72;p17"/>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3" name="Google Shape;73;p17"/>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80" name="Google Shape;80;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82" name="Shape 82"/>
        <p:cNvGrpSpPr/>
        <p:nvPr/>
      </p:nvGrpSpPr>
      <p:grpSpPr>
        <a:xfrm>
          <a:off x="0" y="0"/>
          <a:ext cx="0" cy="0"/>
          <a:chOff x="0" y="0"/>
          <a:chExt cx="0" cy="0"/>
        </a:xfrm>
      </p:grpSpPr>
      <p:sp>
        <p:nvSpPr>
          <p:cNvPr id="83" name="Google Shape;83;p20"/>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84" name="Google Shape;8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1"/>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 name="Google Shape;87;p21"/>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88" name="Google Shape;88;p21"/>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89" name="Google Shape;89;p21"/>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90" name="Google Shape;90;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91" name="Google Shape;9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2" name="Shape 92"/>
        <p:cNvGrpSpPr/>
        <p:nvPr/>
      </p:nvGrpSpPr>
      <p:grpSpPr>
        <a:xfrm>
          <a:off x="0" y="0"/>
          <a:ext cx="0" cy="0"/>
          <a:chOff x="0" y="0"/>
          <a:chExt cx="0" cy="0"/>
        </a:xfrm>
      </p:grpSpPr>
      <p:sp>
        <p:nvSpPr>
          <p:cNvPr id="93" name="Google Shape;93;p22"/>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94" name="Google Shape;9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5" name="Shape 95"/>
        <p:cNvGrpSpPr/>
        <p:nvPr/>
      </p:nvGrpSpPr>
      <p:grpSpPr>
        <a:xfrm>
          <a:off x="0" y="0"/>
          <a:ext cx="0" cy="0"/>
          <a:chOff x="0" y="0"/>
          <a:chExt cx="0" cy="0"/>
        </a:xfrm>
      </p:grpSpPr>
      <p:sp>
        <p:nvSpPr>
          <p:cNvPr id="96" name="Google Shape;96;p23"/>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97" name="Google Shape;97;p23"/>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98" name="Google Shape;9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sp>
        <p:nvSpPr>
          <p:cNvPr id="100" name="Google Shape;10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26"/>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26"/>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0" name="Google Shape;110;p26"/>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1" name="Shape 111"/>
        <p:cNvGrpSpPr/>
        <p:nvPr/>
      </p:nvGrpSpPr>
      <p:grpSpPr>
        <a:xfrm>
          <a:off x="0" y="0"/>
          <a:ext cx="0" cy="0"/>
          <a:chOff x="0" y="0"/>
          <a:chExt cx="0" cy="0"/>
        </a:xfrm>
      </p:grpSpPr>
      <p:sp>
        <p:nvSpPr>
          <p:cNvPr id="112" name="Google Shape;112;p27"/>
          <p:cNvSpPr txBox="1"/>
          <p:nvPr>
            <p:ph type="ctrTitle"/>
          </p:nvPr>
        </p:nvSpPr>
        <p:spPr>
          <a:xfrm>
            <a:off x="514364" y="1597819"/>
            <a:ext cx="5829600" cy="11025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3" name="Google Shape;113;p27"/>
          <p:cNvSpPr txBox="1"/>
          <p:nvPr>
            <p:ph idx="1" type="subTitle"/>
          </p:nvPr>
        </p:nvSpPr>
        <p:spPr>
          <a:xfrm>
            <a:off x="1028727" y="2914650"/>
            <a:ext cx="4800600" cy="131460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114" name="Google Shape;114;p27"/>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5" name="Google Shape;115;p27"/>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27"/>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7" name="Shape 117"/>
        <p:cNvGrpSpPr/>
        <p:nvPr/>
      </p:nvGrpSpPr>
      <p:grpSpPr>
        <a:xfrm>
          <a:off x="0" y="0"/>
          <a:ext cx="0" cy="0"/>
          <a:chOff x="0" y="0"/>
          <a:chExt cx="0" cy="0"/>
        </a:xfrm>
      </p:grpSpPr>
      <p:sp>
        <p:nvSpPr>
          <p:cNvPr id="118" name="Google Shape;118;p28"/>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28"/>
          <p:cNvSpPr txBox="1"/>
          <p:nvPr>
            <p:ph idx="1" type="body"/>
          </p:nvPr>
        </p:nvSpPr>
        <p:spPr>
          <a:xfrm>
            <a:off x="342909" y="1200150"/>
            <a:ext cx="6172500" cy="33945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0" name="Google Shape;120;p28"/>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28"/>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2" name="Google Shape;122;p28"/>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3" name="Shape 123"/>
        <p:cNvGrpSpPr/>
        <p:nvPr/>
      </p:nvGrpSpPr>
      <p:grpSpPr>
        <a:xfrm>
          <a:off x="0" y="0"/>
          <a:ext cx="0" cy="0"/>
          <a:chOff x="0" y="0"/>
          <a:chExt cx="0" cy="0"/>
        </a:xfrm>
      </p:grpSpPr>
      <p:sp>
        <p:nvSpPr>
          <p:cNvPr id="124" name="Google Shape;124;p29"/>
          <p:cNvSpPr txBox="1"/>
          <p:nvPr>
            <p:ph type="title"/>
          </p:nvPr>
        </p:nvSpPr>
        <p:spPr>
          <a:xfrm>
            <a:off x="541749" y="3305175"/>
            <a:ext cx="5829600" cy="1021500"/>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5" name="Google Shape;125;p29"/>
          <p:cNvSpPr txBox="1"/>
          <p:nvPr>
            <p:ph idx="1" type="body"/>
          </p:nvPr>
        </p:nvSpPr>
        <p:spPr>
          <a:xfrm>
            <a:off x="541749" y="2180035"/>
            <a:ext cx="5829600" cy="112530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126" name="Google Shape;126;p29"/>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29"/>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8" name="Google Shape;128;p29"/>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9" name="Shape 129"/>
        <p:cNvGrpSpPr/>
        <p:nvPr/>
      </p:nvGrpSpPr>
      <p:grpSpPr>
        <a:xfrm>
          <a:off x="0" y="0"/>
          <a:ext cx="0" cy="0"/>
          <a:chOff x="0" y="0"/>
          <a:chExt cx="0" cy="0"/>
        </a:xfrm>
      </p:grpSpPr>
      <p:sp>
        <p:nvSpPr>
          <p:cNvPr id="130" name="Google Shape;130;p30"/>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1" name="Google Shape;131;p30"/>
          <p:cNvSpPr txBox="1"/>
          <p:nvPr>
            <p:ph idx="1" type="body"/>
          </p:nvPr>
        </p:nvSpPr>
        <p:spPr>
          <a:xfrm>
            <a:off x="342909"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32" name="Google Shape;132;p30"/>
          <p:cNvSpPr txBox="1"/>
          <p:nvPr>
            <p:ph idx="2" type="body"/>
          </p:nvPr>
        </p:nvSpPr>
        <p:spPr>
          <a:xfrm>
            <a:off x="3486243" y="1200150"/>
            <a:ext cx="3029100" cy="3394500"/>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133" name="Google Shape;133;p30"/>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4" name="Google Shape;134;p30"/>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5" name="Google Shape;135;p30"/>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6" name="Shape 136"/>
        <p:cNvGrpSpPr/>
        <p:nvPr/>
      </p:nvGrpSpPr>
      <p:grpSpPr>
        <a:xfrm>
          <a:off x="0" y="0"/>
          <a:ext cx="0" cy="0"/>
          <a:chOff x="0" y="0"/>
          <a:chExt cx="0" cy="0"/>
        </a:xfrm>
      </p:grpSpPr>
      <p:sp>
        <p:nvSpPr>
          <p:cNvPr id="137" name="Google Shape;137;p31"/>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8" name="Google Shape;138;p31"/>
          <p:cNvSpPr txBox="1"/>
          <p:nvPr>
            <p:ph idx="1" type="body"/>
          </p:nvPr>
        </p:nvSpPr>
        <p:spPr>
          <a:xfrm>
            <a:off x="342909" y="1151335"/>
            <a:ext cx="3030300" cy="480000"/>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139" name="Google Shape;139;p31"/>
          <p:cNvSpPr txBox="1"/>
          <p:nvPr>
            <p:ph idx="2" type="body"/>
          </p:nvPr>
        </p:nvSpPr>
        <p:spPr>
          <a:xfrm>
            <a:off x="342909" y="1631156"/>
            <a:ext cx="3030300" cy="29634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140" name="Google Shape;140;p31"/>
          <p:cNvSpPr txBox="1"/>
          <p:nvPr>
            <p:ph idx="3" type="body"/>
          </p:nvPr>
        </p:nvSpPr>
        <p:spPr>
          <a:xfrm>
            <a:off x="3483862" y="1151335"/>
            <a:ext cx="3031500" cy="480000"/>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141" name="Google Shape;141;p31"/>
          <p:cNvSpPr txBox="1"/>
          <p:nvPr>
            <p:ph idx="4" type="body"/>
          </p:nvPr>
        </p:nvSpPr>
        <p:spPr>
          <a:xfrm>
            <a:off x="3483862" y="1631156"/>
            <a:ext cx="3031500" cy="2963400"/>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142" name="Google Shape;142;p31"/>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3" name="Google Shape;143;p31"/>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4" name="Google Shape;144;p31"/>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5" name="Shape 145"/>
        <p:cNvGrpSpPr/>
        <p:nvPr/>
      </p:nvGrpSpPr>
      <p:grpSpPr>
        <a:xfrm>
          <a:off x="0" y="0"/>
          <a:ext cx="0" cy="0"/>
          <a:chOff x="0" y="0"/>
          <a:chExt cx="0" cy="0"/>
        </a:xfrm>
      </p:grpSpPr>
      <p:sp>
        <p:nvSpPr>
          <p:cNvPr id="146" name="Google Shape;146;p32"/>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7" name="Google Shape;147;p32"/>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8" name="Google Shape;148;p32"/>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9" name="Google Shape;149;p32"/>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0" name="Shape 150"/>
        <p:cNvGrpSpPr/>
        <p:nvPr/>
      </p:nvGrpSpPr>
      <p:grpSpPr>
        <a:xfrm>
          <a:off x="0" y="0"/>
          <a:ext cx="0" cy="0"/>
          <a:chOff x="0" y="0"/>
          <a:chExt cx="0" cy="0"/>
        </a:xfrm>
      </p:grpSpPr>
      <p:sp>
        <p:nvSpPr>
          <p:cNvPr id="151" name="Google Shape;151;p33"/>
          <p:cNvSpPr txBox="1"/>
          <p:nvPr>
            <p:ph type="title"/>
          </p:nvPr>
        </p:nvSpPr>
        <p:spPr>
          <a:xfrm>
            <a:off x="342909" y="204788"/>
            <a:ext cx="2256300" cy="8718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2" name="Google Shape;152;p33"/>
          <p:cNvSpPr txBox="1"/>
          <p:nvPr>
            <p:ph idx="1" type="body"/>
          </p:nvPr>
        </p:nvSpPr>
        <p:spPr>
          <a:xfrm>
            <a:off x="2681359" y="204788"/>
            <a:ext cx="3834000" cy="4389900"/>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53" name="Google Shape;153;p33"/>
          <p:cNvSpPr txBox="1"/>
          <p:nvPr>
            <p:ph idx="2" type="body"/>
          </p:nvPr>
        </p:nvSpPr>
        <p:spPr>
          <a:xfrm>
            <a:off x="342909" y="1076325"/>
            <a:ext cx="2256300" cy="351840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54" name="Google Shape;154;p33"/>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5" name="Google Shape;155;p33"/>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6" name="Google Shape;156;p33"/>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7" name="Shape 157"/>
        <p:cNvGrpSpPr/>
        <p:nvPr/>
      </p:nvGrpSpPr>
      <p:grpSpPr>
        <a:xfrm>
          <a:off x="0" y="0"/>
          <a:ext cx="0" cy="0"/>
          <a:chOff x="0" y="0"/>
          <a:chExt cx="0" cy="0"/>
        </a:xfrm>
      </p:grpSpPr>
      <p:sp>
        <p:nvSpPr>
          <p:cNvPr id="158" name="Google Shape;158;p34"/>
          <p:cNvSpPr txBox="1"/>
          <p:nvPr>
            <p:ph type="title"/>
          </p:nvPr>
        </p:nvSpPr>
        <p:spPr>
          <a:xfrm>
            <a:off x="1344252" y="3600450"/>
            <a:ext cx="4114800" cy="4251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9" name="Google Shape;159;p34"/>
          <p:cNvSpPr/>
          <p:nvPr>
            <p:ph idx="2" type="pic"/>
          </p:nvPr>
        </p:nvSpPr>
        <p:spPr>
          <a:xfrm>
            <a:off x="1344252" y="459581"/>
            <a:ext cx="4114800" cy="3086100"/>
          </a:xfrm>
          <a:prstGeom prst="rect">
            <a:avLst/>
          </a:prstGeom>
          <a:noFill/>
          <a:ln>
            <a:noFill/>
          </a:ln>
        </p:spPr>
      </p:sp>
      <p:sp>
        <p:nvSpPr>
          <p:cNvPr id="160" name="Google Shape;160;p34"/>
          <p:cNvSpPr txBox="1"/>
          <p:nvPr>
            <p:ph idx="1" type="body"/>
          </p:nvPr>
        </p:nvSpPr>
        <p:spPr>
          <a:xfrm>
            <a:off x="1344252" y="4025504"/>
            <a:ext cx="4114800" cy="60360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61" name="Google Shape;161;p34"/>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2" name="Google Shape;162;p34"/>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3" name="Google Shape;163;p34"/>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4" name="Shape 164"/>
        <p:cNvGrpSpPr/>
        <p:nvPr/>
      </p:nvGrpSpPr>
      <p:grpSpPr>
        <a:xfrm>
          <a:off x="0" y="0"/>
          <a:ext cx="0" cy="0"/>
          <a:chOff x="0" y="0"/>
          <a:chExt cx="0" cy="0"/>
        </a:xfrm>
      </p:grpSpPr>
      <p:sp>
        <p:nvSpPr>
          <p:cNvPr id="165" name="Google Shape;165;p35"/>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6" name="Google Shape;166;p35"/>
          <p:cNvSpPr txBox="1"/>
          <p:nvPr>
            <p:ph idx="1" type="body"/>
          </p:nvPr>
        </p:nvSpPr>
        <p:spPr>
          <a:xfrm rot="5400000">
            <a:off x="1731774" y="-188850"/>
            <a:ext cx="3394500" cy="61725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67" name="Google Shape;167;p35"/>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8" name="Google Shape;168;p35"/>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9" name="Google Shape;169;p35"/>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0" name="Shape 170"/>
        <p:cNvGrpSpPr/>
        <p:nvPr/>
      </p:nvGrpSpPr>
      <p:grpSpPr>
        <a:xfrm>
          <a:off x="0" y="0"/>
          <a:ext cx="0" cy="0"/>
          <a:chOff x="0" y="0"/>
          <a:chExt cx="0" cy="0"/>
        </a:xfrm>
      </p:grpSpPr>
      <p:sp>
        <p:nvSpPr>
          <p:cNvPr id="171" name="Google Shape;171;p36"/>
          <p:cNvSpPr txBox="1"/>
          <p:nvPr>
            <p:ph type="title"/>
          </p:nvPr>
        </p:nvSpPr>
        <p:spPr>
          <a:xfrm rot="5400000">
            <a:off x="3549324" y="1628729"/>
            <a:ext cx="4388700" cy="15432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2" name="Google Shape;172;p36"/>
          <p:cNvSpPr txBox="1"/>
          <p:nvPr>
            <p:ph idx="1" type="body"/>
          </p:nvPr>
        </p:nvSpPr>
        <p:spPr>
          <a:xfrm rot="5400000">
            <a:off x="406029" y="142828"/>
            <a:ext cx="4388700" cy="45150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73" name="Google Shape;173;p36"/>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4" name="Google Shape;174;p36"/>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5" name="Google Shape;175;p36"/>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4" name="Shape 54"/>
        <p:cNvGrpSpPr/>
        <p:nvPr/>
      </p:nvGrpSpPr>
      <p:grpSpPr>
        <a:xfrm>
          <a:off x="0" y="0"/>
          <a:ext cx="0" cy="0"/>
          <a:chOff x="0" y="0"/>
          <a:chExt cx="0" cy="0"/>
        </a:xfrm>
      </p:grpSpPr>
      <p:sp>
        <p:nvSpPr>
          <p:cNvPr id="55" name="Google Shape;55;p13"/>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56" name="Google Shape;56;p13"/>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57" name="Google Shape;5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25"/>
          <p:cNvSpPr txBox="1"/>
          <p:nvPr>
            <p:ph type="title"/>
          </p:nvPr>
        </p:nvSpPr>
        <p:spPr>
          <a:xfrm>
            <a:off x="342909" y="205978"/>
            <a:ext cx="6172500" cy="857400"/>
          </a:xfrm>
          <a:prstGeom prst="rect">
            <a:avLst/>
          </a:prstGeom>
          <a:noFill/>
          <a:ln>
            <a:noFill/>
          </a:ln>
        </p:spPr>
        <p:txBody>
          <a:bodyPr anchorCtr="0" anchor="ctr" bIns="34275" lIns="68575" spcFirstLastPara="1" rIns="68575" wrap="square" tIns="34275">
            <a:normAutofit/>
          </a:bodyPr>
          <a:lstStyle>
            <a:lvl1pPr lvl="0" marR="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03" name="Google Shape;103;p25"/>
          <p:cNvSpPr txBox="1"/>
          <p:nvPr>
            <p:ph idx="1" type="body"/>
          </p:nvPr>
        </p:nvSpPr>
        <p:spPr>
          <a:xfrm>
            <a:off x="342909" y="1200150"/>
            <a:ext cx="6172500" cy="3394500"/>
          </a:xfrm>
          <a:prstGeom prst="rect">
            <a:avLst/>
          </a:prstGeom>
          <a:noFill/>
          <a:ln>
            <a:noFill/>
          </a:ln>
        </p:spPr>
        <p:txBody>
          <a:bodyPr anchorCtr="0" anchor="t" bIns="34275" lIns="68575" spcFirstLastPara="1" rIns="68575" wrap="square" tIns="34275">
            <a:normAutofit/>
          </a:bodyPr>
          <a:lstStyle>
            <a:lvl1pPr indent="-381000" lvl="0" marL="457200" marR="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04" name="Google Shape;104;p25"/>
          <p:cNvSpPr txBox="1"/>
          <p:nvPr>
            <p:ph idx="10" type="dt"/>
          </p:nvPr>
        </p:nvSpPr>
        <p:spPr>
          <a:xfrm>
            <a:off x="342909" y="4767263"/>
            <a:ext cx="16002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5" name="Google Shape;105;p25"/>
          <p:cNvSpPr txBox="1"/>
          <p:nvPr>
            <p:ph idx="11" type="ftr"/>
          </p:nvPr>
        </p:nvSpPr>
        <p:spPr>
          <a:xfrm>
            <a:off x="2343212" y="4767263"/>
            <a:ext cx="21717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6" name="Google Shape;106;p25"/>
          <p:cNvSpPr txBox="1"/>
          <p:nvPr>
            <p:ph idx="12" type="sldNum"/>
          </p:nvPr>
        </p:nvSpPr>
        <p:spPr>
          <a:xfrm>
            <a:off x="4915031" y="4767263"/>
            <a:ext cx="1600200" cy="273900"/>
          </a:xfrm>
          <a:prstGeom prst="rect">
            <a:avLst/>
          </a:prstGeom>
          <a:noFill/>
          <a:ln>
            <a:noFill/>
          </a:ln>
        </p:spPr>
        <p:txBody>
          <a:bodyPr anchorCtr="0" anchor="ctr" bIns="34275" lIns="68575" spcFirstLastPara="1" rIns="68575" wrap="square" tIns="34275">
            <a:noAutofit/>
          </a:bodyPr>
          <a:lstStyle>
            <a:lvl1pPr indent="0" lvl="0" marL="0" marR="0" algn="r">
              <a:spcBef>
                <a:spcPts val="0"/>
              </a:spcBef>
              <a:buNone/>
              <a:defRPr b="0" i="0" sz="900" u="none" cap="none" strike="noStrike">
                <a:solidFill>
                  <a:srgbClr val="888888"/>
                </a:solidFill>
                <a:latin typeface="Calibri"/>
                <a:ea typeface="Calibri"/>
                <a:cs typeface="Calibri"/>
                <a:sym typeface="Calibri"/>
              </a:defRPr>
            </a:lvl1pPr>
            <a:lvl2pPr indent="0" lvl="1" marL="0" marR="0" algn="r">
              <a:spcBef>
                <a:spcPts val="0"/>
              </a:spcBef>
              <a:buNone/>
              <a:defRPr b="0" i="0" sz="900" u="none" cap="none" strike="noStrike">
                <a:solidFill>
                  <a:srgbClr val="888888"/>
                </a:solidFill>
                <a:latin typeface="Calibri"/>
                <a:ea typeface="Calibri"/>
                <a:cs typeface="Calibri"/>
                <a:sym typeface="Calibri"/>
              </a:defRPr>
            </a:lvl2pPr>
            <a:lvl3pPr indent="0" lvl="2" marL="0" marR="0" algn="r">
              <a:spcBef>
                <a:spcPts val="0"/>
              </a:spcBef>
              <a:buNone/>
              <a:defRPr b="0" i="0" sz="900" u="none" cap="none" strike="noStrike">
                <a:solidFill>
                  <a:srgbClr val="888888"/>
                </a:solidFill>
                <a:latin typeface="Calibri"/>
                <a:ea typeface="Calibri"/>
                <a:cs typeface="Calibri"/>
                <a:sym typeface="Calibri"/>
              </a:defRPr>
            </a:lvl3pPr>
            <a:lvl4pPr indent="0" lvl="3" marL="0" marR="0" algn="r">
              <a:spcBef>
                <a:spcPts val="0"/>
              </a:spcBef>
              <a:buNone/>
              <a:defRPr b="0" i="0" sz="900" u="none" cap="none" strike="noStrike">
                <a:solidFill>
                  <a:srgbClr val="888888"/>
                </a:solidFill>
                <a:latin typeface="Calibri"/>
                <a:ea typeface="Calibri"/>
                <a:cs typeface="Calibri"/>
                <a:sym typeface="Calibri"/>
              </a:defRPr>
            </a:lvl4pPr>
            <a:lvl5pPr indent="0" lvl="4" marL="0" marR="0" algn="r">
              <a:spcBef>
                <a:spcPts val="0"/>
              </a:spcBef>
              <a:buNone/>
              <a:defRPr b="0" i="0" sz="900" u="none" cap="none" strike="noStrike">
                <a:solidFill>
                  <a:srgbClr val="888888"/>
                </a:solidFill>
                <a:latin typeface="Calibri"/>
                <a:ea typeface="Calibri"/>
                <a:cs typeface="Calibri"/>
                <a:sym typeface="Calibri"/>
              </a:defRPr>
            </a:lvl5pPr>
            <a:lvl6pPr indent="0" lvl="5" marL="0" marR="0" algn="r">
              <a:spcBef>
                <a:spcPts val="0"/>
              </a:spcBef>
              <a:buNone/>
              <a:defRPr b="0" i="0" sz="900" u="none" cap="none" strike="noStrike">
                <a:solidFill>
                  <a:srgbClr val="888888"/>
                </a:solidFill>
                <a:latin typeface="Calibri"/>
                <a:ea typeface="Calibri"/>
                <a:cs typeface="Calibri"/>
                <a:sym typeface="Calibri"/>
              </a:defRPr>
            </a:lvl6pPr>
            <a:lvl7pPr indent="0" lvl="6" marL="0" marR="0" algn="r">
              <a:spcBef>
                <a:spcPts val="0"/>
              </a:spcBef>
              <a:buNone/>
              <a:defRPr b="0" i="0" sz="900" u="none" cap="none" strike="noStrike">
                <a:solidFill>
                  <a:srgbClr val="888888"/>
                </a:solidFill>
                <a:latin typeface="Calibri"/>
                <a:ea typeface="Calibri"/>
                <a:cs typeface="Calibri"/>
                <a:sym typeface="Calibri"/>
              </a:defRPr>
            </a:lvl7pPr>
            <a:lvl8pPr indent="0" lvl="7" marL="0" marR="0" algn="r">
              <a:spcBef>
                <a:spcPts val="0"/>
              </a:spcBef>
              <a:buNone/>
              <a:defRPr b="0" i="0" sz="900" u="none" cap="none" strike="noStrike">
                <a:solidFill>
                  <a:srgbClr val="888888"/>
                </a:solidFill>
                <a:latin typeface="Calibri"/>
                <a:ea typeface="Calibri"/>
                <a:cs typeface="Calibri"/>
                <a:sym typeface="Calibri"/>
              </a:defRPr>
            </a:lvl8pPr>
            <a:lvl9pPr indent="0" lvl="8" marL="0" marR="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 Id="rId3" Type="http://schemas.openxmlformats.org/officeDocument/2006/relationships/hyperlink" Target="http://www.youtube.com/watch?v=gBm5CDF3pPc" TargetMode="External"/><Relationship Id="rId4"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4.png"/><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hyperlink" Target="http://www.360doc.com/content/22/0727/13/66175384_1041576038.shtml" TargetMode="External"/><Relationship Id="rId4" Type="http://schemas.openxmlformats.org/officeDocument/2006/relationships/image" Target="../media/image4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hyperlink" Target="http://www.youtube.com/watch?v=7LPo_olV82I" TargetMode="External"/><Relationship Id="rId4" Type="http://schemas.openxmlformats.org/officeDocument/2006/relationships/image" Target="../media/image6.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1.png"/><Relationship Id="rId4" Type="http://schemas.openxmlformats.org/officeDocument/2006/relationships/hyperlink" Target="http://www.youtube.com/watch?v=0atFyVpAxqg" TargetMode="External"/><Relationship Id="rId5" Type="http://schemas.openxmlformats.org/officeDocument/2006/relationships/image" Target="../media/image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www.youtube.com/watch?v=0W0GwQfEu_s" TargetMode="External"/><Relationship Id="rId4" Type="http://schemas.openxmlformats.org/officeDocument/2006/relationships/image" Target="../media/image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www.youtube.com/watch?v=EVai8VwTsEA" TargetMode="External"/><Relationship Id="rId4" Type="http://schemas.openxmlformats.org/officeDocument/2006/relationships/image" Target="../media/image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26.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30.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6.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hyperlink" Target="https://docs.google.com/document/d/1fs1tYEzYi7YQ1umlYMQiigiKv6-MAo1Xj9fVSjmKr48/edit?tab=t.0"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4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2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3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12.png"/><Relationship Id="rId4" Type="http://schemas.openxmlformats.org/officeDocument/2006/relationships/image" Target="../media/image1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5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36.png"/><Relationship Id="rId4" Type="http://schemas.openxmlformats.org/officeDocument/2006/relationships/image" Target="../media/image4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3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22.png"/><Relationship Id="rId4" Type="http://schemas.openxmlformats.org/officeDocument/2006/relationships/image" Target="../media/image1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8.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5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49.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hyperlink" Target="http://www.youtube.com/watch?v=FTpcdEDVVpQ" TargetMode="External"/><Relationship Id="rId4" Type="http://schemas.openxmlformats.org/officeDocument/2006/relationships/image" Target="../media/image20.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45.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2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2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3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2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3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3.xml"/><Relationship Id="rId3" Type="http://schemas.openxmlformats.org/officeDocument/2006/relationships/image" Target="../media/image3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5.xml"/><Relationship Id="rId3" Type="http://schemas.openxmlformats.org/officeDocument/2006/relationships/image" Target="../media/image2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29.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4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3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38.png"/><Relationship Id="rId4" Type="http://schemas.openxmlformats.org/officeDocument/2006/relationships/image" Target="../media/image37.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43.png"/><Relationship Id="rId4" Type="http://schemas.openxmlformats.org/officeDocument/2006/relationships/image" Target="../media/image44.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7"/>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CN"/>
              <a:t>第一单元 </a:t>
            </a:r>
            <a:r>
              <a:rPr lang="zh-CN"/>
              <a:t> </a:t>
            </a:r>
            <a:r>
              <a:rPr lang="zh-CN"/>
              <a:t>文化认同</a:t>
            </a:r>
            <a:endParaRPr/>
          </a:p>
        </p:txBody>
      </p:sp>
      <p:sp>
        <p:nvSpPr>
          <p:cNvPr id="181" name="Google Shape;181;p37"/>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CN"/>
              <a:t>IGCSE 中文第一语言课程</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5" name="Shape 185"/>
        <p:cNvGrpSpPr/>
        <p:nvPr/>
      </p:nvGrpSpPr>
      <p:grpSpPr>
        <a:xfrm>
          <a:off x="0" y="0"/>
          <a:ext cx="0" cy="0"/>
          <a:chOff x="0" y="0"/>
          <a:chExt cx="0" cy="0"/>
        </a:xfrm>
      </p:grpSpPr>
      <p:sp>
        <p:nvSpPr>
          <p:cNvPr id="186" name="Google Shape;186;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热身活动 ：兴趣爱好比喻游戏</a:t>
            </a:r>
            <a:endParaRPr/>
          </a:p>
        </p:txBody>
      </p:sp>
      <p:sp>
        <p:nvSpPr>
          <p:cNvPr id="187" name="Google Shape;187;p38"/>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Clr>
                <a:schemeClr val="dk2"/>
              </a:buClr>
              <a:buSzPts val="1100"/>
              <a:buFont typeface="Arial"/>
              <a:buNone/>
            </a:pPr>
            <a:r>
              <a:rPr lang="zh-CN"/>
              <a:t>步骤：</a:t>
            </a:r>
            <a:endParaRPr/>
          </a:p>
          <a:p>
            <a:pPr indent="-342900" lvl="0" marL="457200" rtl="0" algn="l">
              <a:lnSpc>
                <a:spcPct val="150000"/>
              </a:lnSpc>
              <a:spcBef>
                <a:spcPts val="1200"/>
              </a:spcBef>
              <a:spcAft>
                <a:spcPts val="0"/>
              </a:spcAft>
              <a:buSzPts val="1800"/>
              <a:buAutoNum type="arabicPeriod"/>
            </a:pPr>
            <a:r>
              <a:rPr lang="zh-CN"/>
              <a:t>想一想：你最喜欢的兴趣是什么？</a:t>
            </a:r>
            <a:endParaRPr/>
          </a:p>
          <a:p>
            <a:pPr indent="-342900" lvl="0" marL="457200" rtl="0" algn="l">
              <a:lnSpc>
                <a:spcPct val="150000"/>
              </a:lnSpc>
              <a:spcBef>
                <a:spcPts val="0"/>
              </a:spcBef>
              <a:spcAft>
                <a:spcPts val="0"/>
              </a:spcAft>
              <a:buSzPts val="1800"/>
              <a:buAutoNum type="arabicPeriod"/>
            </a:pPr>
            <a:r>
              <a:rPr lang="zh-CN"/>
              <a:t>用一个“比喻”来形容它。</a:t>
            </a:r>
            <a:endParaRPr/>
          </a:p>
          <a:p>
            <a:pPr indent="-317500" lvl="1" marL="914400" rtl="0" algn="l">
              <a:lnSpc>
                <a:spcPct val="150000"/>
              </a:lnSpc>
              <a:spcBef>
                <a:spcPts val="0"/>
              </a:spcBef>
              <a:spcAft>
                <a:spcPts val="0"/>
              </a:spcAft>
              <a:buSzPts val="1400"/>
              <a:buChar char="○"/>
            </a:pPr>
            <a:r>
              <a:rPr lang="zh-CN"/>
              <a:t>例如：“我的爱好是读书，它像一盏灯，在黑暗里给我光。”</a:t>
            </a:r>
            <a:endParaRPr/>
          </a:p>
          <a:p>
            <a:pPr indent="-342900" lvl="0" marL="457200" rtl="0" algn="l">
              <a:lnSpc>
                <a:spcPct val="150000"/>
              </a:lnSpc>
              <a:spcBef>
                <a:spcPts val="0"/>
              </a:spcBef>
              <a:spcAft>
                <a:spcPts val="0"/>
              </a:spcAft>
              <a:buSzPts val="1800"/>
              <a:buAutoNum type="arabicPeriod"/>
            </a:pPr>
            <a:r>
              <a:rPr lang="zh-CN"/>
              <a:t>用 1–2 句话完成比喻。</a:t>
            </a:r>
            <a:endParaRPr/>
          </a:p>
          <a:p>
            <a:pPr indent="-342900" lvl="0" marL="457200" rtl="0" algn="l">
              <a:lnSpc>
                <a:spcPct val="150000"/>
              </a:lnSpc>
              <a:spcBef>
                <a:spcPts val="0"/>
              </a:spcBef>
              <a:spcAft>
                <a:spcPts val="0"/>
              </a:spcAft>
              <a:buSzPts val="1800"/>
              <a:buAutoNum type="arabicPeriod"/>
            </a:pPr>
            <a:r>
              <a:rPr lang="zh-CN"/>
              <a:t>和全班同学分享你的句子。</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 name="Shape 191"/>
        <p:cNvGrpSpPr/>
        <p:nvPr/>
      </p:nvGrpSpPr>
      <p:grpSpPr>
        <a:xfrm>
          <a:off x="0" y="0"/>
          <a:ext cx="0" cy="0"/>
          <a:chOff x="0" y="0"/>
          <a:chExt cx="0" cy="0"/>
        </a:xfrm>
      </p:grpSpPr>
      <p:sp>
        <p:nvSpPr>
          <p:cNvPr id="192" name="Google Shape;192;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讲自己的故事 —— 人生三件事</a:t>
            </a:r>
            <a:endParaRPr/>
          </a:p>
        </p:txBody>
      </p:sp>
      <p:sp>
        <p:nvSpPr>
          <p:cNvPr id="193" name="Google Shape;193;p39"/>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Clr>
                <a:schemeClr val="dk2"/>
              </a:buClr>
              <a:buSzPts val="1100"/>
              <a:buFont typeface="Arial"/>
              <a:buNone/>
            </a:pPr>
            <a:r>
              <a:rPr lang="zh-CN"/>
              <a:t>步骤：</a:t>
            </a:r>
            <a:endParaRPr/>
          </a:p>
          <a:p>
            <a:pPr indent="-342900" lvl="0" marL="457200" rtl="0" algn="l">
              <a:lnSpc>
                <a:spcPct val="150000"/>
              </a:lnSpc>
              <a:spcBef>
                <a:spcPts val="1200"/>
              </a:spcBef>
              <a:spcAft>
                <a:spcPts val="0"/>
              </a:spcAft>
              <a:buSzPts val="1800"/>
              <a:buAutoNum type="arabicPeriod"/>
            </a:pPr>
            <a:r>
              <a:rPr lang="zh-CN"/>
              <a:t>回顾一下：你的人生中有哪些重要的经历？</a:t>
            </a:r>
            <a:endParaRPr/>
          </a:p>
          <a:p>
            <a:pPr indent="-342900" lvl="0" marL="457200" rtl="0" algn="l">
              <a:lnSpc>
                <a:spcPct val="150000"/>
              </a:lnSpc>
              <a:spcBef>
                <a:spcPts val="0"/>
              </a:spcBef>
              <a:spcAft>
                <a:spcPts val="0"/>
              </a:spcAft>
              <a:buSzPts val="1800"/>
              <a:buAutoNum type="arabicPeriod"/>
            </a:pPr>
            <a:r>
              <a:rPr lang="zh-CN"/>
              <a:t>选择三件对自己影响最大的事情（可以是家庭、成长、旅行、兴趣等）。</a:t>
            </a:r>
            <a:endParaRPr/>
          </a:p>
          <a:p>
            <a:pPr indent="-342900" lvl="0" marL="457200" rtl="0" algn="l">
              <a:lnSpc>
                <a:spcPct val="150000"/>
              </a:lnSpc>
              <a:spcBef>
                <a:spcPts val="0"/>
              </a:spcBef>
              <a:spcAft>
                <a:spcPts val="0"/>
              </a:spcAft>
              <a:buSzPts val="1800"/>
              <a:buAutoNum type="arabicPeriod"/>
            </a:pPr>
            <a:r>
              <a:rPr lang="zh-CN"/>
              <a:t>把这三件事串联成一个小故事，给它起一个“标题”。</a:t>
            </a:r>
            <a:endParaRPr/>
          </a:p>
          <a:p>
            <a:pPr indent="-317500" lvl="1" marL="914400" rtl="0" algn="l">
              <a:lnSpc>
                <a:spcPct val="150000"/>
              </a:lnSpc>
              <a:spcBef>
                <a:spcPts val="0"/>
              </a:spcBef>
              <a:spcAft>
                <a:spcPts val="0"/>
              </a:spcAft>
              <a:buSzPts val="1400"/>
              <a:buChar char="○"/>
            </a:pPr>
            <a:r>
              <a:rPr lang="zh-CN"/>
              <a:t>例如：《我的三次转折》《音乐带我走》《家的味道》</a:t>
            </a:r>
            <a:endParaRPr/>
          </a:p>
          <a:p>
            <a:pPr indent="-342900" lvl="0" marL="457200" rtl="0" algn="l">
              <a:lnSpc>
                <a:spcPct val="150000"/>
              </a:lnSpc>
              <a:spcBef>
                <a:spcPts val="0"/>
              </a:spcBef>
              <a:spcAft>
                <a:spcPts val="0"/>
              </a:spcAft>
              <a:buSzPts val="1800"/>
              <a:buAutoNum type="arabicPeriod"/>
            </a:pPr>
            <a:r>
              <a:rPr lang="zh-CN"/>
              <a:t>用 15 分钟写下你的故事，要求250字左右。</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范文示例：《我的三颗星星》</a:t>
            </a:r>
            <a:endParaRPr/>
          </a:p>
        </p:txBody>
      </p:sp>
      <p:sp>
        <p:nvSpPr>
          <p:cNvPr id="199" name="Google Shape;199;p40"/>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Clr>
                <a:schemeClr val="dk2"/>
              </a:buClr>
              <a:buSzPct val="61111"/>
              <a:buFont typeface="Arial"/>
              <a:buNone/>
            </a:pPr>
            <a:r>
              <a:rPr lang="zh-CN"/>
              <a:t>如果把我的人生比作夜空，那么有三颗星星最闪亮。</a:t>
            </a:r>
            <a:endParaRPr/>
          </a:p>
          <a:p>
            <a:pPr indent="0" lvl="0" marL="0" rtl="0" algn="l">
              <a:spcBef>
                <a:spcPts val="1200"/>
              </a:spcBef>
              <a:spcAft>
                <a:spcPts val="0"/>
              </a:spcAft>
              <a:buClr>
                <a:schemeClr val="dk2"/>
              </a:buClr>
              <a:buSzPct val="61111"/>
              <a:buFont typeface="Arial"/>
              <a:buNone/>
            </a:pPr>
            <a:r>
              <a:rPr lang="zh-CN"/>
              <a:t>第一颗星星，是我十岁那年转学的经历。离开熟悉的校园和朋友让我害怕，但新的环境教会了我勇敢。那时候，我开始学会主动打招呼，也慢慢发现，只要心里有光，就不会真正孤单。</a:t>
            </a:r>
            <a:endParaRPr/>
          </a:p>
          <a:p>
            <a:pPr indent="0" lvl="0" marL="0" rtl="0" algn="l">
              <a:spcBef>
                <a:spcPts val="1200"/>
              </a:spcBef>
              <a:spcAft>
                <a:spcPts val="0"/>
              </a:spcAft>
              <a:buClr>
                <a:schemeClr val="dk2"/>
              </a:buClr>
              <a:buSzPct val="61111"/>
              <a:buFont typeface="Arial"/>
              <a:buNone/>
            </a:pPr>
            <a:r>
              <a:rPr lang="zh-CN"/>
              <a:t>第二颗星星，是我第一次在钢琴比赛中获奖。那一刻，我感到所有练习的汗水都变成了掌声。音乐让我明白，努力可能很辛苦，但它一定会在某个时刻回报你。</a:t>
            </a:r>
            <a:endParaRPr/>
          </a:p>
          <a:p>
            <a:pPr indent="0" lvl="0" marL="0" rtl="0" algn="l">
              <a:spcBef>
                <a:spcPts val="1200"/>
              </a:spcBef>
              <a:spcAft>
                <a:spcPts val="0"/>
              </a:spcAft>
              <a:buClr>
                <a:schemeClr val="dk2"/>
              </a:buClr>
              <a:buSzPct val="61111"/>
              <a:buFont typeface="Arial"/>
              <a:buNone/>
            </a:pPr>
            <a:r>
              <a:rPr lang="zh-CN"/>
              <a:t>第三颗星星，是一次和家人一起去西北旅行。广阔的沙漠和寂静的星空让我深深感受到世界的辽阔。我也更加珍惜陪伴，因为我们一家人能在同一片星空下相互依靠。</a:t>
            </a:r>
            <a:endParaRPr/>
          </a:p>
          <a:p>
            <a:pPr indent="0" lvl="0" marL="0" rtl="0" algn="l">
              <a:spcBef>
                <a:spcPts val="1200"/>
              </a:spcBef>
              <a:spcAft>
                <a:spcPts val="0"/>
              </a:spcAft>
              <a:buClr>
                <a:schemeClr val="dk2"/>
              </a:buClr>
              <a:buSzPct val="100000"/>
              <a:buFont typeface="Arial"/>
              <a:buNone/>
            </a:pPr>
            <a:r>
              <a:rPr lang="zh-CN"/>
              <a:t>这三颗星星点亮了我的成长之路，也让我相信，未来还会有更多的星星在等着我去发现。</a:t>
            </a: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介绍自己</a:t>
            </a:r>
            <a:r>
              <a:rPr lang="zh-CN"/>
              <a:t>：我的成长、我的家、我的价值观</a:t>
            </a:r>
            <a:endParaRPr/>
          </a:p>
        </p:txBody>
      </p:sp>
      <p:sp>
        <p:nvSpPr>
          <p:cNvPr id="205" name="Google Shape;205;p41"/>
          <p:cNvSpPr txBox="1"/>
          <p:nvPr>
            <p:ph idx="1" type="body"/>
          </p:nvPr>
        </p:nvSpPr>
        <p:spPr>
          <a:xfrm>
            <a:off x="927000" y="1017725"/>
            <a:ext cx="7695900" cy="3512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2"/>
              </a:buClr>
              <a:buSzPts val="1100"/>
              <a:buFont typeface="Arial"/>
              <a:buNone/>
            </a:pPr>
            <a:r>
              <a:rPr lang="zh-CN" sz="1350">
                <a:solidFill>
                  <a:srgbClr val="1F2328"/>
                </a:solidFill>
                <a:highlight>
                  <a:srgbClr val="FFFFFF"/>
                </a:highlight>
                <a:latin typeface="Arial"/>
                <a:ea typeface="Arial"/>
                <a:cs typeface="Arial"/>
                <a:sym typeface="Arial"/>
              </a:rPr>
              <a:t>请写一篇两段短文，总字数200–300字。</a:t>
            </a:r>
            <a:br>
              <a:rPr lang="zh-CN" sz="1350">
                <a:solidFill>
                  <a:srgbClr val="1F2328"/>
                </a:solidFill>
                <a:highlight>
                  <a:srgbClr val="FFFFFF"/>
                </a:highlight>
                <a:latin typeface="Arial"/>
                <a:ea typeface="Arial"/>
                <a:cs typeface="Arial"/>
                <a:sym typeface="Arial"/>
              </a:rPr>
            </a:br>
            <a:r>
              <a:rPr lang="zh-CN" sz="1350">
                <a:solidFill>
                  <a:srgbClr val="1F2328"/>
                </a:solidFill>
                <a:highlight>
                  <a:srgbClr val="FFFFFF"/>
                </a:highlight>
                <a:latin typeface="Arial"/>
                <a:ea typeface="Arial"/>
                <a:cs typeface="Arial"/>
                <a:sym typeface="Arial"/>
              </a:rPr>
              <a:t>重点不是词藻，而是真实、具体、有思考。</a:t>
            </a:r>
            <a:endParaRPr sz="1350">
              <a:solidFill>
                <a:srgbClr val="1F2328"/>
              </a:solidFill>
              <a:highlight>
                <a:srgbClr val="FFFFFF"/>
              </a:highlight>
              <a:latin typeface="Arial"/>
              <a:ea typeface="Arial"/>
              <a:cs typeface="Arial"/>
              <a:sym typeface="Arial"/>
            </a:endParaRPr>
          </a:p>
          <a:p>
            <a:pPr indent="0" lvl="0" marL="0" rtl="0" algn="l">
              <a:lnSpc>
                <a:spcPct val="105000"/>
              </a:lnSpc>
              <a:spcBef>
                <a:spcPts val="1800"/>
              </a:spcBef>
              <a:spcAft>
                <a:spcPts val="0"/>
              </a:spcAft>
              <a:buClr>
                <a:schemeClr val="dk2"/>
              </a:buClr>
              <a:buSzPts val="1100"/>
              <a:buFont typeface="Arial"/>
              <a:buNone/>
            </a:pPr>
            <a:r>
              <a:rPr lang="zh-CN" sz="1950">
                <a:solidFill>
                  <a:srgbClr val="1F2328"/>
                </a:solidFill>
                <a:highlight>
                  <a:srgbClr val="FFFFFF"/>
                </a:highlight>
                <a:latin typeface="Arial"/>
                <a:ea typeface="Arial"/>
                <a:cs typeface="Arial"/>
                <a:sym typeface="Arial"/>
              </a:rPr>
              <a:t>第一段（成长经历 + 归属感）100–150字</a:t>
            </a:r>
            <a:endParaRPr sz="1950">
              <a:solidFill>
                <a:srgbClr val="1F2328"/>
              </a:solidFill>
              <a:highlight>
                <a:srgbClr val="FFFFFF"/>
              </a:highlight>
              <a:latin typeface="Arial"/>
              <a:ea typeface="Arial"/>
              <a:cs typeface="Arial"/>
              <a:sym typeface="Arial"/>
            </a:endParaRPr>
          </a:p>
          <a:p>
            <a:pPr indent="0" lvl="0" marL="0" rtl="0" algn="l">
              <a:lnSpc>
                <a:spcPct val="95000"/>
              </a:lnSpc>
              <a:spcBef>
                <a:spcPts val="1200"/>
              </a:spcBef>
              <a:spcAft>
                <a:spcPts val="0"/>
              </a:spcAft>
              <a:buClr>
                <a:schemeClr val="dk2"/>
              </a:buClr>
              <a:buSzPts val="1100"/>
              <a:buFont typeface="Arial"/>
              <a:buNone/>
            </a:pPr>
            <a:r>
              <a:rPr lang="zh-CN" sz="1350">
                <a:solidFill>
                  <a:srgbClr val="1F2328"/>
                </a:solidFill>
                <a:highlight>
                  <a:srgbClr val="FFFFFF"/>
                </a:highlight>
                <a:latin typeface="Arial"/>
                <a:ea typeface="Arial"/>
                <a:cs typeface="Arial"/>
                <a:sym typeface="Arial"/>
              </a:rPr>
              <a:t>请写清楚：</a:t>
            </a:r>
            <a:endParaRPr sz="1350">
              <a:solidFill>
                <a:srgbClr val="1F2328"/>
              </a:solidFill>
              <a:highlight>
                <a:srgbClr val="FFFFFF"/>
              </a:highlight>
              <a:latin typeface="Arial"/>
              <a:ea typeface="Arial"/>
              <a:cs typeface="Arial"/>
              <a:sym typeface="Arial"/>
            </a:endParaRPr>
          </a:p>
          <a:p>
            <a:pPr indent="-314325" lvl="0" marL="457200" rtl="0" algn="l">
              <a:lnSpc>
                <a:spcPct val="95000"/>
              </a:lnSpc>
              <a:spcBef>
                <a:spcPts val="1200"/>
              </a:spcBef>
              <a:spcAft>
                <a:spcPts val="0"/>
              </a:spcAft>
              <a:buClr>
                <a:srgbClr val="1F2328"/>
              </a:buClr>
              <a:buSzPts val="1350"/>
              <a:buFont typeface="Arial"/>
              <a:buAutoNum type="arabicPeriod"/>
            </a:pPr>
            <a:r>
              <a:rPr lang="zh-CN" sz="1350">
                <a:solidFill>
                  <a:srgbClr val="1F2328"/>
                </a:solidFill>
                <a:highlight>
                  <a:srgbClr val="FFFFFF"/>
                </a:highlight>
                <a:latin typeface="Arial"/>
                <a:ea typeface="Arial"/>
                <a:cs typeface="Arial"/>
                <a:sym typeface="Arial"/>
              </a:rPr>
              <a:t>你的成长经历（如：在哪里长大、搬迁、转学、一次适应过程）</a:t>
            </a:r>
            <a:endParaRPr sz="1350">
              <a:solidFill>
                <a:srgbClr val="1F2328"/>
              </a:solidFill>
              <a:highlight>
                <a:srgbClr val="FFFFFF"/>
              </a:highlight>
              <a:latin typeface="Arial"/>
              <a:ea typeface="Arial"/>
              <a:cs typeface="Arial"/>
              <a:sym typeface="Arial"/>
            </a:endParaRPr>
          </a:p>
          <a:p>
            <a:pPr indent="-314325" lvl="0" marL="457200" rtl="0" algn="l">
              <a:lnSpc>
                <a:spcPct val="95000"/>
              </a:lnSpc>
              <a:spcBef>
                <a:spcPts val="0"/>
              </a:spcBef>
              <a:spcAft>
                <a:spcPts val="0"/>
              </a:spcAft>
              <a:buClr>
                <a:srgbClr val="1F2328"/>
              </a:buClr>
              <a:buSzPts val="1350"/>
              <a:buFont typeface="Arial"/>
              <a:buAutoNum type="arabicPeriod"/>
            </a:pPr>
            <a:r>
              <a:rPr lang="zh-CN" sz="1350">
                <a:solidFill>
                  <a:srgbClr val="1F2328"/>
                </a:solidFill>
                <a:highlight>
                  <a:srgbClr val="FFFFFF"/>
                </a:highlight>
                <a:latin typeface="Arial"/>
                <a:ea typeface="Arial"/>
                <a:cs typeface="Arial"/>
                <a:sym typeface="Arial"/>
              </a:rPr>
              <a:t>这段经历中发生的一件具体小事</a:t>
            </a:r>
            <a:endParaRPr sz="1350">
              <a:solidFill>
                <a:srgbClr val="1F2328"/>
              </a:solidFill>
              <a:highlight>
                <a:srgbClr val="FFFFFF"/>
              </a:highlight>
              <a:latin typeface="Arial"/>
              <a:ea typeface="Arial"/>
              <a:cs typeface="Arial"/>
              <a:sym typeface="Arial"/>
            </a:endParaRPr>
          </a:p>
          <a:p>
            <a:pPr indent="-314325" lvl="0" marL="457200" rtl="0" algn="l">
              <a:lnSpc>
                <a:spcPct val="95000"/>
              </a:lnSpc>
              <a:spcBef>
                <a:spcPts val="0"/>
              </a:spcBef>
              <a:spcAft>
                <a:spcPts val="0"/>
              </a:spcAft>
              <a:buClr>
                <a:srgbClr val="1F2328"/>
              </a:buClr>
              <a:buSzPts val="1350"/>
              <a:buFont typeface="Arial"/>
              <a:buAutoNum type="arabicPeriod"/>
            </a:pPr>
            <a:r>
              <a:rPr lang="zh-CN" sz="1350">
                <a:solidFill>
                  <a:srgbClr val="1F2328"/>
                </a:solidFill>
                <a:highlight>
                  <a:srgbClr val="FFFFFF"/>
                </a:highlight>
                <a:latin typeface="Arial"/>
                <a:ea typeface="Arial"/>
                <a:cs typeface="Arial"/>
                <a:sym typeface="Arial"/>
              </a:rPr>
              <a:t>这件事怎样改变你对“家”或“归属感”的理解</a:t>
            </a:r>
            <a:endParaRPr sz="1350">
              <a:solidFill>
                <a:srgbClr val="1F2328"/>
              </a:solidFill>
              <a:highlight>
                <a:srgbClr val="FFFFFF"/>
              </a:highlight>
              <a:latin typeface="Arial"/>
              <a:ea typeface="Arial"/>
              <a:cs typeface="Arial"/>
              <a:sym typeface="Arial"/>
            </a:endParaRPr>
          </a:p>
          <a:p>
            <a:pPr indent="0" lvl="0" marL="0" rtl="0" algn="l">
              <a:lnSpc>
                <a:spcPct val="105000"/>
              </a:lnSpc>
              <a:spcBef>
                <a:spcPts val="1800"/>
              </a:spcBef>
              <a:spcAft>
                <a:spcPts val="0"/>
              </a:spcAft>
              <a:buClr>
                <a:schemeClr val="dk2"/>
              </a:buClr>
              <a:buSzPts val="1100"/>
              <a:buFont typeface="Arial"/>
              <a:buNone/>
            </a:pPr>
            <a:r>
              <a:rPr lang="zh-CN" sz="1950">
                <a:solidFill>
                  <a:srgbClr val="1F2328"/>
                </a:solidFill>
                <a:highlight>
                  <a:srgbClr val="FFFFFF"/>
                </a:highlight>
                <a:latin typeface="Arial"/>
                <a:ea typeface="Arial"/>
                <a:cs typeface="Arial"/>
                <a:sym typeface="Arial"/>
              </a:rPr>
              <a:t>第二段（价值观 + 当下行为）100–150字</a:t>
            </a:r>
            <a:endParaRPr sz="1950">
              <a:solidFill>
                <a:srgbClr val="1F2328"/>
              </a:solidFill>
              <a:highlight>
                <a:srgbClr val="FFFFFF"/>
              </a:highlight>
              <a:latin typeface="Arial"/>
              <a:ea typeface="Arial"/>
              <a:cs typeface="Arial"/>
              <a:sym typeface="Arial"/>
            </a:endParaRPr>
          </a:p>
          <a:p>
            <a:pPr indent="0" lvl="0" marL="0" rtl="0" algn="l">
              <a:lnSpc>
                <a:spcPct val="95000"/>
              </a:lnSpc>
              <a:spcBef>
                <a:spcPts val="1200"/>
              </a:spcBef>
              <a:spcAft>
                <a:spcPts val="0"/>
              </a:spcAft>
              <a:buClr>
                <a:schemeClr val="dk2"/>
              </a:buClr>
              <a:buSzPts val="1100"/>
              <a:buFont typeface="Arial"/>
              <a:buNone/>
            </a:pPr>
            <a:r>
              <a:rPr lang="zh-CN" sz="1350">
                <a:solidFill>
                  <a:srgbClr val="1F2328"/>
                </a:solidFill>
                <a:highlight>
                  <a:srgbClr val="FFFFFF"/>
                </a:highlight>
                <a:latin typeface="Arial"/>
                <a:ea typeface="Arial"/>
                <a:cs typeface="Arial"/>
                <a:sym typeface="Arial"/>
              </a:rPr>
              <a:t>请写清楚：</a:t>
            </a:r>
            <a:endParaRPr sz="1350">
              <a:solidFill>
                <a:srgbClr val="1F2328"/>
              </a:solidFill>
              <a:highlight>
                <a:srgbClr val="FFFFFF"/>
              </a:highlight>
              <a:latin typeface="Arial"/>
              <a:ea typeface="Arial"/>
              <a:cs typeface="Arial"/>
              <a:sym typeface="Arial"/>
            </a:endParaRPr>
          </a:p>
          <a:p>
            <a:pPr indent="-314325" lvl="0" marL="457200" rtl="0" algn="l">
              <a:lnSpc>
                <a:spcPct val="95000"/>
              </a:lnSpc>
              <a:spcBef>
                <a:spcPts val="1200"/>
              </a:spcBef>
              <a:spcAft>
                <a:spcPts val="0"/>
              </a:spcAft>
              <a:buClr>
                <a:srgbClr val="1F2328"/>
              </a:buClr>
              <a:buSzPts val="1350"/>
              <a:buFont typeface="Arial"/>
              <a:buAutoNum type="arabicPeriod"/>
            </a:pPr>
            <a:r>
              <a:rPr lang="zh-CN" sz="1350">
                <a:solidFill>
                  <a:srgbClr val="1F2328"/>
                </a:solidFill>
                <a:highlight>
                  <a:srgbClr val="FFFFFF"/>
                </a:highlight>
                <a:latin typeface="Arial"/>
                <a:ea typeface="Arial"/>
                <a:cs typeface="Arial"/>
                <a:sym typeface="Arial"/>
              </a:rPr>
              <a:t>家庭或成长经历让你形成了哪些价值观（如：责任、尊重、同理心、坚持）</a:t>
            </a:r>
            <a:endParaRPr sz="1350">
              <a:solidFill>
                <a:srgbClr val="1F2328"/>
              </a:solidFill>
              <a:highlight>
                <a:srgbClr val="FFFFFF"/>
              </a:highlight>
              <a:latin typeface="Arial"/>
              <a:ea typeface="Arial"/>
              <a:cs typeface="Arial"/>
              <a:sym typeface="Arial"/>
            </a:endParaRPr>
          </a:p>
          <a:p>
            <a:pPr indent="-314325" lvl="0" marL="457200" rtl="0" algn="l">
              <a:lnSpc>
                <a:spcPct val="95000"/>
              </a:lnSpc>
              <a:spcBef>
                <a:spcPts val="0"/>
              </a:spcBef>
              <a:spcAft>
                <a:spcPts val="0"/>
              </a:spcAft>
              <a:buClr>
                <a:srgbClr val="1F2328"/>
              </a:buClr>
              <a:buSzPts val="1350"/>
              <a:buFont typeface="Arial"/>
              <a:buAutoNum type="arabicPeriod"/>
            </a:pPr>
            <a:r>
              <a:rPr lang="zh-CN" sz="1350">
                <a:solidFill>
                  <a:srgbClr val="1F2328"/>
                </a:solidFill>
                <a:highlight>
                  <a:srgbClr val="FFFFFF"/>
                </a:highlight>
                <a:latin typeface="Arial"/>
                <a:ea typeface="Arial"/>
                <a:cs typeface="Arial"/>
                <a:sym typeface="Arial"/>
              </a:rPr>
              <a:t>这些价值观如何影响你在学校与他人相处、做决定或完成任务</a:t>
            </a:r>
            <a:endParaRPr sz="1350">
              <a:solidFill>
                <a:srgbClr val="1F2328"/>
              </a:solidFill>
              <a:highlight>
                <a:srgbClr val="FFFFFF"/>
              </a:highlight>
              <a:latin typeface="Arial"/>
              <a:ea typeface="Arial"/>
              <a:cs typeface="Arial"/>
              <a:sym typeface="Arial"/>
            </a:endParaRPr>
          </a:p>
          <a:p>
            <a:pPr indent="-314325" lvl="0" marL="457200" rtl="0" algn="l">
              <a:lnSpc>
                <a:spcPct val="95000"/>
              </a:lnSpc>
              <a:spcBef>
                <a:spcPts val="0"/>
              </a:spcBef>
              <a:spcAft>
                <a:spcPts val="0"/>
              </a:spcAft>
              <a:buClr>
                <a:srgbClr val="1F2328"/>
              </a:buClr>
              <a:buSzPts val="1350"/>
              <a:buFont typeface="Arial"/>
              <a:buAutoNum type="arabicPeriod"/>
            </a:pPr>
            <a:r>
              <a:rPr lang="zh-CN" sz="1350">
                <a:solidFill>
                  <a:srgbClr val="1F2328"/>
                </a:solidFill>
                <a:highlight>
                  <a:srgbClr val="FFFFFF"/>
                </a:highlight>
                <a:latin typeface="Arial"/>
                <a:ea typeface="Arial"/>
                <a:cs typeface="Arial"/>
                <a:sym typeface="Arial"/>
              </a:rPr>
              <a:t>你希望在这个班级成为一个怎样的人</a:t>
            </a:r>
            <a:endParaRPr sz="2100"/>
          </a:p>
        </p:txBody>
      </p:sp>
      <p:sp>
        <p:nvSpPr>
          <p:cNvPr id="206" name="Google Shape;206;p41"/>
          <p:cNvSpPr txBox="1"/>
          <p:nvPr/>
        </p:nvSpPr>
        <p:spPr>
          <a:xfrm>
            <a:off x="7213800" y="320425"/>
            <a:ext cx="1930200" cy="473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zh-CN" sz="1500">
                <a:solidFill>
                  <a:srgbClr val="FF0000"/>
                </a:solidFill>
              </a:rPr>
              <a:t>必须完成的要求</a:t>
            </a:r>
            <a:endParaRPr sz="1500">
              <a:solidFill>
                <a:srgbClr val="FF0000"/>
              </a:solidFill>
            </a:endParaRPr>
          </a:p>
          <a:p>
            <a:pPr indent="-323850" lvl="0" marL="457200" rtl="0" algn="l">
              <a:spcBef>
                <a:spcPts val="0"/>
              </a:spcBef>
              <a:spcAft>
                <a:spcPts val="0"/>
              </a:spcAft>
              <a:buClr>
                <a:srgbClr val="FF0000"/>
              </a:buClr>
              <a:buSzPts val="1500"/>
              <a:buChar char="●"/>
            </a:pPr>
            <a:r>
              <a:rPr lang="zh-CN" sz="1500">
                <a:solidFill>
                  <a:srgbClr val="FF0000"/>
                </a:solidFill>
              </a:rPr>
              <a:t>必须分成两段</a:t>
            </a:r>
            <a:endParaRPr sz="1500">
              <a:solidFill>
                <a:srgbClr val="FF0000"/>
              </a:solidFill>
            </a:endParaRPr>
          </a:p>
          <a:p>
            <a:pPr indent="-323850" lvl="0" marL="457200" rtl="0" algn="l">
              <a:spcBef>
                <a:spcPts val="0"/>
              </a:spcBef>
              <a:spcAft>
                <a:spcPts val="0"/>
              </a:spcAft>
              <a:buClr>
                <a:srgbClr val="FF0000"/>
              </a:buClr>
              <a:buSzPts val="1500"/>
              <a:buChar char="●"/>
            </a:pPr>
            <a:r>
              <a:rPr lang="zh-CN" sz="1500">
                <a:solidFill>
                  <a:srgbClr val="FF0000"/>
                </a:solidFill>
              </a:rPr>
              <a:t>必须写到：成长经历、家/归属感、价值观</a:t>
            </a:r>
            <a:endParaRPr sz="1500">
              <a:solidFill>
                <a:srgbClr val="FF0000"/>
              </a:solidFill>
            </a:endParaRPr>
          </a:p>
          <a:p>
            <a:pPr indent="-323850" lvl="0" marL="457200" rtl="0" algn="l">
              <a:spcBef>
                <a:spcPts val="0"/>
              </a:spcBef>
              <a:spcAft>
                <a:spcPts val="0"/>
              </a:spcAft>
              <a:buClr>
                <a:srgbClr val="FF0000"/>
              </a:buClr>
              <a:buSzPts val="1500"/>
              <a:buChar char="●"/>
            </a:pPr>
            <a:r>
              <a:rPr lang="zh-CN" sz="1500">
                <a:solidFill>
                  <a:srgbClr val="FF0000"/>
                </a:solidFill>
              </a:rPr>
              <a:t>必须有1个具体事件（不能只写概念）</a:t>
            </a:r>
            <a:endParaRPr sz="1500">
              <a:solidFill>
                <a:srgbClr val="FF0000"/>
              </a:solidFill>
            </a:endParaRPr>
          </a:p>
          <a:p>
            <a:pPr indent="-323850" lvl="0" marL="457200" rtl="0" algn="l">
              <a:spcBef>
                <a:spcPts val="0"/>
              </a:spcBef>
              <a:spcAft>
                <a:spcPts val="0"/>
              </a:spcAft>
              <a:buClr>
                <a:srgbClr val="FF0000"/>
              </a:buClr>
              <a:buSzPts val="1500"/>
              <a:buChar char="●"/>
            </a:pPr>
            <a:r>
              <a:rPr lang="zh-CN" sz="1500">
                <a:solidFill>
                  <a:srgbClr val="FF0000"/>
                </a:solidFill>
              </a:rPr>
              <a:t>必须有1句自我期望作为结尾</a:t>
            </a:r>
            <a:endParaRPr sz="1500">
              <a:solidFill>
                <a:srgbClr val="FF0000"/>
              </a:solidFill>
            </a:endParaRPr>
          </a:p>
          <a:p>
            <a:pPr indent="0" lvl="0" marL="0" rtl="0" algn="l">
              <a:spcBef>
                <a:spcPts val="0"/>
              </a:spcBef>
              <a:spcAft>
                <a:spcPts val="0"/>
              </a:spcAft>
              <a:buClr>
                <a:schemeClr val="dk2"/>
              </a:buClr>
              <a:buSzPts val="1100"/>
              <a:buFont typeface="Arial"/>
              <a:buNone/>
            </a:pPr>
            <a:r>
              <a:t/>
            </a:r>
            <a:endParaRPr sz="1500">
              <a:solidFill>
                <a:srgbClr val="FF0000"/>
              </a:solidFill>
            </a:endParaRPr>
          </a:p>
          <a:p>
            <a:pPr indent="0" lvl="0" marL="0" rtl="0" algn="l">
              <a:spcBef>
                <a:spcPts val="0"/>
              </a:spcBef>
              <a:spcAft>
                <a:spcPts val="0"/>
              </a:spcAft>
              <a:buClr>
                <a:schemeClr val="dk2"/>
              </a:buClr>
              <a:buSzPts val="1100"/>
              <a:buFont typeface="Arial"/>
              <a:buNone/>
            </a:pPr>
            <a:r>
              <a:rPr lang="zh-CN" sz="1500">
                <a:solidFill>
                  <a:srgbClr val="FF0000"/>
                </a:solidFill>
              </a:rPr>
              <a:t>提醒</a:t>
            </a:r>
            <a:endParaRPr sz="1500">
              <a:solidFill>
                <a:srgbClr val="FF0000"/>
              </a:solidFill>
            </a:endParaRPr>
          </a:p>
          <a:p>
            <a:pPr indent="-323850" lvl="0" marL="457200" rtl="0" algn="l">
              <a:spcBef>
                <a:spcPts val="0"/>
              </a:spcBef>
              <a:spcAft>
                <a:spcPts val="0"/>
              </a:spcAft>
              <a:buClr>
                <a:srgbClr val="FF0000"/>
              </a:buClr>
              <a:buSzPts val="1500"/>
              <a:buChar char="●"/>
            </a:pPr>
            <a:r>
              <a:rPr lang="zh-CN" sz="1500">
                <a:solidFill>
                  <a:srgbClr val="FF0000"/>
                </a:solidFill>
              </a:rPr>
              <a:t>少写空话（如“我爱我的家人”），多写细节（谁说了什么、你怎么做、你后来怎么想）。</a:t>
            </a:r>
            <a:endParaRPr sz="1500">
              <a:solidFill>
                <a:srgbClr val="FF0000"/>
              </a:solidFill>
            </a:endParaRPr>
          </a:p>
          <a:p>
            <a:pPr indent="0" lvl="0" marL="0" rtl="0" algn="l">
              <a:spcBef>
                <a:spcPts val="0"/>
              </a:spcBef>
              <a:spcAft>
                <a:spcPts val="0"/>
              </a:spcAft>
              <a:buNone/>
            </a:pPr>
            <a:r>
              <a:t/>
            </a:r>
            <a:endParaRPr sz="1800">
              <a:solidFill>
                <a:schemeClr val="dk2"/>
              </a:solidFill>
              <a:latin typeface="Playfair Display"/>
              <a:ea typeface="Playfair Display"/>
              <a:cs typeface="Playfair Display"/>
              <a:sym typeface="Playfair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范文</a:t>
            </a:r>
            <a:endParaRPr/>
          </a:p>
        </p:txBody>
      </p:sp>
      <p:sp>
        <p:nvSpPr>
          <p:cNvPr id="212" name="Google Shape;212;p42"/>
          <p:cNvSpPr txBox="1"/>
          <p:nvPr>
            <p:ph idx="1" type="body"/>
          </p:nvPr>
        </p:nvSpPr>
        <p:spPr>
          <a:xfrm>
            <a:off x="1327550" y="148775"/>
            <a:ext cx="7504800" cy="490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1950">
                <a:solidFill>
                  <a:srgbClr val="1F2328"/>
                </a:solidFill>
                <a:highlight>
                  <a:srgbClr val="FFFFFF"/>
                </a:highlight>
                <a:latin typeface="STKaiti"/>
                <a:ea typeface="STKaiti"/>
                <a:cs typeface="STKaiti"/>
                <a:sym typeface="STKaiti"/>
              </a:rPr>
              <a:t>我小时候在中国苏州长大，四年级时跟家人搬到新加坡。刚转学那半年，我很不适应：课堂节奏更快，同学说话方式也和以前不一样。有一次分组活动，我因为怕说错话，一整节课都没怎么开口。回家后，外公视频时跟我说，他年轻时也离开家乡工作，最难的不是环境陌生，而是心里先把自己当“外人”。这句话让我开始改变。我不再只等别人来理解我，而是主动介绍自己、主动参与讨论。</a:t>
            </a:r>
            <a:endParaRPr sz="1950">
              <a:solidFill>
                <a:srgbClr val="1F2328"/>
              </a:solidFill>
              <a:highlight>
                <a:srgbClr val="FFFFFF"/>
              </a:highlight>
              <a:latin typeface="STKaiti"/>
              <a:ea typeface="STKaiti"/>
              <a:cs typeface="STKaiti"/>
              <a:sym typeface="STKaiti"/>
            </a:endParaRPr>
          </a:p>
          <a:p>
            <a:pPr indent="0" lvl="0" marL="0" rtl="0" algn="l">
              <a:spcBef>
                <a:spcPts val="1200"/>
              </a:spcBef>
              <a:spcAft>
                <a:spcPts val="0"/>
              </a:spcAft>
              <a:buNone/>
            </a:pPr>
            <a:r>
              <a:rPr lang="zh-CN" sz="1950">
                <a:solidFill>
                  <a:srgbClr val="1F2328"/>
                </a:solidFill>
                <a:highlight>
                  <a:srgbClr val="FFFFFF"/>
                </a:highlight>
                <a:latin typeface="STKaiti"/>
                <a:ea typeface="STKaiti"/>
                <a:cs typeface="STKaiti"/>
                <a:sym typeface="STKaiti"/>
              </a:rPr>
              <a:t>这段成长经历让我重新理解“家”的意义。家不只是我出生的地方，也是在我不确定、甚至有点害怕时，仍然给我力量的人。家庭让我学到两个最重要的价值：第一是尊重，先听懂别人，再表达自己；第二是责任，答应的事要做到，不把困难都推给别人。现在在学校里，遇到不同意见时我会先沟通，做小组任务时也会把自己的部分认真完成。我希望在这个班里成为一个可靠、愿意合作，也愿意支持别人的同学。</a:t>
            </a:r>
            <a:endParaRPr sz="2650">
              <a:solidFill>
                <a:srgbClr val="1F2328"/>
              </a:solidFill>
              <a:highlight>
                <a:srgbClr val="FFFFFF"/>
              </a:highlight>
              <a:latin typeface="STKaiti"/>
              <a:ea typeface="STKaiti"/>
              <a:cs typeface="STKaiti"/>
              <a:sym typeface="STKait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课堂要求</a:t>
            </a:r>
            <a:endParaRPr/>
          </a:p>
        </p:txBody>
      </p:sp>
      <p:sp>
        <p:nvSpPr>
          <p:cNvPr id="218" name="Google Shape;218;p43"/>
          <p:cNvSpPr txBox="1"/>
          <p:nvPr>
            <p:ph idx="1" type="body"/>
          </p:nvPr>
        </p:nvSpPr>
        <p:spPr>
          <a:xfrm>
            <a:off x="881475" y="1234075"/>
            <a:ext cx="79509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zh-CN"/>
              <a:t>相互尊重，不打断别人讲话，保证不两个人同时讲话</a:t>
            </a:r>
            <a:endParaRPr/>
          </a:p>
          <a:p>
            <a:pPr indent="-342900" lvl="0" marL="457200" rtl="0" algn="l">
              <a:spcBef>
                <a:spcPts val="0"/>
              </a:spcBef>
              <a:spcAft>
                <a:spcPts val="0"/>
              </a:spcAft>
              <a:buSzPts val="1800"/>
              <a:buChar char="●"/>
            </a:pPr>
            <a:r>
              <a:rPr lang="zh-CN"/>
              <a:t>有准备地来上课，到教室后先准备学习资料，做好记笔记的准备</a:t>
            </a:r>
            <a:endParaRPr/>
          </a:p>
          <a:p>
            <a:pPr indent="-342900" lvl="0" marL="457200" rtl="0" algn="l">
              <a:spcBef>
                <a:spcPts val="0"/>
              </a:spcBef>
              <a:spcAft>
                <a:spcPts val="0"/>
              </a:spcAft>
              <a:buSzPts val="1800"/>
              <a:buChar char="●"/>
            </a:pPr>
            <a:r>
              <a:rPr lang="zh-CN"/>
              <a:t>在老师没有要求用电子设备的时候，不要把电子设备放在桌子上</a:t>
            </a:r>
            <a:endParaRPr/>
          </a:p>
          <a:p>
            <a:pPr indent="-342900" lvl="0" marL="457200" rtl="0" algn="l">
              <a:spcBef>
                <a:spcPts val="0"/>
              </a:spcBef>
              <a:spcAft>
                <a:spcPts val="0"/>
              </a:spcAft>
              <a:buSzPts val="1800"/>
              <a:buChar char="●"/>
            </a:pPr>
            <a:r>
              <a:rPr lang="zh-CN"/>
              <a:t>教室里出现手机立即没收，送至学生服务部，放学回家前自行领取</a:t>
            </a:r>
            <a:endParaRPr/>
          </a:p>
          <a:p>
            <a:pPr indent="-342900" lvl="0" marL="457200" rtl="0" algn="l">
              <a:spcBef>
                <a:spcPts val="0"/>
              </a:spcBef>
              <a:spcAft>
                <a:spcPts val="0"/>
              </a:spcAft>
              <a:buSzPts val="1800"/>
              <a:buChar char="●"/>
            </a:pPr>
            <a:r>
              <a:rPr lang="zh-CN"/>
              <a:t>所有课堂参与，尽自己所能展现出自己的最高水平</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CN"/>
              <a:t>大家对中文课堂有什么期望？</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认识IGCSE 中文母语课程</a:t>
            </a:r>
            <a:endParaRPr/>
          </a:p>
        </p:txBody>
      </p:sp>
      <p:pic>
        <p:nvPicPr>
          <p:cNvPr id="224" name="Google Shape;224;p44" title="Screenshot 2025-08-18 at 11.04.13 PM.png"/>
          <p:cNvPicPr preferRelativeResize="0"/>
          <p:nvPr/>
        </p:nvPicPr>
        <p:blipFill>
          <a:blip r:embed="rId3">
            <a:alphaModFix/>
          </a:blip>
          <a:stretch>
            <a:fillRect/>
          </a:stretch>
        </p:blipFill>
        <p:spPr>
          <a:xfrm>
            <a:off x="0" y="1245555"/>
            <a:ext cx="9144000" cy="3508141"/>
          </a:xfrm>
          <a:prstGeom prst="rect">
            <a:avLst/>
          </a:prstGeom>
          <a:noFill/>
          <a:ln>
            <a:noFill/>
          </a:ln>
        </p:spPr>
      </p:pic>
      <p:sp>
        <p:nvSpPr>
          <p:cNvPr id="225" name="Google Shape;225;p44"/>
          <p:cNvSpPr txBox="1"/>
          <p:nvPr/>
        </p:nvSpPr>
        <p:spPr>
          <a:xfrm>
            <a:off x="6230600" y="0"/>
            <a:ext cx="2913300" cy="159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zh-CN" sz="1100">
                <a:solidFill>
                  <a:srgbClr val="0000FF"/>
                </a:solidFill>
              </a:rPr>
              <a:t>考试共</a:t>
            </a:r>
            <a:r>
              <a:rPr b="1" lang="zh-CN" sz="1100">
                <a:solidFill>
                  <a:srgbClr val="0000FF"/>
                </a:solidFill>
              </a:rPr>
              <a:t>两份试卷</a:t>
            </a:r>
            <a:r>
              <a:rPr lang="zh-CN" sz="1100">
                <a:solidFill>
                  <a:srgbClr val="0000FF"/>
                </a:solidFill>
              </a:rPr>
              <a:t>。总成绩分为</a:t>
            </a:r>
            <a:r>
              <a:rPr b="1" lang="zh-CN" sz="1100">
                <a:solidFill>
                  <a:srgbClr val="0000FF"/>
                </a:solidFill>
              </a:rPr>
              <a:t>两部分</a:t>
            </a:r>
            <a:r>
              <a:rPr lang="zh-CN" sz="1100">
                <a:solidFill>
                  <a:srgbClr val="0000FF"/>
                </a:solidFill>
              </a:rPr>
              <a:t>：</a:t>
            </a:r>
            <a:endParaRPr sz="1100">
              <a:solidFill>
                <a:srgbClr val="0000FF"/>
              </a:solidFill>
            </a:endParaRPr>
          </a:p>
          <a:p>
            <a:pPr indent="-298450" lvl="0" marL="457200" rtl="0" algn="l">
              <a:lnSpc>
                <a:spcPct val="115000"/>
              </a:lnSpc>
              <a:spcBef>
                <a:spcPts val="1200"/>
              </a:spcBef>
              <a:spcAft>
                <a:spcPts val="0"/>
              </a:spcAft>
              <a:buClr>
                <a:srgbClr val="0000FF"/>
              </a:buClr>
              <a:buSzPts val="1100"/>
              <a:buChar char="●"/>
            </a:pPr>
            <a:r>
              <a:rPr b="1" lang="zh-CN" sz="1100">
                <a:solidFill>
                  <a:srgbClr val="0000FF"/>
                </a:solidFill>
              </a:rPr>
              <a:t>试卷一</a:t>
            </a:r>
            <a:r>
              <a:rPr lang="zh-CN" sz="1100">
                <a:solidFill>
                  <a:srgbClr val="0000FF"/>
                </a:solidFill>
              </a:rPr>
              <a:t>：阅读与应用写作（50%）</a:t>
            </a:r>
            <a:endParaRPr sz="1100">
              <a:solidFill>
                <a:srgbClr val="0000FF"/>
              </a:solidFill>
            </a:endParaRPr>
          </a:p>
          <a:p>
            <a:pPr indent="-298450" lvl="0" marL="457200" rtl="0" algn="l">
              <a:lnSpc>
                <a:spcPct val="115000"/>
              </a:lnSpc>
              <a:spcBef>
                <a:spcPts val="0"/>
              </a:spcBef>
              <a:spcAft>
                <a:spcPts val="0"/>
              </a:spcAft>
              <a:buClr>
                <a:srgbClr val="0000FF"/>
              </a:buClr>
              <a:buSzPts val="1100"/>
              <a:buChar char="●"/>
            </a:pPr>
            <a:r>
              <a:rPr b="1" lang="zh-CN" sz="1100">
                <a:solidFill>
                  <a:srgbClr val="0000FF"/>
                </a:solidFill>
              </a:rPr>
              <a:t>试卷二</a:t>
            </a:r>
            <a:r>
              <a:rPr lang="zh-CN" sz="1100">
                <a:solidFill>
                  <a:srgbClr val="0000FF"/>
                </a:solidFill>
              </a:rPr>
              <a:t>：写作（50%）</a:t>
            </a:r>
            <a:endParaRPr sz="1100">
              <a:solidFill>
                <a:srgbClr val="0000FF"/>
              </a:solidFill>
            </a:endParaRPr>
          </a:p>
          <a:p>
            <a:pPr indent="0" lvl="0" marL="0" rtl="0" algn="l">
              <a:lnSpc>
                <a:spcPct val="115000"/>
              </a:lnSpc>
              <a:spcBef>
                <a:spcPts val="1200"/>
              </a:spcBef>
              <a:spcAft>
                <a:spcPts val="0"/>
              </a:spcAft>
              <a:buClr>
                <a:schemeClr val="dk2"/>
              </a:buClr>
              <a:buSzPts val="1100"/>
              <a:buFont typeface="Arial"/>
              <a:buNone/>
            </a:pPr>
            <a:r>
              <a:rPr lang="zh-CN" sz="1100">
                <a:solidFill>
                  <a:srgbClr val="0000FF"/>
                </a:solidFill>
              </a:rPr>
              <a:t>考试均为笔试，不允许使用词典。</a:t>
            </a:r>
            <a:endParaRPr sz="1100">
              <a:solidFill>
                <a:srgbClr val="0000FF"/>
              </a:solidFill>
            </a:endParaRPr>
          </a:p>
          <a:p>
            <a:pPr indent="0" lvl="0" marL="0" rtl="0" algn="l">
              <a:spcBef>
                <a:spcPts val="0"/>
              </a:spcBef>
              <a:spcAft>
                <a:spcPts val="0"/>
              </a:spcAft>
              <a:buNone/>
            </a:pPr>
            <a:r>
              <a:rPr lang="zh-CN" sz="1100">
                <a:solidFill>
                  <a:srgbClr val="0000FF"/>
                </a:solidFill>
              </a:rPr>
              <a:t>可用简体或繁体答题。</a:t>
            </a:r>
            <a:endParaRPr sz="1800">
              <a:solidFill>
                <a:srgbClr val="0000FF"/>
              </a:solidFill>
              <a:latin typeface="Playfair Display"/>
              <a:ea typeface="Playfair Display"/>
              <a:cs typeface="Playfair Display"/>
              <a:sym typeface="Playfair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1" name="Google Shape;231;p45"/>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2" name="Google Shape;232;p45" title="Screenshot 2025-08-18 at 11.05.28 PM.png"/>
          <p:cNvPicPr preferRelativeResize="0"/>
          <p:nvPr/>
        </p:nvPicPr>
        <p:blipFill>
          <a:blip r:embed="rId3">
            <a:alphaModFix/>
          </a:blip>
          <a:stretch>
            <a:fillRect/>
          </a:stretch>
        </p:blipFill>
        <p:spPr>
          <a:xfrm>
            <a:off x="2597650" y="231375"/>
            <a:ext cx="5797101" cy="42576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8" name="Google Shape;238;p46"/>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9" name="Google Shape;239;p46" title="Screenshot 2025-08-18 at 11.09.27 PM.png"/>
          <p:cNvPicPr preferRelativeResize="0"/>
          <p:nvPr/>
        </p:nvPicPr>
        <p:blipFill>
          <a:blip r:embed="rId3">
            <a:alphaModFix/>
          </a:blip>
          <a:stretch>
            <a:fillRect/>
          </a:stretch>
        </p:blipFill>
        <p:spPr>
          <a:xfrm>
            <a:off x="0" y="362109"/>
            <a:ext cx="9144000" cy="441928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常见问题：</a:t>
            </a:r>
            <a:endParaRPr/>
          </a:p>
        </p:txBody>
      </p:sp>
      <p:sp>
        <p:nvSpPr>
          <p:cNvPr id="245" name="Google Shape;245;p47"/>
          <p:cNvSpPr txBox="1"/>
          <p:nvPr>
            <p:ph idx="1" type="body"/>
          </p:nvPr>
        </p:nvSpPr>
        <p:spPr>
          <a:xfrm>
            <a:off x="881025" y="1234075"/>
            <a:ext cx="7951200" cy="33348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AutoNum type="arabicPeriod"/>
            </a:pPr>
            <a:r>
              <a:rPr lang="zh-CN" sz="2200"/>
              <a:t>议论文和讨论文的区别是什么？</a:t>
            </a:r>
            <a:endParaRPr sz="2200"/>
          </a:p>
          <a:p>
            <a:pPr indent="-368300" lvl="0" marL="457200" rtl="0" algn="l">
              <a:spcBef>
                <a:spcPts val="0"/>
              </a:spcBef>
              <a:spcAft>
                <a:spcPts val="0"/>
              </a:spcAft>
              <a:buSzPts val="2200"/>
              <a:buAutoNum type="arabicPeriod"/>
            </a:pPr>
            <a:r>
              <a:rPr lang="zh-CN" sz="2200"/>
              <a:t>怎么区分记叙文和描述文？</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graphicFrame>
        <p:nvGraphicFramePr>
          <p:cNvPr id="250" name="Google Shape;250;p48"/>
          <p:cNvGraphicFramePr/>
          <p:nvPr/>
        </p:nvGraphicFramePr>
        <p:xfrm>
          <a:off x="240525" y="267750"/>
          <a:ext cx="3000000" cy="3000000"/>
        </p:xfrm>
        <a:graphic>
          <a:graphicData uri="http://schemas.openxmlformats.org/drawingml/2006/table">
            <a:tbl>
              <a:tblPr>
                <a:noFill/>
                <a:tableStyleId>{6EC30E26-9E9A-4D88-8AED-F8757236A545}</a:tableStyleId>
              </a:tblPr>
              <a:tblGrid>
                <a:gridCol w="4341450"/>
                <a:gridCol w="4341450"/>
              </a:tblGrid>
              <a:tr h="916925">
                <a:tc>
                  <a:txBody>
                    <a:bodyPr/>
                    <a:lstStyle/>
                    <a:p>
                      <a:pPr indent="0" lvl="0" marL="0" rtl="0" algn="l">
                        <a:spcBef>
                          <a:spcPts val="0"/>
                        </a:spcBef>
                        <a:spcAft>
                          <a:spcPts val="0"/>
                        </a:spcAft>
                        <a:buClr>
                          <a:schemeClr val="dk2"/>
                        </a:buClr>
                        <a:buSzPts val="1100"/>
                        <a:buFont typeface="Arial"/>
                        <a:buNone/>
                      </a:pPr>
                      <a:r>
                        <a:rPr b="1" lang="zh-CN" sz="1000"/>
                        <a:t>试卷一：阅读与应用写作（Paper 1）</a:t>
                      </a:r>
                      <a:endParaRPr b="1" sz="1000"/>
                    </a:p>
                    <a:p>
                      <a:pPr indent="-292100" lvl="0" marL="457200" rtl="0" algn="l">
                        <a:spcBef>
                          <a:spcPts val="0"/>
                        </a:spcBef>
                        <a:spcAft>
                          <a:spcPts val="0"/>
                        </a:spcAft>
                        <a:buSzPts val="1000"/>
                        <a:buChar char="●"/>
                      </a:pPr>
                      <a:r>
                        <a:rPr lang="zh-CN" sz="1000"/>
                        <a:t>时长：2小时15分钟</a:t>
                      </a:r>
                      <a:endParaRPr sz="1000"/>
                    </a:p>
                    <a:p>
                      <a:pPr indent="-292100" lvl="0" marL="457200" rtl="0" algn="l">
                        <a:spcBef>
                          <a:spcPts val="0"/>
                        </a:spcBef>
                        <a:spcAft>
                          <a:spcPts val="0"/>
                        </a:spcAft>
                        <a:buSzPts val="1000"/>
                        <a:buChar char="●"/>
                      </a:pPr>
                      <a:r>
                        <a:rPr lang="zh-CN" sz="1000"/>
                        <a:t>总分：60分</a:t>
                      </a:r>
                      <a:endParaRPr sz="1000"/>
                    </a:p>
                    <a:p>
                      <a:pPr indent="-292100" lvl="0" marL="457200" rtl="0" algn="l">
                        <a:spcBef>
                          <a:spcPts val="0"/>
                        </a:spcBef>
                        <a:spcAft>
                          <a:spcPts val="0"/>
                        </a:spcAft>
                        <a:buSzPts val="1000"/>
                        <a:buChar char="●"/>
                      </a:pPr>
                      <a:r>
                        <a:rPr lang="zh-CN" sz="1000"/>
                        <a:t>题型：分为三部分</a:t>
                      </a:r>
                      <a:endParaRPr sz="1000"/>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b="1" lang="zh-CN" sz="1000"/>
                        <a:t>试卷二：写作（Paper 2）</a:t>
                      </a:r>
                      <a:endParaRPr b="1" sz="1000"/>
                    </a:p>
                    <a:p>
                      <a:pPr indent="-292100" lvl="0" marL="457200" rtl="0" algn="l">
                        <a:spcBef>
                          <a:spcPts val="0"/>
                        </a:spcBef>
                        <a:spcAft>
                          <a:spcPts val="0"/>
                        </a:spcAft>
                        <a:buSzPts val="1000"/>
                        <a:buChar char="●"/>
                      </a:pPr>
                      <a:r>
                        <a:rPr lang="zh-CN" sz="1000"/>
                        <a:t>时长：2小时</a:t>
                      </a:r>
                      <a:endParaRPr sz="1000"/>
                    </a:p>
                    <a:p>
                      <a:pPr indent="-292100" lvl="0" marL="457200" rtl="0" algn="l">
                        <a:spcBef>
                          <a:spcPts val="0"/>
                        </a:spcBef>
                        <a:spcAft>
                          <a:spcPts val="0"/>
                        </a:spcAft>
                        <a:buSzPts val="1000"/>
                        <a:buChar char="●"/>
                      </a:pPr>
                      <a:r>
                        <a:rPr lang="zh-CN" sz="1000"/>
                        <a:t>总分：50分</a:t>
                      </a:r>
                      <a:endParaRPr sz="1000"/>
                    </a:p>
                    <a:p>
                      <a:pPr indent="-292100" lvl="0" marL="457200" rtl="0" algn="l">
                        <a:spcBef>
                          <a:spcPts val="0"/>
                        </a:spcBef>
                        <a:spcAft>
                          <a:spcPts val="0"/>
                        </a:spcAft>
                        <a:buSzPts val="1000"/>
                        <a:buChar char="●"/>
                      </a:pPr>
                      <a:r>
                        <a:rPr lang="zh-CN" sz="1000"/>
                        <a:t>题型：两部分（各写一篇作文）</a:t>
                      </a:r>
                      <a:endParaRPr sz="1000"/>
                    </a:p>
                  </a:txBody>
                  <a:tcPr marT="91425" marB="91425" marR="91425" marL="91425"/>
                </a:tc>
              </a:tr>
              <a:tr h="2302275">
                <a:tc>
                  <a:txBody>
                    <a:bodyPr/>
                    <a:lstStyle/>
                    <a:p>
                      <a:pPr indent="0" lvl="0" marL="0" rtl="0" algn="l">
                        <a:spcBef>
                          <a:spcPts val="0"/>
                        </a:spcBef>
                        <a:spcAft>
                          <a:spcPts val="0"/>
                        </a:spcAft>
                        <a:buClr>
                          <a:schemeClr val="dk2"/>
                        </a:buClr>
                        <a:buSzPts val="1100"/>
                        <a:buFont typeface="Arial"/>
                        <a:buNone/>
                      </a:pPr>
                      <a:r>
                        <a:rPr lang="zh-CN" sz="1000">
                          <a:solidFill>
                            <a:srgbClr val="0000FF"/>
                          </a:solidFill>
                        </a:rPr>
                        <a:t>第1部分：阅读理解与语言运用（23分）</a:t>
                      </a:r>
                      <a:endParaRPr sz="1000">
                        <a:solidFill>
                          <a:srgbClr val="0000FF"/>
                        </a:solidFill>
                      </a:endParaRPr>
                    </a:p>
                    <a:p>
                      <a:pPr indent="-292100" lvl="0" marL="457200" rtl="0" algn="l">
                        <a:spcBef>
                          <a:spcPts val="0"/>
                        </a:spcBef>
                        <a:spcAft>
                          <a:spcPts val="0"/>
                        </a:spcAft>
                        <a:buSzPts val="1000"/>
                        <a:buChar char="●"/>
                      </a:pPr>
                      <a:r>
                        <a:rPr lang="zh-CN" sz="1000"/>
                        <a:t>材料：一篇约1000字的现代小说节选（20或21世纪）。</a:t>
                      </a:r>
                      <a:endParaRPr sz="1000"/>
                    </a:p>
                    <a:p>
                      <a:pPr indent="-292100" lvl="0" marL="457200" rtl="0" algn="l">
                        <a:spcBef>
                          <a:spcPts val="0"/>
                        </a:spcBef>
                        <a:spcAft>
                          <a:spcPts val="0"/>
                        </a:spcAft>
                        <a:buSzPts val="1000"/>
                        <a:buChar char="●"/>
                      </a:pPr>
                      <a:r>
                        <a:rPr lang="zh-CN" sz="1000"/>
                        <a:t>题型：理解题 + 语言分析题</a:t>
                      </a:r>
                      <a:endParaRPr sz="1000"/>
                    </a:p>
                    <a:p>
                      <a:pPr indent="-292100" lvl="1" marL="914400" rtl="0" algn="l">
                        <a:spcBef>
                          <a:spcPts val="0"/>
                        </a:spcBef>
                        <a:spcAft>
                          <a:spcPts val="0"/>
                        </a:spcAft>
                        <a:buSzPts val="1000"/>
                        <a:buChar char="○"/>
                      </a:pPr>
                      <a:r>
                        <a:rPr lang="zh-CN" sz="1000"/>
                        <a:t>明确信息理解</a:t>
                      </a:r>
                      <a:endParaRPr sz="1000"/>
                    </a:p>
                    <a:p>
                      <a:pPr indent="-292100" lvl="1" marL="914400" rtl="0" algn="l">
                        <a:spcBef>
                          <a:spcPts val="0"/>
                        </a:spcBef>
                        <a:spcAft>
                          <a:spcPts val="0"/>
                        </a:spcAft>
                        <a:buSzPts val="1000"/>
                        <a:buChar char="○"/>
                      </a:pPr>
                      <a:r>
                        <a:rPr lang="zh-CN" sz="1000"/>
                        <a:t>隐含信息理解</a:t>
                      </a:r>
                      <a:endParaRPr sz="1000"/>
                    </a:p>
                    <a:p>
                      <a:pPr indent="-292100" lvl="1" marL="914400" rtl="0" algn="l">
                        <a:spcBef>
                          <a:spcPts val="0"/>
                        </a:spcBef>
                        <a:spcAft>
                          <a:spcPts val="0"/>
                        </a:spcAft>
                        <a:buSzPts val="1000"/>
                        <a:buChar char="○"/>
                      </a:pPr>
                      <a:r>
                        <a:rPr lang="zh-CN" sz="1000"/>
                        <a:t>修辞、语言、结构如何产生效果的分析</a:t>
                      </a:r>
                      <a:endParaRPr sz="1000"/>
                    </a:p>
                    <a:p>
                      <a:pPr indent="0" lvl="0" marL="0" rtl="0" algn="l">
                        <a:spcBef>
                          <a:spcPts val="0"/>
                        </a:spcBef>
                        <a:spcAft>
                          <a:spcPts val="0"/>
                        </a:spcAft>
                        <a:buClr>
                          <a:schemeClr val="dk2"/>
                        </a:buClr>
                        <a:buSzPts val="1100"/>
                        <a:buFont typeface="Arial"/>
                        <a:buNone/>
                      </a:pPr>
                      <a:r>
                        <a:t/>
                      </a:r>
                      <a:endParaRPr sz="1000"/>
                    </a:p>
                    <a:p>
                      <a:pPr indent="0" lvl="0" marL="0" rtl="0" algn="l">
                        <a:spcBef>
                          <a:spcPts val="0"/>
                        </a:spcBef>
                        <a:spcAft>
                          <a:spcPts val="0"/>
                        </a:spcAft>
                        <a:buClr>
                          <a:schemeClr val="dk2"/>
                        </a:buClr>
                        <a:buSzPts val="1100"/>
                        <a:buFont typeface="Arial"/>
                        <a:buNone/>
                      </a:pPr>
                      <a:r>
                        <a:rPr lang="zh-CN" sz="1000">
                          <a:solidFill>
                            <a:srgbClr val="0000FF"/>
                          </a:solidFill>
                        </a:rPr>
                        <a:t>第2部分：应用写作（25分）</a:t>
                      </a:r>
                      <a:endParaRPr sz="1000">
                        <a:solidFill>
                          <a:srgbClr val="0000FF"/>
                        </a:solidFill>
                      </a:endParaRPr>
                    </a:p>
                    <a:p>
                      <a:pPr indent="-292100" lvl="0" marL="457200" rtl="0" algn="l">
                        <a:spcBef>
                          <a:spcPts val="0"/>
                        </a:spcBef>
                        <a:spcAft>
                          <a:spcPts val="0"/>
                        </a:spcAft>
                        <a:buSzPts val="1000"/>
                        <a:buChar char="●"/>
                      </a:pPr>
                      <a:r>
                        <a:rPr lang="zh-CN" sz="1000"/>
                        <a:t>材料：两篇主题相关的非小说类文章（总字数约600字）。</a:t>
                      </a:r>
                      <a:endParaRPr sz="1000"/>
                    </a:p>
                    <a:p>
                      <a:pPr indent="-292100" lvl="0" marL="457200" rtl="0" algn="l">
                        <a:spcBef>
                          <a:spcPts val="0"/>
                        </a:spcBef>
                        <a:spcAft>
                          <a:spcPts val="0"/>
                        </a:spcAft>
                        <a:buSzPts val="1000"/>
                        <a:buChar char="●"/>
                      </a:pPr>
                      <a:r>
                        <a:rPr lang="zh-CN" sz="1000"/>
                        <a:t>任务：写一篇 议论文/讨论文，字数 250–350字。</a:t>
                      </a:r>
                      <a:endParaRPr sz="1000"/>
                    </a:p>
                    <a:p>
                      <a:pPr indent="-292100" lvl="0" marL="457200" rtl="0" algn="l">
                        <a:spcBef>
                          <a:spcPts val="0"/>
                        </a:spcBef>
                        <a:spcAft>
                          <a:spcPts val="0"/>
                        </a:spcAft>
                        <a:buSzPts val="1000"/>
                        <a:buChar char="●"/>
                      </a:pPr>
                      <a:r>
                        <a:rPr lang="zh-CN" sz="1000"/>
                        <a:t>要求：</a:t>
                      </a:r>
                      <a:endParaRPr sz="1000"/>
                    </a:p>
                    <a:p>
                      <a:pPr indent="-292100" lvl="1" marL="914400" rtl="0" algn="l">
                        <a:spcBef>
                          <a:spcPts val="0"/>
                        </a:spcBef>
                        <a:spcAft>
                          <a:spcPts val="0"/>
                        </a:spcAft>
                        <a:buSzPts val="1000"/>
                        <a:buChar char="○"/>
                      </a:pPr>
                      <a:r>
                        <a:rPr lang="zh-CN" sz="1000"/>
                        <a:t>综合、筛选、评价两篇材料的信息</a:t>
                      </a:r>
                      <a:endParaRPr sz="1000"/>
                    </a:p>
                    <a:p>
                      <a:pPr indent="-292100" lvl="1" marL="914400" rtl="0" algn="l">
                        <a:spcBef>
                          <a:spcPts val="0"/>
                        </a:spcBef>
                        <a:spcAft>
                          <a:spcPts val="0"/>
                        </a:spcAft>
                        <a:buSzPts val="1000"/>
                        <a:buChar char="○"/>
                      </a:pPr>
                      <a:r>
                        <a:rPr lang="zh-CN" sz="1000"/>
                        <a:t>用自己的话写作（不可加入材料以外的信息）</a:t>
                      </a:r>
                      <a:endParaRPr sz="1000"/>
                    </a:p>
                    <a:p>
                      <a:pPr indent="-292100" lvl="1" marL="914400" rtl="0" algn="l">
                        <a:spcBef>
                          <a:spcPts val="0"/>
                        </a:spcBef>
                        <a:spcAft>
                          <a:spcPts val="0"/>
                        </a:spcAft>
                        <a:buSzPts val="1000"/>
                        <a:buChar char="○"/>
                      </a:pPr>
                      <a:r>
                        <a:rPr lang="zh-CN" sz="1000"/>
                        <a:t>既考阅读能力（信息整合、分析），也考写作能力（语言准确、条理清晰、表达有力）</a:t>
                      </a:r>
                      <a:endParaRPr sz="1000"/>
                    </a:p>
                    <a:p>
                      <a:pPr indent="0" lvl="0" marL="0" rtl="0" algn="l">
                        <a:spcBef>
                          <a:spcPts val="0"/>
                        </a:spcBef>
                        <a:spcAft>
                          <a:spcPts val="0"/>
                        </a:spcAft>
                        <a:buClr>
                          <a:schemeClr val="dk2"/>
                        </a:buClr>
                        <a:buSzPts val="1100"/>
                        <a:buFont typeface="Arial"/>
                        <a:buNone/>
                      </a:pPr>
                      <a:r>
                        <a:t/>
                      </a:r>
                      <a:endParaRPr sz="1000"/>
                    </a:p>
                    <a:p>
                      <a:pPr indent="0" lvl="0" marL="0" rtl="0" algn="l">
                        <a:spcBef>
                          <a:spcPts val="0"/>
                        </a:spcBef>
                        <a:spcAft>
                          <a:spcPts val="0"/>
                        </a:spcAft>
                        <a:buClr>
                          <a:schemeClr val="dk2"/>
                        </a:buClr>
                        <a:buSzPts val="1100"/>
                        <a:buFont typeface="Arial"/>
                        <a:buNone/>
                      </a:pPr>
                      <a:r>
                        <a:rPr lang="zh-CN" sz="1000">
                          <a:solidFill>
                            <a:srgbClr val="0000FF"/>
                          </a:solidFill>
                        </a:rPr>
                        <a:t>第3部分：文言文阅读（12分）</a:t>
                      </a:r>
                      <a:endParaRPr sz="1000">
                        <a:solidFill>
                          <a:srgbClr val="0000FF"/>
                        </a:solidFill>
                      </a:endParaRPr>
                    </a:p>
                    <a:p>
                      <a:pPr indent="-292100" lvl="0" marL="457200" rtl="0" algn="l">
                        <a:spcBef>
                          <a:spcPts val="0"/>
                        </a:spcBef>
                        <a:spcAft>
                          <a:spcPts val="0"/>
                        </a:spcAft>
                        <a:buSzPts val="1000"/>
                        <a:buChar char="●"/>
                      </a:pPr>
                      <a:r>
                        <a:rPr lang="zh-CN" sz="1000"/>
                        <a:t>材料：明代短文或小品文，约200字，未必学过。</a:t>
                      </a:r>
                      <a:endParaRPr sz="1000"/>
                    </a:p>
                    <a:p>
                      <a:pPr indent="-292100" lvl="0" marL="457200" rtl="0" algn="l">
                        <a:spcBef>
                          <a:spcPts val="0"/>
                        </a:spcBef>
                        <a:spcAft>
                          <a:spcPts val="0"/>
                        </a:spcAft>
                        <a:buSzPts val="1000"/>
                        <a:buChar char="●"/>
                      </a:pPr>
                      <a:r>
                        <a:rPr lang="zh-CN" sz="1000"/>
                        <a:t>题型：短答题或选择题。</a:t>
                      </a:r>
                      <a:endParaRPr sz="1000"/>
                    </a:p>
                    <a:p>
                      <a:pPr indent="-292100" lvl="0" marL="457200" rtl="0" algn="l">
                        <a:spcBef>
                          <a:spcPts val="0"/>
                        </a:spcBef>
                        <a:spcAft>
                          <a:spcPts val="0"/>
                        </a:spcAft>
                        <a:buSzPts val="1000"/>
                        <a:buChar char="●"/>
                      </a:pPr>
                      <a:r>
                        <a:rPr lang="zh-CN" sz="1000"/>
                        <a:t>考查：</a:t>
                      </a:r>
                      <a:endParaRPr sz="1000"/>
                    </a:p>
                    <a:p>
                      <a:pPr indent="-292100" lvl="1" marL="914400" rtl="0" algn="l">
                        <a:spcBef>
                          <a:spcPts val="0"/>
                        </a:spcBef>
                        <a:spcAft>
                          <a:spcPts val="0"/>
                        </a:spcAft>
                        <a:buSzPts val="1000"/>
                        <a:buChar char="○"/>
                      </a:pPr>
                      <a:r>
                        <a:rPr lang="zh-CN" sz="1000"/>
                        <a:t>对文言文的字面理解</a:t>
                      </a:r>
                      <a:endParaRPr sz="1000"/>
                    </a:p>
                    <a:p>
                      <a:pPr indent="-292100" lvl="1" marL="914400" rtl="0" algn="l">
                        <a:spcBef>
                          <a:spcPts val="0"/>
                        </a:spcBef>
                        <a:spcAft>
                          <a:spcPts val="0"/>
                        </a:spcAft>
                        <a:buSzPts val="1000"/>
                        <a:buChar char="○"/>
                      </a:pPr>
                      <a:r>
                        <a:rPr lang="zh-CN" sz="1000"/>
                        <a:t>对文意和态度的把握</a:t>
                      </a:r>
                      <a:endParaRPr sz="1000"/>
                    </a:p>
                    <a:p>
                      <a:pPr indent="-292100" lvl="0" marL="457200" rtl="0" algn="l">
                        <a:spcBef>
                          <a:spcPts val="0"/>
                        </a:spcBef>
                        <a:spcAft>
                          <a:spcPts val="0"/>
                        </a:spcAft>
                        <a:buSzPts val="1000"/>
                        <a:buChar char="●"/>
                      </a:pPr>
                      <a:r>
                        <a:rPr lang="zh-CN" sz="1000"/>
                        <a:t>不要求写文言文，也不考历史背景。</a:t>
                      </a:r>
                      <a:endParaRPr sz="1000"/>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zh-CN" sz="1000">
                          <a:solidFill>
                            <a:srgbClr val="0000FF"/>
                          </a:solidFill>
                        </a:rPr>
                        <a:t>第1部分：议论文 / 讨论文（25分）</a:t>
                      </a:r>
                      <a:endParaRPr sz="1000">
                        <a:solidFill>
                          <a:srgbClr val="0000FF"/>
                        </a:solidFill>
                      </a:endParaRPr>
                    </a:p>
                    <a:p>
                      <a:pPr indent="-292100" lvl="0" marL="457200" rtl="0" algn="l">
                        <a:spcBef>
                          <a:spcPts val="0"/>
                        </a:spcBef>
                        <a:spcAft>
                          <a:spcPts val="0"/>
                        </a:spcAft>
                        <a:buSzPts val="1000"/>
                        <a:buChar char="●"/>
                      </a:pPr>
                      <a:r>
                        <a:rPr lang="zh-CN" sz="1000"/>
                        <a:t>题目：4选1（2个议题型，2个讨论型）。</a:t>
                      </a:r>
                      <a:endParaRPr sz="1000"/>
                    </a:p>
                    <a:p>
                      <a:pPr indent="-292100" lvl="0" marL="457200" rtl="0" algn="l">
                        <a:spcBef>
                          <a:spcPts val="0"/>
                        </a:spcBef>
                        <a:spcAft>
                          <a:spcPts val="0"/>
                        </a:spcAft>
                        <a:buSzPts val="1000"/>
                        <a:buChar char="●"/>
                      </a:pPr>
                      <a:r>
                        <a:rPr lang="zh-CN" sz="1000"/>
                        <a:t>要求：写一篇 400–600字 的议论文或讨论文。</a:t>
                      </a:r>
                      <a:endParaRPr sz="1000"/>
                    </a:p>
                    <a:p>
                      <a:pPr indent="-292100" lvl="1" marL="914400" rtl="0" algn="l">
                        <a:spcBef>
                          <a:spcPts val="0"/>
                        </a:spcBef>
                        <a:spcAft>
                          <a:spcPts val="0"/>
                        </a:spcAft>
                        <a:buSzPts val="1000"/>
                        <a:buChar char="○"/>
                      </a:pPr>
                      <a:r>
                        <a:rPr lang="zh-CN" sz="1000"/>
                        <a:t>议论文：立场鲜明，说服读者</a:t>
                      </a:r>
                      <a:endParaRPr sz="1000"/>
                    </a:p>
                    <a:p>
                      <a:pPr indent="-292100" lvl="1" marL="914400" rtl="0" algn="l">
                        <a:spcBef>
                          <a:spcPts val="0"/>
                        </a:spcBef>
                        <a:spcAft>
                          <a:spcPts val="0"/>
                        </a:spcAft>
                        <a:buSzPts val="1000"/>
                        <a:buChar char="○"/>
                      </a:pPr>
                      <a:r>
                        <a:rPr lang="zh-CN" sz="1000"/>
                        <a:t>讨论文：平衡分析不同观点</a:t>
                      </a:r>
                      <a:endParaRPr sz="1000"/>
                    </a:p>
                    <a:p>
                      <a:pPr indent="0" lvl="0" marL="0" rtl="0" algn="l">
                        <a:spcBef>
                          <a:spcPts val="0"/>
                        </a:spcBef>
                        <a:spcAft>
                          <a:spcPts val="0"/>
                        </a:spcAft>
                        <a:buClr>
                          <a:schemeClr val="dk2"/>
                        </a:buClr>
                        <a:buSzPts val="1100"/>
                        <a:buFont typeface="Arial"/>
                        <a:buNone/>
                      </a:pPr>
                      <a:r>
                        <a:t/>
                      </a:r>
                      <a:endParaRPr sz="1000"/>
                    </a:p>
                    <a:p>
                      <a:pPr indent="0" lvl="0" marL="0" rtl="0" algn="l">
                        <a:spcBef>
                          <a:spcPts val="0"/>
                        </a:spcBef>
                        <a:spcAft>
                          <a:spcPts val="0"/>
                        </a:spcAft>
                        <a:buNone/>
                      </a:pPr>
                      <a:r>
                        <a:t/>
                      </a:r>
                      <a:endParaRPr sz="1000"/>
                    </a:p>
                    <a:p>
                      <a:pPr indent="0" lvl="0" marL="0" rtl="0" algn="l">
                        <a:spcBef>
                          <a:spcPts val="0"/>
                        </a:spcBef>
                        <a:spcAft>
                          <a:spcPts val="0"/>
                        </a:spcAft>
                        <a:buClr>
                          <a:schemeClr val="dk2"/>
                        </a:buClr>
                        <a:buSzPts val="1100"/>
                        <a:buFont typeface="Arial"/>
                        <a:buNone/>
                      </a:pPr>
                      <a:r>
                        <a:rPr lang="zh-CN" sz="1000">
                          <a:solidFill>
                            <a:srgbClr val="0000FF"/>
                          </a:solidFill>
                        </a:rPr>
                        <a:t>第2部分：描写文 / 记叙文（25分）</a:t>
                      </a:r>
                      <a:endParaRPr sz="1000">
                        <a:solidFill>
                          <a:srgbClr val="0000FF"/>
                        </a:solidFill>
                      </a:endParaRPr>
                    </a:p>
                    <a:p>
                      <a:pPr indent="-292100" lvl="0" marL="457200" rtl="0" algn="l">
                        <a:spcBef>
                          <a:spcPts val="0"/>
                        </a:spcBef>
                        <a:spcAft>
                          <a:spcPts val="0"/>
                        </a:spcAft>
                        <a:buSzPts val="1000"/>
                        <a:buChar char="●"/>
                      </a:pPr>
                      <a:r>
                        <a:rPr lang="zh-CN" sz="1000"/>
                        <a:t>题目：4选1（2个描写类，2个叙事类）。</a:t>
                      </a:r>
                      <a:endParaRPr sz="1000"/>
                    </a:p>
                    <a:p>
                      <a:pPr indent="-292100" lvl="0" marL="457200" rtl="0" algn="l">
                        <a:spcBef>
                          <a:spcPts val="0"/>
                        </a:spcBef>
                        <a:spcAft>
                          <a:spcPts val="0"/>
                        </a:spcAft>
                        <a:buSzPts val="1000"/>
                        <a:buChar char="●"/>
                      </a:pPr>
                      <a:r>
                        <a:rPr lang="zh-CN" sz="1000"/>
                        <a:t>要求：写一篇 400–600字 的作文。</a:t>
                      </a:r>
                      <a:endParaRPr sz="1000"/>
                    </a:p>
                    <a:p>
                      <a:pPr indent="-292100" lvl="1" marL="914400" rtl="0" algn="l">
                        <a:spcBef>
                          <a:spcPts val="0"/>
                        </a:spcBef>
                        <a:spcAft>
                          <a:spcPts val="0"/>
                        </a:spcAft>
                        <a:buSzPts val="1000"/>
                        <a:buChar char="○"/>
                      </a:pPr>
                      <a:r>
                        <a:rPr lang="zh-CN" sz="1000"/>
                        <a:t>描写文：对人物、场景或情境进行细致描写</a:t>
                      </a:r>
                      <a:endParaRPr sz="1000"/>
                    </a:p>
                    <a:p>
                      <a:pPr indent="-292100" lvl="1" marL="914400" rtl="0" algn="l">
                        <a:spcBef>
                          <a:spcPts val="0"/>
                        </a:spcBef>
                        <a:spcAft>
                          <a:spcPts val="0"/>
                        </a:spcAft>
                        <a:buSzPts val="1000"/>
                        <a:buChar char="○"/>
                      </a:pPr>
                      <a:r>
                        <a:rPr lang="zh-CN" sz="1000"/>
                        <a:t>记叙文：讲述一件真实或虚构的故事</a:t>
                      </a:r>
                      <a:endParaRPr sz="1000"/>
                    </a:p>
                    <a:p>
                      <a:pPr indent="0" lvl="0" marL="0" rtl="0" algn="l">
                        <a:spcBef>
                          <a:spcPts val="0"/>
                        </a:spcBef>
                        <a:spcAft>
                          <a:spcPts val="0"/>
                        </a:spcAft>
                        <a:buNone/>
                      </a:pPr>
                      <a:r>
                        <a:t/>
                      </a:r>
                      <a:endParaRPr sz="1000"/>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9"/>
          <p:cNvSpPr txBox="1"/>
          <p:nvPr>
            <p:ph idx="1" type="body"/>
          </p:nvPr>
        </p:nvSpPr>
        <p:spPr>
          <a:xfrm>
            <a:off x="883050" y="1083325"/>
            <a:ext cx="7949400" cy="39783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rPr lang="zh-CN">
                <a:solidFill>
                  <a:srgbClr val="FF0000"/>
                </a:solidFill>
                <a:latin typeface="STKaiti"/>
                <a:ea typeface="STKaiti"/>
                <a:cs typeface="STKaiti"/>
                <a:sym typeface="STKaiti"/>
              </a:rPr>
              <a:t>题目要求：描述雨后的校园。</a:t>
            </a:r>
            <a:endParaRPr>
              <a:solidFill>
                <a:srgbClr val="FF0000"/>
              </a:solidFill>
              <a:latin typeface="STKaiti"/>
              <a:ea typeface="STKaiti"/>
              <a:cs typeface="STKaiti"/>
              <a:sym typeface="STKaiti"/>
            </a:endParaRPr>
          </a:p>
          <a:p>
            <a:pPr indent="0" lvl="0" marL="0" rtl="0" algn="l">
              <a:spcBef>
                <a:spcPts val="1200"/>
              </a:spcBef>
              <a:spcAft>
                <a:spcPts val="0"/>
              </a:spcAft>
              <a:buClr>
                <a:schemeClr val="dk2"/>
              </a:buClr>
              <a:buSzPct val="61111"/>
              <a:buFont typeface="Arial"/>
              <a:buNone/>
            </a:pPr>
            <a:r>
              <a:rPr lang="zh-CN">
                <a:latin typeface="STKaiti"/>
                <a:ea typeface="STKaiti"/>
                <a:cs typeface="STKaiti"/>
                <a:sym typeface="STKaiti"/>
              </a:rPr>
              <a:t>那天下午，我们正在教室里上最后一节课，突然外面下起了大雨。雨点打在窗户上，发出“啪啪”的声音。老师让我们把窗户关好，然后继续上课。</a:t>
            </a:r>
            <a:endParaRPr>
              <a:latin typeface="STKaiti"/>
              <a:ea typeface="STKaiti"/>
              <a:cs typeface="STKaiti"/>
              <a:sym typeface="STKaiti"/>
            </a:endParaRPr>
          </a:p>
          <a:p>
            <a:pPr indent="0" lvl="0" marL="0" rtl="0" algn="l">
              <a:spcBef>
                <a:spcPts val="1200"/>
              </a:spcBef>
              <a:spcAft>
                <a:spcPts val="0"/>
              </a:spcAft>
              <a:buClr>
                <a:schemeClr val="dk2"/>
              </a:buClr>
              <a:buSzPct val="61111"/>
              <a:buFont typeface="Arial"/>
              <a:buNone/>
            </a:pPr>
            <a:r>
              <a:rPr lang="zh-CN">
                <a:latin typeface="STKaiti"/>
                <a:ea typeface="STKaiti"/>
                <a:cs typeface="STKaiti"/>
                <a:sym typeface="STKaiti"/>
              </a:rPr>
              <a:t>过了大约半个小时，雨终于停了。放学铃一响，我和小明背起书包冲出了教室。我们走到操场的时候，发现地上到处都是积水。小明突然笑着对我说：“我们来比赛，看谁先跑到校门口！”</a:t>
            </a:r>
            <a:endParaRPr>
              <a:latin typeface="STKaiti"/>
              <a:ea typeface="STKaiti"/>
              <a:cs typeface="STKaiti"/>
              <a:sym typeface="STKaiti"/>
            </a:endParaRPr>
          </a:p>
          <a:p>
            <a:pPr indent="0" lvl="0" marL="0" rtl="0" algn="l">
              <a:spcBef>
                <a:spcPts val="1200"/>
              </a:spcBef>
              <a:spcAft>
                <a:spcPts val="0"/>
              </a:spcAft>
              <a:buClr>
                <a:schemeClr val="dk2"/>
              </a:buClr>
              <a:buSzPct val="61111"/>
              <a:buFont typeface="Arial"/>
              <a:buNone/>
            </a:pPr>
            <a:r>
              <a:rPr lang="zh-CN">
                <a:latin typeface="STKaiti"/>
                <a:ea typeface="STKaiti"/>
                <a:cs typeface="STKaiti"/>
                <a:sym typeface="STKaiti"/>
              </a:rPr>
              <a:t>我答应了。我们数到三，同时向前跑。没想到我刚跑几步，就踩进了一个水坑，鞋子和裤子全湿了。小明看到我的样子，笑得停不下来。我有点生气，于是故意踩了一脚水，把水溅到他的身上。</a:t>
            </a:r>
            <a:endParaRPr>
              <a:latin typeface="STKaiti"/>
              <a:ea typeface="STKaiti"/>
              <a:cs typeface="STKaiti"/>
              <a:sym typeface="STKaiti"/>
            </a:endParaRPr>
          </a:p>
          <a:p>
            <a:pPr indent="0" lvl="0" marL="0" rtl="0" algn="l">
              <a:spcBef>
                <a:spcPts val="1200"/>
              </a:spcBef>
              <a:spcAft>
                <a:spcPts val="0"/>
              </a:spcAft>
              <a:buClr>
                <a:schemeClr val="dk2"/>
              </a:buClr>
              <a:buSzPct val="61111"/>
              <a:buFont typeface="Arial"/>
              <a:buNone/>
            </a:pPr>
            <a:r>
              <a:rPr lang="zh-CN">
                <a:latin typeface="STKaiti"/>
                <a:ea typeface="STKaiti"/>
                <a:cs typeface="STKaiti"/>
                <a:sym typeface="STKaiti"/>
              </a:rPr>
              <a:t>我们两个就在操场上追来追去。后来老师看见了，把我们叫住，说：“刚下完雨，地上很滑，你们这样跑很危险。”我们只好停下来。</a:t>
            </a:r>
            <a:endParaRPr>
              <a:latin typeface="STKaiti"/>
              <a:ea typeface="STKaiti"/>
              <a:cs typeface="STKaiti"/>
              <a:sym typeface="STKaiti"/>
            </a:endParaRPr>
          </a:p>
          <a:p>
            <a:pPr indent="0" lvl="0" marL="0" rtl="0" algn="l">
              <a:spcBef>
                <a:spcPts val="1200"/>
              </a:spcBef>
              <a:spcAft>
                <a:spcPts val="1200"/>
              </a:spcAft>
              <a:buNone/>
            </a:pPr>
            <a:r>
              <a:rPr lang="zh-CN">
                <a:latin typeface="STKaiti"/>
                <a:ea typeface="STKaiti"/>
                <a:cs typeface="STKaiti"/>
                <a:sym typeface="STKaiti"/>
              </a:rPr>
              <a:t>走出校门的时候，太阳已经出来了。我看着自己湿透的鞋子，觉得今天真是倒霉。不过想到刚才和小明一起玩水的情景，我又忍不住笑了起来。这真是一个让我难忘的下午。</a:t>
            </a:r>
            <a:endParaRPr>
              <a:latin typeface="STKaiti"/>
              <a:ea typeface="STKaiti"/>
              <a:cs typeface="STKaiti"/>
              <a:sym typeface="STKaiti"/>
            </a:endParaRPr>
          </a:p>
        </p:txBody>
      </p:sp>
      <p:pic>
        <p:nvPicPr>
          <p:cNvPr id="256" name="Google Shape;256;p49"/>
          <p:cNvPicPr preferRelativeResize="0"/>
          <p:nvPr/>
        </p:nvPicPr>
        <p:blipFill>
          <a:blip r:embed="rId3">
            <a:alphaModFix/>
          </a:blip>
          <a:stretch>
            <a:fillRect/>
          </a:stretch>
        </p:blipFill>
        <p:spPr>
          <a:xfrm>
            <a:off x="7192275" y="121463"/>
            <a:ext cx="1951725" cy="1219825"/>
          </a:xfrm>
          <a:prstGeom prst="rect">
            <a:avLst/>
          </a:prstGeom>
          <a:noFill/>
          <a:ln>
            <a:noFill/>
          </a:ln>
        </p:spPr>
      </p:pic>
      <p:sp>
        <p:nvSpPr>
          <p:cNvPr id="257" name="Google Shape;257;p49"/>
          <p:cNvSpPr txBox="1"/>
          <p:nvPr>
            <p:ph type="title"/>
          </p:nvPr>
        </p:nvSpPr>
        <p:spPr>
          <a:xfrm>
            <a:off x="227900" y="323975"/>
            <a:ext cx="7146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热身活动：阅读这位同学的描写文，给予建议</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50"/>
          <p:cNvSpPr txBox="1"/>
          <p:nvPr>
            <p:ph type="title"/>
          </p:nvPr>
        </p:nvSpPr>
        <p:spPr>
          <a:xfrm>
            <a:off x="490250" y="526350"/>
            <a:ext cx="3205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CN"/>
              <a:t>文化认同</a:t>
            </a:r>
            <a:endParaRPr/>
          </a:p>
        </p:txBody>
      </p:sp>
      <p:pic>
        <p:nvPicPr>
          <p:cNvPr id="263" name="Google Shape;263;p50"/>
          <p:cNvPicPr preferRelativeResize="0"/>
          <p:nvPr/>
        </p:nvPicPr>
        <p:blipFill>
          <a:blip r:embed="rId3">
            <a:alphaModFix/>
          </a:blip>
          <a:stretch>
            <a:fillRect/>
          </a:stretch>
        </p:blipFill>
        <p:spPr>
          <a:xfrm>
            <a:off x="3847850" y="152400"/>
            <a:ext cx="4838699" cy="48386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267" name="Shape 267"/>
        <p:cNvGrpSpPr/>
        <p:nvPr/>
      </p:nvGrpSpPr>
      <p:grpSpPr>
        <a:xfrm>
          <a:off x="0" y="0"/>
          <a:ext cx="0" cy="0"/>
          <a:chOff x="0" y="0"/>
          <a:chExt cx="0" cy="0"/>
        </a:xfrm>
      </p:grpSpPr>
      <p:sp>
        <p:nvSpPr>
          <p:cNvPr id="268" name="Google Shape;268;p51"/>
          <p:cNvSpPr/>
          <p:nvPr/>
        </p:nvSpPr>
        <p:spPr>
          <a:xfrm>
            <a:off x="0" y="0"/>
            <a:ext cx="9144000" cy="5143500"/>
          </a:xfrm>
          <a:prstGeom prst="rect">
            <a:avLst/>
          </a:prstGeom>
          <a:solidFill>
            <a:srgbClr val="FAF8F4"/>
          </a:solidFill>
          <a:ln cap="flat" cmpd="sng" w="7150">
            <a:solidFill>
              <a:srgbClr val="FAF8F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9" name="Google Shape;269;p51"/>
          <p:cNvSpPr/>
          <p:nvPr/>
        </p:nvSpPr>
        <p:spPr>
          <a:xfrm>
            <a:off x="0" y="0"/>
            <a:ext cx="9144000" cy="651600"/>
          </a:xfrm>
          <a:prstGeom prst="roundRect">
            <a:avLst>
              <a:gd fmla="val 16667" name="adj"/>
            </a:avLst>
          </a:prstGeom>
          <a:solidFill>
            <a:srgbClr val="677D9A"/>
          </a:solidFill>
          <a:ln cap="flat" cmpd="sng" w="7150">
            <a:solidFill>
              <a:srgbClr val="677D9A"/>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0" name="Google Shape;270;p51"/>
          <p:cNvSpPr/>
          <p:nvPr/>
        </p:nvSpPr>
        <p:spPr>
          <a:xfrm>
            <a:off x="377204" y="822956"/>
            <a:ext cx="3387600" cy="3566400"/>
          </a:xfrm>
          <a:prstGeom prst="roundRect">
            <a:avLst>
              <a:gd fmla="val 16667" name="adj"/>
            </a:avLst>
          </a:prstGeom>
          <a:solidFill>
            <a:srgbClr val="F2EDE4"/>
          </a:solidFill>
          <a:ln cap="flat" cmpd="sng" w="7150">
            <a:solidFill>
              <a:srgbClr val="F2EDE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1" name="Google Shape;271;p51"/>
          <p:cNvSpPr/>
          <p:nvPr/>
        </p:nvSpPr>
        <p:spPr>
          <a:xfrm>
            <a:off x="4501673" y="994406"/>
            <a:ext cx="4002300" cy="1097400"/>
          </a:xfrm>
          <a:prstGeom prst="roundRect">
            <a:avLst>
              <a:gd fmla="val 16667" name="adj"/>
            </a:avLst>
          </a:prstGeom>
          <a:solidFill>
            <a:srgbClr val="F5EBDF"/>
          </a:solidFill>
          <a:ln cap="flat" cmpd="sng" w="7150">
            <a:solidFill>
              <a:srgbClr val="F5EBD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2" name="Google Shape;272;p51"/>
          <p:cNvSpPr/>
          <p:nvPr/>
        </p:nvSpPr>
        <p:spPr>
          <a:xfrm>
            <a:off x="4501676" y="2434631"/>
            <a:ext cx="4002300" cy="1833000"/>
          </a:xfrm>
          <a:prstGeom prst="roundRect">
            <a:avLst>
              <a:gd fmla="val 16667" name="adj"/>
            </a:avLst>
          </a:prstGeom>
          <a:solidFill>
            <a:srgbClr val="EBF0F6"/>
          </a:solidFill>
          <a:ln cap="flat" cmpd="sng" w="7150">
            <a:solidFill>
              <a:srgbClr val="EBF0F6"/>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3" name="Google Shape;273;p51"/>
          <p:cNvSpPr txBox="1"/>
          <p:nvPr/>
        </p:nvSpPr>
        <p:spPr>
          <a:xfrm>
            <a:off x="548655" y="1131570"/>
            <a:ext cx="24003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677D9A"/>
                </a:solidFill>
                <a:latin typeface="Microsoft YaHei"/>
                <a:ea typeface="Microsoft YaHei"/>
                <a:cs typeface="Microsoft YaHei"/>
                <a:sym typeface="Microsoft YaHei"/>
              </a:rPr>
              <a:t>第一单元｜文化认同</a:t>
            </a:r>
            <a:endParaRPr sz="1100"/>
          </a:p>
        </p:txBody>
      </p:sp>
      <p:sp>
        <p:nvSpPr>
          <p:cNvPr id="274" name="Google Shape;274;p51"/>
          <p:cNvSpPr txBox="1"/>
          <p:nvPr/>
        </p:nvSpPr>
        <p:spPr>
          <a:xfrm>
            <a:off x="548655" y="1543050"/>
            <a:ext cx="4252200" cy="434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2D2D2D"/>
                </a:solidFill>
                <a:latin typeface="Microsoft YaHei"/>
                <a:ea typeface="Microsoft YaHei"/>
                <a:cs typeface="Microsoft YaHei"/>
                <a:sym typeface="Microsoft YaHei"/>
              </a:rPr>
              <a:t>《假黎婆》5</a:t>
            </a:r>
            <a:r>
              <a:rPr b="1" lang="zh-CN" sz="2100">
                <a:solidFill>
                  <a:srgbClr val="2D2D2D"/>
                </a:solidFill>
                <a:latin typeface="Microsoft YaHei"/>
                <a:ea typeface="Microsoft YaHei"/>
                <a:cs typeface="Microsoft YaHei"/>
                <a:sym typeface="Microsoft YaHei"/>
              </a:rPr>
              <a:t>个</a:t>
            </a:r>
            <a:r>
              <a:rPr b="1" i="0" lang="zh-CN" sz="2100" u="none" cap="none" strike="noStrike">
                <a:solidFill>
                  <a:srgbClr val="2D2D2D"/>
                </a:solidFill>
                <a:latin typeface="Microsoft YaHei"/>
                <a:ea typeface="Microsoft YaHei"/>
                <a:cs typeface="Microsoft YaHei"/>
                <a:sym typeface="Microsoft YaHei"/>
              </a:rPr>
              <a:t>课时</a:t>
            </a:r>
            <a:endParaRPr sz="1100"/>
          </a:p>
        </p:txBody>
      </p:sp>
      <p:sp>
        <p:nvSpPr>
          <p:cNvPr id="275" name="Google Shape;275;p51"/>
          <p:cNvSpPr txBox="1"/>
          <p:nvPr/>
        </p:nvSpPr>
        <p:spPr>
          <a:xfrm>
            <a:off x="562366" y="2482594"/>
            <a:ext cx="2866800" cy="541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5C5C5C"/>
                </a:solidFill>
                <a:latin typeface="Microsoft YaHei"/>
                <a:ea typeface="Microsoft YaHei"/>
                <a:cs typeface="Microsoft YaHei"/>
                <a:sym typeface="Microsoft YaHei"/>
              </a:rPr>
              <a:t>从人物、细节与情感进入文本</a:t>
            </a:r>
            <a:br>
              <a:rPr b="0" i="0" lang="zh-CN" sz="1400" u="none" cap="none" strike="noStrike">
                <a:solidFill>
                  <a:srgbClr val="5C5C5C"/>
                </a:solidFill>
                <a:latin typeface="Microsoft YaHei"/>
                <a:ea typeface="Microsoft YaHei"/>
                <a:cs typeface="Microsoft YaHei"/>
                <a:sym typeface="Microsoft YaHei"/>
              </a:rPr>
            </a:br>
            <a:r>
              <a:rPr b="0" i="0" lang="zh-CN" sz="1400" u="none" cap="none" strike="noStrike">
                <a:solidFill>
                  <a:srgbClr val="5C5C5C"/>
                </a:solidFill>
                <a:latin typeface="Microsoft YaHei"/>
                <a:ea typeface="Microsoft YaHei"/>
                <a:cs typeface="Microsoft YaHei"/>
                <a:sym typeface="Microsoft YaHei"/>
              </a:rPr>
              <a:t>从“看见”文化，到“写出”人物</a:t>
            </a:r>
            <a:endParaRPr sz="1100"/>
          </a:p>
        </p:txBody>
      </p:sp>
      <p:sp>
        <p:nvSpPr>
          <p:cNvPr id="276" name="Google Shape;276;p51"/>
          <p:cNvSpPr txBox="1"/>
          <p:nvPr/>
        </p:nvSpPr>
        <p:spPr>
          <a:xfrm>
            <a:off x="4733393" y="1042424"/>
            <a:ext cx="25965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2D2D2D"/>
                </a:solidFill>
                <a:latin typeface="Microsoft YaHei"/>
                <a:ea typeface="Microsoft YaHei"/>
                <a:cs typeface="Microsoft YaHei"/>
                <a:sym typeface="Microsoft YaHei"/>
              </a:rPr>
              <a:t>本单元会围绕这些问题展开：</a:t>
            </a:r>
            <a:endParaRPr sz="1300"/>
          </a:p>
        </p:txBody>
      </p:sp>
      <p:sp>
        <p:nvSpPr>
          <p:cNvPr id="277" name="Google Shape;277;p51"/>
          <p:cNvSpPr txBox="1"/>
          <p:nvPr/>
        </p:nvSpPr>
        <p:spPr>
          <a:xfrm>
            <a:off x="4733395" y="1525594"/>
            <a:ext cx="3556800" cy="4311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254000" lvl="0" marL="342900" marR="0" rtl="0" algn="l">
              <a:spcBef>
                <a:spcPts val="0"/>
              </a:spcBef>
              <a:spcAft>
                <a:spcPts val="0"/>
              </a:spcAft>
              <a:buClr>
                <a:srgbClr val="2D2D2D"/>
              </a:buClr>
              <a:buSzPts val="1400"/>
              <a:buFont typeface="Microsoft YaHei"/>
              <a:buAutoNum type="arabicPeriod"/>
            </a:pPr>
            <a:r>
              <a:rPr b="0" i="0" lang="zh-CN" sz="1400" u="none" cap="none" strike="noStrike">
                <a:solidFill>
                  <a:srgbClr val="2D2D2D"/>
                </a:solidFill>
                <a:latin typeface="Microsoft YaHei"/>
                <a:ea typeface="Microsoft YaHei"/>
                <a:cs typeface="Microsoft YaHei"/>
                <a:sym typeface="Microsoft YaHei"/>
              </a:rPr>
              <a:t>一个人的文化身份，会改变吗？</a:t>
            </a:r>
            <a:endParaRPr sz="1300"/>
          </a:p>
          <a:p>
            <a:pPr indent="-254000" lvl="0" marL="342900" marR="0" rtl="0" algn="l">
              <a:spcBef>
                <a:spcPts val="0"/>
              </a:spcBef>
              <a:spcAft>
                <a:spcPts val="0"/>
              </a:spcAft>
              <a:buClr>
                <a:srgbClr val="2D2D2D"/>
              </a:buClr>
              <a:buSzPts val="1400"/>
              <a:buFont typeface="Microsoft YaHei"/>
              <a:buAutoNum type="arabicPeriod"/>
            </a:pPr>
            <a:r>
              <a:rPr b="0" i="0" lang="zh-CN" sz="1400" u="none" cap="none" strike="noStrike">
                <a:solidFill>
                  <a:srgbClr val="2D2D2D"/>
                </a:solidFill>
                <a:latin typeface="Microsoft YaHei"/>
                <a:ea typeface="Microsoft YaHei"/>
                <a:cs typeface="Microsoft YaHei"/>
                <a:sym typeface="Microsoft YaHei"/>
              </a:rPr>
              <a:t>别人给的标签，等于真实的自己吗？</a:t>
            </a:r>
            <a:endParaRPr sz="1300"/>
          </a:p>
        </p:txBody>
      </p:sp>
      <p:sp>
        <p:nvSpPr>
          <p:cNvPr id="278" name="Google Shape;278;p51"/>
          <p:cNvSpPr txBox="1"/>
          <p:nvPr/>
        </p:nvSpPr>
        <p:spPr>
          <a:xfrm>
            <a:off x="4733402" y="2612630"/>
            <a:ext cx="1982100" cy="3417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500" u="none" cap="none" strike="noStrike">
                <a:solidFill>
                  <a:srgbClr val="4F79A7"/>
                </a:solidFill>
                <a:latin typeface="Microsoft YaHei"/>
                <a:ea typeface="Microsoft YaHei"/>
                <a:cs typeface="Microsoft YaHei"/>
                <a:sym typeface="Microsoft YaHei"/>
              </a:rPr>
              <a:t>学习重点</a:t>
            </a:r>
            <a:endParaRPr sz="1400"/>
          </a:p>
        </p:txBody>
      </p:sp>
      <p:sp>
        <p:nvSpPr>
          <p:cNvPr id="279" name="Google Shape;279;p51"/>
          <p:cNvSpPr txBox="1"/>
          <p:nvPr/>
        </p:nvSpPr>
        <p:spPr>
          <a:xfrm>
            <a:off x="4733395" y="3126431"/>
            <a:ext cx="3622500" cy="8619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254000" lvl="0" marL="342900" marR="0" rtl="0" algn="l">
              <a:lnSpc>
                <a:spcPct val="150000"/>
              </a:lnSpc>
              <a:spcBef>
                <a:spcPts val="0"/>
              </a:spcBef>
              <a:spcAft>
                <a:spcPts val="0"/>
              </a:spcAft>
              <a:buClr>
                <a:srgbClr val="2D2D2D"/>
              </a:buClr>
              <a:buSzPts val="1400"/>
              <a:buFont typeface="Microsoft YaHei"/>
              <a:buChar char="●"/>
            </a:pPr>
            <a:r>
              <a:rPr b="0" i="0" lang="zh-CN" sz="1400" u="none" cap="none" strike="noStrike">
                <a:solidFill>
                  <a:srgbClr val="2D2D2D"/>
                </a:solidFill>
                <a:latin typeface="Microsoft YaHei"/>
                <a:ea typeface="Microsoft YaHei"/>
                <a:cs typeface="Microsoft YaHei"/>
                <a:sym typeface="Microsoft YaHei"/>
              </a:rPr>
              <a:t>认识“假黎婆”这个既熟悉又陌生的人物</a:t>
            </a:r>
            <a:endParaRPr sz="1200"/>
          </a:p>
          <a:p>
            <a:pPr indent="-254000" lvl="0" marL="342900" marR="0" rtl="0" algn="l">
              <a:lnSpc>
                <a:spcPct val="150000"/>
              </a:lnSpc>
              <a:spcBef>
                <a:spcPts val="0"/>
              </a:spcBef>
              <a:spcAft>
                <a:spcPts val="0"/>
              </a:spcAft>
              <a:buClr>
                <a:srgbClr val="2D2D2D"/>
              </a:buClr>
              <a:buSzPts val="1400"/>
              <a:buFont typeface="Microsoft YaHei"/>
              <a:buChar char="●"/>
            </a:pPr>
            <a:r>
              <a:rPr b="0" i="0" lang="zh-CN" sz="1400" u="none" cap="none" strike="noStrike">
                <a:solidFill>
                  <a:srgbClr val="2D2D2D"/>
                </a:solidFill>
                <a:latin typeface="Microsoft YaHei"/>
                <a:ea typeface="Microsoft YaHei"/>
                <a:cs typeface="Microsoft YaHei"/>
                <a:sym typeface="Microsoft YaHei"/>
              </a:rPr>
              <a:t>用文本证据分析人物、情感和身份认同</a:t>
            </a:r>
            <a:endParaRPr sz="1200"/>
          </a:p>
          <a:p>
            <a:pPr indent="-254000" lvl="0" marL="342900" marR="0" rtl="0" algn="l">
              <a:lnSpc>
                <a:spcPct val="150000"/>
              </a:lnSpc>
              <a:spcBef>
                <a:spcPts val="0"/>
              </a:spcBef>
              <a:spcAft>
                <a:spcPts val="0"/>
              </a:spcAft>
              <a:buClr>
                <a:srgbClr val="2D2D2D"/>
              </a:buClr>
              <a:buSzPts val="1400"/>
              <a:buFont typeface="Microsoft YaHei"/>
              <a:buChar char="●"/>
            </a:pPr>
            <a:r>
              <a:rPr b="0" i="0" lang="zh-CN" sz="1400" u="none" cap="none" strike="noStrike">
                <a:solidFill>
                  <a:srgbClr val="2D2D2D"/>
                </a:solidFill>
                <a:latin typeface="Microsoft YaHei"/>
                <a:ea typeface="Microsoft YaHei"/>
                <a:cs typeface="Microsoft YaHei"/>
                <a:sym typeface="Microsoft YaHei"/>
              </a:rPr>
              <a:t>学会把“文化”写进具体、生动的人物描写</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283" name="Shape 283"/>
        <p:cNvGrpSpPr/>
        <p:nvPr/>
      </p:nvGrpSpPr>
      <p:grpSpPr>
        <a:xfrm>
          <a:off x="0" y="0"/>
          <a:ext cx="0" cy="0"/>
          <a:chOff x="0" y="0"/>
          <a:chExt cx="0" cy="0"/>
        </a:xfrm>
      </p:grpSpPr>
      <p:sp>
        <p:nvSpPr>
          <p:cNvPr id="284" name="Google Shape;284;p52"/>
          <p:cNvSpPr/>
          <p:nvPr/>
        </p:nvSpPr>
        <p:spPr>
          <a:xfrm>
            <a:off x="0" y="0"/>
            <a:ext cx="9144000" cy="534900"/>
          </a:xfrm>
          <a:prstGeom prst="rect">
            <a:avLst/>
          </a:prstGeom>
          <a:solidFill>
            <a:srgbClr val="787878"/>
          </a:solidFill>
          <a:ln cap="flat" cmpd="sng" w="7150">
            <a:solidFill>
              <a:srgbClr val="78787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5" name="Google Shape;285;p52"/>
          <p:cNvSpPr/>
          <p:nvPr/>
        </p:nvSpPr>
        <p:spPr>
          <a:xfrm>
            <a:off x="0" y="534924"/>
            <a:ext cx="109800" cy="4608600"/>
          </a:xfrm>
          <a:prstGeom prst="rect">
            <a:avLst/>
          </a:prstGeom>
          <a:solidFill>
            <a:srgbClr val="787878"/>
          </a:solidFill>
          <a:ln cap="flat" cmpd="sng" w="7150">
            <a:solidFill>
              <a:srgbClr val="78787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6" name="Google Shape;286;p52"/>
          <p:cNvSpPr txBox="1"/>
          <p:nvPr/>
        </p:nvSpPr>
        <p:spPr>
          <a:xfrm>
            <a:off x="617236" y="109728"/>
            <a:ext cx="5898000" cy="434100"/>
          </a:xfrm>
          <a:prstGeom prst="rect">
            <a:avLst/>
          </a:prstGeom>
          <a:noFill/>
          <a:ln cap="flat" cmpd="sng" w="7150">
            <a:solidFill>
              <a:srgbClr val="78787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学习路线图</a:t>
            </a:r>
            <a:endParaRPr sz="1100"/>
          </a:p>
        </p:txBody>
      </p:sp>
      <p:sp>
        <p:nvSpPr>
          <p:cNvPr id="287" name="Google Shape;287;p52"/>
          <p:cNvSpPr txBox="1"/>
          <p:nvPr/>
        </p:nvSpPr>
        <p:spPr>
          <a:xfrm>
            <a:off x="6309528" y="123444"/>
            <a:ext cx="2331600" cy="249300"/>
          </a:xfrm>
          <a:prstGeom prst="rect">
            <a:avLst/>
          </a:prstGeom>
          <a:noFill/>
          <a:ln cap="flat" cmpd="sng" w="7150">
            <a:solidFill>
              <a:srgbClr val="78787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r">
              <a:spcBef>
                <a:spcPts val="0"/>
              </a:spcBef>
              <a:spcAft>
                <a:spcPts val="0"/>
              </a:spcAft>
              <a:buNone/>
            </a:pPr>
            <a:r>
              <a:rPr b="0" i="0" lang="zh-CN" sz="900" u="none" cap="none" strike="noStrike">
                <a:solidFill>
                  <a:srgbClr val="FFFFFF"/>
                </a:solidFill>
                <a:latin typeface="Microsoft YaHei"/>
                <a:ea typeface="Microsoft YaHei"/>
                <a:cs typeface="Microsoft YaHei"/>
                <a:sym typeface="Microsoft YaHei"/>
              </a:rPr>
              <a:t>5 lessons</a:t>
            </a:r>
            <a:endParaRPr sz="1100"/>
          </a:p>
        </p:txBody>
      </p:sp>
      <p:sp>
        <p:nvSpPr>
          <p:cNvPr id="288" name="Google Shape;288;p52"/>
          <p:cNvSpPr/>
          <p:nvPr/>
        </p:nvSpPr>
        <p:spPr>
          <a:xfrm>
            <a:off x="445782" y="788670"/>
            <a:ext cx="8229900" cy="6858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9" name="Google Shape;289;p52"/>
          <p:cNvSpPr/>
          <p:nvPr/>
        </p:nvSpPr>
        <p:spPr>
          <a:xfrm>
            <a:off x="445782" y="788670"/>
            <a:ext cx="8229900" cy="123600"/>
          </a:xfrm>
          <a:prstGeom prst="rect">
            <a:avLst/>
          </a:prstGeom>
          <a:solidFill>
            <a:srgbClr val="677D9A"/>
          </a:solidFill>
          <a:ln cap="flat" cmpd="sng" w="7150">
            <a:solidFill>
              <a:srgbClr val="677D9A"/>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0" name="Google Shape;290;p52"/>
          <p:cNvSpPr txBox="1"/>
          <p:nvPr/>
        </p:nvSpPr>
        <p:spPr>
          <a:xfrm>
            <a:off x="569229" y="966978"/>
            <a:ext cx="79830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677D9A"/>
                </a:solidFill>
                <a:latin typeface="Microsoft YaHei"/>
                <a:ea typeface="Microsoft YaHei"/>
                <a:cs typeface="Microsoft YaHei"/>
                <a:sym typeface="Microsoft YaHei"/>
              </a:rPr>
              <a:t>核心问题</a:t>
            </a:r>
            <a:endParaRPr sz="1100"/>
          </a:p>
        </p:txBody>
      </p:sp>
      <p:sp>
        <p:nvSpPr>
          <p:cNvPr id="291" name="Google Shape;291;p52"/>
          <p:cNvSpPr txBox="1"/>
          <p:nvPr/>
        </p:nvSpPr>
        <p:spPr>
          <a:xfrm>
            <a:off x="1595818" y="1037269"/>
            <a:ext cx="6081000" cy="3879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800" u="none" cap="none" strike="noStrike">
                <a:solidFill>
                  <a:srgbClr val="2D2D2D"/>
                </a:solidFill>
                <a:latin typeface="Microsoft YaHei"/>
                <a:ea typeface="Microsoft YaHei"/>
                <a:cs typeface="Microsoft YaHei"/>
                <a:sym typeface="Microsoft YaHei"/>
              </a:rPr>
              <a:t>文化身份，是别人给的标签，还是自己心里的感觉？</a:t>
            </a:r>
            <a:endParaRPr sz="1100"/>
          </a:p>
        </p:txBody>
      </p:sp>
      <p:graphicFrame>
        <p:nvGraphicFramePr>
          <p:cNvPr id="292" name="Google Shape;292;p52"/>
          <p:cNvGraphicFramePr/>
          <p:nvPr/>
        </p:nvGraphicFramePr>
        <p:xfrm>
          <a:off x="445782" y="1714500"/>
          <a:ext cx="3000000" cy="3000000"/>
        </p:xfrm>
        <a:graphic>
          <a:graphicData uri="http://schemas.openxmlformats.org/drawingml/2006/table">
            <a:tbl>
              <a:tblPr bandRow="1" firstRow="1">
                <a:noFill/>
                <a:tableStyleId>{6DB37C38-08B4-4D8B-930D-383F00103916}</a:tableStyleId>
              </a:tblPr>
              <a:tblGrid>
                <a:gridCol w="2743275"/>
                <a:gridCol w="2743275"/>
                <a:gridCol w="2743275"/>
              </a:tblGrid>
              <a:tr h="382925">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课次</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677D9A"/>
                    </a:solidFill>
                  </a:tcPr>
                </a:tc>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主题</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677D9A"/>
                    </a:solidFill>
                  </a:tcPr>
                </a:tc>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你会做到什么</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677D9A"/>
                    </a:solidFill>
                  </a:tcPr>
                </a:tc>
              </a:tr>
              <a:tr h="38292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第1课</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她到底是谁？</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通过细节建立人物形象，分清“标签”和“人”</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292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第2课</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一包盐，一斗米</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从动作和语言看见假黎婆的性格与尊严</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292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第3课</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上山以后，奶奶为什么“变了”？</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分析山林场景、歌声与被唤醒的身份记忆</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292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第4课</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我还是我吗？</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讨论语言、服饰与文化身份的变化</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8292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第5课</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从阅读到写作</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把“文化”写进一个具体场景中的人物描写</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293" name="Google Shape;293;p52"/>
          <p:cNvSpPr txBox="1"/>
          <p:nvPr/>
        </p:nvSpPr>
        <p:spPr>
          <a:xfrm>
            <a:off x="5623709" y="4183380"/>
            <a:ext cx="2880600" cy="2955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r">
              <a:spcBef>
                <a:spcPts val="0"/>
              </a:spcBef>
              <a:spcAft>
                <a:spcPts val="0"/>
              </a:spcAft>
              <a:buNone/>
            </a:pPr>
            <a:r>
              <a:rPr b="0" i="0" lang="zh-CN" sz="1200" u="none" cap="none" strike="noStrike">
                <a:solidFill>
                  <a:srgbClr val="5C5C5C"/>
                </a:solidFill>
                <a:latin typeface="Microsoft YaHei"/>
                <a:ea typeface="Microsoft YaHei"/>
                <a:cs typeface="Microsoft YaHei"/>
                <a:sym typeface="Microsoft YaHei"/>
              </a:rPr>
              <a:t>课本活动：</a:t>
            </a:r>
            <a:r>
              <a:rPr lang="zh-CN" sz="1200">
                <a:solidFill>
                  <a:srgbClr val="5C5C5C"/>
                </a:solidFill>
                <a:latin typeface="Microsoft YaHei"/>
                <a:ea typeface="Microsoft YaHei"/>
                <a:cs typeface="Microsoft YaHei"/>
                <a:sym typeface="Microsoft YaHei"/>
              </a:rPr>
              <a:t>主要</a:t>
            </a:r>
            <a:r>
              <a:rPr b="0" i="0" lang="zh-CN" sz="1200" u="none" cap="none" strike="noStrike">
                <a:solidFill>
                  <a:srgbClr val="5C5C5C"/>
                </a:solidFill>
                <a:latin typeface="Microsoft YaHei"/>
                <a:ea typeface="Microsoft YaHei"/>
                <a:cs typeface="Microsoft YaHei"/>
                <a:sym typeface="Microsoft YaHei"/>
              </a:rPr>
              <a:t> p12-16</a:t>
            </a:r>
            <a:endParaRPr sz="1100"/>
          </a:p>
        </p:txBody>
      </p:sp>
      <p:sp>
        <p:nvSpPr>
          <p:cNvPr id="294" name="Google Shape;294;p52"/>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文化认同单元</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298" name="Shape 298"/>
        <p:cNvGrpSpPr/>
        <p:nvPr/>
      </p:nvGrpSpPr>
      <p:grpSpPr>
        <a:xfrm>
          <a:off x="0" y="0"/>
          <a:ext cx="0" cy="0"/>
          <a:chOff x="0" y="0"/>
          <a:chExt cx="0" cy="0"/>
        </a:xfrm>
      </p:grpSpPr>
      <p:sp>
        <p:nvSpPr>
          <p:cNvPr id="299" name="Google Shape;299;p53"/>
          <p:cNvSpPr/>
          <p:nvPr/>
        </p:nvSpPr>
        <p:spPr>
          <a:xfrm>
            <a:off x="0" y="0"/>
            <a:ext cx="9144000" cy="5349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0" name="Google Shape;300;p53"/>
          <p:cNvSpPr/>
          <p:nvPr/>
        </p:nvSpPr>
        <p:spPr>
          <a:xfrm>
            <a:off x="0" y="534924"/>
            <a:ext cx="109800" cy="4608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1" name="Google Shape;301;p53"/>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2" name="Google Shape;302;p53"/>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4F79A7"/>
                </a:solidFill>
                <a:latin typeface="Microsoft YaHei"/>
                <a:ea typeface="Microsoft YaHei"/>
                <a:cs typeface="Microsoft YaHei"/>
                <a:sym typeface="Microsoft YaHei"/>
              </a:rPr>
              <a:t>1</a:t>
            </a:r>
            <a:endParaRPr sz="1100"/>
          </a:p>
        </p:txBody>
      </p:sp>
      <p:sp>
        <p:nvSpPr>
          <p:cNvPr id="303" name="Google Shape;303;p53"/>
          <p:cNvSpPr txBox="1"/>
          <p:nvPr/>
        </p:nvSpPr>
        <p:spPr>
          <a:xfrm>
            <a:off x="617236" y="109728"/>
            <a:ext cx="5898000" cy="434100"/>
          </a:xfrm>
          <a:prstGeom prst="rect">
            <a:avLst/>
          </a:prstGeom>
          <a:noFill/>
          <a:ln cap="flat" cmpd="sng" w="7150">
            <a:solidFill>
              <a:srgbClr val="4F79A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第 1 课  |  她到底是谁？</a:t>
            </a:r>
            <a:endParaRPr sz="1100"/>
          </a:p>
        </p:txBody>
      </p:sp>
      <p:sp>
        <p:nvSpPr>
          <p:cNvPr id="304" name="Google Shape;304;p53"/>
          <p:cNvSpPr txBox="1"/>
          <p:nvPr/>
        </p:nvSpPr>
        <p:spPr>
          <a:xfrm>
            <a:off x="7338256" y="123444"/>
            <a:ext cx="1371600" cy="249300"/>
          </a:xfrm>
          <a:prstGeom prst="rect">
            <a:avLst/>
          </a:prstGeom>
          <a:noFill/>
          <a:ln cap="flat" cmpd="sng" w="7150">
            <a:solidFill>
              <a:srgbClr val="4F79A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r">
              <a:spcBef>
                <a:spcPts val="0"/>
              </a:spcBef>
              <a:spcAft>
                <a:spcPts val="0"/>
              </a:spcAft>
              <a:buNone/>
            </a:pPr>
            <a:r>
              <a:rPr b="0" i="0" lang="zh-CN" sz="900" u="none" cap="none" strike="noStrike">
                <a:solidFill>
                  <a:srgbClr val="FFFFFF"/>
                </a:solidFill>
                <a:latin typeface="Microsoft YaHei"/>
                <a:ea typeface="Microsoft YaHei"/>
                <a:cs typeface="Microsoft YaHei"/>
                <a:sym typeface="Microsoft YaHei"/>
              </a:rPr>
              <a:t>课本 p7-12</a:t>
            </a:r>
            <a:endParaRPr sz="1100"/>
          </a:p>
        </p:txBody>
      </p:sp>
      <p:sp>
        <p:nvSpPr>
          <p:cNvPr id="305" name="Google Shape;305;p53"/>
          <p:cNvSpPr txBox="1"/>
          <p:nvPr/>
        </p:nvSpPr>
        <p:spPr>
          <a:xfrm>
            <a:off x="445827" y="624634"/>
            <a:ext cx="2606100" cy="3417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500" u="none" cap="none" strike="noStrike">
                <a:solidFill>
                  <a:srgbClr val="4F79A7"/>
                </a:solidFill>
                <a:latin typeface="Microsoft YaHei"/>
                <a:ea typeface="Microsoft YaHei"/>
                <a:cs typeface="Microsoft YaHei"/>
                <a:sym typeface="Microsoft YaHei"/>
              </a:rPr>
              <a:t>今天我们会……</a:t>
            </a:r>
            <a:endParaRPr sz="1200"/>
          </a:p>
        </p:txBody>
      </p:sp>
      <p:sp>
        <p:nvSpPr>
          <p:cNvPr id="306" name="Google Shape;306;p53"/>
          <p:cNvSpPr/>
          <p:nvPr/>
        </p:nvSpPr>
        <p:spPr>
          <a:xfrm>
            <a:off x="377204" y="973838"/>
            <a:ext cx="2674500" cy="1761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7" name="Google Shape;307;p53"/>
          <p:cNvSpPr txBox="1"/>
          <p:nvPr/>
        </p:nvSpPr>
        <p:spPr>
          <a:xfrm>
            <a:off x="500638" y="1056131"/>
            <a:ext cx="2427900" cy="14469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通过几个关键细节，认识“假黎婆”</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找出别人给她的标签，以及“我”认识的她</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带着问题进入课文：她到底是谁？</a:t>
            </a:r>
            <a:endParaRPr sz="1100"/>
          </a:p>
        </p:txBody>
      </p:sp>
      <p:sp>
        <p:nvSpPr>
          <p:cNvPr id="308" name="Google Shape;308;p53"/>
          <p:cNvSpPr txBox="1"/>
          <p:nvPr/>
        </p:nvSpPr>
        <p:spPr>
          <a:xfrm>
            <a:off x="3353677" y="624634"/>
            <a:ext cx="2606100" cy="3417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500" u="none" cap="none" strike="noStrike">
                <a:solidFill>
                  <a:srgbClr val="4F79A7"/>
                </a:solidFill>
                <a:latin typeface="Microsoft YaHei"/>
                <a:ea typeface="Microsoft YaHei"/>
                <a:cs typeface="Microsoft YaHei"/>
                <a:sym typeface="Microsoft YaHei"/>
              </a:rPr>
              <a:t>学习目标</a:t>
            </a:r>
            <a:endParaRPr sz="1200"/>
          </a:p>
        </p:txBody>
      </p:sp>
      <p:sp>
        <p:nvSpPr>
          <p:cNvPr id="309" name="Google Shape;309;p53"/>
          <p:cNvSpPr/>
          <p:nvPr/>
        </p:nvSpPr>
        <p:spPr>
          <a:xfrm>
            <a:off x="3257637" y="973838"/>
            <a:ext cx="2674500" cy="1761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0" name="Google Shape;310;p53"/>
          <p:cNvSpPr txBox="1"/>
          <p:nvPr/>
        </p:nvSpPr>
        <p:spPr>
          <a:xfrm>
            <a:off x="3363847" y="1253457"/>
            <a:ext cx="2462100" cy="9390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我能从文本中找出至少3个具体细节</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我能区分“身份标签”和“人物形象”</a:t>
            </a:r>
            <a:endParaRPr sz="1100"/>
          </a:p>
        </p:txBody>
      </p:sp>
      <p:sp>
        <p:nvSpPr>
          <p:cNvPr id="311" name="Google Shape;311;p53"/>
          <p:cNvSpPr txBox="1"/>
          <p:nvPr/>
        </p:nvSpPr>
        <p:spPr>
          <a:xfrm>
            <a:off x="6261526" y="624634"/>
            <a:ext cx="2674500" cy="3417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500" u="none" cap="none" strike="noStrike">
                <a:solidFill>
                  <a:srgbClr val="4F79A7"/>
                </a:solidFill>
                <a:latin typeface="Microsoft YaHei"/>
                <a:ea typeface="Microsoft YaHei"/>
                <a:cs typeface="Microsoft YaHei"/>
                <a:sym typeface="Microsoft YaHei"/>
              </a:rPr>
              <a:t>成功标准</a:t>
            </a:r>
            <a:endParaRPr sz="1200"/>
          </a:p>
        </p:txBody>
      </p:sp>
      <p:sp>
        <p:nvSpPr>
          <p:cNvPr id="312" name="Google Shape;312;p53"/>
          <p:cNvSpPr/>
          <p:nvPr/>
        </p:nvSpPr>
        <p:spPr>
          <a:xfrm>
            <a:off x="6138070" y="973838"/>
            <a:ext cx="2674500" cy="1761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3" name="Google Shape;313;p53"/>
          <p:cNvSpPr txBox="1"/>
          <p:nvPr/>
        </p:nvSpPr>
        <p:spPr>
          <a:xfrm>
            <a:off x="6261195" y="1263032"/>
            <a:ext cx="2393700" cy="10005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我能说出：她首先是一个怎样的人</a:t>
            </a:r>
            <a:endParaRPr sz="1300"/>
          </a:p>
          <a:p>
            <a:pPr indent="0" lvl="0" marL="0" marR="0" rtl="0" algn="l">
              <a:spcBef>
                <a:spcPts val="600"/>
              </a:spcBef>
              <a:spcAft>
                <a:spcPts val="0"/>
              </a:spcAft>
              <a:buNone/>
            </a:pPr>
            <a:r>
              <a:rPr b="0" i="0" lang="zh-CN" sz="1500" u="none" cap="none" strike="noStrike">
                <a:solidFill>
                  <a:srgbClr val="2D2D2D"/>
                </a:solidFill>
                <a:latin typeface="Microsoft YaHei"/>
                <a:ea typeface="Microsoft YaHei"/>
                <a:cs typeface="Microsoft YaHei"/>
                <a:sym typeface="Microsoft YaHei"/>
              </a:rPr>
              <a:t>我能用一句证据支持自己的判断</a:t>
            </a:r>
            <a:endParaRPr sz="1300"/>
          </a:p>
        </p:txBody>
      </p:sp>
      <p:sp>
        <p:nvSpPr>
          <p:cNvPr id="314" name="Google Shape;314;p53"/>
          <p:cNvSpPr/>
          <p:nvPr/>
        </p:nvSpPr>
        <p:spPr>
          <a:xfrm>
            <a:off x="360053" y="3153798"/>
            <a:ext cx="8401200" cy="123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5" name="Google Shape;315;p53"/>
          <p:cNvSpPr txBox="1"/>
          <p:nvPr/>
        </p:nvSpPr>
        <p:spPr>
          <a:xfrm>
            <a:off x="530639" y="3413363"/>
            <a:ext cx="1371600" cy="2802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100" u="none" cap="none" strike="noStrike">
                <a:solidFill>
                  <a:srgbClr val="4F79A7"/>
                </a:solidFill>
                <a:latin typeface="Microsoft YaHei"/>
                <a:ea typeface="Microsoft YaHei"/>
                <a:cs typeface="Microsoft YaHei"/>
                <a:sym typeface="Microsoft YaHei"/>
              </a:rPr>
              <a:t>带着问题进入课堂</a:t>
            </a:r>
            <a:endParaRPr sz="1100"/>
          </a:p>
        </p:txBody>
      </p:sp>
      <p:sp>
        <p:nvSpPr>
          <p:cNvPr id="316" name="Google Shape;316;p53"/>
          <p:cNvSpPr txBox="1"/>
          <p:nvPr/>
        </p:nvSpPr>
        <p:spPr>
          <a:xfrm>
            <a:off x="2041667" y="3222374"/>
            <a:ext cx="6376800" cy="4188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l">
              <a:spcBef>
                <a:spcPts val="0"/>
              </a:spcBef>
              <a:spcAft>
                <a:spcPts val="0"/>
              </a:spcAft>
              <a:buNone/>
            </a:pPr>
            <a:r>
              <a:rPr b="1" i="0" lang="zh-CN" sz="2000" u="none" cap="none" strike="noStrike">
                <a:solidFill>
                  <a:srgbClr val="2D2D2D"/>
                </a:solidFill>
                <a:latin typeface="Microsoft YaHei"/>
                <a:ea typeface="Microsoft YaHei"/>
                <a:cs typeface="Microsoft YaHei"/>
                <a:sym typeface="Microsoft YaHei"/>
              </a:rPr>
              <a:t>她到底是谁？</a:t>
            </a:r>
            <a:endParaRPr sz="1100"/>
          </a:p>
        </p:txBody>
      </p:sp>
      <p:sp>
        <p:nvSpPr>
          <p:cNvPr id="317" name="Google Shape;317;p53"/>
          <p:cNvSpPr txBox="1"/>
          <p:nvPr/>
        </p:nvSpPr>
        <p:spPr>
          <a:xfrm>
            <a:off x="2007410" y="3803026"/>
            <a:ext cx="6376800" cy="2955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200" u="none" cap="none" strike="noStrike">
                <a:solidFill>
                  <a:srgbClr val="5C5C5C"/>
                </a:solidFill>
                <a:latin typeface="Microsoft YaHei"/>
                <a:ea typeface="Microsoft YaHei"/>
                <a:cs typeface="Microsoft YaHei"/>
                <a:sym typeface="Microsoft YaHei"/>
              </a:rPr>
              <a:t>先观察，再判断；先找证据，再下结论。</a:t>
            </a:r>
            <a:endParaRPr sz="1100"/>
          </a:p>
        </p:txBody>
      </p:sp>
      <p:sp>
        <p:nvSpPr>
          <p:cNvPr id="318" name="Google Shape;318;p53"/>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1 课</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322" name="Shape 322"/>
        <p:cNvGrpSpPr/>
        <p:nvPr/>
      </p:nvGrpSpPr>
      <p:grpSpPr>
        <a:xfrm>
          <a:off x="0" y="0"/>
          <a:ext cx="0" cy="0"/>
          <a:chOff x="0" y="0"/>
          <a:chExt cx="0" cy="0"/>
        </a:xfrm>
      </p:grpSpPr>
      <p:sp>
        <p:nvSpPr>
          <p:cNvPr id="323" name="Google Shape;323;p54"/>
          <p:cNvSpPr/>
          <p:nvPr/>
        </p:nvSpPr>
        <p:spPr>
          <a:xfrm>
            <a:off x="0" y="0"/>
            <a:ext cx="9144000" cy="5349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4" name="Google Shape;324;p54"/>
          <p:cNvSpPr/>
          <p:nvPr/>
        </p:nvSpPr>
        <p:spPr>
          <a:xfrm>
            <a:off x="0" y="534924"/>
            <a:ext cx="109800" cy="4608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5" name="Google Shape;325;p54"/>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6" name="Google Shape;326;p54"/>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4F79A7"/>
                </a:solidFill>
                <a:latin typeface="Microsoft YaHei"/>
                <a:ea typeface="Microsoft YaHei"/>
                <a:cs typeface="Microsoft YaHei"/>
                <a:sym typeface="Microsoft YaHei"/>
              </a:rPr>
              <a:t>1</a:t>
            </a:r>
            <a:endParaRPr sz="1100"/>
          </a:p>
        </p:txBody>
      </p:sp>
      <p:sp>
        <p:nvSpPr>
          <p:cNvPr id="327" name="Google Shape;327;p54"/>
          <p:cNvSpPr txBox="1"/>
          <p:nvPr/>
        </p:nvSpPr>
        <p:spPr>
          <a:xfrm>
            <a:off x="617236" y="109728"/>
            <a:ext cx="5898000" cy="434100"/>
          </a:xfrm>
          <a:prstGeom prst="rect">
            <a:avLst/>
          </a:prstGeom>
          <a:noFill/>
          <a:ln cap="flat" cmpd="sng" w="7150">
            <a:solidFill>
              <a:srgbClr val="4F79A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热身活动｜人物谜题</a:t>
            </a:r>
            <a:endParaRPr sz="1100"/>
          </a:p>
        </p:txBody>
      </p:sp>
      <p:sp>
        <p:nvSpPr>
          <p:cNvPr id="328" name="Google Shape;328;p54"/>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9" name="Google Shape;329;p54"/>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请在白板 / 本子上写下你的第一反应：每出现一条信息，你对这个人物的印象有什么变化？</a:t>
            </a:r>
            <a:endParaRPr sz="1100"/>
          </a:p>
        </p:txBody>
      </p:sp>
      <p:sp>
        <p:nvSpPr>
          <p:cNvPr id="330" name="Google Shape;330;p54"/>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1 课</a:t>
            </a:r>
            <a:endParaRPr sz="1100"/>
          </a:p>
        </p:txBody>
      </p:sp>
      <p:sp>
        <p:nvSpPr>
          <p:cNvPr id="331" name="Google Shape;331;p54"/>
          <p:cNvSpPr/>
          <p:nvPr/>
        </p:nvSpPr>
        <p:spPr>
          <a:xfrm>
            <a:off x="493789" y="1337310"/>
            <a:ext cx="25377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2" name="Google Shape;332;p54"/>
          <p:cNvSpPr/>
          <p:nvPr/>
        </p:nvSpPr>
        <p:spPr>
          <a:xfrm>
            <a:off x="493789" y="1337310"/>
            <a:ext cx="2537700" cy="123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3" name="Google Shape;333;p54"/>
          <p:cNvSpPr txBox="1"/>
          <p:nvPr/>
        </p:nvSpPr>
        <p:spPr>
          <a:xfrm>
            <a:off x="617236" y="1515618"/>
            <a:ext cx="22905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4F79A7"/>
                </a:solidFill>
                <a:latin typeface="Microsoft YaHei"/>
                <a:ea typeface="Microsoft YaHei"/>
                <a:cs typeface="Microsoft YaHei"/>
                <a:sym typeface="Microsoft YaHei"/>
              </a:rPr>
              <a:t>信息卡 1</a:t>
            </a:r>
            <a:endParaRPr sz="1100"/>
          </a:p>
        </p:txBody>
      </p:sp>
      <p:sp>
        <p:nvSpPr>
          <p:cNvPr id="334" name="Google Shape;334;p54"/>
          <p:cNvSpPr txBox="1"/>
          <p:nvPr/>
        </p:nvSpPr>
        <p:spPr>
          <a:xfrm>
            <a:off x="617236" y="1803654"/>
            <a:ext cx="2290500" cy="803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 她住在山里</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她穿着长衫</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她会说客家话</a:t>
            </a:r>
            <a:endParaRPr sz="1100"/>
          </a:p>
        </p:txBody>
      </p:sp>
      <p:sp>
        <p:nvSpPr>
          <p:cNvPr id="335" name="Google Shape;335;p54"/>
          <p:cNvSpPr/>
          <p:nvPr/>
        </p:nvSpPr>
        <p:spPr>
          <a:xfrm>
            <a:off x="3305644" y="1337310"/>
            <a:ext cx="25377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6" name="Google Shape;336;p54"/>
          <p:cNvSpPr/>
          <p:nvPr/>
        </p:nvSpPr>
        <p:spPr>
          <a:xfrm>
            <a:off x="3305644" y="1337310"/>
            <a:ext cx="2537700" cy="123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7" name="Google Shape;337;p54"/>
          <p:cNvSpPr txBox="1"/>
          <p:nvPr/>
        </p:nvSpPr>
        <p:spPr>
          <a:xfrm>
            <a:off x="3429091" y="1515618"/>
            <a:ext cx="22905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4F79A7"/>
                </a:solidFill>
                <a:latin typeface="Microsoft YaHei"/>
                <a:ea typeface="Microsoft YaHei"/>
                <a:cs typeface="Microsoft YaHei"/>
                <a:sym typeface="Microsoft YaHei"/>
              </a:rPr>
              <a:t>信息卡 2</a:t>
            </a:r>
            <a:endParaRPr sz="1100"/>
          </a:p>
        </p:txBody>
      </p:sp>
      <p:sp>
        <p:nvSpPr>
          <p:cNvPr id="338" name="Google Shape;338;p54"/>
          <p:cNvSpPr txBox="1"/>
          <p:nvPr/>
        </p:nvSpPr>
        <p:spPr>
          <a:xfrm>
            <a:off x="3429091" y="1803654"/>
            <a:ext cx="2290500" cy="803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 她的手上有刺花</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她熟悉深山</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她很少生气</a:t>
            </a:r>
            <a:endParaRPr sz="1100"/>
          </a:p>
        </p:txBody>
      </p:sp>
      <p:sp>
        <p:nvSpPr>
          <p:cNvPr id="339" name="Google Shape;339;p54"/>
          <p:cNvSpPr/>
          <p:nvPr/>
        </p:nvSpPr>
        <p:spPr>
          <a:xfrm>
            <a:off x="6117499" y="1337310"/>
            <a:ext cx="20574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0" name="Google Shape;340;p54"/>
          <p:cNvSpPr/>
          <p:nvPr/>
        </p:nvSpPr>
        <p:spPr>
          <a:xfrm>
            <a:off x="6117499" y="1337310"/>
            <a:ext cx="2057400" cy="123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1" name="Google Shape;341;p54"/>
          <p:cNvSpPr txBox="1"/>
          <p:nvPr/>
        </p:nvSpPr>
        <p:spPr>
          <a:xfrm>
            <a:off x="6240946" y="1515618"/>
            <a:ext cx="18105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4F79A7"/>
                </a:solidFill>
                <a:latin typeface="Microsoft YaHei"/>
                <a:ea typeface="Microsoft YaHei"/>
                <a:cs typeface="Microsoft YaHei"/>
                <a:sym typeface="Microsoft YaHei"/>
              </a:rPr>
              <a:t>想一想</a:t>
            </a:r>
            <a:endParaRPr sz="1100"/>
          </a:p>
        </p:txBody>
      </p:sp>
      <p:sp>
        <p:nvSpPr>
          <p:cNvPr id="342" name="Google Shape;342;p54"/>
          <p:cNvSpPr txBox="1"/>
          <p:nvPr/>
        </p:nvSpPr>
        <p:spPr>
          <a:xfrm>
            <a:off x="6240946" y="1803654"/>
            <a:ext cx="1810500" cy="1727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哪一条信息最改变你对她的判断？</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为什么？</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请准备和同桌分享。</a:t>
            </a:r>
            <a:endParaRPr sz="1100"/>
          </a:p>
        </p:txBody>
      </p:sp>
      <p:sp>
        <p:nvSpPr>
          <p:cNvPr id="343" name="Google Shape;343;p54"/>
          <p:cNvSpPr txBox="1"/>
          <p:nvPr/>
        </p:nvSpPr>
        <p:spPr>
          <a:xfrm>
            <a:off x="548655" y="4286250"/>
            <a:ext cx="78870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300" u="none" cap="none" strike="noStrike">
                <a:solidFill>
                  <a:srgbClr val="5C5C5C"/>
                </a:solidFill>
                <a:latin typeface="Microsoft YaHei"/>
                <a:ea typeface="Microsoft YaHei"/>
                <a:cs typeface="Microsoft YaHei"/>
                <a:sym typeface="Microsoft YaHei"/>
              </a:rPr>
              <a:t>提醒：先观察，再判断。我们今天不急着给这个人物下定义。</a:t>
            </a:r>
            <a:endParaRPr sz="1100"/>
          </a:p>
        </p:txBody>
      </p:sp>
      <p:sp>
        <p:nvSpPr>
          <p:cNvPr id="344" name="Google Shape;344;p54"/>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第1课 | 热身</a:t>
            </a:r>
            <a:endParaRPr sz="1100"/>
          </a:p>
        </p:txBody>
      </p:sp>
      <p:sp>
        <p:nvSpPr>
          <p:cNvPr id="345" name="Google Shape;345;p54"/>
          <p:cNvSpPr/>
          <p:nvPr/>
        </p:nvSpPr>
        <p:spPr>
          <a:xfrm>
            <a:off x="3970000" y="1881138"/>
            <a:ext cx="1749600" cy="945000"/>
          </a:xfrm>
          <a:prstGeom prst="roundRect">
            <a:avLst>
              <a:gd fmla="val 16667" name="adj"/>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4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349" name="Shape 349"/>
        <p:cNvGrpSpPr/>
        <p:nvPr/>
      </p:nvGrpSpPr>
      <p:grpSpPr>
        <a:xfrm>
          <a:off x="0" y="0"/>
          <a:ext cx="0" cy="0"/>
          <a:chOff x="0" y="0"/>
          <a:chExt cx="0" cy="0"/>
        </a:xfrm>
      </p:grpSpPr>
      <p:sp>
        <p:nvSpPr>
          <p:cNvPr id="350" name="Google Shape;350;p55"/>
          <p:cNvSpPr/>
          <p:nvPr/>
        </p:nvSpPr>
        <p:spPr>
          <a:xfrm>
            <a:off x="0" y="0"/>
            <a:ext cx="9144000" cy="5349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1" name="Google Shape;351;p55"/>
          <p:cNvSpPr/>
          <p:nvPr/>
        </p:nvSpPr>
        <p:spPr>
          <a:xfrm>
            <a:off x="0" y="534924"/>
            <a:ext cx="109800" cy="4608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2" name="Google Shape;352;p55"/>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3" name="Google Shape;353;p55"/>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4F79A7"/>
                </a:solidFill>
                <a:latin typeface="Microsoft YaHei"/>
                <a:ea typeface="Microsoft YaHei"/>
                <a:cs typeface="Microsoft YaHei"/>
                <a:sym typeface="Microsoft YaHei"/>
              </a:rPr>
              <a:t>1</a:t>
            </a:r>
            <a:endParaRPr sz="1100"/>
          </a:p>
        </p:txBody>
      </p:sp>
      <p:sp>
        <p:nvSpPr>
          <p:cNvPr id="354" name="Google Shape;354;p55"/>
          <p:cNvSpPr txBox="1"/>
          <p:nvPr/>
        </p:nvSpPr>
        <p:spPr>
          <a:xfrm>
            <a:off x="617236" y="109728"/>
            <a:ext cx="5898000" cy="434100"/>
          </a:xfrm>
          <a:prstGeom prst="rect">
            <a:avLst/>
          </a:prstGeom>
          <a:noFill/>
          <a:ln cap="flat" cmpd="sng" w="7150">
            <a:solidFill>
              <a:srgbClr val="4F79A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活动一｜人物拼图</a:t>
            </a:r>
            <a:endParaRPr sz="1100"/>
          </a:p>
        </p:txBody>
      </p:sp>
      <p:sp>
        <p:nvSpPr>
          <p:cNvPr id="355" name="Google Shape;355;p55"/>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6" name="Google Shape;356;p55"/>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四人一组：快速浏览课文前半部分，完成“一个事实 + 一个细节 + 一个疑问”。</a:t>
            </a:r>
            <a:endParaRPr sz="1100"/>
          </a:p>
        </p:txBody>
      </p:sp>
      <p:sp>
        <p:nvSpPr>
          <p:cNvPr id="357" name="Google Shape;357;p55"/>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1 课</a:t>
            </a:r>
            <a:endParaRPr sz="1100"/>
          </a:p>
        </p:txBody>
      </p:sp>
      <p:sp>
        <p:nvSpPr>
          <p:cNvPr id="358" name="Google Shape;358;p55"/>
          <p:cNvSpPr/>
          <p:nvPr/>
        </p:nvSpPr>
        <p:spPr>
          <a:xfrm>
            <a:off x="480073" y="1337310"/>
            <a:ext cx="2537700" cy="2606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9" name="Google Shape;359;p55"/>
          <p:cNvSpPr/>
          <p:nvPr/>
        </p:nvSpPr>
        <p:spPr>
          <a:xfrm>
            <a:off x="480073" y="1337310"/>
            <a:ext cx="2537700" cy="123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0" name="Google Shape;360;p55"/>
          <p:cNvSpPr txBox="1"/>
          <p:nvPr/>
        </p:nvSpPr>
        <p:spPr>
          <a:xfrm>
            <a:off x="603520" y="1515618"/>
            <a:ext cx="22905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4F79A7"/>
                </a:solidFill>
                <a:latin typeface="Microsoft YaHei"/>
                <a:ea typeface="Microsoft YaHei"/>
                <a:cs typeface="Microsoft YaHei"/>
                <a:sym typeface="Microsoft YaHei"/>
              </a:rPr>
              <a:t>你要找到</a:t>
            </a:r>
            <a:endParaRPr sz="1100"/>
          </a:p>
        </p:txBody>
      </p:sp>
      <p:sp>
        <p:nvSpPr>
          <p:cNvPr id="361" name="Google Shape;361;p55"/>
          <p:cNvSpPr txBox="1"/>
          <p:nvPr/>
        </p:nvSpPr>
        <p:spPr>
          <a:xfrm>
            <a:off x="603520" y="1803654"/>
            <a:ext cx="2290500" cy="1265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1. 一个事实：她是谁？</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2. 一个细节：她做了什么 / 有什么特征？</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3. 一个疑问：你还想知道什么？</a:t>
            </a:r>
            <a:endParaRPr sz="1100"/>
          </a:p>
        </p:txBody>
      </p:sp>
      <p:sp>
        <p:nvSpPr>
          <p:cNvPr id="362" name="Google Shape;362;p55"/>
          <p:cNvSpPr/>
          <p:nvPr/>
        </p:nvSpPr>
        <p:spPr>
          <a:xfrm>
            <a:off x="3291928" y="1337310"/>
            <a:ext cx="2674500" cy="2606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3" name="Google Shape;363;p55"/>
          <p:cNvSpPr/>
          <p:nvPr/>
        </p:nvSpPr>
        <p:spPr>
          <a:xfrm>
            <a:off x="3291928" y="1337310"/>
            <a:ext cx="2674500" cy="123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4" name="Google Shape;364;p55"/>
          <p:cNvSpPr txBox="1"/>
          <p:nvPr/>
        </p:nvSpPr>
        <p:spPr>
          <a:xfrm>
            <a:off x="3415375" y="1515618"/>
            <a:ext cx="24279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4F79A7"/>
                </a:solidFill>
                <a:latin typeface="Microsoft YaHei"/>
                <a:ea typeface="Microsoft YaHei"/>
                <a:cs typeface="Microsoft YaHei"/>
                <a:sym typeface="Microsoft YaHei"/>
              </a:rPr>
              <a:t>分享格式</a:t>
            </a:r>
            <a:endParaRPr sz="1100"/>
          </a:p>
        </p:txBody>
      </p:sp>
      <p:sp>
        <p:nvSpPr>
          <p:cNvPr id="365" name="Google Shape;365;p55"/>
          <p:cNvSpPr txBox="1"/>
          <p:nvPr/>
        </p:nvSpPr>
        <p:spPr>
          <a:xfrm>
            <a:off x="3415375" y="1803654"/>
            <a:ext cx="2427900" cy="1496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我们这一组认为，</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假黎婆首先是一个________的人。</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因为文中写到：________。</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不过，我们也很好奇：________。</a:t>
            </a:r>
            <a:endParaRPr sz="1100"/>
          </a:p>
        </p:txBody>
      </p:sp>
      <p:sp>
        <p:nvSpPr>
          <p:cNvPr id="366" name="Google Shape;366;p55"/>
          <p:cNvSpPr/>
          <p:nvPr/>
        </p:nvSpPr>
        <p:spPr>
          <a:xfrm>
            <a:off x="6227230" y="1337310"/>
            <a:ext cx="2057400" cy="2606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7" name="Google Shape;367;p55"/>
          <p:cNvSpPr/>
          <p:nvPr/>
        </p:nvSpPr>
        <p:spPr>
          <a:xfrm>
            <a:off x="6227230" y="1337310"/>
            <a:ext cx="2057400" cy="123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8" name="Google Shape;368;p55"/>
          <p:cNvSpPr txBox="1"/>
          <p:nvPr/>
        </p:nvSpPr>
        <p:spPr>
          <a:xfrm>
            <a:off x="6350677" y="1515618"/>
            <a:ext cx="18105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4F79A7"/>
                </a:solidFill>
                <a:latin typeface="Microsoft YaHei"/>
                <a:ea typeface="Microsoft YaHei"/>
                <a:cs typeface="Microsoft YaHei"/>
                <a:sym typeface="Microsoft YaHei"/>
              </a:rPr>
              <a:t>课本可用</a:t>
            </a:r>
            <a:endParaRPr sz="1100"/>
          </a:p>
        </p:txBody>
      </p:sp>
      <p:sp>
        <p:nvSpPr>
          <p:cNvPr id="369" name="Google Shape;369;p55"/>
          <p:cNvSpPr txBox="1"/>
          <p:nvPr/>
        </p:nvSpPr>
        <p:spPr>
          <a:xfrm>
            <a:off x="6350677" y="1803654"/>
            <a:ext cx="1810500" cy="1496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请优先看：</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课文开头</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p12 的人物图</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把课本练习变成你的阅读工具。</a:t>
            </a:r>
            <a:endParaRPr sz="1100"/>
          </a:p>
        </p:txBody>
      </p:sp>
      <p:sp>
        <p:nvSpPr>
          <p:cNvPr id="370" name="Google Shape;370;p55"/>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第1课 | 人物拼图</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374" name="Shape 374"/>
        <p:cNvGrpSpPr/>
        <p:nvPr/>
      </p:nvGrpSpPr>
      <p:grpSpPr>
        <a:xfrm>
          <a:off x="0" y="0"/>
          <a:ext cx="0" cy="0"/>
          <a:chOff x="0" y="0"/>
          <a:chExt cx="0" cy="0"/>
        </a:xfrm>
      </p:grpSpPr>
      <p:sp>
        <p:nvSpPr>
          <p:cNvPr id="375" name="Google Shape;375;p56"/>
          <p:cNvSpPr/>
          <p:nvPr/>
        </p:nvSpPr>
        <p:spPr>
          <a:xfrm>
            <a:off x="0" y="0"/>
            <a:ext cx="9144000" cy="5349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6" name="Google Shape;376;p56"/>
          <p:cNvSpPr/>
          <p:nvPr/>
        </p:nvSpPr>
        <p:spPr>
          <a:xfrm>
            <a:off x="0" y="534924"/>
            <a:ext cx="109800" cy="4608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7" name="Google Shape;377;p56"/>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8" name="Google Shape;378;p56"/>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4F79A7"/>
                </a:solidFill>
                <a:latin typeface="Microsoft YaHei"/>
                <a:ea typeface="Microsoft YaHei"/>
                <a:cs typeface="Microsoft YaHei"/>
                <a:sym typeface="Microsoft YaHei"/>
              </a:rPr>
              <a:t>1</a:t>
            </a:r>
            <a:endParaRPr sz="1100"/>
          </a:p>
        </p:txBody>
      </p:sp>
      <p:sp>
        <p:nvSpPr>
          <p:cNvPr id="379" name="Google Shape;379;p56"/>
          <p:cNvSpPr txBox="1"/>
          <p:nvPr/>
        </p:nvSpPr>
        <p:spPr>
          <a:xfrm>
            <a:off x="617236" y="109728"/>
            <a:ext cx="5898000" cy="434100"/>
          </a:xfrm>
          <a:prstGeom prst="rect">
            <a:avLst/>
          </a:prstGeom>
          <a:noFill/>
          <a:ln cap="flat" cmpd="sng" w="7150">
            <a:solidFill>
              <a:srgbClr val="4F79A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活动二｜“别人看到的她” vs “我认识的她”</a:t>
            </a:r>
            <a:endParaRPr sz="1100"/>
          </a:p>
        </p:txBody>
      </p:sp>
      <p:sp>
        <p:nvSpPr>
          <p:cNvPr id="380" name="Google Shape;380;p56"/>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1" name="Google Shape;381;p56"/>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把你们找到的内容分类。每一组至少补充3条。</a:t>
            </a:r>
            <a:endParaRPr sz="1100"/>
          </a:p>
        </p:txBody>
      </p:sp>
      <p:sp>
        <p:nvSpPr>
          <p:cNvPr id="382" name="Google Shape;382;p56"/>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1 课</a:t>
            </a:r>
            <a:endParaRPr sz="1100"/>
          </a:p>
        </p:txBody>
      </p:sp>
      <p:graphicFrame>
        <p:nvGraphicFramePr>
          <p:cNvPr id="383" name="Google Shape;383;p56"/>
          <p:cNvGraphicFramePr/>
          <p:nvPr/>
        </p:nvGraphicFramePr>
        <p:xfrm>
          <a:off x="514364" y="1337310"/>
          <a:ext cx="3000000" cy="3000000"/>
        </p:xfrm>
        <a:graphic>
          <a:graphicData uri="http://schemas.openxmlformats.org/drawingml/2006/table">
            <a:tbl>
              <a:tblPr bandRow="1" firstRow="1">
                <a:noFill/>
                <a:tableStyleId>{6DB37C38-08B4-4D8B-930D-383F00103916}</a:tableStyleId>
              </a:tblPr>
              <a:tblGrid>
                <a:gridCol w="4046325"/>
                <a:gridCol w="4046325"/>
              </a:tblGrid>
              <a:tr h="642950">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别人看到的她</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4F79A7"/>
                    </a:solidFill>
                  </a:tcPr>
                </a:tc>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“我”认识的她</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4F79A7"/>
                    </a:solidFill>
                  </a:tcPr>
                </a:tc>
              </a:tr>
              <a:tr h="642950">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假黎、刺花、住在山里、像“异族”……</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疼爱孩子、勤劳、安静、熟悉山路……</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42950">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（请继续补充）</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（请继续补充）</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642950">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（请继续补充）</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（请继续补充）</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384" name="Google Shape;384;p56"/>
          <p:cNvSpPr txBox="1"/>
          <p:nvPr/>
        </p:nvSpPr>
        <p:spPr>
          <a:xfrm>
            <a:off x="562371" y="4149090"/>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2D2D2D"/>
                </a:solidFill>
                <a:latin typeface="Microsoft YaHei"/>
                <a:ea typeface="Microsoft YaHei"/>
                <a:cs typeface="Microsoft YaHei"/>
                <a:sym typeface="Microsoft YaHei"/>
              </a:rPr>
              <a:t>讨论：为什么作者先让“我”认识奶奶，再让“我”意识到她被别人称作“假黎婆”？</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388" name="Shape 388"/>
        <p:cNvGrpSpPr/>
        <p:nvPr/>
      </p:nvGrpSpPr>
      <p:grpSpPr>
        <a:xfrm>
          <a:off x="0" y="0"/>
          <a:ext cx="0" cy="0"/>
          <a:chOff x="0" y="0"/>
          <a:chExt cx="0" cy="0"/>
        </a:xfrm>
      </p:grpSpPr>
      <p:sp>
        <p:nvSpPr>
          <p:cNvPr id="389" name="Google Shape;389;p57"/>
          <p:cNvSpPr/>
          <p:nvPr/>
        </p:nvSpPr>
        <p:spPr>
          <a:xfrm>
            <a:off x="0" y="0"/>
            <a:ext cx="9144000" cy="5349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0" name="Google Shape;390;p57"/>
          <p:cNvSpPr/>
          <p:nvPr/>
        </p:nvSpPr>
        <p:spPr>
          <a:xfrm>
            <a:off x="0" y="534924"/>
            <a:ext cx="109800" cy="4608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1" name="Google Shape;391;p57"/>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2" name="Google Shape;392;p57"/>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4F79A7"/>
                </a:solidFill>
                <a:latin typeface="Microsoft YaHei"/>
                <a:ea typeface="Microsoft YaHei"/>
                <a:cs typeface="Microsoft YaHei"/>
                <a:sym typeface="Microsoft YaHei"/>
              </a:rPr>
              <a:t>1</a:t>
            </a:r>
            <a:endParaRPr sz="1100"/>
          </a:p>
        </p:txBody>
      </p:sp>
      <p:sp>
        <p:nvSpPr>
          <p:cNvPr id="393" name="Google Shape;393;p57"/>
          <p:cNvSpPr txBox="1"/>
          <p:nvPr/>
        </p:nvSpPr>
        <p:spPr>
          <a:xfrm>
            <a:off x="617229" y="109721"/>
            <a:ext cx="5898000" cy="434100"/>
          </a:xfrm>
          <a:prstGeom prst="rect">
            <a:avLst/>
          </a:prstGeom>
          <a:noFill/>
          <a:ln cap="flat" cmpd="sng" w="7150">
            <a:solidFill>
              <a:srgbClr val="4F79A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Exit Ticket｜今天你</a:t>
            </a:r>
            <a:r>
              <a:rPr b="1" lang="zh-CN" sz="2100">
                <a:solidFill>
                  <a:srgbClr val="FFFFFF"/>
                </a:solidFill>
                <a:latin typeface="Microsoft YaHei"/>
                <a:ea typeface="Microsoft YaHei"/>
                <a:cs typeface="Microsoft YaHei"/>
                <a:sym typeface="Microsoft YaHei"/>
              </a:rPr>
              <a:t>理解</a:t>
            </a:r>
            <a:r>
              <a:rPr b="1" i="0" lang="zh-CN" sz="2100" u="none" cap="none" strike="noStrike">
                <a:solidFill>
                  <a:srgbClr val="FFFFFF"/>
                </a:solidFill>
                <a:latin typeface="Microsoft YaHei"/>
                <a:ea typeface="Microsoft YaHei"/>
                <a:cs typeface="Microsoft YaHei"/>
                <a:sym typeface="Microsoft YaHei"/>
              </a:rPr>
              <a:t>了什么？</a:t>
            </a:r>
            <a:endParaRPr sz="1100"/>
          </a:p>
        </p:txBody>
      </p:sp>
      <p:sp>
        <p:nvSpPr>
          <p:cNvPr id="394" name="Google Shape;394;p57"/>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1 课</a:t>
            </a:r>
            <a:endParaRPr sz="1100"/>
          </a:p>
        </p:txBody>
      </p:sp>
      <p:sp>
        <p:nvSpPr>
          <p:cNvPr id="395" name="Google Shape;395;p57"/>
          <p:cNvSpPr/>
          <p:nvPr/>
        </p:nvSpPr>
        <p:spPr>
          <a:xfrm>
            <a:off x="822982" y="1371600"/>
            <a:ext cx="7406700" cy="171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6" name="Google Shape;396;p57"/>
          <p:cNvSpPr/>
          <p:nvPr/>
        </p:nvSpPr>
        <p:spPr>
          <a:xfrm>
            <a:off x="822982" y="1371600"/>
            <a:ext cx="7406700" cy="123600"/>
          </a:xfrm>
          <a:prstGeom prst="rect">
            <a:avLst/>
          </a:prstGeom>
          <a:solidFill>
            <a:srgbClr val="4F79A7"/>
          </a:solidFill>
          <a:ln cap="flat" cmpd="sng" w="7150">
            <a:solidFill>
              <a:srgbClr val="4F79A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7" name="Google Shape;397;p57"/>
          <p:cNvSpPr txBox="1"/>
          <p:nvPr/>
        </p:nvSpPr>
        <p:spPr>
          <a:xfrm>
            <a:off x="946429" y="1549908"/>
            <a:ext cx="71598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4F79A7"/>
                </a:solidFill>
                <a:latin typeface="Microsoft YaHei"/>
                <a:ea typeface="Microsoft YaHei"/>
                <a:cs typeface="Microsoft YaHei"/>
                <a:sym typeface="Microsoft YaHei"/>
              </a:rPr>
              <a:t>请写下并准备口头分享</a:t>
            </a:r>
            <a:endParaRPr sz="1100"/>
          </a:p>
        </p:txBody>
      </p:sp>
      <p:sp>
        <p:nvSpPr>
          <p:cNvPr id="398" name="Google Shape;398;p57"/>
          <p:cNvSpPr txBox="1"/>
          <p:nvPr/>
        </p:nvSpPr>
        <p:spPr>
          <a:xfrm>
            <a:off x="946429" y="1837944"/>
            <a:ext cx="7159800" cy="665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800" u="none" cap="none" strike="noStrike">
                <a:solidFill>
                  <a:srgbClr val="2D2D2D"/>
                </a:solidFill>
                <a:latin typeface="Microsoft YaHei"/>
                <a:ea typeface="Microsoft YaHei"/>
                <a:cs typeface="Microsoft YaHei"/>
                <a:sym typeface="Microsoft YaHei"/>
              </a:rPr>
              <a:t>读完今天的部分，我认为“假黎婆”首先是一个________的人，</a:t>
            </a:r>
            <a:br>
              <a:rPr b="0" i="0" lang="zh-CN" sz="1800" u="none" cap="none" strike="noStrike">
                <a:solidFill>
                  <a:srgbClr val="2D2D2D"/>
                </a:solidFill>
                <a:latin typeface="Microsoft YaHei"/>
                <a:ea typeface="Microsoft YaHei"/>
                <a:cs typeface="Microsoft YaHei"/>
                <a:sym typeface="Microsoft YaHei"/>
              </a:rPr>
            </a:br>
            <a:r>
              <a:rPr b="0" i="0" lang="zh-CN" sz="1800" u="none" cap="none" strike="noStrike">
                <a:solidFill>
                  <a:srgbClr val="2D2D2D"/>
                </a:solidFill>
                <a:latin typeface="Microsoft YaHei"/>
                <a:ea typeface="Microsoft YaHei"/>
                <a:cs typeface="Microsoft YaHei"/>
                <a:sym typeface="Microsoft YaHei"/>
              </a:rPr>
              <a:t>而不仅仅是一个________，因为________。</a:t>
            </a:r>
            <a:endParaRPr sz="1100"/>
          </a:p>
        </p:txBody>
      </p:sp>
      <p:sp>
        <p:nvSpPr>
          <p:cNvPr id="399" name="Google Shape;399;p57"/>
          <p:cNvSpPr txBox="1"/>
          <p:nvPr/>
        </p:nvSpPr>
        <p:spPr>
          <a:xfrm>
            <a:off x="857273" y="3497580"/>
            <a:ext cx="72012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5C5C5C"/>
                </a:solidFill>
                <a:latin typeface="Microsoft YaHei"/>
                <a:ea typeface="Microsoft YaHei"/>
                <a:cs typeface="Microsoft YaHei"/>
                <a:sym typeface="Microsoft YaHei"/>
              </a:rPr>
              <a:t>加分挑战：请再写一个“我还想知道的问题”。</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403" name="Shape 403"/>
        <p:cNvGrpSpPr/>
        <p:nvPr/>
      </p:nvGrpSpPr>
      <p:grpSpPr>
        <a:xfrm>
          <a:off x="0" y="0"/>
          <a:ext cx="0" cy="0"/>
          <a:chOff x="0" y="0"/>
          <a:chExt cx="0" cy="0"/>
        </a:xfrm>
      </p:grpSpPr>
      <p:sp>
        <p:nvSpPr>
          <p:cNvPr id="404" name="Google Shape;404;p58"/>
          <p:cNvSpPr/>
          <p:nvPr/>
        </p:nvSpPr>
        <p:spPr>
          <a:xfrm>
            <a:off x="0" y="0"/>
            <a:ext cx="9144000" cy="5349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5" name="Google Shape;405;p58"/>
          <p:cNvSpPr/>
          <p:nvPr/>
        </p:nvSpPr>
        <p:spPr>
          <a:xfrm>
            <a:off x="0" y="534924"/>
            <a:ext cx="109800" cy="4608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6" name="Google Shape;406;p58"/>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7" name="Google Shape;407;p58"/>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579471"/>
                </a:solidFill>
                <a:latin typeface="Microsoft YaHei"/>
                <a:ea typeface="Microsoft YaHei"/>
                <a:cs typeface="Microsoft YaHei"/>
                <a:sym typeface="Microsoft YaHei"/>
              </a:rPr>
              <a:t>2</a:t>
            </a:r>
            <a:endParaRPr sz="1100"/>
          </a:p>
        </p:txBody>
      </p:sp>
      <p:sp>
        <p:nvSpPr>
          <p:cNvPr id="408" name="Google Shape;408;p58"/>
          <p:cNvSpPr txBox="1"/>
          <p:nvPr/>
        </p:nvSpPr>
        <p:spPr>
          <a:xfrm>
            <a:off x="617236" y="109728"/>
            <a:ext cx="5898000" cy="434100"/>
          </a:xfrm>
          <a:prstGeom prst="rect">
            <a:avLst/>
          </a:prstGeom>
          <a:noFill/>
          <a:ln cap="flat" cmpd="sng" w="7150">
            <a:solidFill>
              <a:srgbClr val="579471"/>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第 2 课  |  一包盐，一斗米</a:t>
            </a:r>
            <a:endParaRPr sz="1100"/>
          </a:p>
        </p:txBody>
      </p:sp>
      <p:sp>
        <p:nvSpPr>
          <p:cNvPr id="409" name="Google Shape;409;p58"/>
          <p:cNvSpPr txBox="1"/>
          <p:nvPr/>
        </p:nvSpPr>
        <p:spPr>
          <a:xfrm>
            <a:off x="7338256" y="123444"/>
            <a:ext cx="1371600" cy="249300"/>
          </a:xfrm>
          <a:prstGeom prst="rect">
            <a:avLst/>
          </a:prstGeom>
          <a:noFill/>
          <a:ln cap="flat" cmpd="sng" w="7150">
            <a:solidFill>
              <a:srgbClr val="579471"/>
            </a:solidFill>
            <a:prstDash val="solid"/>
            <a:round/>
            <a:headEnd len="sm" w="sm" type="none"/>
            <a:tailEnd len="sm" w="sm" type="none"/>
          </a:ln>
        </p:spPr>
        <p:txBody>
          <a:bodyPr anchorCtr="0" anchor="t" bIns="54875" lIns="54875" spcFirstLastPara="1" rIns="54875" wrap="square" tIns="54875">
            <a:spAutoFit/>
          </a:bodyPr>
          <a:lstStyle/>
          <a:p>
            <a:pPr indent="0" lvl="0" marL="0" marR="0" rtl="0" algn="r">
              <a:spcBef>
                <a:spcPts val="0"/>
              </a:spcBef>
              <a:spcAft>
                <a:spcPts val="0"/>
              </a:spcAft>
              <a:buNone/>
            </a:pPr>
            <a:r>
              <a:rPr b="0" i="0" lang="zh-CN" sz="900" u="none" cap="none" strike="noStrike">
                <a:solidFill>
                  <a:srgbClr val="FFFFFF"/>
                </a:solidFill>
                <a:latin typeface="Microsoft YaHei"/>
                <a:ea typeface="Microsoft YaHei"/>
                <a:cs typeface="Microsoft YaHei"/>
                <a:sym typeface="Microsoft YaHei"/>
              </a:rPr>
              <a:t>课本 p13</a:t>
            </a:r>
            <a:endParaRPr sz="1100"/>
          </a:p>
        </p:txBody>
      </p:sp>
      <p:sp>
        <p:nvSpPr>
          <p:cNvPr id="410" name="Google Shape;410;p58"/>
          <p:cNvSpPr txBox="1"/>
          <p:nvPr/>
        </p:nvSpPr>
        <p:spPr>
          <a:xfrm>
            <a:off x="377200" y="720090"/>
            <a:ext cx="26061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579471"/>
                </a:solidFill>
                <a:latin typeface="Microsoft YaHei"/>
                <a:ea typeface="Microsoft YaHei"/>
                <a:cs typeface="Microsoft YaHei"/>
                <a:sym typeface="Microsoft YaHei"/>
              </a:rPr>
              <a:t>今天我们会……</a:t>
            </a:r>
            <a:endParaRPr sz="1100"/>
          </a:p>
        </p:txBody>
      </p:sp>
      <p:sp>
        <p:nvSpPr>
          <p:cNvPr id="411" name="Google Shape;411;p58"/>
          <p:cNvSpPr/>
          <p:nvPr/>
        </p:nvSpPr>
        <p:spPr>
          <a:xfrm>
            <a:off x="377200" y="973836"/>
            <a:ext cx="2674500" cy="13716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2" name="Google Shape;412;p58"/>
          <p:cNvSpPr txBox="1"/>
          <p:nvPr/>
        </p:nvSpPr>
        <p:spPr>
          <a:xfrm>
            <a:off x="500647" y="1056132"/>
            <a:ext cx="2427900" cy="12315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聚焦“一包盐，一斗米”的情节</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从动作、语言和语气推断人物性格</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学习：怎样用细节证明一个判断</a:t>
            </a:r>
            <a:endParaRPr sz="1100"/>
          </a:p>
        </p:txBody>
      </p:sp>
      <p:sp>
        <p:nvSpPr>
          <p:cNvPr id="413" name="Google Shape;413;p58"/>
          <p:cNvSpPr txBox="1"/>
          <p:nvPr/>
        </p:nvSpPr>
        <p:spPr>
          <a:xfrm>
            <a:off x="3257637" y="720090"/>
            <a:ext cx="26061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579471"/>
                </a:solidFill>
                <a:latin typeface="Microsoft YaHei"/>
                <a:ea typeface="Microsoft YaHei"/>
                <a:cs typeface="Microsoft YaHei"/>
                <a:sym typeface="Microsoft YaHei"/>
              </a:rPr>
              <a:t>学习目标</a:t>
            </a:r>
            <a:endParaRPr sz="1100"/>
          </a:p>
        </p:txBody>
      </p:sp>
      <p:sp>
        <p:nvSpPr>
          <p:cNvPr id="414" name="Google Shape;414;p58"/>
          <p:cNvSpPr/>
          <p:nvPr/>
        </p:nvSpPr>
        <p:spPr>
          <a:xfrm>
            <a:off x="3257637" y="973836"/>
            <a:ext cx="2709000" cy="13716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5" name="Google Shape;415;p58"/>
          <p:cNvSpPr txBox="1"/>
          <p:nvPr/>
        </p:nvSpPr>
        <p:spPr>
          <a:xfrm>
            <a:off x="3381084" y="1056132"/>
            <a:ext cx="2462100" cy="7233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我能用文本证据分析人物</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我能区分“直接评价”和“细节证明”</a:t>
            </a:r>
            <a:endParaRPr sz="1100"/>
          </a:p>
        </p:txBody>
      </p:sp>
      <p:sp>
        <p:nvSpPr>
          <p:cNvPr id="416" name="Google Shape;416;p58"/>
          <p:cNvSpPr txBox="1"/>
          <p:nvPr/>
        </p:nvSpPr>
        <p:spPr>
          <a:xfrm>
            <a:off x="6138073" y="720090"/>
            <a:ext cx="26745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579471"/>
                </a:solidFill>
                <a:latin typeface="Microsoft YaHei"/>
                <a:ea typeface="Microsoft YaHei"/>
                <a:cs typeface="Microsoft YaHei"/>
                <a:sym typeface="Microsoft YaHei"/>
              </a:rPr>
              <a:t>成功标准</a:t>
            </a:r>
            <a:endParaRPr sz="1100"/>
          </a:p>
        </p:txBody>
      </p:sp>
      <p:sp>
        <p:nvSpPr>
          <p:cNvPr id="417" name="Google Shape;417;p58"/>
          <p:cNvSpPr/>
          <p:nvPr/>
        </p:nvSpPr>
        <p:spPr>
          <a:xfrm>
            <a:off x="6138073" y="973836"/>
            <a:ext cx="2640300" cy="13716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8" name="Google Shape;418;p58"/>
          <p:cNvSpPr txBox="1"/>
          <p:nvPr/>
        </p:nvSpPr>
        <p:spPr>
          <a:xfrm>
            <a:off x="6261520" y="1056132"/>
            <a:ext cx="2393700" cy="4773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300" u="none" cap="none" strike="noStrike">
                <a:solidFill>
                  <a:srgbClr val="2D2D2D"/>
                </a:solidFill>
                <a:latin typeface="Microsoft YaHei"/>
                <a:ea typeface="Microsoft YaHei"/>
                <a:cs typeface="Microsoft YaHei"/>
                <a:sym typeface="Microsoft YaHei"/>
              </a:rPr>
              <a:t>我能解释奶奶为什么这样做</a:t>
            </a:r>
            <a:endParaRPr sz="1100"/>
          </a:p>
          <a:p>
            <a:pPr indent="0" lvl="0" marL="0" marR="0" rtl="0" algn="l">
              <a:spcBef>
                <a:spcPts val="600"/>
              </a:spcBef>
              <a:spcAft>
                <a:spcPts val="0"/>
              </a:spcAft>
              <a:buNone/>
            </a:pPr>
            <a:r>
              <a:rPr b="0" i="0" lang="zh-CN" sz="1300" u="none" cap="none" strike="noStrike">
                <a:solidFill>
                  <a:srgbClr val="2D2D2D"/>
                </a:solidFill>
                <a:latin typeface="Microsoft YaHei"/>
                <a:ea typeface="Microsoft YaHei"/>
                <a:cs typeface="Microsoft YaHei"/>
                <a:sym typeface="Microsoft YaHei"/>
              </a:rPr>
              <a:t>我能把“她很有尊严”写得更具体</a:t>
            </a:r>
            <a:endParaRPr sz="1100"/>
          </a:p>
        </p:txBody>
      </p:sp>
      <p:sp>
        <p:nvSpPr>
          <p:cNvPr id="419" name="Google Shape;419;p58"/>
          <p:cNvSpPr/>
          <p:nvPr/>
        </p:nvSpPr>
        <p:spPr>
          <a:xfrm>
            <a:off x="377200" y="2811779"/>
            <a:ext cx="8401200" cy="123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20" name="Google Shape;420;p58"/>
          <p:cNvSpPr txBox="1"/>
          <p:nvPr/>
        </p:nvSpPr>
        <p:spPr>
          <a:xfrm>
            <a:off x="562371" y="3003804"/>
            <a:ext cx="1028700" cy="449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100" u="none" cap="none" strike="noStrike">
                <a:solidFill>
                  <a:srgbClr val="579471"/>
                </a:solidFill>
                <a:latin typeface="Microsoft YaHei"/>
                <a:ea typeface="Microsoft YaHei"/>
                <a:cs typeface="Microsoft YaHei"/>
                <a:sym typeface="Microsoft YaHei"/>
              </a:rPr>
              <a:t>带着问题进入课堂</a:t>
            </a:r>
            <a:endParaRPr sz="1100"/>
          </a:p>
        </p:txBody>
      </p:sp>
      <p:sp>
        <p:nvSpPr>
          <p:cNvPr id="421" name="Google Shape;421;p58"/>
          <p:cNvSpPr txBox="1"/>
          <p:nvPr/>
        </p:nvSpPr>
        <p:spPr>
          <a:xfrm>
            <a:off x="1543032" y="2991910"/>
            <a:ext cx="6858300" cy="4188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l">
              <a:spcBef>
                <a:spcPts val="0"/>
              </a:spcBef>
              <a:spcAft>
                <a:spcPts val="0"/>
              </a:spcAft>
              <a:buNone/>
            </a:pPr>
            <a:r>
              <a:rPr b="1" i="0" lang="zh-CN" sz="2000" u="none" cap="none" strike="noStrike">
                <a:solidFill>
                  <a:srgbClr val="2D2D2D"/>
                </a:solidFill>
                <a:latin typeface="Microsoft YaHei"/>
                <a:ea typeface="Microsoft YaHei"/>
                <a:cs typeface="Microsoft YaHei"/>
                <a:sym typeface="Microsoft YaHei"/>
              </a:rPr>
              <a:t>一包盐，一斗米</a:t>
            </a:r>
            <a:endParaRPr sz="1100"/>
          </a:p>
        </p:txBody>
      </p:sp>
      <p:sp>
        <p:nvSpPr>
          <p:cNvPr id="422" name="Google Shape;422;p58"/>
          <p:cNvSpPr txBox="1"/>
          <p:nvPr/>
        </p:nvSpPr>
        <p:spPr>
          <a:xfrm>
            <a:off x="1577382" y="3497580"/>
            <a:ext cx="6789600" cy="2955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200" u="none" cap="none" strike="noStrike">
                <a:solidFill>
                  <a:srgbClr val="5C5C5C"/>
                </a:solidFill>
                <a:latin typeface="Microsoft YaHei"/>
                <a:ea typeface="Microsoft YaHei"/>
                <a:cs typeface="Microsoft YaHei"/>
                <a:sym typeface="Microsoft YaHei"/>
              </a:rPr>
              <a:t>先观察，再判断；先找证据，再下结论。</a:t>
            </a:r>
            <a:endParaRPr sz="1100"/>
          </a:p>
        </p:txBody>
      </p:sp>
      <p:sp>
        <p:nvSpPr>
          <p:cNvPr id="423" name="Google Shape;423;p58"/>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2 课</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427" name="Shape 427"/>
        <p:cNvGrpSpPr/>
        <p:nvPr/>
      </p:nvGrpSpPr>
      <p:grpSpPr>
        <a:xfrm>
          <a:off x="0" y="0"/>
          <a:ext cx="0" cy="0"/>
          <a:chOff x="0" y="0"/>
          <a:chExt cx="0" cy="0"/>
        </a:xfrm>
      </p:grpSpPr>
      <p:sp>
        <p:nvSpPr>
          <p:cNvPr id="428" name="Google Shape;428;p59"/>
          <p:cNvSpPr/>
          <p:nvPr/>
        </p:nvSpPr>
        <p:spPr>
          <a:xfrm>
            <a:off x="0" y="0"/>
            <a:ext cx="9144000" cy="5349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29" name="Google Shape;429;p59"/>
          <p:cNvSpPr/>
          <p:nvPr/>
        </p:nvSpPr>
        <p:spPr>
          <a:xfrm>
            <a:off x="0" y="534924"/>
            <a:ext cx="109800" cy="4608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0" name="Google Shape;430;p59"/>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1" name="Google Shape;431;p59"/>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579471"/>
                </a:solidFill>
                <a:latin typeface="Microsoft YaHei"/>
                <a:ea typeface="Microsoft YaHei"/>
                <a:cs typeface="Microsoft YaHei"/>
                <a:sym typeface="Microsoft YaHei"/>
              </a:rPr>
              <a:t>2</a:t>
            </a:r>
            <a:endParaRPr sz="1100"/>
          </a:p>
        </p:txBody>
      </p:sp>
      <p:sp>
        <p:nvSpPr>
          <p:cNvPr id="432" name="Google Shape;432;p59"/>
          <p:cNvSpPr txBox="1"/>
          <p:nvPr/>
        </p:nvSpPr>
        <p:spPr>
          <a:xfrm>
            <a:off x="617236" y="109728"/>
            <a:ext cx="5898000" cy="434100"/>
          </a:xfrm>
          <a:prstGeom prst="rect">
            <a:avLst/>
          </a:prstGeom>
          <a:noFill/>
          <a:ln cap="flat" cmpd="sng" w="7150">
            <a:solidFill>
              <a:srgbClr val="579471"/>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热身活动｜如果是你，你会怎么做？</a:t>
            </a:r>
            <a:endParaRPr sz="1100"/>
          </a:p>
        </p:txBody>
      </p:sp>
      <p:sp>
        <p:nvSpPr>
          <p:cNvPr id="433" name="Google Shape;433;p59"/>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4" name="Google Shape;434;p59"/>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请先投票，再和同桌解释理由。</a:t>
            </a:r>
            <a:endParaRPr sz="1100"/>
          </a:p>
        </p:txBody>
      </p:sp>
      <p:sp>
        <p:nvSpPr>
          <p:cNvPr id="435" name="Google Shape;435;p59"/>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2 课</a:t>
            </a:r>
            <a:endParaRPr sz="1100"/>
          </a:p>
        </p:txBody>
      </p:sp>
      <p:sp>
        <p:nvSpPr>
          <p:cNvPr id="436" name="Google Shape;436;p59"/>
          <p:cNvSpPr/>
          <p:nvPr/>
        </p:nvSpPr>
        <p:spPr>
          <a:xfrm>
            <a:off x="534938" y="1337310"/>
            <a:ext cx="27432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7" name="Google Shape;437;p59"/>
          <p:cNvSpPr/>
          <p:nvPr/>
        </p:nvSpPr>
        <p:spPr>
          <a:xfrm>
            <a:off x="534938" y="1337310"/>
            <a:ext cx="2743200" cy="123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8" name="Google Shape;438;p59"/>
          <p:cNvSpPr txBox="1"/>
          <p:nvPr/>
        </p:nvSpPr>
        <p:spPr>
          <a:xfrm>
            <a:off x="658386" y="1515618"/>
            <a:ext cx="2496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579471"/>
                </a:solidFill>
                <a:latin typeface="Microsoft YaHei"/>
                <a:ea typeface="Microsoft YaHei"/>
                <a:cs typeface="Microsoft YaHei"/>
                <a:sym typeface="Microsoft YaHei"/>
              </a:rPr>
              <a:t>情境</a:t>
            </a:r>
            <a:endParaRPr sz="1100"/>
          </a:p>
        </p:txBody>
      </p:sp>
      <p:sp>
        <p:nvSpPr>
          <p:cNvPr id="439" name="Google Shape;439;p59"/>
          <p:cNvSpPr txBox="1"/>
          <p:nvPr/>
        </p:nvSpPr>
        <p:spPr>
          <a:xfrm>
            <a:off x="658386" y="1803654"/>
            <a:ext cx="2496300" cy="17733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800" u="none" cap="none" strike="noStrike">
                <a:solidFill>
                  <a:srgbClr val="2D2D2D"/>
                </a:solidFill>
                <a:latin typeface="Microsoft YaHei"/>
                <a:ea typeface="Microsoft YaHei"/>
                <a:cs typeface="Microsoft YaHei"/>
                <a:sym typeface="Microsoft YaHei"/>
              </a:rPr>
              <a:t>亲戚来家里借住。临走时，家人准备了一包盐和一斗米。</a:t>
            </a:r>
            <a:br>
              <a:rPr b="0" i="0" lang="zh-CN" sz="1800" u="none" cap="none" strike="noStrike">
                <a:solidFill>
                  <a:srgbClr val="2D2D2D"/>
                </a:solidFill>
                <a:latin typeface="Microsoft YaHei"/>
                <a:ea typeface="Microsoft YaHei"/>
                <a:cs typeface="Microsoft YaHei"/>
                <a:sym typeface="Microsoft YaHei"/>
              </a:rPr>
            </a:br>
            <a:br>
              <a:rPr b="0" i="0" lang="zh-CN" sz="1800" u="none" cap="none" strike="noStrike">
                <a:solidFill>
                  <a:srgbClr val="2D2D2D"/>
                </a:solidFill>
                <a:latin typeface="Microsoft YaHei"/>
                <a:ea typeface="Microsoft YaHei"/>
                <a:cs typeface="Microsoft YaHei"/>
                <a:sym typeface="Microsoft YaHei"/>
              </a:rPr>
            </a:br>
            <a:r>
              <a:rPr b="0" i="0" lang="zh-CN" sz="1800" u="none" cap="none" strike="noStrike">
                <a:solidFill>
                  <a:srgbClr val="2D2D2D"/>
                </a:solidFill>
                <a:latin typeface="Microsoft YaHei"/>
                <a:ea typeface="Microsoft YaHei"/>
                <a:cs typeface="Microsoft YaHei"/>
                <a:sym typeface="Microsoft YaHei"/>
              </a:rPr>
              <a:t>如果你是奶奶，你会都让他们带走吗？</a:t>
            </a:r>
            <a:endParaRPr sz="1100"/>
          </a:p>
        </p:txBody>
      </p:sp>
      <p:sp>
        <p:nvSpPr>
          <p:cNvPr id="440" name="Google Shape;440;p59"/>
          <p:cNvSpPr/>
          <p:nvPr/>
        </p:nvSpPr>
        <p:spPr>
          <a:xfrm>
            <a:off x="3429091" y="1337310"/>
            <a:ext cx="21261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1" name="Google Shape;441;p59"/>
          <p:cNvSpPr/>
          <p:nvPr/>
        </p:nvSpPr>
        <p:spPr>
          <a:xfrm>
            <a:off x="3429091" y="1337310"/>
            <a:ext cx="2126100" cy="123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2" name="Google Shape;442;p59"/>
          <p:cNvSpPr txBox="1"/>
          <p:nvPr/>
        </p:nvSpPr>
        <p:spPr>
          <a:xfrm>
            <a:off x="3552539" y="1515618"/>
            <a:ext cx="18792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579471"/>
                </a:solidFill>
                <a:latin typeface="Microsoft YaHei"/>
                <a:ea typeface="Microsoft YaHei"/>
                <a:cs typeface="Microsoft YaHei"/>
                <a:sym typeface="Microsoft YaHei"/>
              </a:rPr>
              <a:t>先投票</a:t>
            </a:r>
            <a:endParaRPr sz="1100"/>
          </a:p>
        </p:txBody>
      </p:sp>
      <p:sp>
        <p:nvSpPr>
          <p:cNvPr id="443" name="Google Shape;443;p59"/>
          <p:cNvSpPr txBox="1"/>
          <p:nvPr/>
        </p:nvSpPr>
        <p:spPr>
          <a:xfrm>
            <a:off x="3552539" y="1803654"/>
            <a:ext cx="18792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A 都带走</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B 只带走盐</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C 什么都不带</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D 还要看情况</a:t>
            </a:r>
            <a:endParaRPr sz="1100"/>
          </a:p>
        </p:txBody>
      </p:sp>
      <p:sp>
        <p:nvSpPr>
          <p:cNvPr id="444" name="Google Shape;444;p59"/>
          <p:cNvSpPr/>
          <p:nvPr/>
        </p:nvSpPr>
        <p:spPr>
          <a:xfrm>
            <a:off x="5726583" y="1337310"/>
            <a:ext cx="27432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5" name="Google Shape;445;p59"/>
          <p:cNvSpPr/>
          <p:nvPr/>
        </p:nvSpPr>
        <p:spPr>
          <a:xfrm>
            <a:off x="5726583" y="1337310"/>
            <a:ext cx="2743200" cy="123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6" name="Google Shape;446;p59"/>
          <p:cNvSpPr txBox="1"/>
          <p:nvPr/>
        </p:nvSpPr>
        <p:spPr>
          <a:xfrm>
            <a:off x="5850030" y="1515618"/>
            <a:ext cx="2496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579471"/>
                </a:solidFill>
                <a:latin typeface="Microsoft YaHei"/>
                <a:ea typeface="Microsoft YaHei"/>
                <a:cs typeface="Microsoft YaHei"/>
                <a:sym typeface="Microsoft YaHei"/>
              </a:rPr>
              <a:t>接着思考</a:t>
            </a:r>
            <a:endParaRPr sz="1100"/>
          </a:p>
        </p:txBody>
      </p:sp>
      <p:sp>
        <p:nvSpPr>
          <p:cNvPr id="447" name="Google Shape;447;p59"/>
          <p:cNvSpPr txBox="1"/>
          <p:nvPr/>
        </p:nvSpPr>
        <p:spPr>
          <a:xfrm>
            <a:off x="5850030" y="1803654"/>
            <a:ext cx="2496300" cy="1957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一个小动作，背后可能藏着：</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自尊</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贫穷中的原则</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对孩子的照顾</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族群处境中的敏感</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你目前最倾向哪一种解释？</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451" name="Shape 451"/>
        <p:cNvGrpSpPr/>
        <p:nvPr/>
      </p:nvGrpSpPr>
      <p:grpSpPr>
        <a:xfrm>
          <a:off x="0" y="0"/>
          <a:ext cx="0" cy="0"/>
          <a:chOff x="0" y="0"/>
          <a:chExt cx="0" cy="0"/>
        </a:xfrm>
      </p:grpSpPr>
      <p:sp>
        <p:nvSpPr>
          <p:cNvPr id="452" name="Google Shape;452;p60"/>
          <p:cNvSpPr/>
          <p:nvPr/>
        </p:nvSpPr>
        <p:spPr>
          <a:xfrm>
            <a:off x="0" y="0"/>
            <a:ext cx="9144000" cy="5349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3" name="Google Shape;453;p60"/>
          <p:cNvSpPr/>
          <p:nvPr/>
        </p:nvSpPr>
        <p:spPr>
          <a:xfrm>
            <a:off x="0" y="534924"/>
            <a:ext cx="109800" cy="4608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4" name="Google Shape;454;p60"/>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5" name="Google Shape;455;p60"/>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579471"/>
                </a:solidFill>
                <a:latin typeface="Microsoft YaHei"/>
                <a:ea typeface="Microsoft YaHei"/>
                <a:cs typeface="Microsoft YaHei"/>
                <a:sym typeface="Microsoft YaHei"/>
              </a:rPr>
              <a:t>2</a:t>
            </a:r>
            <a:endParaRPr sz="1100"/>
          </a:p>
        </p:txBody>
      </p:sp>
      <p:sp>
        <p:nvSpPr>
          <p:cNvPr id="456" name="Google Shape;456;p60"/>
          <p:cNvSpPr txBox="1"/>
          <p:nvPr/>
        </p:nvSpPr>
        <p:spPr>
          <a:xfrm>
            <a:off x="617236" y="109728"/>
            <a:ext cx="5898000" cy="434100"/>
          </a:xfrm>
          <a:prstGeom prst="rect">
            <a:avLst/>
          </a:prstGeom>
          <a:noFill/>
          <a:ln cap="flat" cmpd="sng" w="7150">
            <a:solidFill>
              <a:srgbClr val="579471"/>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活动一｜证据法庭</a:t>
            </a:r>
            <a:endParaRPr sz="1100"/>
          </a:p>
        </p:txBody>
      </p:sp>
      <p:sp>
        <p:nvSpPr>
          <p:cNvPr id="457" name="Google Shape;457;p60"/>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8" name="Google Shape;458;p60"/>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每组选择一个观点，用“结论 → 证据 → 推断”说明。</a:t>
            </a:r>
            <a:endParaRPr sz="1100"/>
          </a:p>
        </p:txBody>
      </p:sp>
      <p:sp>
        <p:nvSpPr>
          <p:cNvPr id="459" name="Google Shape;459;p60"/>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2 课</a:t>
            </a:r>
            <a:endParaRPr sz="1100"/>
          </a:p>
        </p:txBody>
      </p:sp>
      <p:sp>
        <p:nvSpPr>
          <p:cNvPr id="460" name="Google Shape;460;p60"/>
          <p:cNvSpPr/>
          <p:nvPr/>
        </p:nvSpPr>
        <p:spPr>
          <a:xfrm>
            <a:off x="521222" y="1337310"/>
            <a:ext cx="25032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1" name="Google Shape;461;p60"/>
          <p:cNvSpPr/>
          <p:nvPr/>
        </p:nvSpPr>
        <p:spPr>
          <a:xfrm>
            <a:off x="521222" y="1337310"/>
            <a:ext cx="2503200" cy="123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2" name="Google Shape;462;p60"/>
          <p:cNvSpPr txBox="1"/>
          <p:nvPr/>
        </p:nvSpPr>
        <p:spPr>
          <a:xfrm>
            <a:off x="644669" y="1515618"/>
            <a:ext cx="2256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579471"/>
                </a:solidFill>
                <a:latin typeface="Microsoft YaHei"/>
                <a:ea typeface="Microsoft YaHei"/>
                <a:cs typeface="Microsoft YaHei"/>
                <a:sym typeface="Microsoft YaHei"/>
              </a:rPr>
              <a:t>你们的任务</a:t>
            </a:r>
            <a:endParaRPr sz="1100"/>
          </a:p>
        </p:txBody>
      </p:sp>
      <p:sp>
        <p:nvSpPr>
          <p:cNvPr id="463" name="Google Shape;463;p60"/>
          <p:cNvSpPr txBox="1"/>
          <p:nvPr/>
        </p:nvSpPr>
        <p:spPr>
          <a:xfrm>
            <a:off x="644669" y="1803654"/>
            <a:ext cx="2256300" cy="1265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从课文中找出相关动作、语言或语气。</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组内先统一一个观点，再准备30秒陈述。</a:t>
            </a:r>
            <a:endParaRPr sz="1100"/>
          </a:p>
        </p:txBody>
      </p:sp>
      <p:sp>
        <p:nvSpPr>
          <p:cNvPr id="464" name="Google Shape;464;p60"/>
          <p:cNvSpPr/>
          <p:nvPr/>
        </p:nvSpPr>
        <p:spPr>
          <a:xfrm>
            <a:off x="3209630" y="1337310"/>
            <a:ext cx="26403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5" name="Google Shape;465;p60"/>
          <p:cNvSpPr/>
          <p:nvPr/>
        </p:nvSpPr>
        <p:spPr>
          <a:xfrm>
            <a:off x="3209630" y="1337310"/>
            <a:ext cx="2640300" cy="123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6" name="Google Shape;466;p60"/>
          <p:cNvSpPr txBox="1"/>
          <p:nvPr/>
        </p:nvSpPr>
        <p:spPr>
          <a:xfrm>
            <a:off x="3333077" y="1515618"/>
            <a:ext cx="23937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579471"/>
                </a:solidFill>
                <a:latin typeface="Microsoft YaHei"/>
                <a:ea typeface="Microsoft YaHei"/>
                <a:cs typeface="Microsoft YaHei"/>
                <a:sym typeface="Microsoft YaHei"/>
              </a:rPr>
              <a:t>陈述模板</a:t>
            </a:r>
            <a:endParaRPr sz="1100"/>
          </a:p>
        </p:txBody>
      </p:sp>
      <p:sp>
        <p:nvSpPr>
          <p:cNvPr id="467" name="Google Shape;467;p60"/>
          <p:cNvSpPr txBox="1"/>
          <p:nvPr/>
        </p:nvSpPr>
        <p:spPr>
          <a:xfrm>
            <a:off x="3333077" y="1803654"/>
            <a:ext cx="23937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我们的结论是：________。</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文本证据是：________。</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这说明：________。</a:t>
            </a:r>
            <a:endParaRPr sz="1100"/>
          </a:p>
        </p:txBody>
      </p:sp>
      <p:sp>
        <p:nvSpPr>
          <p:cNvPr id="468" name="Google Shape;468;p60"/>
          <p:cNvSpPr/>
          <p:nvPr/>
        </p:nvSpPr>
        <p:spPr>
          <a:xfrm>
            <a:off x="6048917" y="1337310"/>
            <a:ext cx="21261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9" name="Google Shape;469;p60"/>
          <p:cNvSpPr/>
          <p:nvPr/>
        </p:nvSpPr>
        <p:spPr>
          <a:xfrm>
            <a:off x="6048917" y="1337310"/>
            <a:ext cx="2126100" cy="123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0" name="Google Shape;470;p60"/>
          <p:cNvSpPr txBox="1"/>
          <p:nvPr/>
        </p:nvSpPr>
        <p:spPr>
          <a:xfrm>
            <a:off x="6172365" y="1515618"/>
            <a:ext cx="18792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579471"/>
                </a:solidFill>
                <a:latin typeface="Microsoft YaHei"/>
                <a:ea typeface="Microsoft YaHei"/>
                <a:cs typeface="Microsoft YaHei"/>
                <a:sym typeface="Microsoft YaHei"/>
              </a:rPr>
              <a:t>可以争论</a:t>
            </a:r>
            <a:endParaRPr sz="1100"/>
          </a:p>
        </p:txBody>
      </p:sp>
      <p:sp>
        <p:nvSpPr>
          <p:cNvPr id="471" name="Google Shape;471;p60"/>
          <p:cNvSpPr txBox="1"/>
          <p:nvPr/>
        </p:nvSpPr>
        <p:spPr>
          <a:xfrm>
            <a:off x="6172365" y="1803654"/>
            <a:ext cx="1879200" cy="1957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 奶奶是在生气吗？</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她是在保护自己吗？</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她是在维护尊严吗？</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只要有证据，你就可以提出不同解释。</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475" name="Shape 475"/>
        <p:cNvGrpSpPr/>
        <p:nvPr/>
      </p:nvGrpSpPr>
      <p:grpSpPr>
        <a:xfrm>
          <a:off x="0" y="0"/>
          <a:ext cx="0" cy="0"/>
          <a:chOff x="0" y="0"/>
          <a:chExt cx="0" cy="0"/>
        </a:xfrm>
      </p:grpSpPr>
      <p:sp>
        <p:nvSpPr>
          <p:cNvPr id="476" name="Google Shape;476;p61"/>
          <p:cNvSpPr/>
          <p:nvPr/>
        </p:nvSpPr>
        <p:spPr>
          <a:xfrm>
            <a:off x="0" y="0"/>
            <a:ext cx="9144000" cy="5349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7" name="Google Shape;477;p61"/>
          <p:cNvSpPr/>
          <p:nvPr/>
        </p:nvSpPr>
        <p:spPr>
          <a:xfrm>
            <a:off x="0" y="534924"/>
            <a:ext cx="109800" cy="4608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8" name="Google Shape;478;p61"/>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9" name="Google Shape;479;p61"/>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579471"/>
                </a:solidFill>
                <a:latin typeface="Microsoft YaHei"/>
                <a:ea typeface="Microsoft YaHei"/>
                <a:cs typeface="Microsoft YaHei"/>
                <a:sym typeface="Microsoft YaHei"/>
              </a:rPr>
              <a:t>2</a:t>
            </a:r>
            <a:endParaRPr sz="1100"/>
          </a:p>
        </p:txBody>
      </p:sp>
      <p:sp>
        <p:nvSpPr>
          <p:cNvPr id="480" name="Google Shape;480;p61"/>
          <p:cNvSpPr txBox="1"/>
          <p:nvPr/>
        </p:nvSpPr>
        <p:spPr>
          <a:xfrm>
            <a:off x="617236" y="109728"/>
            <a:ext cx="5898000" cy="434100"/>
          </a:xfrm>
          <a:prstGeom prst="rect">
            <a:avLst/>
          </a:prstGeom>
          <a:noFill/>
          <a:ln cap="flat" cmpd="sng" w="7150">
            <a:solidFill>
              <a:srgbClr val="579471"/>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活动二｜把“她很有尊严”写具体</a:t>
            </a:r>
            <a:endParaRPr sz="1100"/>
          </a:p>
        </p:txBody>
      </p:sp>
      <p:sp>
        <p:nvSpPr>
          <p:cNvPr id="481" name="Google Shape;481;p61"/>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2" name="Google Shape;482;p61"/>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不许直接出现“尊严”两个字。请把抽象判断改写成具体描写。</a:t>
            </a:r>
            <a:endParaRPr sz="1100"/>
          </a:p>
        </p:txBody>
      </p:sp>
      <p:sp>
        <p:nvSpPr>
          <p:cNvPr id="483" name="Google Shape;483;p61"/>
          <p:cNvSpPr/>
          <p:nvPr/>
        </p:nvSpPr>
        <p:spPr>
          <a:xfrm>
            <a:off x="548655" y="1337310"/>
            <a:ext cx="25377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4" name="Google Shape;484;p61"/>
          <p:cNvSpPr/>
          <p:nvPr/>
        </p:nvSpPr>
        <p:spPr>
          <a:xfrm>
            <a:off x="548655" y="1337310"/>
            <a:ext cx="2537700" cy="123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5" name="Google Shape;485;p61"/>
          <p:cNvSpPr txBox="1"/>
          <p:nvPr/>
        </p:nvSpPr>
        <p:spPr>
          <a:xfrm>
            <a:off x="672102" y="1515618"/>
            <a:ext cx="22905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579471"/>
                </a:solidFill>
                <a:latin typeface="Microsoft YaHei"/>
                <a:ea typeface="Microsoft YaHei"/>
                <a:cs typeface="Microsoft YaHei"/>
                <a:sym typeface="Microsoft YaHei"/>
              </a:rPr>
              <a:t>先看这种写法</a:t>
            </a:r>
            <a:endParaRPr sz="1100"/>
          </a:p>
        </p:txBody>
      </p:sp>
      <p:sp>
        <p:nvSpPr>
          <p:cNvPr id="486" name="Google Shape;486;p61"/>
          <p:cNvSpPr txBox="1"/>
          <p:nvPr/>
        </p:nvSpPr>
        <p:spPr>
          <a:xfrm>
            <a:off x="672102" y="1803654"/>
            <a:ext cx="2290500" cy="7572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2100" u="none" cap="none" strike="noStrike">
                <a:solidFill>
                  <a:srgbClr val="2D2D2D"/>
                </a:solidFill>
                <a:latin typeface="Microsoft YaHei"/>
                <a:ea typeface="Microsoft YaHei"/>
                <a:cs typeface="Microsoft YaHei"/>
                <a:sym typeface="Microsoft YaHei"/>
              </a:rPr>
              <a:t>奶奶是一个很有尊严的人。</a:t>
            </a:r>
            <a:endParaRPr sz="1100"/>
          </a:p>
        </p:txBody>
      </p:sp>
      <p:sp>
        <p:nvSpPr>
          <p:cNvPr id="487" name="Google Shape;487;p61"/>
          <p:cNvSpPr/>
          <p:nvPr/>
        </p:nvSpPr>
        <p:spPr>
          <a:xfrm>
            <a:off x="3326219" y="1337310"/>
            <a:ext cx="27090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8" name="Google Shape;488;p61"/>
          <p:cNvSpPr/>
          <p:nvPr/>
        </p:nvSpPr>
        <p:spPr>
          <a:xfrm>
            <a:off x="3326219" y="1337310"/>
            <a:ext cx="2709000" cy="123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9" name="Google Shape;489;p61"/>
          <p:cNvSpPr txBox="1"/>
          <p:nvPr/>
        </p:nvSpPr>
        <p:spPr>
          <a:xfrm>
            <a:off x="3449666" y="1515618"/>
            <a:ext cx="24621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579471"/>
                </a:solidFill>
                <a:latin typeface="Microsoft YaHei"/>
                <a:ea typeface="Microsoft YaHei"/>
                <a:cs typeface="Microsoft YaHei"/>
                <a:sym typeface="Microsoft YaHei"/>
              </a:rPr>
              <a:t>你的改写目标</a:t>
            </a:r>
            <a:endParaRPr sz="1100"/>
          </a:p>
        </p:txBody>
      </p:sp>
      <p:sp>
        <p:nvSpPr>
          <p:cNvPr id="490" name="Google Shape;490;p61"/>
          <p:cNvSpPr txBox="1"/>
          <p:nvPr/>
        </p:nvSpPr>
        <p:spPr>
          <a:xfrm>
            <a:off x="3449666" y="1803654"/>
            <a:ext cx="2462100" cy="1496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换成：</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她做了什么</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她说了什么</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她的语气怎样</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让读者自己看出来。</a:t>
            </a:r>
            <a:endParaRPr sz="1100"/>
          </a:p>
        </p:txBody>
      </p:sp>
      <p:sp>
        <p:nvSpPr>
          <p:cNvPr id="491" name="Google Shape;491;p61"/>
          <p:cNvSpPr/>
          <p:nvPr/>
        </p:nvSpPr>
        <p:spPr>
          <a:xfrm>
            <a:off x="6240951" y="1337300"/>
            <a:ext cx="23517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92" name="Google Shape;492;p61"/>
          <p:cNvSpPr/>
          <p:nvPr/>
        </p:nvSpPr>
        <p:spPr>
          <a:xfrm>
            <a:off x="6240946" y="1337310"/>
            <a:ext cx="1920300" cy="123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93" name="Google Shape;493;p61"/>
          <p:cNvSpPr txBox="1"/>
          <p:nvPr/>
        </p:nvSpPr>
        <p:spPr>
          <a:xfrm>
            <a:off x="6364394" y="1515618"/>
            <a:ext cx="16734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579471"/>
                </a:solidFill>
                <a:latin typeface="Microsoft YaHei"/>
                <a:ea typeface="Microsoft YaHei"/>
                <a:cs typeface="Microsoft YaHei"/>
                <a:sym typeface="Microsoft YaHei"/>
              </a:rPr>
              <a:t>句型支架</a:t>
            </a:r>
            <a:endParaRPr sz="1100"/>
          </a:p>
        </p:txBody>
      </p:sp>
      <p:sp>
        <p:nvSpPr>
          <p:cNvPr id="494" name="Google Shape;494;p61"/>
          <p:cNvSpPr txBox="1"/>
          <p:nvPr/>
        </p:nvSpPr>
        <p:spPr>
          <a:xfrm>
            <a:off x="6364401" y="1803650"/>
            <a:ext cx="19203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FF0000"/>
                </a:solidFill>
                <a:latin typeface="Microsoft YaHei"/>
                <a:ea typeface="Microsoft YaHei"/>
                <a:cs typeface="Microsoft YaHei"/>
                <a:sym typeface="Microsoft YaHei"/>
              </a:rPr>
              <a:t>她没有________，</a:t>
            </a:r>
            <a:br>
              <a:rPr b="0" i="0" lang="zh-CN" sz="1500" u="none" cap="none" strike="noStrike">
                <a:solidFill>
                  <a:srgbClr val="FF0000"/>
                </a:solidFill>
                <a:latin typeface="Microsoft YaHei"/>
                <a:ea typeface="Microsoft YaHei"/>
                <a:cs typeface="Microsoft YaHei"/>
                <a:sym typeface="Microsoft YaHei"/>
              </a:rPr>
            </a:br>
            <a:r>
              <a:rPr b="0" i="0" lang="zh-CN" sz="1500" u="none" cap="none" strike="noStrike">
                <a:solidFill>
                  <a:srgbClr val="FF0000"/>
                </a:solidFill>
                <a:latin typeface="Microsoft YaHei"/>
                <a:ea typeface="Microsoft YaHei"/>
                <a:cs typeface="Microsoft YaHei"/>
                <a:sym typeface="Microsoft YaHei"/>
              </a:rPr>
              <a:t>只让________。</a:t>
            </a:r>
            <a:br>
              <a:rPr b="0" i="0" lang="zh-CN" sz="1500" u="none" cap="none" strike="noStrike">
                <a:solidFill>
                  <a:srgbClr val="FF0000"/>
                </a:solidFill>
                <a:latin typeface="Microsoft YaHei"/>
                <a:ea typeface="Microsoft YaHei"/>
                <a:cs typeface="Microsoft YaHei"/>
                <a:sym typeface="Microsoft YaHei"/>
              </a:rPr>
            </a:br>
            <a:r>
              <a:rPr b="0" i="0" lang="zh-CN" sz="1500" u="none" cap="none" strike="noStrike">
                <a:solidFill>
                  <a:srgbClr val="FF0000"/>
                </a:solidFill>
                <a:latin typeface="Microsoft YaHei"/>
                <a:ea typeface="Microsoft YaHei"/>
                <a:cs typeface="Microsoft YaHei"/>
                <a:sym typeface="Microsoft YaHei"/>
              </a:rPr>
              <a:t>她说“________”，</a:t>
            </a:r>
            <a:br>
              <a:rPr b="0" i="0" lang="zh-CN" sz="1500" u="none" cap="none" strike="noStrike">
                <a:solidFill>
                  <a:srgbClr val="FF0000"/>
                </a:solidFill>
                <a:latin typeface="Microsoft YaHei"/>
                <a:ea typeface="Microsoft YaHei"/>
                <a:cs typeface="Microsoft YaHei"/>
                <a:sym typeface="Microsoft YaHei"/>
              </a:rPr>
            </a:br>
            <a:r>
              <a:rPr b="0" i="0" lang="zh-CN" sz="1500" u="none" cap="none" strike="noStrike">
                <a:solidFill>
                  <a:srgbClr val="FF0000"/>
                </a:solidFill>
                <a:latin typeface="Microsoft YaHei"/>
                <a:ea typeface="Microsoft YaHei"/>
                <a:cs typeface="Microsoft YaHei"/>
                <a:sym typeface="Microsoft YaHei"/>
              </a:rPr>
              <a:t>让我感到________。</a:t>
            </a:r>
            <a:endParaRPr sz="1100">
              <a:solidFill>
                <a:srgbClr val="FF0000"/>
              </a:solidFill>
            </a:endParaRPr>
          </a:p>
        </p:txBody>
      </p:sp>
      <p:sp>
        <p:nvSpPr>
          <p:cNvPr id="495" name="Google Shape;495;p61"/>
          <p:cNvSpPr txBox="1"/>
          <p:nvPr/>
        </p:nvSpPr>
        <p:spPr>
          <a:xfrm>
            <a:off x="582946" y="4217670"/>
            <a:ext cx="7818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300" u="none" cap="none" strike="noStrike">
                <a:solidFill>
                  <a:srgbClr val="5C5C5C"/>
                </a:solidFill>
                <a:latin typeface="Microsoft YaHei"/>
                <a:ea typeface="Microsoft YaHei"/>
                <a:cs typeface="Microsoft YaHei"/>
                <a:sym typeface="Microsoft YaHei"/>
              </a:rPr>
              <a:t>可配合课本 p13 人物性格表格：先圈出你认为最重要的性格，再用证据支持。</a:t>
            </a:r>
            <a:endParaRPr sz="1100"/>
          </a:p>
        </p:txBody>
      </p:sp>
      <p:sp>
        <p:nvSpPr>
          <p:cNvPr id="496" name="Google Shape;496;p61"/>
          <p:cNvSpPr txBox="1"/>
          <p:nvPr/>
        </p:nvSpPr>
        <p:spPr>
          <a:xfrm>
            <a:off x="318252" y="4839775"/>
            <a:ext cx="70344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第2课 | 细节证明</a:t>
            </a:r>
            <a:endParaRPr sz="1100"/>
          </a:p>
        </p:txBody>
      </p:sp>
      <p:pic>
        <p:nvPicPr>
          <p:cNvPr descr="5 Minute Countdown Timer with Music For Kids! This is an awesome 5 minute timer for children, kids, and adults! Countdown Timer with music for classroom, preschool, youth group, workout! In this easy countdown timer video, we included calm, relaxing, and peaceful music! Free 5 minute countdown timer! Best HD, high quality timer! &#10;&#10;Please subscribe for more videos!&#10;&#10;Great for all purpose! So what is a countdown you may ask, well in the dictionary, countdown is definited as: a number to mark the time remaining before an event; also : preparations carried on during such a count. An easier way of defining it is: the process of counting off backward in fixed units (as seconds) the time remaining before an event. Also, a timer is: a clocklike device that turns something on or off at a set time or gives a signal at the end of a period of time.&#10;&#10;We can also relate this to a clock, hourglass, metronome, timepiece. Things associated to countdowns and timers are: pendulum, stopwatch, sundial, ticker, timekeeper, timemarker, watch, chronometer, chronograph, timepiece!" id="497" name="Google Shape;497;p61" title="5 Minute Countdown Timer with Music For Kids!">
            <a:hlinkClick r:id="rId3"/>
          </p:cNvPr>
          <p:cNvPicPr preferRelativeResize="0"/>
          <p:nvPr/>
        </p:nvPicPr>
        <p:blipFill>
          <a:blip r:embed="rId4">
            <a:alphaModFix/>
          </a:blip>
          <a:stretch>
            <a:fillRect/>
          </a:stretch>
        </p:blipFill>
        <p:spPr>
          <a:xfrm>
            <a:off x="7238875" y="4079078"/>
            <a:ext cx="1920300" cy="10801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501" name="Shape 501"/>
        <p:cNvGrpSpPr/>
        <p:nvPr/>
      </p:nvGrpSpPr>
      <p:grpSpPr>
        <a:xfrm>
          <a:off x="0" y="0"/>
          <a:ext cx="0" cy="0"/>
          <a:chOff x="0" y="0"/>
          <a:chExt cx="0" cy="0"/>
        </a:xfrm>
      </p:grpSpPr>
      <p:sp>
        <p:nvSpPr>
          <p:cNvPr id="502" name="Google Shape;502;p62"/>
          <p:cNvSpPr/>
          <p:nvPr/>
        </p:nvSpPr>
        <p:spPr>
          <a:xfrm>
            <a:off x="0" y="0"/>
            <a:ext cx="9144000" cy="5349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3" name="Google Shape;503;p62"/>
          <p:cNvSpPr/>
          <p:nvPr/>
        </p:nvSpPr>
        <p:spPr>
          <a:xfrm>
            <a:off x="0" y="534924"/>
            <a:ext cx="109800" cy="4608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4" name="Google Shape;504;p62"/>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5" name="Google Shape;505;p62"/>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579471"/>
                </a:solidFill>
                <a:latin typeface="Microsoft YaHei"/>
                <a:ea typeface="Microsoft YaHei"/>
                <a:cs typeface="Microsoft YaHei"/>
                <a:sym typeface="Microsoft YaHei"/>
              </a:rPr>
              <a:t>2</a:t>
            </a:r>
            <a:endParaRPr sz="1100"/>
          </a:p>
        </p:txBody>
      </p:sp>
      <p:sp>
        <p:nvSpPr>
          <p:cNvPr id="506" name="Google Shape;506;p62"/>
          <p:cNvSpPr txBox="1"/>
          <p:nvPr/>
        </p:nvSpPr>
        <p:spPr>
          <a:xfrm>
            <a:off x="617236" y="109728"/>
            <a:ext cx="5898000" cy="434100"/>
          </a:xfrm>
          <a:prstGeom prst="rect">
            <a:avLst/>
          </a:prstGeom>
          <a:noFill/>
          <a:ln cap="flat" cmpd="sng" w="7150">
            <a:solidFill>
              <a:srgbClr val="579471"/>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Exit Ticket｜一个细节，照亮一个人</a:t>
            </a:r>
            <a:endParaRPr sz="1100"/>
          </a:p>
        </p:txBody>
      </p:sp>
      <p:sp>
        <p:nvSpPr>
          <p:cNvPr id="507" name="Google Shape;507;p62"/>
          <p:cNvSpPr/>
          <p:nvPr/>
        </p:nvSpPr>
        <p:spPr>
          <a:xfrm>
            <a:off x="754400" y="1405889"/>
            <a:ext cx="7475400" cy="171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8" name="Google Shape;508;p62"/>
          <p:cNvSpPr/>
          <p:nvPr/>
        </p:nvSpPr>
        <p:spPr>
          <a:xfrm>
            <a:off x="754400" y="1405889"/>
            <a:ext cx="7475400" cy="123600"/>
          </a:xfrm>
          <a:prstGeom prst="rect">
            <a:avLst/>
          </a:prstGeom>
          <a:solidFill>
            <a:srgbClr val="579471"/>
          </a:solidFill>
          <a:ln cap="flat" cmpd="sng" w="7150">
            <a:solidFill>
              <a:srgbClr val="579471"/>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9" name="Google Shape;509;p62"/>
          <p:cNvSpPr txBox="1"/>
          <p:nvPr/>
        </p:nvSpPr>
        <p:spPr>
          <a:xfrm>
            <a:off x="877847" y="1584197"/>
            <a:ext cx="72285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579471"/>
                </a:solidFill>
                <a:latin typeface="Microsoft YaHei"/>
                <a:ea typeface="Microsoft YaHei"/>
                <a:cs typeface="Microsoft YaHei"/>
                <a:sym typeface="Microsoft YaHei"/>
              </a:rPr>
              <a:t>请完成这句话</a:t>
            </a:r>
            <a:endParaRPr sz="1100"/>
          </a:p>
        </p:txBody>
      </p:sp>
      <p:sp>
        <p:nvSpPr>
          <p:cNvPr id="510" name="Google Shape;510;p62"/>
          <p:cNvSpPr txBox="1"/>
          <p:nvPr/>
        </p:nvSpPr>
        <p:spPr>
          <a:xfrm>
            <a:off x="877847" y="1872233"/>
            <a:ext cx="7228500" cy="665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800" u="none" cap="none" strike="noStrike">
                <a:solidFill>
                  <a:srgbClr val="2D2D2D"/>
                </a:solidFill>
                <a:latin typeface="Microsoft YaHei"/>
                <a:ea typeface="Microsoft YaHei"/>
                <a:cs typeface="Microsoft YaHei"/>
                <a:sym typeface="Microsoft YaHei"/>
              </a:rPr>
              <a:t>目前为止，最能表现假黎婆性格的一个细节是________，</a:t>
            </a:r>
            <a:br>
              <a:rPr b="0" i="0" lang="zh-CN" sz="1800" u="none" cap="none" strike="noStrike">
                <a:solidFill>
                  <a:srgbClr val="2D2D2D"/>
                </a:solidFill>
                <a:latin typeface="Microsoft YaHei"/>
                <a:ea typeface="Microsoft YaHei"/>
                <a:cs typeface="Microsoft YaHei"/>
                <a:sym typeface="Microsoft YaHei"/>
              </a:rPr>
            </a:br>
            <a:r>
              <a:rPr b="0" i="0" lang="zh-CN" sz="1800" u="none" cap="none" strike="noStrike">
                <a:solidFill>
                  <a:srgbClr val="2D2D2D"/>
                </a:solidFill>
                <a:latin typeface="Microsoft YaHei"/>
                <a:ea typeface="Microsoft YaHei"/>
                <a:cs typeface="Microsoft YaHei"/>
                <a:sym typeface="Microsoft YaHei"/>
              </a:rPr>
              <a:t>因为这个细节让读者感受到________。</a:t>
            </a:r>
            <a:endParaRPr sz="1100"/>
          </a:p>
        </p:txBody>
      </p:sp>
      <p:sp>
        <p:nvSpPr>
          <p:cNvPr id="511" name="Google Shape;511;p62"/>
          <p:cNvSpPr txBox="1"/>
          <p:nvPr/>
        </p:nvSpPr>
        <p:spPr>
          <a:xfrm>
            <a:off x="384127" y="4816551"/>
            <a:ext cx="73236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第2课 | Exit Ticket</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515" name="Shape 515"/>
        <p:cNvGrpSpPr/>
        <p:nvPr/>
      </p:nvGrpSpPr>
      <p:grpSpPr>
        <a:xfrm>
          <a:off x="0" y="0"/>
          <a:ext cx="0" cy="0"/>
          <a:chOff x="0" y="0"/>
          <a:chExt cx="0" cy="0"/>
        </a:xfrm>
      </p:grpSpPr>
      <p:sp>
        <p:nvSpPr>
          <p:cNvPr id="516" name="Google Shape;516;p63"/>
          <p:cNvSpPr/>
          <p:nvPr/>
        </p:nvSpPr>
        <p:spPr>
          <a:xfrm>
            <a:off x="0" y="0"/>
            <a:ext cx="9144000" cy="5349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17" name="Google Shape;517;p63"/>
          <p:cNvSpPr/>
          <p:nvPr/>
        </p:nvSpPr>
        <p:spPr>
          <a:xfrm>
            <a:off x="0" y="534924"/>
            <a:ext cx="109800" cy="4608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18" name="Google Shape;518;p63"/>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19" name="Google Shape;519;p63"/>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D18C47"/>
                </a:solidFill>
                <a:latin typeface="Microsoft YaHei"/>
                <a:ea typeface="Microsoft YaHei"/>
                <a:cs typeface="Microsoft YaHei"/>
                <a:sym typeface="Microsoft YaHei"/>
              </a:rPr>
              <a:t>3</a:t>
            </a:r>
            <a:endParaRPr sz="1100"/>
          </a:p>
        </p:txBody>
      </p:sp>
      <p:sp>
        <p:nvSpPr>
          <p:cNvPr id="520" name="Google Shape;520;p63"/>
          <p:cNvSpPr txBox="1"/>
          <p:nvPr/>
        </p:nvSpPr>
        <p:spPr>
          <a:xfrm>
            <a:off x="617236" y="109728"/>
            <a:ext cx="5898000" cy="434100"/>
          </a:xfrm>
          <a:prstGeom prst="rect">
            <a:avLst/>
          </a:prstGeom>
          <a:noFill/>
          <a:ln cap="flat" cmpd="sng" w="7150">
            <a:solidFill>
              <a:srgbClr val="D18C4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第 3 课  |  上山以后，奶奶为什么“变了”？</a:t>
            </a:r>
            <a:endParaRPr sz="1100"/>
          </a:p>
        </p:txBody>
      </p:sp>
      <p:sp>
        <p:nvSpPr>
          <p:cNvPr id="521" name="Google Shape;521;p63"/>
          <p:cNvSpPr txBox="1"/>
          <p:nvPr/>
        </p:nvSpPr>
        <p:spPr>
          <a:xfrm>
            <a:off x="7338256" y="123444"/>
            <a:ext cx="1371600" cy="249300"/>
          </a:xfrm>
          <a:prstGeom prst="rect">
            <a:avLst/>
          </a:prstGeom>
          <a:noFill/>
          <a:ln cap="flat" cmpd="sng" w="7150">
            <a:solidFill>
              <a:srgbClr val="D18C4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r">
              <a:spcBef>
                <a:spcPts val="0"/>
              </a:spcBef>
              <a:spcAft>
                <a:spcPts val="0"/>
              </a:spcAft>
              <a:buNone/>
            </a:pPr>
            <a:r>
              <a:rPr b="0" i="0" lang="zh-CN" sz="900" u="none" cap="none" strike="noStrike">
                <a:solidFill>
                  <a:srgbClr val="FFFFFF"/>
                </a:solidFill>
                <a:latin typeface="Microsoft YaHei"/>
                <a:ea typeface="Microsoft YaHei"/>
                <a:cs typeface="Microsoft YaHei"/>
                <a:sym typeface="Microsoft YaHei"/>
              </a:rPr>
              <a:t>课本 p9-10 / p15</a:t>
            </a:r>
            <a:endParaRPr sz="1100"/>
          </a:p>
        </p:txBody>
      </p:sp>
      <p:sp>
        <p:nvSpPr>
          <p:cNvPr id="522" name="Google Shape;522;p63"/>
          <p:cNvSpPr txBox="1"/>
          <p:nvPr/>
        </p:nvSpPr>
        <p:spPr>
          <a:xfrm>
            <a:off x="377200" y="720090"/>
            <a:ext cx="26061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D18C47"/>
                </a:solidFill>
                <a:latin typeface="Microsoft YaHei"/>
                <a:ea typeface="Microsoft YaHei"/>
                <a:cs typeface="Microsoft YaHei"/>
                <a:sym typeface="Microsoft YaHei"/>
              </a:rPr>
              <a:t>今天我们会……</a:t>
            </a:r>
            <a:endParaRPr sz="1100"/>
          </a:p>
        </p:txBody>
      </p:sp>
      <p:sp>
        <p:nvSpPr>
          <p:cNvPr id="523" name="Google Shape;523;p63"/>
          <p:cNvSpPr/>
          <p:nvPr/>
        </p:nvSpPr>
        <p:spPr>
          <a:xfrm>
            <a:off x="377200" y="973823"/>
            <a:ext cx="2709000" cy="15978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524" name="Google Shape;524;p63"/>
          <p:cNvSpPr txBox="1"/>
          <p:nvPr/>
        </p:nvSpPr>
        <p:spPr>
          <a:xfrm>
            <a:off x="500647" y="1056132"/>
            <a:ext cx="2427900" cy="13854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600" u="none" cap="none" strike="noStrike">
                <a:solidFill>
                  <a:srgbClr val="2D2D2D"/>
                </a:solidFill>
                <a:latin typeface="Microsoft YaHei"/>
                <a:ea typeface="Microsoft YaHei"/>
                <a:cs typeface="Microsoft YaHei"/>
                <a:sym typeface="Microsoft YaHei"/>
              </a:rPr>
              <a:t>聚焦“上山”和“唱歌”的核心场景</a:t>
            </a:r>
            <a:endParaRPr sz="1300"/>
          </a:p>
          <a:p>
            <a:pPr indent="0" lvl="0" marL="0" marR="0" rtl="0" algn="l">
              <a:spcBef>
                <a:spcPts val="600"/>
              </a:spcBef>
              <a:spcAft>
                <a:spcPts val="0"/>
              </a:spcAft>
              <a:buNone/>
            </a:pPr>
            <a:r>
              <a:rPr b="0" i="0" lang="zh-CN" sz="1600" u="none" cap="none" strike="noStrike">
                <a:solidFill>
                  <a:srgbClr val="2D2D2D"/>
                </a:solidFill>
                <a:latin typeface="Microsoft YaHei"/>
                <a:ea typeface="Microsoft YaHei"/>
                <a:cs typeface="Microsoft YaHei"/>
                <a:sym typeface="Microsoft YaHei"/>
              </a:rPr>
              <a:t>比较奶奶和“我”的情绪变化</a:t>
            </a:r>
            <a:endParaRPr sz="1300"/>
          </a:p>
          <a:p>
            <a:pPr indent="0" lvl="0" marL="0" marR="0" rtl="0" algn="l">
              <a:spcBef>
                <a:spcPts val="600"/>
              </a:spcBef>
              <a:spcAft>
                <a:spcPts val="0"/>
              </a:spcAft>
              <a:buNone/>
            </a:pPr>
            <a:r>
              <a:rPr b="0" i="0" lang="zh-CN" sz="1600" u="none" cap="none" strike="noStrike">
                <a:solidFill>
                  <a:srgbClr val="2D2D2D"/>
                </a:solidFill>
                <a:latin typeface="Microsoft YaHei"/>
                <a:ea typeface="Microsoft YaHei"/>
                <a:cs typeface="Microsoft YaHei"/>
                <a:sym typeface="Microsoft YaHei"/>
              </a:rPr>
              <a:t>用“文化冰山”解释一个场景的深层意义</a:t>
            </a:r>
            <a:endParaRPr sz="1300"/>
          </a:p>
        </p:txBody>
      </p:sp>
      <p:sp>
        <p:nvSpPr>
          <p:cNvPr id="525" name="Google Shape;525;p63"/>
          <p:cNvSpPr txBox="1"/>
          <p:nvPr/>
        </p:nvSpPr>
        <p:spPr>
          <a:xfrm>
            <a:off x="3257637" y="720090"/>
            <a:ext cx="26061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D18C47"/>
                </a:solidFill>
                <a:latin typeface="Microsoft YaHei"/>
                <a:ea typeface="Microsoft YaHei"/>
                <a:cs typeface="Microsoft YaHei"/>
                <a:sym typeface="Microsoft YaHei"/>
              </a:rPr>
              <a:t>学习目标</a:t>
            </a:r>
            <a:endParaRPr sz="1100"/>
          </a:p>
        </p:txBody>
      </p:sp>
      <p:sp>
        <p:nvSpPr>
          <p:cNvPr id="526" name="Google Shape;526;p63"/>
          <p:cNvSpPr/>
          <p:nvPr/>
        </p:nvSpPr>
        <p:spPr>
          <a:xfrm>
            <a:off x="3257625" y="973823"/>
            <a:ext cx="2640300" cy="15978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527" name="Google Shape;527;p63"/>
          <p:cNvSpPr txBox="1"/>
          <p:nvPr/>
        </p:nvSpPr>
        <p:spPr>
          <a:xfrm>
            <a:off x="3381084" y="1056132"/>
            <a:ext cx="2462100" cy="8619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700" u="none" cap="none" strike="noStrike">
                <a:solidFill>
                  <a:srgbClr val="2D2D2D"/>
                </a:solidFill>
                <a:latin typeface="Microsoft YaHei"/>
                <a:ea typeface="Microsoft YaHei"/>
                <a:cs typeface="Microsoft YaHei"/>
                <a:sym typeface="Microsoft YaHei"/>
              </a:rPr>
              <a:t>我能概括场景中的变化</a:t>
            </a:r>
            <a:endParaRPr/>
          </a:p>
          <a:p>
            <a:pPr indent="0" lvl="0" marL="0" marR="0" rtl="0" algn="l">
              <a:spcBef>
                <a:spcPts val="600"/>
              </a:spcBef>
              <a:spcAft>
                <a:spcPts val="0"/>
              </a:spcAft>
              <a:buNone/>
            </a:pPr>
            <a:r>
              <a:rPr b="0" i="0" lang="zh-CN" sz="1700" u="none" cap="none" strike="noStrike">
                <a:solidFill>
                  <a:srgbClr val="2D2D2D"/>
                </a:solidFill>
                <a:latin typeface="Microsoft YaHei"/>
                <a:ea typeface="Microsoft YaHei"/>
                <a:cs typeface="Microsoft YaHei"/>
                <a:sym typeface="Microsoft YaHei"/>
              </a:rPr>
              <a:t>我能分析“我”的反应和奶奶的转变</a:t>
            </a:r>
            <a:endParaRPr/>
          </a:p>
        </p:txBody>
      </p:sp>
      <p:sp>
        <p:nvSpPr>
          <p:cNvPr id="528" name="Google Shape;528;p63"/>
          <p:cNvSpPr txBox="1"/>
          <p:nvPr/>
        </p:nvSpPr>
        <p:spPr>
          <a:xfrm>
            <a:off x="6138073" y="720090"/>
            <a:ext cx="26745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D18C47"/>
                </a:solidFill>
                <a:latin typeface="Microsoft YaHei"/>
                <a:ea typeface="Microsoft YaHei"/>
                <a:cs typeface="Microsoft YaHei"/>
                <a:sym typeface="Microsoft YaHei"/>
              </a:rPr>
              <a:t>成功标准</a:t>
            </a:r>
            <a:endParaRPr sz="1100"/>
          </a:p>
        </p:txBody>
      </p:sp>
      <p:sp>
        <p:nvSpPr>
          <p:cNvPr id="529" name="Google Shape;529;p63"/>
          <p:cNvSpPr/>
          <p:nvPr/>
        </p:nvSpPr>
        <p:spPr>
          <a:xfrm>
            <a:off x="6138075" y="973823"/>
            <a:ext cx="2640300" cy="15978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530" name="Google Shape;530;p63"/>
          <p:cNvSpPr txBox="1"/>
          <p:nvPr/>
        </p:nvSpPr>
        <p:spPr>
          <a:xfrm>
            <a:off x="6261520" y="1056132"/>
            <a:ext cx="2393700" cy="13083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600" u="none" cap="none" strike="noStrike">
                <a:solidFill>
                  <a:srgbClr val="2D2D2D"/>
                </a:solidFill>
                <a:latin typeface="Microsoft YaHei"/>
                <a:ea typeface="Microsoft YaHei"/>
                <a:cs typeface="Microsoft YaHei"/>
                <a:sym typeface="Microsoft YaHei"/>
              </a:rPr>
              <a:t>我能解释：为什么最“像自己”的奶奶，反而让“我”害怕</a:t>
            </a:r>
            <a:endParaRPr/>
          </a:p>
          <a:p>
            <a:pPr indent="0" lvl="0" marL="0" marR="0" rtl="0" algn="l">
              <a:spcBef>
                <a:spcPts val="600"/>
              </a:spcBef>
              <a:spcAft>
                <a:spcPts val="0"/>
              </a:spcAft>
              <a:buNone/>
            </a:pPr>
            <a:r>
              <a:rPr b="0" i="0" lang="zh-CN" sz="1600" u="none" cap="none" strike="noStrike">
                <a:solidFill>
                  <a:srgbClr val="2D2D2D"/>
                </a:solidFill>
                <a:latin typeface="Microsoft YaHei"/>
                <a:ea typeface="Microsoft YaHei"/>
                <a:cs typeface="Microsoft YaHei"/>
                <a:sym typeface="Microsoft YaHei"/>
              </a:rPr>
              <a:t>我能把场景放回文化身份的主题中理解</a:t>
            </a:r>
            <a:endParaRPr/>
          </a:p>
        </p:txBody>
      </p:sp>
      <p:sp>
        <p:nvSpPr>
          <p:cNvPr id="531" name="Google Shape;531;p63"/>
          <p:cNvSpPr/>
          <p:nvPr/>
        </p:nvSpPr>
        <p:spPr>
          <a:xfrm>
            <a:off x="377200" y="2811779"/>
            <a:ext cx="8401200" cy="123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32" name="Google Shape;532;p63"/>
          <p:cNvSpPr txBox="1"/>
          <p:nvPr/>
        </p:nvSpPr>
        <p:spPr>
          <a:xfrm>
            <a:off x="562371" y="3003804"/>
            <a:ext cx="1028700" cy="449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100" u="none" cap="none" strike="noStrike">
                <a:solidFill>
                  <a:srgbClr val="D18C47"/>
                </a:solidFill>
                <a:latin typeface="Microsoft YaHei"/>
                <a:ea typeface="Microsoft YaHei"/>
                <a:cs typeface="Microsoft YaHei"/>
                <a:sym typeface="Microsoft YaHei"/>
              </a:rPr>
              <a:t>带着问题进入课堂</a:t>
            </a:r>
            <a:endParaRPr sz="1100"/>
          </a:p>
        </p:txBody>
      </p:sp>
      <p:sp>
        <p:nvSpPr>
          <p:cNvPr id="533" name="Google Shape;533;p63"/>
          <p:cNvSpPr txBox="1"/>
          <p:nvPr/>
        </p:nvSpPr>
        <p:spPr>
          <a:xfrm>
            <a:off x="1577382" y="2880360"/>
            <a:ext cx="6858300" cy="4188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l">
              <a:spcBef>
                <a:spcPts val="0"/>
              </a:spcBef>
              <a:spcAft>
                <a:spcPts val="0"/>
              </a:spcAft>
              <a:buNone/>
            </a:pPr>
            <a:r>
              <a:rPr b="1" i="0" lang="zh-CN" sz="2000" u="none" cap="none" strike="noStrike">
                <a:solidFill>
                  <a:srgbClr val="2D2D2D"/>
                </a:solidFill>
                <a:latin typeface="Microsoft YaHei"/>
                <a:ea typeface="Microsoft YaHei"/>
                <a:cs typeface="Microsoft YaHei"/>
                <a:sym typeface="Microsoft YaHei"/>
              </a:rPr>
              <a:t>上山以后，奶奶为什么“变了”？</a:t>
            </a:r>
            <a:endParaRPr sz="1100"/>
          </a:p>
        </p:txBody>
      </p:sp>
      <p:sp>
        <p:nvSpPr>
          <p:cNvPr id="534" name="Google Shape;534;p63"/>
          <p:cNvSpPr txBox="1"/>
          <p:nvPr/>
        </p:nvSpPr>
        <p:spPr>
          <a:xfrm>
            <a:off x="1577382" y="3497580"/>
            <a:ext cx="6789600" cy="2955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200" u="none" cap="none" strike="noStrike">
                <a:solidFill>
                  <a:srgbClr val="5C5C5C"/>
                </a:solidFill>
                <a:latin typeface="Microsoft YaHei"/>
                <a:ea typeface="Microsoft YaHei"/>
                <a:cs typeface="Microsoft YaHei"/>
                <a:sym typeface="Microsoft YaHei"/>
              </a:rPr>
              <a:t>先观察，再判断；先找证据，再下结论。</a:t>
            </a:r>
            <a:endParaRPr sz="1100"/>
          </a:p>
        </p:txBody>
      </p:sp>
      <p:sp>
        <p:nvSpPr>
          <p:cNvPr id="535" name="Google Shape;535;p63"/>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3 课</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539" name="Shape 539"/>
        <p:cNvGrpSpPr/>
        <p:nvPr/>
      </p:nvGrpSpPr>
      <p:grpSpPr>
        <a:xfrm>
          <a:off x="0" y="0"/>
          <a:ext cx="0" cy="0"/>
          <a:chOff x="0" y="0"/>
          <a:chExt cx="0" cy="0"/>
        </a:xfrm>
      </p:grpSpPr>
      <p:sp>
        <p:nvSpPr>
          <p:cNvPr id="540" name="Google Shape;540;p64"/>
          <p:cNvSpPr/>
          <p:nvPr/>
        </p:nvSpPr>
        <p:spPr>
          <a:xfrm>
            <a:off x="0" y="0"/>
            <a:ext cx="9144000" cy="5349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41" name="Google Shape;541;p64"/>
          <p:cNvSpPr/>
          <p:nvPr/>
        </p:nvSpPr>
        <p:spPr>
          <a:xfrm>
            <a:off x="0" y="534924"/>
            <a:ext cx="109800" cy="4608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42" name="Google Shape;542;p64"/>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43" name="Google Shape;543;p64"/>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D18C47"/>
                </a:solidFill>
                <a:latin typeface="Microsoft YaHei"/>
                <a:ea typeface="Microsoft YaHei"/>
                <a:cs typeface="Microsoft YaHei"/>
                <a:sym typeface="Microsoft YaHei"/>
              </a:rPr>
              <a:t>3</a:t>
            </a:r>
            <a:endParaRPr sz="1100"/>
          </a:p>
        </p:txBody>
      </p:sp>
      <p:sp>
        <p:nvSpPr>
          <p:cNvPr id="544" name="Google Shape;544;p64"/>
          <p:cNvSpPr txBox="1"/>
          <p:nvPr/>
        </p:nvSpPr>
        <p:spPr>
          <a:xfrm>
            <a:off x="617236" y="109728"/>
            <a:ext cx="5898000" cy="434100"/>
          </a:xfrm>
          <a:prstGeom prst="rect">
            <a:avLst/>
          </a:prstGeom>
          <a:noFill/>
          <a:ln cap="flat" cmpd="sng" w="7150">
            <a:solidFill>
              <a:srgbClr val="D18C4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热身活动｜情绪折线</a:t>
            </a:r>
            <a:endParaRPr sz="1100"/>
          </a:p>
        </p:txBody>
      </p:sp>
      <p:sp>
        <p:nvSpPr>
          <p:cNvPr id="545" name="Google Shape;545;p64"/>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46" name="Google Shape;546;p64"/>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请补上中间的情绪，并说明理由。</a:t>
            </a:r>
            <a:endParaRPr sz="1100"/>
          </a:p>
        </p:txBody>
      </p:sp>
      <p:sp>
        <p:nvSpPr>
          <p:cNvPr id="547" name="Google Shape;547;p64"/>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3 课</a:t>
            </a:r>
            <a:endParaRPr sz="1100"/>
          </a:p>
        </p:txBody>
      </p:sp>
      <p:sp>
        <p:nvSpPr>
          <p:cNvPr id="548" name="Google Shape;548;p64"/>
          <p:cNvSpPr/>
          <p:nvPr/>
        </p:nvSpPr>
        <p:spPr>
          <a:xfrm>
            <a:off x="548650" y="1371600"/>
            <a:ext cx="7955400" cy="1988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49" name="Google Shape;549;p64"/>
          <p:cNvSpPr/>
          <p:nvPr/>
        </p:nvSpPr>
        <p:spPr>
          <a:xfrm>
            <a:off x="548655" y="1371600"/>
            <a:ext cx="7955400" cy="123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0" name="Google Shape;550;p64"/>
          <p:cNvSpPr txBox="1"/>
          <p:nvPr/>
        </p:nvSpPr>
        <p:spPr>
          <a:xfrm>
            <a:off x="672102" y="1549908"/>
            <a:ext cx="77088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D18C47"/>
                </a:solidFill>
                <a:latin typeface="Microsoft YaHei"/>
                <a:ea typeface="Microsoft YaHei"/>
                <a:cs typeface="Microsoft YaHei"/>
                <a:sym typeface="Microsoft YaHei"/>
              </a:rPr>
              <a:t>先猜一猜</a:t>
            </a:r>
            <a:endParaRPr sz="1100"/>
          </a:p>
        </p:txBody>
      </p:sp>
      <p:sp>
        <p:nvSpPr>
          <p:cNvPr id="551" name="Google Shape;551;p64"/>
          <p:cNvSpPr txBox="1"/>
          <p:nvPr/>
        </p:nvSpPr>
        <p:spPr>
          <a:xfrm>
            <a:off x="672102" y="1837944"/>
            <a:ext cx="77088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2000" u="none" cap="none" strike="noStrike">
                <a:solidFill>
                  <a:srgbClr val="2D2D2D"/>
                </a:solidFill>
                <a:latin typeface="Microsoft YaHei"/>
                <a:ea typeface="Microsoft YaHei"/>
                <a:cs typeface="Microsoft YaHei"/>
                <a:sym typeface="Microsoft YaHei"/>
              </a:rPr>
              <a:t>奶奶：平静  →  ______  →  平静</a:t>
            </a:r>
            <a:br>
              <a:rPr b="0" i="0" lang="zh-CN" sz="2000" u="none" cap="none" strike="noStrike">
                <a:solidFill>
                  <a:srgbClr val="2D2D2D"/>
                </a:solidFill>
                <a:latin typeface="Microsoft YaHei"/>
                <a:ea typeface="Microsoft YaHei"/>
                <a:cs typeface="Microsoft YaHei"/>
                <a:sym typeface="Microsoft YaHei"/>
              </a:rPr>
            </a:br>
            <a:br>
              <a:rPr b="0" i="0" lang="zh-CN" sz="2000" u="none" cap="none" strike="noStrike">
                <a:solidFill>
                  <a:srgbClr val="2D2D2D"/>
                </a:solidFill>
                <a:latin typeface="Microsoft YaHei"/>
                <a:ea typeface="Microsoft YaHei"/>
                <a:cs typeface="Microsoft YaHei"/>
                <a:sym typeface="Microsoft YaHei"/>
              </a:rPr>
            </a:br>
            <a:r>
              <a:rPr b="0" i="0" lang="zh-CN" sz="2000" u="none" cap="none" strike="noStrike">
                <a:solidFill>
                  <a:srgbClr val="2D2D2D"/>
                </a:solidFill>
                <a:latin typeface="Microsoft YaHei"/>
                <a:ea typeface="Microsoft YaHei"/>
                <a:cs typeface="Microsoft YaHei"/>
                <a:sym typeface="Microsoft YaHei"/>
              </a:rPr>
              <a:t>“我”：亲近  →  新奇 / 紧张  →  ______</a:t>
            </a:r>
            <a:endParaRPr sz="1100"/>
          </a:p>
        </p:txBody>
      </p:sp>
      <p:sp>
        <p:nvSpPr>
          <p:cNvPr id="552" name="Google Shape;552;p64"/>
          <p:cNvSpPr txBox="1"/>
          <p:nvPr/>
        </p:nvSpPr>
        <p:spPr>
          <a:xfrm>
            <a:off x="672109" y="3867410"/>
            <a:ext cx="747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5C5C5C"/>
                </a:solidFill>
                <a:latin typeface="Microsoft YaHei"/>
                <a:ea typeface="Microsoft YaHei"/>
                <a:cs typeface="Microsoft YaHei"/>
                <a:sym typeface="Microsoft YaHei"/>
              </a:rPr>
              <a:t>今天我们要找到：是什么让奶奶“变了”？又是什么让她重新安静下来？</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556" name="Shape 556"/>
        <p:cNvGrpSpPr/>
        <p:nvPr/>
      </p:nvGrpSpPr>
      <p:grpSpPr>
        <a:xfrm>
          <a:off x="0" y="0"/>
          <a:ext cx="0" cy="0"/>
          <a:chOff x="0" y="0"/>
          <a:chExt cx="0" cy="0"/>
        </a:xfrm>
      </p:grpSpPr>
      <p:sp>
        <p:nvSpPr>
          <p:cNvPr id="557" name="Google Shape;557;p65"/>
          <p:cNvSpPr/>
          <p:nvPr/>
        </p:nvSpPr>
        <p:spPr>
          <a:xfrm>
            <a:off x="0" y="0"/>
            <a:ext cx="9144000" cy="5349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8" name="Google Shape;558;p65"/>
          <p:cNvSpPr/>
          <p:nvPr/>
        </p:nvSpPr>
        <p:spPr>
          <a:xfrm>
            <a:off x="0" y="534924"/>
            <a:ext cx="109800" cy="4608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9" name="Google Shape;559;p65"/>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60" name="Google Shape;560;p65"/>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D18C47"/>
                </a:solidFill>
                <a:latin typeface="Microsoft YaHei"/>
                <a:ea typeface="Microsoft YaHei"/>
                <a:cs typeface="Microsoft YaHei"/>
                <a:sym typeface="Microsoft YaHei"/>
              </a:rPr>
              <a:t>3</a:t>
            </a:r>
            <a:endParaRPr sz="1100"/>
          </a:p>
        </p:txBody>
      </p:sp>
      <p:sp>
        <p:nvSpPr>
          <p:cNvPr id="561" name="Google Shape;561;p65"/>
          <p:cNvSpPr txBox="1"/>
          <p:nvPr/>
        </p:nvSpPr>
        <p:spPr>
          <a:xfrm>
            <a:off x="617236" y="109728"/>
            <a:ext cx="5898000" cy="434100"/>
          </a:xfrm>
          <a:prstGeom prst="rect">
            <a:avLst/>
          </a:prstGeom>
          <a:noFill/>
          <a:ln cap="flat" cmpd="sng" w="7150">
            <a:solidFill>
              <a:srgbClr val="D18C4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活动一｜三幅定格画面</a:t>
            </a:r>
            <a:endParaRPr sz="1100"/>
          </a:p>
        </p:txBody>
      </p:sp>
      <p:sp>
        <p:nvSpPr>
          <p:cNvPr id="562" name="Google Shape;562;p65"/>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63" name="Google Shape;563;p65"/>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每组用身体或草图呈现三个瞬间，其他组用课文中的句子为它“配字幕”。</a:t>
            </a:r>
            <a:endParaRPr sz="1100"/>
          </a:p>
        </p:txBody>
      </p:sp>
      <p:sp>
        <p:nvSpPr>
          <p:cNvPr id="564" name="Google Shape;564;p65"/>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3 课</a:t>
            </a:r>
            <a:endParaRPr sz="1100"/>
          </a:p>
        </p:txBody>
      </p:sp>
      <p:sp>
        <p:nvSpPr>
          <p:cNvPr id="565" name="Google Shape;565;p65"/>
          <p:cNvSpPr/>
          <p:nvPr/>
        </p:nvSpPr>
        <p:spPr>
          <a:xfrm>
            <a:off x="534938" y="1337310"/>
            <a:ext cx="25377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66" name="Google Shape;566;p65"/>
          <p:cNvSpPr/>
          <p:nvPr/>
        </p:nvSpPr>
        <p:spPr>
          <a:xfrm>
            <a:off x="534938" y="1337310"/>
            <a:ext cx="2537700" cy="123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67" name="Google Shape;567;p65"/>
          <p:cNvSpPr txBox="1"/>
          <p:nvPr/>
        </p:nvSpPr>
        <p:spPr>
          <a:xfrm>
            <a:off x="658386" y="1515618"/>
            <a:ext cx="22905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D18C47"/>
                </a:solidFill>
                <a:latin typeface="Microsoft YaHei"/>
                <a:ea typeface="Microsoft YaHei"/>
                <a:cs typeface="Microsoft YaHei"/>
                <a:sym typeface="Microsoft YaHei"/>
              </a:rPr>
              <a:t>画面一</a:t>
            </a:r>
            <a:endParaRPr sz="1100"/>
          </a:p>
        </p:txBody>
      </p:sp>
      <p:sp>
        <p:nvSpPr>
          <p:cNvPr id="568" name="Google Shape;568;p65"/>
          <p:cNvSpPr txBox="1"/>
          <p:nvPr/>
        </p:nvSpPr>
        <p:spPr>
          <a:xfrm>
            <a:off x="658386" y="1803654"/>
            <a:ext cx="22905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上山前的奶奶</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她看起来怎样？</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她的状态怎样？</a:t>
            </a:r>
            <a:endParaRPr sz="1100"/>
          </a:p>
        </p:txBody>
      </p:sp>
      <p:sp>
        <p:nvSpPr>
          <p:cNvPr id="569" name="Google Shape;569;p65"/>
          <p:cNvSpPr/>
          <p:nvPr/>
        </p:nvSpPr>
        <p:spPr>
          <a:xfrm>
            <a:off x="3305644" y="1337310"/>
            <a:ext cx="25377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70" name="Google Shape;570;p65"/>
          <p:cNvSpPr/>
          <p:nvPr/>
        </p:nvSpPr>
        <p:spPr>
          <a:xfrm>
            <a:off x="3305644" y="1337310"/>
            <a:ext cx="2537700" cy="123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71" name="Google Shape;571;p65"/>
          <p:cNvSpPr txBox="1"/>
          <p:nvPr/>
        </p:nvSpPr>
        <p:spPr>
          <a:xfrm>
            <a:off x="3429091" y="1515618"/>
            <a:ext cx="22905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D18C47"/>
                </a:solidFill>
                <a:latin typeface="Microsoft YaHei"/>
                <a:ea typeface="Microsoft YaHei"/>
                <a:cs typeface="Microsoft YaHei"/>
                <a:sym typeface="Microsoft YaHei"/>
              </a:rPr>
              <a:t>画面二</a:t>
            </a:r>
            <a:endParaRPr sz="1100"/>
          </a:p>
        </p:txBody>
      </p:sp>
      <p:sp>
        <p:nvSpPr>
          <p:cNvPr id="572" name="Google Shape;572;p65"/>
          <p:cNvSpPr txBox="1"/>
          <p:nvPr/>
        </p:nvSpPr>
        <p:spPr>
          <a:xfrm>
            <a:off x="3429091" y="1803654"/>
            <a:ext cx="22905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唱歌时的奶奶</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她的神情、动作、声音有什么变化？</a:t>
            </a:r>
            <a:endParaRPr sz="1100"/>
          </a:p>
        </p:txBody>
      </p:sp>
      <p:sp>
        <p:nvSpPr>
          <p:cNvPr id="573" name="Google Shape;573;p65"/>
          <p:cNvSpPr/>
          <p:nvPr/>
        </p:nvSpPr>
        <p:spPr>
          <a:xfrm>
            <a:off x="6076349" y="1337310"/>
            <a:ext cx="22632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74" name="Google Shape;574;p65"/>
          <p:cNvSpPr/>
          <p:nvPr/>
        </p:nvSpPr>
        <p:spPr>
          <a:xfrm>
            <a:off x="6076349" y="1337310"/>
            <a:ext cx="2263200" cy="123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75" name="Google Shape;575;p65"/>
          <p:cNvSpPr txBox="1"/>
          <p:nvPr/>
        </p:nvSpPr>
        <p:spPr>
          <a:xfrm>
            <a:off x="6199797" y="1515618"/>
            <a:ext cx="2016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D18C47"/>
                </a:solidFill>
                <a:latin typeface="Microsoft YaHei"/>
                <a:ea typeface="Microsoft YaHei"/>
                <a:cs typeface="Microsoft YaHei"/>
                <a:sym typeface="Microsoft YaHei"/>
              </a:rPr>
              <a:t>画面三</a:t>
            </a:r>
            <a:endParaRPr sz="1100"/>
          </a:p>
        </p:txBody>
      </p:sp>
      <p:sp>
        <p:nvSpPr>
          <p:cNvPr id="576" name="Google Shape;576;p65"/>
          <p:cNvSpPr txBox="1"/>
          <p:nvPr/>
        </p:nvSpPr>
        <p:spPr>
          <a:xfrm>
            <a:off x="6199797" y="1803654"/>
            <a:ext cx="2016300" cy="1265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“我”害怕以后</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她又怎样恢复平静？</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请思考：这说明了什么？</a:t>
            </a:r>
            <a:endParaRPr sz="1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580" name="Shape 580"/>
        <p:cNvGrpSpPr/>
        <p:nvPr/>
      </p:nvGrpSpPr>
      <p:grpSpPr>
        <a:xfrm>
          <a:off x="0" y="0"/>
          <a:ext cx="0" cy="0"/>
          <a:chOff x="0" y="0"/>
          <a:chExt cx="0" cy="0"/>
        </a:xfrm>
      </p:grpSpPr>
      <p:sp>
        <p:nvSpPr>
          <p:cNvPr id="581" name="Google Shape;581;p66"/>
          <p:cNvSpPr/>
          <p:nvPr/>
        </p:nvSpPr>
        <p:spPr>
          <a:xfrm>
            <a:off x="0" y="0"/>
            <a:ext cx="9144000" cy="5349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82" name="Google Shape;582;p66"/>
          <p:cNvSpPr/>
          <p:nvPr/>
        </p:nvSpPr>
        <p:spPr>
          <a:xfrm>
            <a:off x="0" y="534924"/>
            <a:ext cx="109800" cy="4608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83" name="Google Shape;583;p66"/>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84" name="Google Shape;584;p66"/>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D18C47"/>
                </a:solidFill>
                <a:latin typeface="Microsoft YaHei"/>
                <a:ea typeface="Microsoft YaHei"/>
                <a:cs typeface="Microsoft YaHei"/>
                <a:sym typeface="Microsoft YaHei"/>
              </a:rPr>
              <a:t>3</a:t>
            </a:r>
            <a:endParaRPr sz="1100"/>
          </a:p>
        </p:txBody>
      </p:sp>
      <p:sp>
        <p:nvSpPr>
          <p:cNvPr id="585" name="Google Shape;585;p66"/>
          <p:cNvSpPr txBox="1"/>
          <p:nvPr/>
        </p:nvSpPr>
        <p:spPr>
          <a:xfrm>
            <a:off x="617236" y="109728"/>
            <a:ext cx="5898000" cy="434100"/>
          </a:xfrm>
          <a:prstGeom prst="rect">
            <a:avLst/>
          </a:prstGeom>
          <a:noFill/>
          <a:ln cap="flat" cmpd="sng" w="7150">
            <a:solidFill>
              <a:srgbClr val="D18C4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活动二｜两条情绪线</a:t>
            </a:r>
            <a:endParaRPr sz="1100"/>
          </a:p>
        </p:txBody>
      </p:sp>
      <p:sp>
        <p:nvSpPr>
          <p:cNvPr id="586" name="Google Shape;586;p66"/>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87" name="Google Shape;587;p66"/>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请在本子上画两条线：一条是奶奶，一条是“我”。用词越具体越好。</a:t>
            </a:r>
            <a:endParaRPr sz="1100"/>
          </a:p>
        </p:txBody>
      </p:sp>
      <p:sp>
        <p:nvSpPr>
          <p:cNvPr id="588" name="Google Shape;588;p66"/>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3 课</a:t>
            </a:r>
            <a:endParaRPr sz="1100"/>
          </a:p>
        </p:txBody>
      </p:sp>
      <p:sp>
        <p:nvSpPr>
          <p:cNvPr id="589" name="Google Shape;589;p66"/>
          <p:cNvSpPr/>
          <p:nvPr/>
        </p:nvSpPr>
        <p:spPr>
          <a:xfrm>
            <a:off x="514364" y="1337310"/>
            <a:ext cx="37719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0" name="Google Shape;590;p66"/>
          <p:cNvSpPr/>
          <p:nvPr/>
        </p:nvSpPr>
        <p:spPr>
          <a:xfrm>
            <a:off x="514364" y="1337310"/>
            <a:ext cx="3771900" cy="123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1" name="Google Shape;591;p66"/>
          <p:cNvSpPr txBox="1"/>
          <p:nvPr/>
        </p:nvSpPr>
        <p:spPr>
          <a:xfrm>
            <a:off x="637811" y="1515618"/>
            <a:ext cx="3525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D18C47"/>
                </a:solidFill>
                <a:latin typeface="Microsoft YaHei"/>
                <a:ea typeface="Microsoft YaHei"/>
                <a:cs typeface="Microsoft YaHei"/>
                <a:sym typeface="Microsoft YaHei"/>
              </a:rPr>
              <a:t>奶奶的情绪线</a:t>
            </a:r>
            <a:endParaRPr sz="1100"/>
          </a:p>
        </p:txBody>
      </p:sp>
      <p:sp>
        <p:nvSpPr>
          <p:cNvPr id="592" name="Google Shape;592;p66"/>
          <p:cNvSpPr txBox="1"/>
          <p:nvPr/>
        </p:nvSpPr>
        <p:spPr>
          <a:xfrm>
            <a:off x="637811" y="1803654"/>
            <a:ext cx="3525300" cy="14193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700" u="none" cap="none" strike="noStrike">
                <a:solidFill>
                  <a:srgbClr val="2D2D2D"/>
                </a:solidFill>
                <a:latin typeface="Microsoft YaHei"/>
                <a:ea typeface="Microsoft YaHei"/>
                <a:cs typeface="Microsoft YaHei"/>
                <a:sym typeface="Microsoft YaHei"/>
              </a:rPr>
              <a:t>平静 → 轻快 → ______ → 恢复安静</a:t>
            </a:r>
            <a:br>
              <a:rPr b="0" i="0" lang="zh-CN" sz="1700" u="none" cap="none" strike="noStrike">
                <a:solidFill>
                  <a:srgbClr val="2D2D2D"/>
                </a:solidFill>
                <a:latin typeface="Microsoft YaHei"/>
                <a:ea typeface="Microsoft YaHei"/>
                <a:cs typeface="Microsoft YaHei"/>
                <a:sym typeface="Microsoft YaHei"/>
              </a:rPr>
            </a:br>
            <a:br>
              <a:rPr b="0" i="0" lang="zh-CN" sz="1700" u="none" cap="none" strike="noStrike">
                <a:solidFill>
                  <a:srgbClr val="2D2D2D"/>
                </a:solidFill>
                <a:latin typeface="Microsoft YaHei"/>
                <a:ea typeface="Microsoft YaHei"/>
                <a:cs typeface="Microsoft YaHei"/>
                <a:sym typeface="Microsoft YaHei"/>
              </a:rPr>
            </a:br>
            <a:r>
              <a:rPr b="0" i="0" lang="zh-CN" sz="1700" u="none" cap="none" strike="noStrike">
                <a:solidFill>
                  <a:srgbClr val="2D2D2D"/>
                </a:solidFill>
                <a:latin typeface="Microsoft YaHei"/>
                <a:ea typeface="Microsoft YaHei"/>
                <a:cs typeface="Microsoft YaHei"/>
                <a:sym typeface="Microsoft YaHei"/>
              </a:rPr>
              <a:t>提示：可以用这些词帮助你思考：</a:t>
            </a:r>
            <a:br>
              <a:rPr b="0" i="0" lang="zh-CN" sz="1700" u="none" cap="none" strike="noStrike">
                <a:solidFill>
                  <a:srgbClr val="2D2D2D"/>
                </a:solidFill>
                <a:latin typeface="Microsoft YaHei"/>
                <a:ea typeface="Microsoft YaHei"/>
                <a:cs typeface="Microsoft YaHei"/>
                <a:sym typeface="Microsoft YaHei"/>
              </a:rPr>
            </a:br>
            <a:r>
              <a:rPr b="0" i="0" lang="zh-CN" sz="1700" u="none" cap="none" strike="noStrike">
                <a:solidFill>
                  <a:srgbClr val="2D2D2D"/>
                </a:solidFill>
                <a:latin typeface="Microsoft YaHei"/>
                <a:ea typeface="Microsoft YaHei"/>
                <a:cs typeface="Microsoft YaHei"/>
                <a:sym typeface="Microsoft YaHei"/>
              </a:rPr>
              <a:t>自由、兴奋、投入、放松、被唤醒、又收回自己……</a:t>
            </a:r>
            <a:endParaRPr sz="1100"/>
          </a:p>
        </p:txBody>
      </p:sp>
      <p:sp>
        <p:nvSpPr>
          <p:cNvPr id="593" name="Google Shape;593;p66"/>
          <p:cNvSpPr/>
          <p:nvPr/>
        </p:nvSpPr>
        <p:spPr>
          <a:xfrm>
            <a:off x="4492110" y="1337310"/>
            <a:ext cx="37719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4" name="Google Shape;594;p66"/>
          <p:cNvSpPr/>
          <p:nvPr/>
        </p:nvSpPr>
        <p:spPr>
          <a:xfrm>
            <a:off x="4492110" y="1337310"/>
            <a:ext cx="3771900" cy="123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5" name="Google Shape;595;p66"/>
          <p:cNvSpPr txBox="1"/>
          <p:nvPr/>
        </p:nvSpPr>
        <p:spPr>
          <a:xfrm>
            <a:off x="4615557" y="1515618"/>
            <a:ext cx="3525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D18C47"/>
                </a:solidFill>
                <a:latin typeface="Microsoft YaHei"/>
                <a:ea typeface="Microsoft YaHei"/>
                <a:cs typeface="Microsoft YaHei"/>
                <a:sym typeface="Microsoft YaHei"/>
              </a:rPr>
              <a:t>“我”的情绪线</a:t>
            </a:r>
            <a:endParaRPr sz="1100"/>
          </a:p>
        </p:txBody>
      </p:sp>
      <p:sp>
        <p:nvSpPr>
          <p:cNvPr id="596" name="Google Shape;596;p66"/>
          <p:cNvSpPr txBox="1"/>
          <p:nvPr/>
        </p:nvSpPr>
        <p:spPr>
          <a:xfrm>
            <a:off x="4615557" y="1803654"/>
            <a:ext cx="3525300" cy="16809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700" u="none" cap="none" strike="noStrike">
                <a:solidFill>
                  <a:srgbClr val="2D2D2D"/>
                </a:solidFill>
                <a:latin typeface="Microsoft YaHei"/>
                <a:ea typeface="Microsoft YaHei"/>
                <a:cs typeface="Microsoft YaHei"/>
                <a:sym typeface="Microsoft YaHei"/>
              </a:rPr>
              <a:t>亲近 → 新奇 → ______ → 心疼 / 复杂</a:t>
            </a:r>
            <a:br>
              <a:rPr b="0" i="0" lang="zh-CN" sz="1700" u="none" cap="none" strike="noStrike">
                <a:solidFill>
                  <a:srgbClr val="2D2D2D"/>
                </a:solidFill>
                <a:latin typeface="Microsoft YaHei"/>
                <a:ea typeface="Microsoft YaHei"/>
                <a:cs typeface="Microsoft YaHei"/>
                <a:sym typeface="Microsoft YaHei"/>
              </a:rPr>
            </a:br>
            <a:br>
              <a:rPr b="0" i="0" lang="zh-CN" sz="1700" u="none" cap="none" strike="noStrike">
                <a:solidFill>
                  <a:srgbClr val="2D2D2D"/>
                </a:solidFill>
                <a:latin typeface="Microsoft YaHei"/>
                <a:ea typeface="Microsoft YaHei"/>
                <a:cs typeface="Microsoft YaHei"/>
                <a:sym typeface="Microsoft YaHei"/>
              </a:rPr>
            </a:br>
            <a:r>
              <a:rPr b="0" i="0" lang="zh-CN" sz="1700" u="none" cap="none" strike="noStrike">
                <a:solidFill>
                  <a:srgbClr val="2D2D2D"/>
                </a:solidFill>
                <a:latin typeface="Microsoft YaHei"/>
                <a:ea typeface="Microsoft YaHei"/>
                <a:cs typeface="Microsoft YaHei"/>
                <a:sym typeface="Microsoft YaHei"/>
              </a:rPr>
              <a:t>提示：可以想一想：</a:t>
            </a:r>
            <a:br>
              <a:rPr b="0" i="0" lang="zh-CN" sz="1700" u="none" cap="none" strike="noStrike">
                <a:solidFill>
                  <a:srgbClr val="2D2D2D"/>
                </a:solidFill>
                <a:latin typeface="Microsoft YaHei"/>
                <a:ea typeface="Microsoft YaHei"/>
                <a:cs typeface="Microsoft YaHei"/>
                <a:sym typeface="Microsoft YaHei"/>
              </a:rPr>
            </a:br>
            <a:r>
              <a:rPr b="0" i="0" lang="zh-CN" sz="1700" u="none" cap="none" strike="noStrike">
                <a:solidFill>
                  <a:srgbClr val="2D2D2D"/>
                </a:solidFill>
                <a:latin typeface="Microsoft YaHei"/>
                <a:ea typeface="Microsoft YaHei"/>
                <a:cs typeface="Microsoft YaHei"/>
                <a:sym typeface="Microsoft YaHei"/>
              </a:rPr>
              <a:t>为什么“我”会害怕？为什么“我”后来又更理解奶奶？</a:t>
            </a:r>
            <a:endParaRPr sz="11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600" name="Shape 600"/>
        <p:cNvGrpSpPr/>
        <p:nvPr/>
      </p:nvGrpSpPr>
      <p:grpSpPr>
        <a:xfrm>
          <a:off x="0" y="0"/>
          <a:ext cx="0" cy="0"/>
          <a:chOff x="0" y="0"/>
          <a:chExt cx="0" cy="0"/>
        </a:xfrm>
      </p:grpSpPr>
      <p:sp>
        <p:nvSpPr>
          <p:cNvPr id="601" name="Google Shape;601;p67"/>
          <p:cNvSpPr/>
          <p:nvPr/>
        </p:nvSpPr>
        <p:spPr>
          <a:xfrm>
            <a:off x="0" y="0"/>
            <a:ext cx="9144000" cy="5349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2" name="Google Shape;602;p67"/>
          <p:cNvSpPr/>
          <p:nvPr/>
        </p:nvSpPr>
        <p:spPr>
          <a:xfrm>
            <a:off x="0" y="534924"/>
            <a:ext cx="109800" cy="4608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3" name="Google Shape;603;p67"/>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4" name="Google Shape;604;p67"/>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D18C47"/>
                </a:solidFill>
                <a:latin typeface="Microsoft YaHei"/>
                <a:ea typeface="Microsoft YaHei"/>
                <a:cs typeface="Microsoft YaHei"/>
                <a:sym typeface="Microsoft YaHei"/>
              </a:rPr>
              <a:t>3</a:t>
            </a:r>
            <a:endParaRPr sz="1100"/>
          </a:p>
        </p:txBody>
      </p:sp>
      <p:sp>
        <p:nvSpPr>
          <p:cNvPr id="605" name="Google Shape;605;p67"/>
          <p:cNvSpPr txBox="1"/>
          <p:nvPr/>
        </p:nvSpPr>
        <p:spPr>
          <a:xfrm>
            <a:off x="617236" y="109728"/>
            <a:ext cx="5898000" cy="434100"/>
          </a:xfrm>
          <a:prstGeom prst="rect">
            <a:avLst/>
          </a:prstGeom>
          <a:noFill/>
          <a:ln cap="flat" cmpd="sng" w="7150">
            <a:solidFill>
              <a:srgbClr val="D18C4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活动三｜把“文化冰山”用起来</a:t>
            </a:r>
            <a:endParaRPr sz="1100"/>
          </a:p>
        </p:txBody>
      </p:sp>
      <p:sp>
        <p:nvSpPr>
          <p:cNvPr id="606" name="Google Shape;606;p67"/>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7" name="Google Shape;607;p67"/>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先写水面上的现象，再推到水面下的原因和意义。</a:t>
            </a:r>
            <a:endParaRPr sz="1100"/>
          </a:p>
        </p:txBody>
      </p:sp>
      <p:sp>
        <p:nvSpPr>
          <p:cNvPr id="608" name="Google Shape;608;p67"/>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3 课</a:t>
            </a:r>
            <a:endParaRPr sz="1100"/>
          </a:p>
        </p:txBody>
      </p:sp>
      <p:graphicFrame>
        <p:nvGraphicFramePr>
          <p:cNvPr id="609" name="Google Shape;609;p67"/>
          <p:cNvGraphicFramePr/>
          <p:nvPr/>
        </p:nvGraphicFramePr>
        <p:xfrm>
          <a:off x="534938" y="1337310"/>
          <a:ext cx="3000000" cy="3000000"/>
        </p:xfrm>
        <a:graphic>
          <a:graphicData uri="http://schemas.openxmlformats.org/drawingml/2006/table">
            <a:tbl>
              <a:tblPr bandRow="1" firstRow="1">
                <a:noFill/>
                <a:tableStyleId>{6DB37C38-08B4-4D8B-930D-383F00103916}</a:tableStyleId>
              </a:tblPr>
              <a:tblGrid>
                <a:gridCol w="2697550"/>
                <a:gridCol w="2697550"/>
                <a:gridCol w="2697550"/>
              </a:tblGrid>
              <a:tr h="902975">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水面上看得见的</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D18C47"/>
                    </a:solidFill>
                  </a:tcPr>
                </a:tc>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背后的行为 / 习惯</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D18C47"/>
                    </a:solidFill>
                  </a:tcPr>
                </a:tc>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水面下更深的意义</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D18C47"/>
                    </a:solidFill>
                  </a:tcPr>
                </a:tc>
              </a:tr>
              <a:tr h="9029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走山路、唱歌、刺花、熟悉山林</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和山林生活有关的经验与身体记忆</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故乡、归属、族群身份、被压抑但仍存在的自我</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9029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（请补充一个你的小组发现）</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610" name="Google Shape;610;p67"/>
          <p:cNvSpPr txBox="1"/>
          <p:nvPr/>
        </p:nvSpPr>
        <p:spPr>
          <a:xfrm>
            <a:off x="582946" y="4183380"/>
            <a:ext cx="77496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2D2D2D"/>
                </a:solidFill>
                <a:latin typeface="Microsoft YaHei"/>
                <a:ea typeface="Microsoft YaHei"/>
                <a:cs typeface="Microsoft YaHei"/>
                <a:sym typeface="Microsoft YaHei"/>
              </a:rPr>
              <a:t>讨论：为什么奶奶最“像自己”的时候，“我”反而觉得她不像奶奶？</a:t>
            </a:r>
            <a:endParaRPr sz="11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614" name="Shape 614"/>
        <p:cNvGrpSpPr/>
        <p:nvPr/>
      </p:nvGrpSpPr>
      <p:grpSpPr>
        <a:xfrm>
          <a:off x="0" y="0"/>
          <a:ext cx="0" cy="0"/>
          <a:chOff x="0" y="0"/>
          <a:chExt cx="0" cy="0"/>
        </a:xfrm>
      </p:grpSpPr>
      <p:sp>
        <p:nvSpPr>
          <p:cNvPr id="615" name="Google Shape;615;p68"/>
          <p:cNvSpPr/>
          <p:nvPr/>
        </p:nvSpPr>
        <p:spPr>
          <a:xfrm>
            <a:off x="0" y="0"/>
            <a:ext cx="9144000" cy="5349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6" name="Google Shape;616;p68"/>
          <p:cNvSpPr/>
          <p:nvPr/>
        </p:nvSpPr>
        <p:spPr>
          <a:xfrm>
            <a:off x="0" y="534924"/>
            <a:ext cx="109800" cy="4608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7" name="Google Shape;617;p68"/>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8" name="Google Shape;618;p68"/>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D18C47"/>
                </a:solidFill>
                <a:latin typeface="Microsoft YaHei"/>
                <a:ea typeface="Microsoft YaHei"/>
                <a:cs typeface="Microsoft YaHei"/>
                <a:sym typeface="Microsoft YaHei"/>
              </a:rPr>
              <a:t>3</a:t>
            </a:r>
            <a:endParaRPr sz="1100"/>
          </a:p>
        </p:txBody>
      </p:sp>
      <p:sp>
        <p:nvSpPr>
          <p:cNvPr id="619" name="Google Shape;619;p68"/>
          <p:cNvSpPr txBox="1"/>
          <p:nvPr/>
        </p:nvSpPr>
        <p:spPr>
          <a:xfrm>
            <a:off x="617236" y="109728"/>
            <a:ext cx="5898000" cy="434100"/>
          </a:xfrm>
          <a:prstGeom prst="rect">
            <a:avLst/>
          </a:prstGeom>
          <a:noFill/>
          <a:ln cap="flat" cmpd="sng" w="7150">
            <a:solidFill>
              <a:srgbClr val="D18C47"/>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Exit Ticket｜两句话，抓住核心</a:t>
            </a:r>
            <a:endParaRPr sz="1100"/>
          </a:p>
        </p:txBody>
      </p:sp>
      <p:sp>
        <p:nvSpPr>
          <p:cNvPr id="620" name="Google Shape;620;p68"/>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3 课</a:t>
            </a:r>
            <a:endParaRPr sz="1100"/>
          </a:p>
        </p:txBody>
      </p:sp>
      <p:sp>
        <p:nvSpPr>
          <p:cNvPr id="621" name="Google Shape;621;p68"/>
          <p:cNvSpPr/>
          <p:nvPr/>
        </p:nvSpPr>
        <p:spPr>
          <a:xfrm>
            <a:off x="740684" y="1371600"/>
            <a:ext cx="7509900" cy="17487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22" name="Google Shape;622;p68"/>
          <p:cNvSpPr/>
          <p:nvPr/>
        </p:nvSpPr>
        <p:spPr>
          <a:xfrm>
            <a:off x="740684" y="1371600"/>
            <a:ext cx="7509900" cy="123600"/>
          </a:xfrm>
          <a:prstGeom prst="rect">
            <a:avLst/>
          </a:prstGeom>
          <a:solidFill>
            <a:srgbClr val="D18C47"/>
          </a:solidFill>
          <a:ln cap="flat" cmpd="sng" w="7150">
            <a:solidFill>
              <a:srgbClr val="D18C47"/>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23" name="Google Shape;623;p68"/>
          <p:cNvSpPr txBox="1"/>
          <p:nvPr/>
        </p:nvSpPr>
        <p:spPr>
          <a:xfrm>
            <a:off x="864131" y="1549908"/>
            <a:ext cx="72627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D18C47"/>
                </a:solidFill>
                <a:latin typeface="Microsoft YaHei"/>
                <a:ea typeface="Microsoft YaHei"/>
                <a:cs typeface="Microsoft YaHei"/>
                <a:sym typeface="Microsoft YaHei"/>
              </a:rPr>
              <a:t>请完成</a:t>
            </a:r>
            <a:endParaRPr sz="1100"/>
          </a:p>
        </p:txBody>
      </p:sp>
      <p:sp>
        <p:nvSpPr>
          <p:cNvPr id="624" name="Google Shape;624;p68"/>
          <p:cNvSpPr txBox="1"/>
          <p:nvPr/>
        </p:nvSpPr>
        <p:spPr>
          <a:xfrm>
            <a:off x="864131" y="1837944"/>
            <a:ext cx="7262700" cy="7572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2100" u="none" cap="none" strike="noStrike">
                <a:solidFill>
                  <a:srgbClr val="2D2D2D"/>
                </a:solidFill>
                <a:latin typeface="Microsoft YaHei"/>
                <a:ea typeface="Microsoft YaHei"/>
                <a:cs typeface="Microsoft YaHei"/>
                <a:sym typeface="Microsoft YaHei"/>
              </a:rPr>
              <a:t>山林让奶奶________。</a:t>
            </a:r>
            <a:br>
              <a:rPr b="0" i="0" lang="zh-CN" sz="2100" u="none" cap="none" strike="noStrike">
                <a:solidFill>
                  <a:srgbClr val="2D2D2D"/>
                </a:solidFill>
                <a:latin typeface="Microsoft YaHei"/>
                <a:ea typeface="Microsoft YaHei"/>
                <a:cs typeface="Microsoft YaHei"/>
                <a:sym typeface="Microsoft YaHei"/>
              </a:rPr>
            </a:br>
            <a:r>
              <a:rPr b="0" i="0" lang="zh-CN" sz="2100" u="none" cap="none" strike="noStrike">
                <a:solidFill>
                  <a:srgbClr val="2D2D2D"/>
                </a:solidFill>
                <a:latin typeface="Microsoft YaHei"/>
                <a:ea typeface="Microsoft YaHei"/>
                <a:cs typeface="Microsoft YaHei"/>
                <a:sym typeface="Microsoft YaHei"/>
              </a:rPr>
              <a:t>“我”的反应又让她________。</a:t>
            </a:r>
            <a:endParaRPr sz="11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628" name="Shape 628"/>
        <p:cNvGrpSpPr/>
        <p:nvPr/>
      </p:nvGrpSpPr>
      <p:grpSpPr>
        <a:xfrm>
          <a:off x="0" y="0"/>
          <a:ext cx="0" cy="0"/>
          <a:chOff x="0" y="0"/>
          <a:chExt cx="0" cy="0"/>
        </a:xfrm>
      </p:grpSpPr>
      <p:sp>
        <p:nvSpPr>
          <p:cNvPr id="629" name="Google Shape;629;p69"/>
          <p:cNvSpPr/>
          <p:nvPr/>
        </p:nvSpPr>
        <p:spPr>
          <a:xfrm>
            <a:off x="0" y="0"/>
            <a:ext cx="9144000" cy="5349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30" name="Google Shape;630;p69"/>
          <p:cNvSpPr/>
          <p:nvPr/>
        </p:nvSpPr>
        <p:spPr>
          <a:xfrm>
            <a:off x="0" y="534924"/>
            <a:ext cx="109800" cy="4608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31" name="Google Shape;631;p69"/>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32" name="Google Shape;632;p69"/>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8867A8"/>
                </a:solidFill>
                <a:latin typeface="Microsoft YaHei"/>
                <a:ea typeface="Microsoft YaHei"/>
                <a:cs typeface="Microsoft YaHei"/>
                <a:sym typeface="Microsoft YaHei"/>
              </a:rPr>
              <a:t>4</a:t>
            </a:r>
            <a:endParaRPr sz="1100"/>
          </a:p>
        </p:txBody>
      </p:sp>
      <p:sp>
        <p:nvSpPr>
          <p:cNvPr id="633" name="Google Shape;633;p69"/>
          <p:cNvSpPr txBox="1"/>
          <p:nvPr/>
        </p:nvSpPr>
        <p:spPr>
          <a:xfrm>
            <a:off x="617236" y="109728"/>
            <a:ext cx="5898000" cy="757200"/>
          </a:xfrm>
          <a:prstGeom prst="rect">
            <a:avLst/>
          </a:prstGeom>
          <a:noFill/>
          <a:ln cap="flat" cmpd="sng" w="7150">
            <a:solidFill>
              <a:srgbClr val="8867A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第 4 课  |  如果语言、衣服都改变了，“我还是我吗？”</a:t>
            </a:r>
            <a:endParaRPr sz="1100"/>
          </a:p>
        </p:txBody>
      </p:sp>
      <p:sp>
        <p:nvSpPr>
          <p:cNvPr id="634" name="Google Shape;634;p69"/>
          <p:cNvSpPr txBox="1"/>
          <p:nvPr/>
        </p:nvSpPr>
        <p:spPr>
          <a:xfrm>
            <a:off x="7338256" y="123444"/>
            <a:ext cx="1371600" cy="249300"/>
          </a:xfrm>
          <a:prstGeom prst="rect">
            <a:avLst/>
          </a:prstGeom>
          <a:noFill/>
          <a:ln cap="flat" cmpd="sng" w="7150">
            <a:solidFill>
              <a:srgbClr val="8867A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r">
              <a:spcBef>
                <a:spcPts val="0"/>
              </a:spcBef>
              <a:spcAft>
                <a:spcPts val="0"/>
              </a:spcAft>
              <a:buNone/>
            </a:pPr>
            <a:r>
              <a:rPr b="0" i="0" lang="zh-CN" sz="900" u="none" cap="none" strike="noStrike">
                <a:solidFill>
                  <a:srgbClr val="FFFFFF"/>
                </a:solidFill>
                <a:latin typeface="Microsoft YaHei"/>
                <a:ea typeface="Microsoft YaHei"/>
                <a:cs typeface="Microsoft YaHei"/>
                <a:sym typeface="Microsoft YaHei"/>
              </a:rPr>
              <a:t>课本 p12-15</a:t>
            </a:r>
            <a:endParaRPr sz="1100"/>
          </a:p>
        </p:txBody>
      </p:sp>
      <p:sp>
        <p:nvSpPr>
          <p:cNvPr id="635" name="Google Shape;635;p69"/>
          <p:cNvSpPr txBox="1"/>
          <p:nvPr/>
        </p:nvSpPr>
        <p:spPr>
          <a:xfrm>
            <a:off x="377200" y="720090"/>
            <a:ext cx="26061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8867A8"/>
                </a:solidFill>
                <a:latin typeface="Microsoft YaHei"/>
                <a:ea typeface="Microsoft YaHei"/>
                <a:cs typeface="Microsoft YaHei"/>
                <a:sym typeface="Microsoft YaHei"/>
              </a:rPr>
              <a:t>今天我们会……</a:t>
            </a:r>
            <a:endParaRPr sz="1100"/>
          </a:p>
        </p:txBody>
      </p:sp>
      <p:sp>
        <p:nvSpPr>
          <p:cNvPr id="636" name="Google Shape;636;p69"/>
          <p:cNvSpPr/>
          <p:nvPr/>
        </p:nvSpPr>
        <p:spPr>
          <a:xfrm>
            <a:off x="377200" y="973836"/>
            <a:ext cx="2674500" cy="13716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37" name="Google Shape;637;p69"/>
          <p:cNvSpPr txBox="1"/>
          <p:nvPr/>
        </p:nvSpPr>
        <p:spPr>
          <a:xfrm>
            <a:off x="500647" y="1056132"/>
            <a:ext cx="2427900" cy="14469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从弟弟的变化讨论“身份会不会改变”</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整理全文时间线，理解回忆式结构</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回到标题：为什么叫《假黎婆》？</a:t>
            </a:r>
            <a:endParaRPr sz="1100"/>
          </a:p>
        </p:txBody>
      </p:sp>
      <p:sp>
        <p:nvSpPr>
          <p:cNvPr id="638" name="Google Shape;638;p69"/>
          <p:cNvSpPr txBox="1"/>
          <p:nvPr/>
        </p:nvSpPr>
        <p:spPr>
          <a:xfrm>
            <a:off x="3257637" y="720090"/>
            <a:ext cx="26061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8867A8"/>
                </a:solidFill>
                <a:latin typeface="Microsoft YaHei"/>
                <a:ea typeface="Microsoft YaHei"/>
                <a:cs typeface="Microsoft YaHei"/>
                <a:sym typeface="Microsoft YaHei"/>
              </a:rPr>
              <a:t>学习目标</a:t>
            </a:r>
            <a:endParaRPr sz="1100"/>
          </a:p>
        </p:txBody>
      </p:sp>
      <p:sp>
        <p:nvSpPr>
          <p:cNvPr id="639" name="Google Shape;639;p69"/>
          <p:cNvSpPr/>
          <p:nvPr/>
        </p:nvSpPr>
        <p:spPr>
          <a:xfrm>
            <a:off x="3257637" y="973836"/>
            <a:ext cx="2709000" cy="13716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40" name="Google Shape;640;p69"/>
          <p:cNvSpPr txBox="1"/>
          <p:nvPr/>
        </p:nvSpPr>
        <p:spPr>
          <a:xfrm>
            <a:off x="3381084" y="1056132"/>
            <a:ext cx="2462100" cy="5079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我能说出弟弟发生了哪些变化</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我能概括文章结构的特点</a:t>
            </a:r>
            <a:endParaRPr sz="1100"/>
          </a:p>
        </p:txBody>
      </p:sp>
      <p:sp>
        <p:nvSpPr>
          <p:cNvPr id="641" name="Google Shape;641;p69"/>
          <p:cNvSpPr txBox="1"/>
          <p:nvPr/>
        </p:nvSpPr>
        <p:spPr>
          <a:xfrm>
            <a:off x="6138073" y="720090"/>
            <a:ext cx="26745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8867A8"/>
                </a:solidFill>
                <a:latin typeface="Microsoft YaHei"/>
                <a:ea typeface="Microsoft YaHei"/>
                <a:cs typeface="Microsoft YaHei"/>
                <a:sym typeface="Microsoft YaHei"/>
              </a:rPr>
              <a:t>成功标准</a:t>
            </a:r>
            <a:endParaRPr sz="1100"/>
          </a:p>
        </p:txBody>
      </p:sp>
      <p:sp>
        <p:nvSpPr>
          <p:cNvPr id="642" name="Google Shape;642;p69"/>
          <p:cNvSpPr/>
          <p:nvPr/>
        </p:nvSpPr>
        <p:spPr>
          <a:xfrm>
            <a:off x="6138073" y="973836"/>
            <a:ext cx="2640300" cy="13716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43" name="Google Shape;643;p69"/>
          <p:cNvSpPr txBox="1"/>
          <p:nvPr/>
        </p:nvSpPr>
        <p:spPr>
          <a:xfrm>
            <a:off x="6261520" y="1056132"/>
            <a:ext cx="2393700" cy="4773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300" u="none" cap="none" strike="noStrike">
                <a:solidFill>
                  <a:srgbClr val="2D2D2D"/>
                </a:solidFill>
                <a:latin typeface="Microsoft YaHei"/>
                <a:ea typeface="Microsoft YaHei"/>
                <a:cs typeface="Microsoft YaHei"/>
                <a:sym typeface="Microsoft YaHei"/>
              </a:rPr>
              <a:t>我能表达对“身份变化”的看法</a:t>
            </a:r>
            <a:endParaRPr sz="1100"/>
          </a:p>
          <a:p>
            <a:pPr indent="0" lvl="0" marL="0" marR="0" rtl="0" algn="l">
              <a:spcBef>
                <a:spcPts val="600"/>
              </a:spcBef>
              <a:spcAft>
                <a:spcPts val="0"/>
              </a:spcAft>
              <a:buNone/>
            </a:pPr>
            <a:r>
              <a:rPr b="0" i="0" lang="zh-CN" sz="1300" u="none" cap="none" strike="noStrike">
                <a:solidFill>
                  <a:srgbClr val="2D2D2D"/>
                </a:solidFill>
                <a:latin typeface="Microsoft YaHei"/>
                <a:ea typeface="Microsoft YaHei"/>
                <a:cs typeface="Microsoft YaHei"/>
                <a:sym typeface="Microsoft YaHei"/>
              </a:rPr>
              <a:t>我能解释标题的深层含义</a:t>
            </a:r>
            <a:endParaRPr sz="1100"/>
          </a:p>
        </p:txBody>
      </p:sp>
      <p:sp>
        <p:nvSpPr>
          <p:cNvPr id="644" name="Google Shape;644;p69"/>
          <p:cNvSpPr/>
          <p:nvPr/>
        </p:nvSpPr>
        <p:spPr>
          <a:xfrm>
            <a:off x="377200" y="2811779"/>
            <a:ext cx="8401200" cy="123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45" name="Google Shape;645;p69"/>
          <p:cNvSpPr txBox="1"/>
          <p:nvPr/>
        </p:nvSpPr>
        <p:spPr>
          <a:xfrm>
            <a:off x="562371" y="3003804"/>
            <a:ext cx="1028700" cy="449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100" u="none" cap="none" strike="noStrike">
                <a:solidFill>
                  <a:srgbClr val="8867A8"/>
                </a:solidFill>
                <a:latin typeface="Microsoft YaHei"/>
                <a:ea typeface="Microsoft YaHei"/>
                <a:cs typeface="Microsoft YaHei"/>
                <a:sym typeface="Microsoft YaHei"/>
              </a:rPr>
              <a:t>带着问题进入课堂</a:t>
            </a:r>
            <a:endParaRPr sz="1100"/>
          </a:p>
        </p:txBody>
      </p:sp>
      <p:sp>
        <p:nvSpPr>
          <p:cNvPr id="646" name="Google Shape;646;p69"/>
          <p:cNvSpPr txBox="1"/>
          <p:nvPr/>
        </p:nvSpPr>
        <p:spPr>
          <a:xfrm>
            <a:off x="1577382" y="2880360"/>
            <a:ext cx="6858300" cy="4188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l">
              <a:spcBef>
                <a:spcPts val="0"/>
              </a:spcBef>
              <a:spcAft>
                <a:spcPts val="0"/>
              </a:spcAft>
              <a:buNone/>
            </a:pPr>
            <a:r>
              <a:rPr b="1" i="0" lang="zh-CN" sz="2000" u="none" cap="none" strike="noStrike">
                <a:solidFill>
                  <a:srgbClr val="2D2D2D"/>
                </a:solidFill>
                <a:latin typeface="Microsoft YaHei"/>
                <a:ea typeface="Microsoft YaHei"/>
                <a:cs typeface="Microsoft YaHei"/>
                <a:sym typeface="Microsoft YaHei"/>
              </a:rPr>
              <a:t>如果语言、衣服都改变了，“我还是我吗？”</a:t>
            </a:r>
            <a:endParaRPr sz="1100"/>
          </a:p>
        </p:txBody>
      </p:sp>
      <p:sp>
        <p:nvSpPr>
          <p:cNvPr id="647" name="Google Shape;647;p69"/>
          <p:cNvSpPr txBox="1"/>
          <p:nvPr/>
        </p:nvSpPr>
        <p:spPr>
          <a:xfrm>
            <a:off x="1577382" y="3497580"/>
            <a:ext cx="6789600" cy="2955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200" u="none" cap="none" strike="noStrike">
                <a:solidFill>
                  <a:srgbClr val="5C5C5C"/>
                </a:solidFill>
                <a:latin typeface="Microsoft YaHei"/>
                <a:ea typeface="Microsoft YaHei"/>
                <a:cs typeface="Microsoft YaHei"/>
                <a:sym typeface="Microsoft YaHei"/>
              </a:rPr>
              <a:t>先观察，再判断；先找证据，再下结论。</a:t>
            </a:r>
            <a:endParaRPr sz="1100"/>
          </a:p>
        </p:txBody>
      </p:sp>
      <p:sp>
        <p:nvSpPr>
          <p:cNvPr id="648" name="Google Shape;648;p69"/>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4 课</a:t>
            </a:r>
            <a:endParaRPr sz="11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652" name="Shape 652"/>
        <p:cNvGrpSpPr/>
        <p:nvPr/>
      </p:nvGrpSpPr>
      <p:grpSpPr>
        <a:xfrm>
          <a:off x="0" y="0"/>
          <a:ext cx="0" cy="0"/>
          <a:chOff x="0" y="0"/>
          <a:chExt cx="0" cy="0"/>
        </a:xfrm>
      </p:grpSpPr>
      <p:sp>
        <p:nvSpPr>
          <p:cNvPr id="653" name="Google Shape;653;p70"/>
          <p:cNvSpPr/>
          <p:nvPr/>
        </p:nvSpPr>
        <p:spPr>
          <a:xfrm>
            <a:off x="0" y="0"/>
            <a:ext cx="9144000" cy="5349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54" name="Google Shape;654;p70"/>
          <p:cNvSpPr/>
          <p:nvPr/>
        </p:nvSpPr>
        <p:spPr>
          <a:xfrm>
            <a:off x="0" y="534924"/>
            <a:ext cx="109800" cy="4608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55" name="Google Shape;655;p70"/>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56" name="Google Shape;656;p70"/>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8867A8"/>
                </a:solidFill>
                <a:latin typeface="Microsoft YaHei"/>
                <a:ea typeface="Microsoft YaHei"/>
                <a:cs typeface="Microsoft YaHei"/>
                <a:sym typeface="Microsoft YaHei"/>
              </a:rPr>
              <a:t>4</a:t>
            </a:r>
            <a:endParaRPr sz="1100"/>
          </a:p>
        </p:txBody>
      </p:sp>
      <p:sp>
        <p:nvSpPr>
          <p:cNvPr id="657" name="Google Shape;657;p70"/>
          <p:cNvSpPr txBox="1"/>
          <p:nvPr/>
        </p:nvSpPr>
        <p:spPr>
          <a:xfrm>
            <a:off x="617236" y="109728"/>
            <a:ext cx="5898000" cy="434100"/>
          </a:xfrm>
          <a:prstGeom prst="rect">
            <a:avLst/>
          </a:prstGeom>
          <a:noFill/>
          <a:ln cap="flat" cmpd="sng" w="7150">
            <a:solidFill>
              <a:srgbClr val="8867A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热身活动｜站位讨论</a:t>
            </a:r>
            <a:endParaRPr sz="1100"/>
          </a:p>
        </p:txBody>
      </p:sp>
      <p:sp>
        <p:nvSpPr>
          <p:cNvPr id="658" name="Google Shape;658;p70"/>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59" name="Google Shape;659;p70"/>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请根据你的想法站到相应位置，并准备一句理由。</a:t>
            </a:r>
            <a:endParaRPr sz="1100"/>
          </a:p>
        </p:txBody>
      </p:sp>
      <p:sp>
        <p:nvSpPr>
          <p:cNvPr id="660" name="Google Shape;660;p70"/>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4 课</a:t>
            </a:r>
            <a:endParaRPr sz="1100"/>
          </a:p>
        </p:txBody>
      </p:sp>
      <p:sp>
        <p:nvSpPr>
          <p:cNvPr id="661" name="Google Shape;661;p70"/>
          <p:cNvSpPr/>
          <p:nvPr/>
        </p:nvSpPr>
        <p:spPr>
          <a:xfrm>
            <a:off x="562371" y="1337310"/>
            <a:ext cx="7852800" cy="8232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62" name="Google Shape;662;p70"/>
          <p:cNvSpPr/>
          <p:nvPr/>
        </p:nvSpPr>
        <p:spPr>
          <a:xfrm>
            <a:off x="562371" y="1337310"/>
            <a:ext cx="78528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63" name="Google Shape;663;p70"/>
          <p:cNvSpPr txBox="1"/>
          <p:nvPr/>
        </p:nvSpPr>
        <p:spPr>
          <a:xfrm>
            <a:off x="685818" y="1515618"/>
            <a:ext cx="76056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判断句</a:t>
            </a:r>
            <a:endParaRPr sz="1100"/>
          </a:p>
        </p:txBody>
      </p:sp>
      <p:sp>
        <p:nvSpPr>
          <p:cNvPr id="664" name="Google Shape;664;p70"/>
          <p:cNvSpPr txBox="1"/>
          <p:nvPr/>
        </p:nvSpPr>
        <p:spPr>
          <a:xfrm>
            <a:off x="685818" y="1803654"/>
            <a:ext cx="7605600" cy="665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800" u="none" cap="none" strike="noStrike">
                <a:solidFill>
                  <a:srgbClr val="2D2D2D"/>
                </a:solidFill>
                <a:latin typeface="Microsoft YaHei"/>
                <a:ea typeface="Microsoft YaHei"/>
                <a:cs typeface="Microsoft YaHei"/>
                <a:sym typeface="Microsoft YaHei"/>
              </a:rPr>
              <a:t>如果一个人不再说祖辈的语言，也不再穿传统服饰，他的文化身份就已经改变了。</a:t>
            </a:r>
            <a:endParaRPr sz="1100"/>
          </a:p>
        </p:txBody>
      </p:sp>
      <p:sp>
        <p:nvSpPr>
          <p:cNvPr id="665" name="Google Shape;665;p70"/>
          <p:cNvSpPr/>
          <p:nvPr/>
        </p:nvSpPr>
        <p:spPr>
          <a:xfrm>
            <a:off x="562371" y="2434590"/>
            <a:ext cx="1783200" cy="15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66" name="Google Shape;666;p70"/>
          <p:cNvSpPr/>
          <p:nvPr/>
        </p:nvSpPr>
        <p:spPr>
          <a:xfrm>
            <a:off x="562371" y="2434590"/>
            <a:ext cx="17832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67" name="Google Shape;667;p70"/>
          <p:cNvSpPr txBox="1"/>
          <p:nvPr/>
        </p:nvSpPr>
        <p:spPr>
          <a:xfrm>
            <a:off x="685818" y="2612898"/>
            <a:ext cx="1536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非常同意</a:t>
            </a:r>
            <a:endParaRPr sz="1100"/>
          </a:p>
        </p:txBody>
      </p:sp>
      <p:sp>
        <p:nvSpPr>
          <p:cNvPr id="668" name="Google Shape;668;p70"/>
          <p:cNvSpPr txBox="1"/>
          <p:nvPr/>
        </p:nvSpPr>
        <p:spPr>
          <a:xfrm>
            <a:off x="685818" y="2900934"/>
            <a:ext cx="1536300" cy="803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我认为外在改变，往往说明内在也改变了。</a:t>
            </a:r>
            <a:endParaRPr sz="1100"/>
          </a:p>
        </p:txBody>
      </p:sp>
      <p:sp>
        <p:nvSpPr>
          <p:cNvPr id="669" name="Google Shape;669;p70"/>
          <p:cNvSpPr/>
          <p:nvPr/>
        </p:nvSpPr>
        <p:spPr>
          <a:xfrm>
            <a:off x="2551244" y="2434590"/>
            <a:ext cx="1783200" cy="15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0" name="Google Shape;670;p70"/>
          <p:cNvSpPr/>
          <p:nvPr/>
        </p:nvSpPr>
        <p:spPr>
          <a:xfrm>
            <a:off x="2551244" y="2434590"/>
            <a:ext cx="17832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1" name="Google Shape;671;p70"/>
          <p:cNvSpPr txBox="1"/>
          <p:nvPr/>
        </p:nvSpPr>
        <p:spPr>
          <a:xfrm>
            <a:off x="2674691" y="2612898"/>
            <a:ext cx="1536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比较同意</a:t>
            </a:r>
            <a:endParaRPr sz="1100"/>
          </a:p>
        </p:txBody>
      </p:sp>
      <p:sp>
        <p:nvSpPr>
          <p:cNvPr id="672" name="Google Shape;672;p70"/>
          <p:cNvSpPr txBox="1"/>
          <p:nvPr/>
        </p:nvSpPr>
        <p:spPr>
          <a:xfrm>
            <a:off x="2674691" y="2900934"/>
            <a:ext cx="1536300" cy="803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我大体同意，但还要看他心里是否保留。</a:t>
            </a:r>
            <a:endParaRPr sz="1100"/>
          </a:p>
        </p:txBody>
      </p:sp>
      <p:sp>
        <p:nvSpPr>
          <p:cNvPr id="673" name="Google Shape;673;p70"/>
          <p:cNvSpPr/>
          <p:nvPr/>
        </p:nvSpPr>
        <p:spPr>
          <a:xfrm>
            <a:off x="4540117" y="2434590"/>
            <a:ext cx="1783200" cy="15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4" name="Google Shape;674;p70"/>
          <p:cNvSpPr/>
          <p:nvPr/>
        </p:nvSpPr>
        <p:spPr>
          <a:xfrm>
            <a:off x="4540117" y="2434590"/>
            <a:ext cx="17832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5" name="Google Shape;675;p70"/>
          <p:cNvSpPr txBox="1"/>
          <p:nvPr/>
        </p:nvSpPr>
        <p:spPr>
          <a:xfrm>
            <a:off x="4663564" y="2612898"/>
            <a:ext cx="1536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比较不同意</a:t>
            </a:r>
            <a:endParaRPr sz="1100"/>
          </a:p>
        </p:txBody>
      </p:sp>
      <p:sp>
        <p:nvSpPr>
          <p:cNvPr id="676" name="Google Shape;676;p70"/>
          <p:cNvSpPr txBox="1"/>
          <p:nvPr/>
        </p:nvSpPr>
        <p:spPr>
          <a:xfrm>
            <a:off x="4663564" y="2900934"/>
            <a:ext cx="1536300" cy="803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外表和语言会变，但认同未必完全消失。</a:t>
            </a:r>
            <a:endParaRPr sz="1100"/>
          </a:p>
        </p:txBody>
      </p:sp>
      <p:sp>
        <p:nvSpPr>
          <p:cNvPr id="677" name="Google Shape;677;p70"/>
          <p:cNvSpPr/>
          <p:nvPr/>
        </p:nvSpPr>
        <p:spPr>
          <a:xfrm>
            <a:off x="6528990" y="2434590"/>
            <a:ext cx="1783200" cy="15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8" name="Google Shape;678;p70"/>
          <p:cNvSpPr/>
          <p:nvPr/>
        </p:nvSpPr>
        <p:spPr>
          <a:xfrm>
            <a:off x="6528990" y="2434590"/>
            <a:ext cx="17832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9" name="Google Shape;679;p70"/>
          <p:cNvSpPr txBox="1"/>
          <p:nvPr/>
        </p:nvSpPr>
        <p:spPr>
          <a:xfrm>
            <a:off x="6652437" y="2612898"/>
            <a:ext cx="1536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非常不同意</a:t>
            </a:r>
            <a:endParaRPr sz="1100"/>
          </a:p>
        </p:txBody>
      </p:sp>
      <p:sp>
        <p:nvSpPr>
          <p:cNvPr id="680" name="Google Shape;680;p70"/>
          <p:cNvSpPr txBox="1"/>
          <p:nvPr/>
        </p:nvSpPr>
        <p:spPr>
          <a:xfrm>
            <a:off x="6652437" y="2900934"/>
            <a:ext cx="15363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文化身份不只看外在，更看记忆、情感与归属。</a:t>
            </a:r>
            <a:endParaRPr sz="1100"/>
          </a:p>
        </p:txBody>
      </p:sp>
      <p:sp>
        <p:nvSpPr>
          <p:cNvPr id="681" name="Google Shape;681;p70"/>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第4课 | 热身</a:t>
            </a:r>
            <a:endParaRPr sz="1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685" name="Shape 685"/>
        <p:cNvGrpSpPr/>
        <p:nvPr/>
      </p:nvGrpSpPr>
      <p:grpSpPr>
        <a:xfrm>
          <a:off x="0" y="0"/>
          <a:ext cx="0" cy="0"/>
          <a:chOff x="0" y="0"/>
          <a:chExt cx="0" cy="0"/>
        </a:xfrm>
      </p:grpSpPr>
      <p:sp>
        <p:nvSpPr>
          <p:cNvPr id="686" name="Google Shape;686;p71"/>
          <p:cNvSpPr/>
          <p:nvPr/>
        </p:nvSpPr>
        <p:spPr>
          <a:xfrm>
            <a:off x="0" y="0"/>
            <a:ext cx="9144000" cy="5349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7" name="Google Shape;687;p71"/>
          <p:cNvSpPr/>
          <p:nvPr/>
        </p:nvSpPr>
        <p:spPr>
          <a:xfrm>
            <a:off x="0" y="534924"/>
            <a:ext cx="109800" cy="4608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8" name="Google Shape;688;p71"/>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9" name="Google Shape;689;p71"/>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8867A8"/>
                </a:solidFill>
                <a:latin typeface="Microsoft YaHei"/>
                <a:ea typeface="Microsoft YaHei"/>
                <a:cs typeface="Microsoft YaHei"/>
                <a:sym typeface="Microsoft YaHei"/>
              </a:rPr>
              <a:t>4</a:t>
            </a:r>
            <a:endParaRPr sz="1100"/>
          </a:p>
        </p:txBody>
      </p:sp>
      <p:sp>
        <p:nvSpPr>
          <p:cNvPr id="690" name="Google Shape;690;p71"/>
          <p:cNvSpPr txBox="1"/>
          <p:nvPr/>
        </p:nvSpPr>
        <p:spPr>
          <a:xfrm>
            <a:off x="617236" y="109728"/>
            <a:ext cx="5898000" cy="434100"/>
          </a:xfrm>
          <a:prstGeom prst="rect">
            <a:avLst/>
          </a:prstGeom>
          <a:noFill/>
          <a:ln cap="flat" cmpd="sng" w="7150">
            <a:solidFill>
              <a:srgbClr val="8867A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活动一｜弟弟变了什么？</a:t>
            </a:r>
            <a:endParaRPr sz="1100"/>
          </a:p>
        </p:txBody>
      </p:sp>
      <p:sp>
        <p:nvSpPr>
          <p:cNvPr id="691" name="Google Shape;691;p71"/>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2" name="Google Shape;692;p71"/>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结合课本 p12 的相关题目，从不同角度整理“弟弟”的变化。</a:t>
            </a:r>
            <a:endParaRPr sz="1100"/>
          </a:p>
        </p:txBody>
      </p:sp>
      <p:sp>
        <p:nvSpPr>
          <p:cNvPr id="693" name="Google Shape;693;p71"/>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4 课</a:t>
            </a:r>
            <a:endParaRPr sz="1100"/>
          </a:p>
        </p:txBody>
      </p:sp>
      <p:graphicFrame>
        <p:nvGraphicFramePr>
          <p:cNvPr id="694" name="Google Shape;694;p71"/>
          <p:cNvGraphicFramePr/>
          <p:nvPr/>
        </p:nvGraphicFramePr>
        <p:xfrm>
          <a:off x="548655" y="1337310"/>
          <a:ext cx="3000000" cy="3000000"/>
        </p:xfrm>
        <a:graphic>
          <a:graphicData uri="http://schemas.openxmlformats.org/drawingml/2006/table">
            <a:tbl>
              <a:tblPr bandRow="1" firstRow="1">
                <a:noFill/>
                <a:tableStyleId>{6DB37C38-08B4-4D8B-930D-383F00103916}</a:tableStyleId>
              </a:tblPr>
              <a:tblGrid>
                <a:gridCol w="2686125"/>
                <a:gridCol w="2686125"/>
                <a:gridCol w="2686125"/>
              </a:tblGrid>
              <a:tr h="534925">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角度</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867A8"/>
                    </a:solidFill>
                  </a:tcPr>
                </a:tc>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变化</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867A8"/>
                    </a:solidFill>
                  </a:tcPr>
                </a:tc>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这可能说明什么</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8867A8"/>
                    </a:solidFill>
                  </a:tcPr>
                </a:tc>
              </a:tr>
              <a:tr h="53492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外貌</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3492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语言</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3492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行为 / 生活方式</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3492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身份认同</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t/>
                      </a:r>
                      <a:endParaRPr sz="1400" u="none" cap="none" strike="noStrike">
                        <a:solidFill>
                          <a:schemeClr val="dk1"/>
                        </a:solidFill>
                        <a:latin typeface="Calibri"/>
                        <a:ea typeface="Calibri"/>
                        <a:cs typeface="Calibri"/>
                        <a:sym typeface="Calibri"/>
                      </a:endParaRPr>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695" name="Google Shape;695;p71"/>
          <p:cNvSpPr txBox="1"/>
          <p:nvPr/>
        </p:nvSpPr>
        <p:spPr>
          <a:xfrm>
            <a:off x="603520" y="4183380"/>
            <a:ext cx="771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2D2D2D"/>
                </a:solidFill>
                <a:latin typeface="Microsoft YaHei"/>
                <a:ea typeface="Microsoft YaHei"/>
                <a:cs typeface="Microsoft YaHei"/>
                <a:sym typeface="Microsoft YaHei"/>
              </a:rPr>
              <a:t>讨论：水面上的变化很多，水面下的“归属感”和“记忆”也一定消失了吗？</a:t>
            </a:r>
            <a:endParaRPr sz="1100"/>
          </a:p>
        </p:txBody>
      </p:sp>
      <p:sp>
        <p:nvSpPr>
          <p:cNvPr id="696" name="Google Shape;696;p71"/>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第4课 | 弟弟的变化</a:t>
            </a:r>
            <a:endParaRPr sz="11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700" name="Shape 700"/>
        <p:cNvGrpSpPr/>
        <p:nvPr/>
      </p:nvGrpSpPr>
      <p:grpSpPr>
        <a:xfrm>
          <a:off x="0" y="0"/>
          <a:ext cx="0" cy="0"/>
          <a:chOff x="0" y="0"/>
          <a:chExt cx="0" cy="0"/>
        </a:xfrm>
      </p:grpSpPr>
      <p:sp>
        <p:nvSpPr>
          <p:cNvPr id="701" name="Google Shape;701;p72"/>
          <p:cNvSpPr/>
          <p:nvPr/>
        </p:nvSpPr>
        <p:spPr>
          <a:xfrm>
            <a:off x="0" y="0"/>
            <a:ext cx="9144000" cy="5349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02" name="Google Shape;702;p72"/>
          <p:cNvSpPr/>
          <p:nvPr/>
        </p:nvSpPr>
        <p:spPr>
          <a:xfrm>
            <a:off x="0" y="534924"/>
            <a:ext cx="109800" cy="4608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03" name="Google Shape;703;p72"/>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04" name="Google Shape;704;p72"/>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8867A8"/>
                </a:solidFill>
                <a:latin typeface="Microsoft YaHei"/>
                <a:ea typeface="Microsoft YaHei"/>
                <a:cs typeface="Microsoft YaHei"/>
                <a:sym typeface="Microsoft YaHei"/>
              </a:rPr>
              <a:t>4</a:t>
            </a:r>
            <a:endParaRPr sz="1100"/>
          </a:p>
        </p:txBody>
      </p:sp>
      <p:sp>
        <p:nvSpPr>
          <p:cNvPr id="705" name="Google Shape;705;p72"/>
          <p:cNvSpPr txBox="1"/>
          <p:nvPr/>
        </p:nvSpPr>
        <p:spPr>
          <a:xfrm>
            <a:off x="617236" y="109728"/>
            <a:ext cx="5898000" cy="434100"/>
          </a:xfrm>
          <a:prstGeom prst="rect">
            <a:avLst/>
          </a:prstGeom>
          <a:noFill/>
          <a:ln cap="flat" cmpd="sng" w="7150">
            <a:solidFill>
              <a:srgbClr val="8867A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活动二｜时间线拼图</a:t>
            </a:r>
            <a:endParaRPr sz="1100"/>
          </a:p>
        </p:txBody>
      </p:sp>
      <p:sp>
        <p:nvSpPr>
          <p:cNvPr id="706" name="Google Shape;706;p72"/>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07" name="Google Shape;707;p72"/>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请把下列情节按顺序排列，再思考作者为什么这样写。</a:t>
            </a:r>
            <a:endParaRPr sz="1100"/>
          </a:p>
        </p:txBody>
      </p:sp>
      <p:sp>
        <p:nvSpPr>
          <p:cNvPr id="708" name="Google Shape;708;p72"/>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4 课</a:t>
            </a:r>
            <a:endParaRPr sz="1100"/>
          </a:p>
        </p:txBody>
      </p:sp>
      <p:sp>
        <p:nvSpPr>
          <p:cNvPr id="709" name="Google Shape;709;p72"/>
          <p:cNvSpPr/>
          <p:nvPr/>
        </p:nvSpPr>
        <p:spPr>
          <a:xfrm>
            <a:off x="534938" y="1337310"/>
            <a:ext cx="36348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10" name="Google Shape;710;p72"/>
          <p:cNvSpPr/>
          <p:nvPr/>
        </p:nvSpPr>
        <p:spPr>
          <a:xfrm>
            <a:off x="534938" y="1337310"/>
            <a:ext cx="36348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11" name="Google Shape;711;p72"/>
          <p:cNvSpPr txBox="1"/>
          <p:nvPr/>
        </p:nvSpPr>
        <p:spPr>
          <a:xfrm>
            <a:off x="658386" y="1515618"/>
            <a:ext cx="33879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可能出现的情节卡</a:t>
            </a:r>
            <a:endParaRPr sz="1100"/>
          </a:p>
        </p:txBody>
      </p:sp>
      <p:sp>
        <p:nvSpPr>
          <p:cNvPr id="712" name="Google Shape;712;p72"/>
          <p:cNvSpPr txBox="1"/>
          <p:nvPr/>
        </p:nvSpPr>
        <p:spPr>
          <a:xfrm>
            <a:off x="658386" y="1803654"/>
            <a:ext cx="3387900" cy="1727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 童年与奶奶相处</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弟弟来访</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上山唱歌</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离家求学</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再见弟弟</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奶奶去世</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开头的回忆与介绍</a:t>
            </a:r>
            <a:endParaRPr sz="1100"/>
          </a:p>
        </p:txBody>
      </p:sp>
      <p:sp>
        <p:nvSpPr>
          <p:cNvPr id="713" name="Google Shape;713;p72"/>
          <p:cNvSpPr/>
          <p:nvPr/>
        </p:nvSpPr>
        <p:spPr>
          <a:xfrm>
            <a:off x="4375521" y="1337310"/>
            <a:ext cx="36348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14" name="Google Shape;714;p72"/>
          <p:cNvSpPr/>
          <p:nvPr/>
        </p:nvSpPr>
        <p:spPr>
          <a:xfrm>
            <a:off x="4375521" y="1337310"/>
            <a:ext cx="36348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15" name="Google Shape;715;p72"/>
          <p:cNvSpPr txBox="1"/>
          <p:nvPr/>
        </p:nvSpPr>
        <p:spPr>
          <a:xfrm>
            <a:off x="4498968" y="1515618"/>
            <a:ext cx="33879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想一想</a:t>
            </a:r>
            <a:endParaRPr sz="1100"/>
          </a:p>
        </p:txBody>
      </p:sp>
      <p:sp>
        <p:nvSpPr>
          <p:cNvPr id="716" name="Google Shape;716;p72"/>
          <p:cNvSpPr txBox="1"/>
          <p:nvPr/>
        </p:nvSpPr>
        <p:spPr>
          <a:xfrm>
            <a:off x="4498968" y="1803654"/>
            <a:ext cx="3387900" cy="1727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作者为什么不按“从小到大”的方式平平地讲完？</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这样的回忆式结构有什么效果？</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提示：它会不会让“记忆”和“情感”更浓？</a:t>
            </a:r>
            <a:endParaRPr sz="1100"/>
          </a:p>
        </p:txBody>
      </p:sp>
      <p:sp>
        <p:nvSpPr>
          <p:cNvPr id="717" name="Google Shape;717;p72"/>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第4课 | 结构</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721" name="Shape 721"/>
        <p:cNvGrpSpPr/>
        <p:nvPr/>
      </p:nvGrpSpPr>
      <p:grpSpPr>
        <a:xfrm>
          <a:off x="0" y="0"/>
          <a:ext cx="0" cy="0"/>
          <a:chOff x="0" y="0"/>
          <a:chExt cx="0" cy="0"/>
        </a:xfrm>
      </p:grpSpPr>
      <p:sp>
        <p:nvSpPr>
          <p:cNvPr id="722" name="Google Shape;722;p73"/>
          <p:cNvSpPr/>
          <p:nvPr/>
        </p:nvSpPr>
        <p:spPr>
          <a:xfrm>
            <a:off x="0" y="0"/>
            <a:ext cx="9144000" cy="5349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23" name="Google Shape;723;p73"/>
          <p:cNvSpPr/>
          <p:nvPr/>
        </p:nvSpPr>
        <p:spPr>
          <a:xfrm>
            <a:off x="0" y="534924"/>
            <a:ext cx="109800" cy="4608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24" name="Google Shape;724;p73"/>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25" name="Google Shape;725;p73"/>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8867A8"/>
                </a:solidFill>
                <a:latin typeface="Microsoft YaHei"/>
                <a:ea typeface="Microsoft YaHei"/>
                <a:cs typeface="Microsoft YaHei"/>
                <a:sym typeface="Microsoft YaHei"/>
              </a:rPr>
              <a:t>4</a:t>
            </a:r>
            <a:endParaRPr sz="1100"/>
          </a:p>
        </p:txBody>
      </p:sp>
      <p:sp>
        <p:nvSpPr>
          <p:cNvPr id="726" name="Google Shape;726;p73"/>
          <p:cNvSpPr txBox="1"/>
          <p:nvPr/>
        </p:nvSpPr>
        <p:spPr>
          <a:xfrm>
            <a:off x="617236" y="109728"/>
            <a:ext cx="5898000" cy="434100"/>
          </a:xfrm>
          <a:prstGeom prst="rect">
            <a:avLst/>
          </a:prstGeom>
          <a:noFill/>
          <a:ln cap="flat" cmpd="sng" w="7150">
            <a:solidFill>
              <a:srgbClr val="8867A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活动三｜回到标题</a:t>
            </a:r>
            <a:endParaRPr sz="1100"/>
          </a:p>
        </p:txBody>
      </p:sp>
      <p:sp>
        <p:nvSpPr>
          <p:cNvPr id="727" name="Google Shape;727;p73"/>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28" name="Google Shape;728;p73"/>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现在请重新思考：为什么文章不叫《我的奶奶》？</a:t>
            </a:r>
            <a:endParaRPr sz="1100"/>
          </a:p>
        </p:txBody>
      </p:sp>
      <p:sp>
        <p:nvSpPr>
          <p:cNvPr id="729" name="Google Shape;729;p73"/>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4 课</a:t>
            </a:r>
            <a:endParaRPr sz="1100"/>
          </a:p>
        </p:txBody>
      </p:sp>
      <p:sp>
        <p:nvSpPr>
          <p:cNvPr id="730" name="Google Shape;730;p73"/>
          <p:cNvSpPr/>
          <p:nvPr/>
        </p:nvSpPr>
        <p:spPr>
          <a:xfrm>
            <a:off x="582946" y="1337310"/>
            <a:ext cx="2434500" cy="267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31" name="Google Shape;731;p73"/>
          <p:cNvSpPr/>
          <p:nvPr/>
        </p:nvSpPr>
        <p:spPr>
          <a:xfrm>
            <a:off x="582946" y="1337310"/>
            <a:ext cx="24345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32" name="Google Shape;732;p73"/>
          <p:cNvSpPr txBox="1"/>
          <p:nvPr/>
        </p:nvSpPr>
        <p:spPr>
          <a:xfrm>
            <a:off x="706393" y="1515618"/>
            <a:ext cx="21876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标题 A</a:t>
            </a:r>
            <a:endParaRPr sz="1100"/>
          </a:p>
        </p:txBody>
      </p:sp>
      <p:sp>
        <p:nvSpPr>
          <p:cNvPr id="733" name="Google Shape;733;p73"/>
          <p:cNvSpPr txBox="1"/>
          <p:nvPr/>
        </p:nvSpPr>
        <p:spPr>
          <a:xfrm>
            <a:off x="706393" y="1803654"/>
            <a:ext cx="21876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《我的奶奶》</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更温暖、更私人，但少了什么？</a:t>
            </a:r>
            <a:endParaRPr sz="1100"/>
          </a:p>
        </p:txBody>
      </p:sp>
      <p:sp>
        <p:nvSpPr>
          <p:cNvPr id="734" name="Google Shape;734;p73"/>
          <p:cNvSpPr/>
          <p:nvPr/>
        </p:nvSpPr>
        <p:spPr>
          <a:xfrm>
            <a:off x="3257637" y="1337310"/>
            <a:ext cx="2434500" cy="267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35" name="Google Shape;735;p73"/>
          <p:cNvSpPr/>
          <p:nvPr/>
        </p:nvSpPr>
        <p:spPr>
          <a:xfrm>
            <a:off x="3257637" y="1337310"/>
            <a:ext cx="24345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36" name="Google Shape;736;p73"/>
          <p:cNvSpPr txBox="1"/>
          <p:nvPr/>
        </p:nvSpPr>
        <p:spPr>
          <a:xfrm>
            <a:off x="3381084" y="1515618"/>
            <a:ext cx="21876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标题 B</a:t>
            </a:r>
            <a:endParaRPr sz="1100"/>
          </a:p>
        </p:txBody>
      </p:sp>
      <p:sp>
        <p:nvSpPr>
          <p:cNvPr id="737" name="Google Shape;737;p73"/>
          <p:cNvSpPr txBox="1"/>
          <p:nvPr/>
        </p:nvSpPr>
        <p:spPr>
          <a:xfrm>
            <a:off x="3381084" y="1803654"/>
            <a:ext cx="21876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《一个原住民奶奶》</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更直接，但会不会太“说明文”？</a:t>
            </a:r>
            <a:endParaRPr sz="1100"/>
          </a:p>
        </p:txBody>
      </p:sp>
      <p:sp>
        <p:nvSpPr>
          <p:cNvPr id="738" name="Google Shape;738;p73"/>
          <p:cNvSpPr/>
          <p:nvPr/>
        </p:nvSpPr>
        <p:spPr>
          <a:xfrm>
            <a:off x="5932328" y="1337310"/>
            <a:ext cx="2434500" cy="267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39" name="Google Shape;739;p73"/>
          <p:cNvSpPr/>
          <p:nvPr/>
        </p:nvSpPr>
        <p:spPr>
          <a:xfrm>
            <a:off x="5932328" y="1337310"/>
            <a:ext cx="24345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40" name="Google Shape;740;p73"/>
          <p:cNvSpPr txBox="1"/>
          <p:nvPr/>
        </p:nvSpPr>
        <p:spPr>
          <a:xfrm>
            <a:off x="6055775" y="1515618"/>
            <a:ext cx="21876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标题 C</a:t>
            </a:r>
            <a:endParaRPr sz="1100"/>
          </a:p>
        </p:txBody>
      </p:sp>
      <p:sp>
        <p:nvSpPr>
          <p:cNvPr id="741" name="Google Shape;741;p73"/>
          <p:cNvSpPr txBox="1"/>
          <p:nvPr/>
        </p:nvSpPr>
        <p:spPr>
          <a:xfrm>
            <a:off x="6055775" y="1803654"/>
            <a:ext cx="2187600" cy="1265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《假黎婆》</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这个带有社会眼光和历史意味的称呼，为什么最有力量？</a:t>
            </a:r>
            <a:endParaRPr sz="1100"/>
          </a:p>
        </p:txBody>
      </p:sp>
      <p:sp>
        <p:nvSpPr>
          <p:cNvPr id="742" name="Google Shape;742;p73"/>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第4课 | 标题</a:t>
            </a:r>
            <a:endParaRPr sz="11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746" name="Shape 746"/>
        <p:cNvGrpSpPr/>
        <p:nvPr/>
      </p:nvGrpSpPr>
      <p:grpSpPr>
        <a:xfrm>
          <a:off x="0" y="0"/>
          <a:ext cx="0" cy="0"/>
          <a:chOff x="0" y="0"/>
          <a:chExt cx="0" cy="0"/>
        </a:xfrm>
      </p:grpSpPr>
      <p:sp>
        <p:nvSpPr>
          <p:cNvPr id="747" name="Google Shape;747;p74"/>
          <p:cNvSpPr/>
          <p:nvPr/>
        </p:nvSpPr>
        <p:spPr>
          <a:xfrm>
            <a:off x="0" y="0"/>
            <a:ext cx="9144000" cy="5349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48" name="Google Shape;748;p74"/>
          <p:cNvSpPr/>
          <p:nvPr/>
        </p:nvSpPr>
        <p:spPr>
          <a:xfrm>
            <a:off x="0" y="534924"/>
            <a:ext cx="109800" cy="4608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49" name="Google Shape;749;p74"/>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50" name="Google Shape;750;p74"/>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8867A8"/>
                </a:solidFill>
                <a:latin typeface="Microsoft YaHei"/>
                <a:ea typeface="Microsoft YaHei"/>
                <a:cs typeface="Microsoft YaHei"/>
                <a:sym typeface="Microsoft YaHei"/>
              </a:rPr>
              <a:t>4</a:t>
            </a:r>
            <a:endParaRPr sz="1100"/>
          </a:p>
        </p:txBody>
      </p:sp>
      <p:sp>
        <p:nvSpPr>
          <p:cNvPr id="751" name="Google Shape;751;p74"/>
          <p:cNvSpPr txBox="1"/>
          <p:nvPr/>
        </p:nvSpPr>
        <p:spPr>
          <a:xfrm>
            <a:off x="617236" y="109728"/>
            <a:ext cx="5898000" cy="434100"/>
          </a:xfrm>
          <a:prstGeom prst="rect">
            <a:avLst/>
          </a:prstGeom>
          <a:noFill/>
          <a:ln cap="flat" cmpd="sng" w="7150">
            <a:solidFill>
              <a:srgbClr val="8867A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Exit Ticket｜表面写什么，深层写什么？</a:t>
            </a:r>
            <a:endParaRPr sz="1100"/>
          </a:p>
        </p:txBody>
      </p:sp>
      <p:sp>
        <p:nvSpPr>
          <p:cNvPr id="752" name="Google Shape;752;p74"/>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4 课</a:t>
            </a:r>
            <a:endParaRPr sz="1100"/>
          </a:p>
        </p:txBody>
      </p:sp>
      <p:sp>
        <p:nvSpPr>
          <p:cNvPr id="753" name="Google Shape;753;p74"/>
          <p:cNvSpPr/>
          <p:nvPr/>
        </p:nvSpPr>
        <p:spPr>
          <a:xfrm>
            <a:off x="740684" y="1371600"/>
            <a:ext cx="7509900" cy="17487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54" name="Google Shape;754;p74"/>
          <p:cNvSpPr/>
          <p:nvPr/>
        </p:nvSpPr>
        <p:spPr>
          <a:xfrm>
            <a:off x="740684" y="1371600"/>
            <a:ext cx="7509900" cy="123600"/>
          </a:xfrm>
          <a:prstGeom prst="rect">
            <a:avLst/>
          </a:prstGeom>
          <a:solidFill>
            <a:srgbClr val="8867A8"/>
          </a:solidFill>
          <a:ln cap="flat" cmpd="sng" w="7150">
            <a:solidFill>
              <a:srgbClr val="8867A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55" name="Google Shape;755;p74"/>
          <p:cNvSpPr txBox="1"/>
          <p:nvPr/>
        </p:nvSpPr>
        <p:spPr>
          <a:xfrm>
            <a:off x="864131" y="1549908"/>
            <a:ext cx="72627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8867A8"/>
                </a:solidFill>
                <a:latin typeface="Microsoft YaHei"/>
                <a:ea typeface="Microsoft YaHei"/>
                <a:cs typeface="Microsoft YaHei"/>
                <a:sym typeface="Microsoft YaHei"/>
              </a:rPr>
              <a:t>请完成</a:t>
            </a:r>
            <a:endParaRPr sz="1100"/>
          </a:p>
        </p:txBody>
      </p:sp>
      <p:sp>
        <p:nvSpPr>
          <p:cNvPr id="756" name="Google Shape;756;p74"/>
          <p:cNvSpPr txBox="1"/>
          <p:nvPr/>
        </p:nvSpPr>
        <p:spPr>
          <a:xfrm>
            <a:off x="864131" y="1837944"/>
            <a:ext cx="7262700" cy="7572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2100" u="none" cap="none" strike="noStrike">
                <a:solidFill>
                  <a:srgbClr val="2D2D2D"/>
                </a:solidFill>
                <a:latin typeface="Microsoft YaHei"/>
                <a:ea typeface="Microsoft YaHei"/>
                <a:cs typeface="Microsoft YaHei"/>
                <a:sym typeface="Microsoft YaHei"/>
              </a:rPr>
              <a:t>这篇文章表面写________，</a:t>
            </a:r>
            <a:br>
              <a:rPr b="0" i="0" lang="zh-CN" sz="2100" u="none" cap="none" strike="noStrike">
                <a:solidFill>
                  <a:srgbClr val="2D2D2D"/>
                </a:solidFill>
                <a:latin typeface="Microsoft YaHei"/>
                <a:ea typeface="Microsoft YaHei"/>
                <a:cs typeface="Microsoft YaHei"/>
                <a:sym typeface="Microsoft YaHei"/>
              </a:rPr>
            </a:br>
            <a:r>
              <a:rPr b="0" i="0" lang="zh-CN" sz="2100" u="none" cap="none" strike="noStrike">
                <a:solidFill>
                  <a:srgbClr val="2D2D2D"/>
                </a:solidFill>
                <a:latin typeface="Microsoft YaHei"/>
                <a:ea typeface="Microsoft YaHei"/>
                <a:cs typeface="Microsoft YaHei"/>
                <a:sym typeface="Microsoft YaHei"/>
              </a:rPr>
              <a:t>其实更深地写了________。</a:t>
            </a:r>
            <a:endParaRPr sz="1100"/>
          </a:p>
        </p:txBody>
      </p:sp>
      <p:sp>
        <p:nvSpPr>
          <p:cNvPr id="757" name="Google Shape;757;p74"/>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第4课 | Exit Ticket</a:t>
            </a:r>
            <a:endParaRPr sz="11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761" name="Shape 761"/>
        <p:cNvGrpSpPr/>
        <p:nvPr/>
      </p:nvGrpSpPr>
      <p:grpSpPr>
        <a:xfrm>
          <a:off x="0" y="0"/>
          <a:ext cx="0" cy="0"/>
          <a:chOff x="0" y="0"/>
          <a:chExt cx="0" cy="0"/>
        </a:xfrm>
      </p:grpSpPr>
      <p:sp>
        <p:nvSpPr>
          <p:cNvPr id="762" name="Google Shape;762;p75"/>
          <p:cNvSpPr/>
          <p:nvPr/>
        </p:nvSpPr>
        <p:spPr>
          <a:xfrm>
            <a:off x="0" y="0"/>
            <a:ext cx="9144000" cy="5349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3" name="Google Shape;763;p75"/>
          <p:cNvSpPr/>
          <p:nvPr/>
        </p:nvSpPr>
        <p:spPr>
          <a:xfrm>
            <a:off x="0" y="534924"/>
            <a:ext cx="109800" cy="4608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4" name="Google Shape;764;p75"/>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5" name="Google Shape;765;p75"/>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B05858"/>
                </a:solidFill>
                <a:latin typeface="Microsoft YaHei"/>
                <a:ea typeface="Microsoft YaHei"/>
                <a:cs typeface="Microsoft YaHei"/>
                <a:sym typeface="Microsoft YaHei"/>
              </a:rPr>
              <a:t>5</a:t>
            </a:r>
            <a:endParaRPr sz="1100"/>
          </a:p>
        </p:txBody>
      </p:sp>
      <p:sp>
        <p:nvSpPr>
          <p:cNvPr id="766" name="Google Shape;766;p75"/>
          <p:cNvSpPr txBox="1"/>
          <p:nvPr/>
        </p:nvSpPr>
        <p:spPr>
          <a:xfrm>
            <a:off x="617236" y="109728"/>
            <a:ext cx="5898000" cy="434100"/>
          </a:xfrm>
          <a:prstGeom prst="rect">
            <a:avLst/>
          </a:prstGeom>
          <a:noFill/>
          <a:ln cap="flat" cmpd="sng" w="7150">
            <a:solidFill>
              <a:srgbClr val="B0585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第 5 课  |  从阅读到写作：一个瞬间，看见一个人</a:t>
            </a:r>
            <a:endParaRPr sz="1100"/>
          </a:p>
        </p:txBody>
      </p:sp>
      <p:sp>
        <p:nvSpPr>
          <p:cNvPr id="767" name="Google Shape;767;p75"/>
          <p:cNvSpPr txBox="1"/>
          <p:nvPr/>
        </p:nvSpPr>
        <p:spPr>
          <a:xfrm>
            <a:off x="7338256" y="123444"/>
            <a:ext cx="1371600" cy="249300"/>
          </a:xfrm>
          <a:prstGeom prst="rect">
            <a:avLst/>
          </a:prstGeom>
          <a:noFill/>
          <a:ln cap="flat" cmpd="sng" w="7150">
            <a:solidFill>
              <a:srgbClr val="B0585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r">
              <a:spcBef>
                <a:spcPts val="0"/>
              </a:spcBef>
              <a:spcAft>
                <a:spcPts val="0"/>
              </a:spcAft>
              <a:buNone/>
            </a:pPr>
            <a:r>
              <a:rPr b="0" i="0" lang="zh-CN" sz="900" u="none" cap="none" strike="noStrike">
                <a:solidFill>
                  <a:srgbClr val="FFFFFF"/>
                </a:solidFill>
                <a:latin typeface="Microsoft YaHei"/>
                <a:ea typeface="Microsoft YaHei"/>
                <a:cs typeface="Microsoft YaHei"/>
                <a:sym typeface="Microsoft YaHei"/>
              </a:rPr>
              <a:t>课本 p15-16</a:t>
            </a:r>
            <a:endParaRPr sz="1100"/>
          </a:p>
        </p:txBody>
      </p:sp>
      <p:sp>
        <p:nvSpPr>
          <p:cNvPr id="768" name="Google Shape;768;p75"/>
          <p:cNvSpPr txBox="1"/>
          <p:nvPr/>
        </p:nvSpPr>
        <p:spPr>
          <a:xfrm>
            <a:off x="377200" y="720090"/>
            <a:ext cx="26061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B05858"/>
                </a:solidFill>
                <a:latin typeface="Microsoft YaHei"/>
                <a:ea typeface="Microsoft YaHei"/>
                <a:cs typeface="Microsoft YaHei"/>
                <a:sym typeface="Microsoft YaHei"/>
              </a:rPr>
              <a:t>今天我们会……</a:t>
            </a:r>
            <a:endParaRPr sz="1100"/>
          </a:p>
        </p:txBody>
      </p:sp>
      <p:sp>
        <p:nvSpPr>
          <p:cNvPr id="769" name="Google Shape;769;p75"/>
          <p:cNvSpPr/>
          <p:nvPr/>
        </p:nvSpPr>
        <p:spPr>
          <a:xfrm>
            <a:off x="377200" y="973836"/>
            <a:ext cx="2674500" cy="13716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0" name="Google Shape;770;p75"/>
          <p:cNvSpPr txBox="1"/>
          <p:nvPr/>
        </p:nvSpPr>
        <p:spPr>
          <a:xfrm>
            <a:off x="500647" y="1056132"/>
            <a:ext cx="2427900" cy="14469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回顾《假黎婆》怎样通过细节写人物</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学习把“文化”写进一个具体场景</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完成写作任务的构思与开头练习</a:t>
            </a:r>
            <a:endParaRPr sz="1100"/>
          </a:p>
        </p:txBody>
      </p:sp>
      <p:sp>
        <p:nvSpPr>
          <p:cNvPr id="771" name="Google Shape;771;p75"/>
          <p:cNvSpPr txBox="1"/>
          <p:nvPr/>
        </p:nvSpPr>
        <p:spPr>
          <a:xfrm>
            <a:off x="3257637" y="720090"/>
            <a:ext cx="26061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B05858"/>
                </a:solidFill>
                <a:latin typeface="Microsoft YaHei"/>
                <a:ea typeface="Microsoft YaHei"/>
                <a:cs typeface="Microsoft YaHei"/>
                <a:sym typeface="Microsoft YaHei"/>
              </a:rPr>
              <a:t>学习目标</a:t>
            </a:r>
            <a:endParaRPr sz="1100"/>
          </a:p>
        </p:txBody>
      </p:sp>
      <p:sp>
        <p:nvSpPr>
          <p:cNvPr id="772" name="Google Shape;772;p75"/>
          <p:cNvSpPr/>
          <p:nvPr/>
        </p:nvSpPr>
        <p:spPr>
          <a:xfrm>
            <a:off x="3257637" y="973836"/>
            <a:ext cx="2709000" cy="13716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3" name="Google Shape;773;p75"/>
          <p:cNvSpPr txBox="1"/>
          <p:nvPr/>
        </p:nvSpPr>
        <p:spPr>
          <a:xfrm>
            <a:off x="3381084" y="1056132"/>
            <a:ext cx="2462100" cy="7233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我能把抽象评价改成具体描写</a:t>
            </a:r>
            <a:endParaRPr sz="1100"/>
          </a:p>
          <a:p>
            <a:pPr indent="0" lvl="0" marL="0" marR="0" rtl="0" algn="l">
              <a:spcBef>
                <a:spcPts val="600"/>
              </a:spcBef>
              <a:spcAft>
                <a:spcPts val="0"/>
              </a:spcAft>
              <a:buNone/>
            </a:pPr>
            <a:r>
              <a:rPr b="0" i="0" lang="zh-CN" sz="1400" u="none" cap="none" strike="noStrike">
                <a:solidFill>
                  <a:srgbClr val="2D2D2D"/>
                </a:solidFill>
                <a:latin typeface="Microsoft YaHei"/>
                <a:ea typeface="Microsoft YaHei"/>
                <a:cs typeface="Microsoft YaHei"/>
                <a:sym typeface="Microsoft YaHei"/>
              </a:rPr>
              <a:t>我能围绕一个场景设计人物描写</a:t>
            </a:r>
            <a:endParaRPr sz="1100"/>
          </a:p>
        </p:txBody>
      </p:sp>
      <p:sp>
        <p:nvSpPr>
          <p:cNvPr id="774" name="Google Shape;774;p75"/>
          <p:cNvSpPr txBox="1"/>
          <p:nvPr/>
        </p:nvSpPr>
        <p:spPr>
          <a:xfrm>
            <a:off x="6138073" y="720090"/>
            <a:ext cx="26745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B05858"/>
                </a:solidFill>
                <a:latin typeface="Microsoft YaHei"/>
                <a:ea typeface="Microsoft YaHei"/>
                <a:cs typeface="Microsoft YaHei"/>
                <a:sym typeface="Microsoft YaHei"/>
              </a:rPr>
              <a:t>成功标准</a:t>
            </a:r>
            <a:endParaRPr sz="1100"/>
          </a:p>
        </p:txBody>
      </p:sp>
      <p:sp>
        <p:nvSpPr>
          <p:cNvPr id="775" name="Google Shape;775;p75"/>
          <p:cNvSpPr/>
          <p:nvPr/>
        </p:nvSpPr>
        <p:spPr>
          <a:xfrm>
            <a:off x="6138073" y="973836"/>
            <a:ext cx="2640300" cy="13716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6" name="Google Shape;776;p75"/>
          <p:cNvSpPr txBox="1"/>
          <p:nvPr/>
        </p:nvSpPr>
        <p:spPr>
          <a:xfrm>
            <a:off x="6261520" y="1056132"/>
            <a:ext cx="2393700" cy="877500"/>
          </a:xfrm>
          <a:prstGeom prst="rect">
            <a:avLst/>
          </a:prstGeom>
          <a:noFill/>
          <a:ln cap="flat" cmpd="sng" w="7150">
            <a:solidFill>
              <a:srgbClr val="FFFFFF"/>
            </a:solidFill>
            <a:prstDash val="solid"/>
            <a:round/>
            <a:headEnd len="sm" w="sm" type="none"/>
            <a:tailEnd len="sm" w="sm" type="none"/>
          </a:ln>
        </p:spPr>
        <p:txBody>
          <a:bodyPr anchorCtr="0" anchor="t" bIns="0" lIns="0" spcFirstLastPara="1" rIns="0" wrap="square" tIns="0">
            <a:spAutoFit/>
          </a:bodyPr>
          <a:lstStyle/>
          <a:p>
            <a:pPr indent="0" lvl="0" marL="0" marR="0" rtl="0" algn="l">
              <a:spcBef>
                <a:spcPts val="0"/>
              </a:spcBef>
              <a:spcAft>
                <a:spcPts val="0"/>
              </a:spcAft>
              <a:buNone/>
            </a:pPr>
            <a:r>
              <a:rPr b="0" i="0" lang="zh-CN" sz="1300" u="none" cap="none" strike="noStrike">
                <a:solidFill>
                  <a:srgbClr val="2D2D2D"/>
                </a:solidFill>
                <a:latin typeface="Microsoft YaHei"/>
                <a:ea typeface="Microsoft YaHei"/>
                <a:cs typeface="Microsoft YaHei"/>
                <a:sym typeface="Microsoft YaHei"/>
              </a:rPr>
              <a:t>我能写出一个清楚、有画面的开头</a:t>
            </a:r>
            <a:endParaRPr sz="1100"/>
          </a:p>
          <a:p>
            <a:pPr indent="0" lvl="0" marL="0" marR="0" rtl="0" algn="l">
              <a:spcBef>
                <a:spcPts val="600"/>
              </a:spcBef>
              <a:spcAft>
                <a:spcPts val="0"/>
              </a:spcAft>
              <a:buNone/>
            </a:pPr>
            <a:r>
              <a:rPr b="0" i="0" lang="zh-CN" sz="1300" u="none" cap="none" strike="noStrike">
                <a:solidFill>
                  <a:srgbClr val="2D2D2D"/>
                </a:solidFill>
                <a:latin typeface="Microsoft YaHei"/>
                <a:ea typeface="Microsoft YaHei"/>
                <a:cs typeface="Microsoft YaHei"/>
                <a:sym typeface="Microsoft YaHei"/>
              </a:rPr>
              <a:t>我能让读者“看见”文化，而不是只看到解释</a:t>
            </a:r>
            <a:endParaRPr sz="1100"/>
          </a:p>
        </p:txBody>
      </p:sp>
      <p:sp>
        <p:nvSpPr>
          <p:cNvPr id="777" name="Google Shape;777;p75"/>
          <p:cNvSpPr/>
          <p:nvPr/>
        </p:nvSpPr>
        <p:spPr>
          <a:xfrm>
            <a:off x="377200" y="2811779"/>
            <a:ext cx="8401200" cy="123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8" name="Google Shape;778;p75"/>
          <p:cNvSpPr txBox="1"/>
          <p:nvPr/>
        </p:nvSpPr>
        <p:spPr>
          <a:xfrm>
            <a:off x="562371" y="3003804"/>
            <a:ext cx="1028700" cy="449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100" u="none" cap="none" strike="noStrike">
                <a:solidFill>
                  <a:srgbClr val="B05858"/>
                </a:solidFill>
                <a:latin typeface="Microsoft YaHei"/>
                <a:ea typeface="Microsoft YaHei"/>
                <a:cs typeface="Microsoft YaHei"/>
                <a:sym typeface="Microsoft YaHei"/>
              </a:rPr>
              <a:t>带着问题进入课堂</a:t>
            </a:r>
            <a:endParaRPr sz="1100"/>
          </a:p>
        </p:txBody>
      </p:sp>
      <p:sp>
        <p:nvSpPr>
          <p:cNvPr id="779" name="Google Shape;779;p75"/>
          <p:cNvSpPr txBox="1"/>
          <p:nvPr/>
        </p:nvSpPr>
        <p:spPr>
          <a:xfrm>
            <a:off x="1577382" y="2880360"/>
            <a:ext cx="6858300" cy="4188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l">
              <a:spcBef>
                <a:spcPts val="0"/>
              </a:spcBef>
              <a:spcAft>
                <a:spcPts val="0"/>
              </a:spcAft>
              <a:buNone/>
            </a:pPr>
            <a:r>
              <a:rPr b="1" i="0" lang="zh-CN" sz="2000" u="none" cap="none" strike="noStrike">
                <a:solidFill>
                  <a:srgbClr val="2D2D2D"/>
                </a:solidFill>
                <a:latin typeface="Microsoft YaHei"/>
                <a:ea typeface="Microsoft YaHei"/>
                <a:cs typeface="Microsoft YaHei"/>
                <a:sym typeface="Microsoft YaHei"/>
              </a:rPr>
              <a:t>从阅读到写作：一个瞬间，看见一个人</a:t>
            </a:r>
            <a:endParaRPr sz="1100"/>
          </a:p>
        </p:txBody>
      </p:sp>
      <p:sp>
        <p:nvSpPr>
          <p:cNvPr id="780" name="Google Shape;780;p75"/>
          <p:cNvSpPr txBox="1"/>
          <p:nvPr/>
        </p:nvSpPr>
        <p:spPr>
          <a:xfrm>
            <a:off x="1577382" y="3497580"/>
            <a:ext cx="6789600" cy="2955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200" u="none" cap="none" strike="noStrike">
                <a:solidFill>
                  <a:srgbClr val="5C5C5C"/>
                </a:solidFill>
                <a:latin typeface="Microsoft YaHei"/>
                <a:ea typeface="Microsoft YaHei"/>
                <a:cs typeface="Microsoft YaHei"/>
                <a:sym typeface="Microsoft YaHei"/>
              </a:rPr>
              <a:t>先观察，再判断；先找证据，再下结论。</a:t>
            </a:r>
            <a:endParaRPr sz="1100"/>
          </a:p>
        </p:txBody>
      </p:sp>
      <p:sp>
        <p:nvSpPr>
          <p:cNvPr id="781" name="Google Shape;781;p75"/>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5 课</a:t>
            </a:r>
            <a:endParaRPr sz="11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785" name="Shape 785"/>
        <p:cNvGrpSpPr/>
        <p:nvPr/>
      </p:nvGrpSpPr>
      <p:grpSpPr>
        <a:xfrm>
          <a:off x="0" y="0"/>
          <a:ext cx="0" cy="0"/>
          <a:chOff x="0" y="0"/>
          <a:chExt cx="0" cy="0"/>
        </a:xfrm>
      </p:grpSpPr>
      <p:sp>
        <p:nvSpPr>
          <p:cNvPr id="786" name="Google Shape;786;p76"/>
          <p:cNvSpPr/>
          <p:nvPr/>
        </p:nvSpPr>
        <p:spPr>
          <a:xfrm>
            <a:off x="0" y="0"/>
            <a:ext cx="9144000" cy="5349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87" name="Google Shape;787;p76"/>
          <p:cNvSpPr/>
          <p:nvPr/>
        </p:nvSpPr>
        <p:spPr>
          <a:xfrm>
            <a:off x="0" y="534924"/>
            <a:ext cx="109800" cy="4608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88" name="Google Shape;788;p76"/>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89" name="Google Shape;789;p76"/>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B05858"/>
                </a:solidFill>
                <a:latin typeface="Microsoft YaHei"/>
                <a:ea typeface="Microsoft YaHei"/>
                <a:cs typeface="Microsoft YaHei"/>
                <a:sym typeface="Microsoft YaHei"/>
              </a:rPr>
              <a:t>5</a:t>
            </a:r>
            <a:endParaRPr sz="1100"/>
          </a:p>
        </p:txBody>
      </p:sp>
      <p:sp>
        <p:nvSpPr>
          <p:cNvPr id="790" name="Google Shape;790;p76"/>
          <p:cNvSpPr txBox="1"/>
          <p:nvPr/>
        </p:nvSpPr>
        <p:spPr>
          <a:xfrm>
            <a:off x="617236" y="109728"/>
            <a:ext cx="5898000" cy="434100"/>
          </a:xfrm>
          <a:prstGeom prst="rect">
            <a:avLst/>
          </a:prstGeom>
          <a:noFill/>
          <a:ln cap="flat" cmpd="sng" w="7150">
            <a:solidFill>
              <a:srgbClr val="B0585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热身活动｜哪一个开头更吸引你？</a:t>
            </a:r>
            <a:endParaRPr sz="1100"/>
          </a:p>
        </p:txBody>
      </p:sp>
      <p:sp>
        <p:nvSpPr>
          <p:cNvPr id="791" name="Google Shape;791;p76"/>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92" name="Google Shape;792;p76"/>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读一读，选出更有画面感的一段，并说明理由。</a:t>
            </a:r>
            <a:endParaRPr sz="1100"/>
          </a:p>
        </p:txBody>
      </p:sp>
      <p:sp>
        <p:nvSpPr>
          <p:cNvPr id="793" name="Google Shape;793;p76"/>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5 课</a:t>
            </a:r>
            <a:endParaRPr sz="1100"/>
          </a:p>
        </p:txBody>
      </p:sp>
      <p:sp>
        <p:nvSpPr>
          <p:cNvPr id="794" name="Google Shape;794;p76"/>
          <p:cNvSpPr/>
          <p:nvPr/>
        </p:nvSpPr>
        <p:spPr>
          <a:xfrm>
            <a:off x="548655" y="1337310"/>
            <a:ext cx="37377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95" name="Google Shape;795;p76"/>
          <p:cNvSpPr/>
          <p:nvPr/>
        </p:nvSpPr>
        <p:spPr>
          <a:xfrm>
            <a:off x="548655" y="1337310"/>
            <a:ext cx="37377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96" name="Google Shape;796;p76"/>
          <p:cNvSpPr txBox="1"/>
          <p:nvPr/>
        </p:nvSpPr>
        <p:spPr>
          <a:xfrm>
            <a:off x="672102" y="1515618"/>
            <a:ext cx="34908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开头 A</a:t>
            </a:r>
            <a:endParaRPr sz="1100"/>
          </a:p>
        </p:txBody>
      </p:sp>
      <p:sp>
        <p:nvSpPr>
          <p:cNvPr id="797" name="Google Shape;797;p76"/>
          <p:cNvSpPr txBox="1"/>
          <p:nvPr/>
        </p:nvSpPr>
        <p:spPr>
          <a:xfrm>
            <a:off x="672102" y="1803654"/>
            <a:ext cx="3490800" cy="895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700" u="none" cap="none" strike="noStrike">
                <a:solidFill>
                  <a:srgbClr val="2D2D2D"/>
                </a:solidFill>
                <a:latin typeface="Microsoft YaHei"/>
                <a:ea typeface="Microsoft YaHei"/>
                <a:cs typeface="Microsoft YaHei"/>
                <a:sym typeface="Microsoft YaHei"/>
              </a:rPr>
              <a:t>我的外婆是一个很传统的人。她很有文化特色，也很重视家庭。每次过节，她都很认真地准备食物。</a:t>
            </a:r>
            <a:endParaRPr sz="1100"/>
          </a:p>
        </p:txBody>
      </p:sp>
      <p:sp>
        <p:nvSpPr>
          <p:cNvPr id="798" name="Google Shape;798;p76"/>
          <p:cNvSpPr/>
          <p:nvPr/>
        </p:nvSpPr>
        <p:spPr>
          <a:xfrm>
            <a:off x="4492110" y="1337310"/>
            <a:ext cx="37377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99" name="Google Shape;799;p76"/>
          <p:cNvSpPr/>
          <p:nvPr/>
        </p:nvSpPr>
        <p:spPr>
          <a:xfrm>
            <a:off x="4492110" y="1337310"/>
            <a:ext cx="37377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00" name="Google Shape;800;p76"/>
          <p:cNvSpPr txBox="1"/>
          <p:nvPr/>
        </p:nvSpPr>
        <p:spPr>
          <a:xfrm>
            <a:off x="4615557" y="1515618"/>
            <a:ext cx="34908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开头 B</a:t>
            </a:r>
            <a:endParaRPr sz="1100"/>
          </a:p>
        </p:txBody>
      </p:sp>
      <p:sp>
        <p:nvSpPr>
          <p:cNvPr id="801" name="Google Shape;801;p76"/>
          <p:cNvSpPr txBox="1"/>
          <p:nvPr/>
        </p:nvSpPr>
        <p:spPr>
          <a:xfrm>
            <a:off x="4615557" y="1803654"/>
            <a:ext cx="3490800" cy="14193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700" u="none" cap="none" strike="noStrike">
                <a:solidFill>
                  <a:srgbClr val="2D2D2D"/>
                </a:solidFill>
                <a:latin typeface="Microsoft YaHei"/>
                <a:ea typeface="Microsoft YaHei"/>
                <a:cs typeface="Microsoft YaHei"/>
                <a:sym typeface="Microsoft YaHei"/>
              </a:rPr>
              <a:t>除夕下午四点，外婆把一张张红包压平，再整齐地叠进红色小盒里。她戴着老花镜，嘴里一边数，一边用闽南语轻声念着每个孩子的名字。</a:t>
            </a:r>
            <a:endParaRPr sz="1100"/>
          </a:p>
        </p:txBody>
      </p:sp>
      <p:sp>
        <p:nvSpPr>
          <p:cNvPr id="802" name="Google Shape;802;p76"/>
          <p:cNvSpPr txBox="1"/>
          <p:nvPr/>
        </p:nvSpPr>
        <p:spPr>
          <a:xfrm>
            <a:off x="651527" y="4217670"/>
            <a:ext cx="76125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2D2D2D"/>
                </a:solidFill>
                <a:latin typeface="Microsoft YaHei"/>
                <a:ea typeface="Microsoft YaHei"/>
                <a:cs typeface="Microsoft YaHei"/>
                <a:sym typeface="Microsoft YaHei"/>
              </a:rPr>
              <a:t>结论：好的描写不急着“解释”，而是先让读者看到、听到、感受到。</a:t>
            </a:r>
            <a:endParaRPr sz="1100"/>
          </a:p>
        </p:txBody>
      </p:sp>
      <p:sp>
        <p:nvSpPr>
          <p:cNvPr id="803" name="Google Shape;803;p76"/>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第5课 | 热身</a:t>
            </a:r>
            <a:endParaRPr sz="11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807" name="Shape 807"/>
        <p:cNvGrpSpPr/>
        <p:nvPr/>
      </p:nvGrpSpPr>
      <p:grpSpPr>
        <a:xfrm>
          <a:off x="0" y="0"/>
          <a:ext cx="0" cy="0"/>
          <a:chOff x="0" y="0"/>
          <a:chExt cx="0" cy="0"/>
        </a:xfrm>
      </p:grpSpPr>
      <p:sp>
        <p:nvSpPr>
          <p:cNvPr id="808" name="Google Shape;808;p77"/>
          <p:cNvSpPr/>
          <p:nvPr/>
        </p:nvSpPr>
        <p:spPr>
          <a:xfrm>
            <a:off x="0" y="0"/>
            <a:ext cx="9144000" cy="5349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09" name="Google Shape;809;p77"/>
          <p:cNvSpPr/>
          <p:nvPr/>
        </p:nvSpPr>
        <p:spPr>
          <a:xfrm>
            <a:off x="0" y="534924"/>
            <a:ext cx="109800" cy="4608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10" name="Google Shape;810;p77"/>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11" name="Google Shape;811;p77"/>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B05858"/>
                </a:solidFill>
                <a:latin typeface="Microsoft YaHei"/>
                <a:ea typeface="Microsoft YaHei"/>
                <a:cs typeface="Microsoft YaHei"/>
                <a:sym typeface="Microsoft YaHei"/>
              </a:rPr>
              <a:t>5</a:t>
            </a:r>
            <a:endParaRPr sz="1100"/>
          </a:p>
        </p:txBody>
      </p:sp>
      <p:sp>
        <p:nvSpPr>
          <p:cNvPr id="812" name="Google Shape;812;p77"/>
          <p:cNvSpPr txBox="1"/>
          <p:nvPr/>
        </p:nvSpPr>
        <p:spPr>
          <a:xfrm>
            <a:off x="617236" y="109728"/>
            <a:ext cx="5898000" cy="434100"/>
          </a:xfrm>
          <a:prstGeom prst="rect">
            <a:avLst/>
          </a:prstGeom>
          <a:noFill/>
          <a:ln cap="flat" cmpd="sng" w="7150">
            <a:solidFill>
              <a:srgbClr val="B0585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活动一｜从《假黎婆》学会这些写法</a:t>
            </a:r>
            <a:endParaRPr sz="1100"/>
          </a:p>
        </p:txBody>
      </p:sp>
      <p:sp>
        <p:nvSpPr>
          <p:cNvPr id="813" name="Google Shape;813;p77"/>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14" name="Google Shape;814;p77"/>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先回看课本 p15，再想想：作者怎样让我们看见人物？</a:t>
            </a:r>
            <a:endParaRPr sz="1100"/>
          </a:p>
        </p:txBody>
      </p:sp>
      <p:sp>
        <p:nvSpPr>
          <p:cNvPr id="815" name="Google Shape;815;p77"/>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5 课</a:t>
            </a:r>
            <a:endParaRPr sz="1100"/>
          </a:p>
        </p:txBody>
      </p:sp>
      <p:graphicFrame>
        <p:nvGraphicFramePr>
          <p:cNvPr id="816" name="Google Shape;816;p77"/>
          <p:cNvGraphicFramePr/>
          <p:nvPr/>
        </p:nvGraphicFramePr>
        <p:xfrm>
          <a:off x="521222" y="1337310"/>
          <a:ext cx="3000000" cy="3000000"/>
        </p:xfrm>
        <a:graphic>
          <a:graphicData uri="http://schemas.openxmlformats.org/drawingml/2006/table">
            <a:tbl>
              <a:tblPr bandRow="1" firstRow="1">
                <a:noFill/>
                <a:tableStyleId>{6DB37C38-08B4-4D8B-930D-383F00103916}</a:tableStyleId>
              </a:tblPr>
              <a:tblGrid>
                <a:gridCol w="2697550"/>
                <a:gridCol w="2697550"/>
                <a:gridCol w="2697550"/>
              </a:tblGrid>
              <a:tr h="451475">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描写角度</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05858"/>
                    </a:solidFill>
                  </a:tcPr>
                </a:tc>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你可以写什么</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05858"/>
                    </a:solidFill>
                  </a:tcPr>
                </a:tc>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它能帮助读者看到什么</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05858"/>
                    </a:solidFill>
                  </a:tcPr>
                </a:tc>
              </a:tr>
              <a:tr h="4514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外貌 / 衣着</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衣服、手、脸、头发、物件</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人物的生活背景、年龄、身份感</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514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动作</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一个反复出现的小动作</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性格、习惯、情感</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514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语言 / 语气</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一句有味道的话</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关系、个性、立场</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514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环境</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声音、气味、光线、空间</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人物和文化所处的场景</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514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“我”的观察</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我的反应、感受、疑问</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让人物更立体，也让文章更有层次</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820" name="Shape 820"/>
        <p:cNvGrpSpPr/>
        <p:nvPr/>
      </p:nvGrpSpPr>
      <p:grpSpPr>
        <a:xfrm>
          <a:off x="0" y="0"/>
          <a:ext cx="0" cy="0"/>
          <a:chOff x="0" y="0"/>
          <a:chExt cx="0" cy="0"/>
        </a:xfrm>
      </p:grpSpPr>
      <p:sp>
        <p:nvSpPr>
          <p:cNvPr id="821" name="Google Shape;821;p78"/>
          <p:cNvSpPr/>
          <p:nvPr/>
        </p:nvSpPr>
        <p:spPr>
          <a:xfrm>
            <a:off x="0" y="0"/>
            <a:ext cx="9144000" cy="5349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22" name="Google Shape;822;p78"/>
          <p:cNvSpPr/>
          <p:nvPr/>
        </p:nvSpPr>
        <p:spPr>
          <a:xfrm>
            <a:off x="0" y="534924"/>
            <a:ext cx="109800" cy="4608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23" name="Google Shape;823;p78"/>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24" name="Google Shape;824;p78"/>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B05858"/>
                </a:solidFill>
                <a:latin typeface="Microsoft YaHei"/>
                <a:ea typeface="Microsoft YaHei"/>
                <a:cs typeface="Microsoft YaHei"/>
                <a:sym typeface="Microsoft YaHei"/>
              </a:rPr>
              <a:t>5</a:t>
            </a:r>
            <a:endParaRPr sz="1100"/>
          </a:p>
        </p:txBody>
      </p:sp>
      <p:sp>
        <p:nvSpPr>
          <p:cNvPr id="825" name="Google Shape;825;p78"/>
          <p:cNvSpPr txBox="1"/>
          <p:nvPr/>
        </p:nvSpPr>
        <p:spPr>
          <a:xfrm>
            <a:off x="617236" y="109728"/>
            <a:ext cx="5898000" cy="434100"/>
          </a:xfrm>
          <a:prstGeom prst="rect">
            <a:avLst/>
          </a:prstGeom>
          <a:noFill/>
          <a:ln cap="flat" cmpd="sng" w="7150">
            <a:solidFill>
              <a:srgbClr val="B0585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活动二｜写作构思表</a:t>
            </a:r>
            <a:endParaRPr sz="1100"/>
          </a:p>
        </p:txBody>
      </p:sp>
      <p:sp>
        <p:nvSpPr>
          <p:cNvPr id="826" name="Google Shape;826;p78"/>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27" name="Google Shape;827;p78"/>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请先构思，不急着写整篇。一个人 + 一个地方 + 一个短时间段 + 一个核心动作 / 物件。</a:t>
            </a:r>
            <a:endParaRPr sz="1100"/>
          </a:p>
        </p:txBody>
      </p:sp>
      <p:sp>
        <p:nvSpPr>
          <p:cNvPr id="828" name="Google Shape;828;p78"/>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5 课</a:t>
            </a:r>
            <a:endParaRPr sz="1100"/>
          </a:p>
        </p:txBody>
      </p:sp>
      <p:graphicFrame>
        <p:nvGraphicFramePr>
          <p:cNvPr id="829" name="Google Shape;829;p78"/>
          <p:cNvGraphicFramePr/>
          <p:nvPr/>
        </p:nvGraphicFramePr>
        <p:xfrm>
          <a:off x="562371" y="1337310"/>
          <a:ext cx="3000000" cy="3000000"/>
        </p:xfrm>
        <a:graphic>
          <a:graphicData uri="http://schemas.openxmlformats.org/drawingml/2006/table">
            <a:tbl>
              <a:tblPr bandRow="1" firstRow="1">
                <a:noFill/>
                <a:tableStyleId>{6DB37C38-08B4-4D8B-930D-383F00103916}</a:tableStyleId>
              </a:tblPr>
              <a:tblGrid>
                <a:gridCol w="3994900"/>
                <a:gridCol w="3994900"/>
              </a:tblGrid>
              <a:tr h="451475">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镜头</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05858"/>
                    </a:solidFill>
                  </a:tcPr>
                </a:tc>
                <a:tc>
                  <a:txBody>
                    <a:bodyPr/>
                    <a:lstStyle/>
                    <a:p>
                      <a:pPr indent="0" lvl="0" marL="0" marR="0" rtl="0" algn="ctr">
                        <a:spcBef>
                          <a:spcPts val="0"/>
                        </a:spcBef>
                        <a:spcAft>
                          <a:spcPts val="0"/>
                        </a:spcAft>
                        <a:buNone/>
                      </a:pPr>
                      <a:r>
                        <a:rPr b="1" lang="zh-CN" sz="1200" u="none" cap="none" strike="noStrike">
                          <a:solidFill>
                            <a:srgbClr val="FFFFFF"/>
                          </a:solidFill>
                          <a:latin typeface="Microsoft YaHei"/>
                          <a:ea typeface="Microsoft YaHei"/>
                          <a:cs typeface="Microsoft YaHei"/>
                          <a:sym typeface="Microsoft YaHei"/>
                        </a:rPr>
                        <a:t>我要写什么</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rgbClr val="B05858"/>
                    </a:solidFill>
                  </a:tcPr>
                </a:tc>
              </a:tr>
              <a:tr h="4514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远景</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地点、光线、声音、整体气氛</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514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中景</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人物正在做什么</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514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特写</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手、脸、衣服、动作、一个重要物件</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514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声音</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一句话 / 一种语言 / 一种声音</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451475">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水面下</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lang="zh-CN" sz="1100" u="none" cap="none" strike="noStrike">
                          <a:solidFill>
                            <a:srgbClr val="2D2D2D"/>
                          </a:solidFill>
                          <a:latin typeface="Microsoft YaHei"/>
                          <a:ea typeface="Microsoft YaHei"/>
                          <a:cs typeface="Microsoft YaHei"/>
                          <a:sym typeface="Microsoft YaHei"/>
                        </a:rPr>
                        <a:t>这些细节暗示了什么价值、传统或身份认同？（不一定直接写出来）</a:t>
                      </a:r>
                      <a:endParaRPr sz="1100"/>
                    </a:p>
                  </a:txBody>
                  <a:tcPr marT="34300" marB="34300" marR="68600" marL="686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830" name="Google Shape;830;p78"/>
          <p:cNvSpPr txBox="1"/>
          <p:nvPr/>
        </p:nvSpPr>
        <p:spPr>
          <a:xfrm>
            <a:off x="630953" y="4183380"/>
            <a:ext cx="75441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400" u="none" cap="none" strike="noStrike">
                <a:solidFill>
                  <a:srgbClr val="2D2D2D"/>
                </a:solidFill>
                <a:latin typeface="Microsoft YaHei"/>
                <a:ea typeface="Microsoft YaHei"/>
                <a:cs typeface="Microsoft YaHei"/>
                <a:sym typeface="Microsoft YaHei"/>
              </a:rPr>
              <a:t>提醒：文化不是“主题词”，而是藏在细节里的。</a:t>
            </a:r>
            <a:endParaRPr sz="1100"/>
          </a:p>
        </p:txBody>
      </p:sp>
      <p:sp>
        <p:nvSpPr>
          <p:cNvPr id="831" name="Google Shape;831;p78"/>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第5课 | 思表</a:t>
            </a:r>
            <a:endParaRPr sz="11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835" name="Shape 835"/>
        <p:cNvGrpSpPr/>
        <p:nvPr/>
      </p:nvGrpSpPr>
      <p:grpSpPr>
        <a:xfrm>
          <a:off x="0" y="0"/>
          <a:ext cx="0" cy="0"/>
          <a:chOff x="0" y="0"/>
          <a:chExt cx="0" cy="0"/>
        </a:xfrm>
      </p:grpSpPr>
      <p:sp>
        <p:nvSpPr>
          <p:cNvPr id="836" name="Google Shape;836;p79"/>
          <p:cNvSpPr/>
          <p:nvPr/>
        </p:nvSpPr>
        <p:spPr>
          <a:xfrm>
            <a:off x="0" y="0"/>
            <a:ext cx="9144000" cy="5349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37" name="Google Shape;837;p79"/>
          <p:cNvSpPr/>
          <p:nvPr/>
        </p:nvSpPr>
        <p:spPr>
          <a:xfrm>
            <a:off x="0" y="534924"/>
            <a:ext cx="109800" cy="4608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38" name="Google Shape;838;p79"/>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39" name="Google Shape;839;p79"/>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B05858"/>
                </a:solidFill>
                <a:latin typeface="Microsoft YaHei"/>
                <a:ea typeface="Microsoft YaHei"/>
                <a:cs typeface="Microsoft YaHei"/>
                <a:sym typeface="Microsoft YaHei"/>
              </a:rPr>
              <a:t>5</a:t>
            </a:r>
            <a:endParaRPr sz="1100"/>
          </a:p>
        </p:txBody>
      </p:sp>
      <p:sp>
        <p:nvSpPr>
          <p:cNvPr id="840" name="Google Shape;840;p79"/>
          <p:cNvSpPr txBox="1"/>
          <p:nvPr/>
        </p:nvSpPr>
        <p:spPr>
          <a:xfrm>
            <a:off x="617236" y="109728"/>
            <a:ext cx="5898000" cy="434100"/>
          </a:xfrm>
          <a:prstGeom prst="rect">
            <a:avLst/>
          </a:prstGeom>
          <a:noFill/>
          <a:ln cap="flat" cmpd="sng" w="7150">
            <a:solidFill>
              <a:srgbClr val="B0585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活动三｜课堂快写</a:t>
            </a:r>
            <a:endParaRPr sz="1100"/>
          </a:p>
        </p:txBody>
      </p:sp>
      <p:sp>
        <p:nvSpPr>
          <p:cNvPr id="841" name="Google Shape;841;p79"/>
          <p:cNvSpPr/>
          <p:nvPr/>
        </p:nvSpPr>
        <p:spPr>
          <a:xfrm>
            <a:off x="377200" y="720090"/>
            <a:ext cx="8332500" cy="4251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2" name="Google Shape;842;p79"/>
          <p:cNvSpPr txBox="1"/>
          <p:nvPr/>
        </p:nvSpPr>
        <p:spPr>
          <a:xfrm>
            <a:off x="534938" y="816102"/>
            <a:ext cx="7955400" cy="326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400" u="none" cap="none" strike="noStrike">
                <a:solidFill>
                  <a:srgbClr val="2D2D2D"/>
                </a:solidFill>
                <a:latin typeface="Microsoft YaHei"/>
                <a:ea typeface="Microsoft YaHei"/>
                <a:cs typeface="Microsoft YaHei"/>
                <a:sym typeface="Microsoft YaHei"/>
              </a:rPr>
              <a:t>请用8-10分钟写一个开头。目标：让读者“看到”这个人。</a:t>
            </a:r>
            <a:endParaRPr sz="1100"/>
          </a:p>
        </p:txBody>
      </p:sp>
      <p:sp>
        <p:nvSpPr>
          <p:cNvPr id="843" name="Google Shape;843;p79"/>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5 课</a:t>
            </a:r>
            <a:endParaRPr sz="1100"/>
          </a:p>
        </p:txBody>
      </p:sp>
      <p:sp>
        <p:nvSpPr>
          <p:cNvPr id="844" name="Google Shape;844;p79"/>
          <p:cNvSpPr/>
          <p:nvPr/>
        </p:nvSpPr>
        <p:spPr>
          <a:xfrm>
            <a:off x="521222" y="1337310"/>
            <a:ext cx="25377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5" name="Google Shape;845;p79"/>
          <p:cNvSpPr/>
          <p:nvPr/>
        </p:nvSpPr>
        <p:spPr>
          <a:xfrm>
            <a:off x="521222" y="1337310"/>
            <a:ext cx="25377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6" name="Google Shape;846;p79"/>
          <p:cNvSpPr txBox="1"/>
          <p:nvPr/>
        </p:nvSpPr>
        <p:spPr>
          <a:xfrm>
            <a:off x="644669" y="1515618"/>
            <a:ext cx="22905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你可以选这些角度</a:t>
            </a:r>
            <a:endParaRPr sz="1100"/>
          </a:p>
        </p:txBody>
      </p:sp>
      <p:sp>
        <p:nvSpPr>
          <p:cNvPr id="847" name="Google Shape;847;p79"/>
          <p:cNvSpPr txBox="1"/>
          <p:nvPr/>
        </p:nvSpPr>
        <p:spPr>
          <a:xfrm>
            <a:off x="644669" y="1803654"/>
            <a:ext cx="2290500" cy="1727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 饭桌上的他 / 她</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节日前十分钟</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当他 / 她换了一种语言</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我第一次注意到那双手……</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那个他 / 她一直保留的东西</a:t>
            </a:r>
            <a:endParaRPr sz="1100"/>
          </a:p>
        </p:txBody>
      </p:sp>
      <p:sp>
        <p:nvSpPr>
          <p:cNvPr id="848" name="Google Shape;848;p79"/>
          <p:cNvSpPr/>
          <p:nvPr/>
        </p:nvSpPr>
        <p:spPr>
          <a:xfrm>
            <a:off x="3291928" y="1337310"/>
            <a:ext cx="26403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49" name="Google Shape;849;p79"/>
          <p:cNvSpPr/>
          <p:nvPr/>
        </p:nvSpPr>
        <p:spPr>
          <a:xfrm>
            <a:off x="3291928" y="1337310"/>
            <a:ext cx="26403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0" name="Google Shape;850;p79"/>
          <p:cNvSpPr txBox="1"/>
          <p:nvPr/>
        </p:nvSpPr>
        <p:spPr>
          <a:xfrm>
            <a:off x="3415375" y="1515618"/>
            <a:ext cx="23937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开始前先检查</a:t>
            </a:r>
            <a:endParaRPr sz="1100"/>
          </a:p>
        </p:txBody>
      </p:sp>
      <p:sp>
        <p:nvSpPr>
          <p:cNvPr id="851" name="Google Shape;851;p79"/>
          <p:cNvSpPr txBox="1"/>
          <p:nvPr/>
        </p:nvSpPr>
        <p:spPr>
          <a:xfrm>
            <a:off x="3415375" y="1803654"/>
            <a:ext cx="2393700" cy="1265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我写的是：</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一个具体场景</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一个短时间段</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至少3个具体细节</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不是人物生平介绍</a:t>
            </a:r>
            <a:endParaRPr sz="1100"/>
          </a:p>
        </p:txBody>
      </p:sp>
      <p:sp>
        <p:nvSpPr>
          <p:cNvPr id="852" name="Google Shape;852;p79"/>
          <p:cNvSpPr/>
          <p:nvPr/>
        </p:nvSpPr>
        <p:spPr>
          <a:xfrm>
            <a:off x="6172365" y="1337310"/>
            <a:ext cx="2194800" cy="27090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3" name="Google Shape;853;p79"/>
          <p:cNvSpPr/>
          <p:nvPr/>
        </p:nvSpPr>
        <p:spPr>
          <a:xfrm>
            <a:off x="6172365" y="1337310"/>
            <a:ext cx="21948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54" name="Google Shape;854;p79"/>
          <p:cNvSpPr txBox="1"/>
          <p:nvPr/>
        </p:nvSpPr>
        <p:spPr>
          <a:xfrm>
            <a:off x="6295812" y="1515618"/>
            <a:ext cx="19476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同伴反馈</a:t>
            </a:r>
            <a:endParaRPr sz="1100"/>
          </a:p>
        </p:txBody>
      </p:sp>
      <p:sp>
        <p:nvSpPr>
          <p:cNvPr id="855" name="Google Shape;855;p79"/>
          <p:cNvSpPr txBox="1"/>
          <p:nvPr/>
        </p:nvSpPr>
        <p:spPr>
          <a:xfrm>
            <a:off x="6295812" y="1803654"/>
            <a:ext cx="1947600" cy="1496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读完同伴的开头后，请告诉他 / 她：</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1. 我最有画面感的一处</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2. 我还想看到的一个细节</a:t>
            </a:r>
            <a:endParaRPr sz="11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859" name="Shape 859"/>
        <p:cNvGrpSpPr/>
        <p:nvPr/>
      </p:nvGrpSpPr>
      <p:grpSpPr>
        <a:xfrm>
          <a:off x="0" y="0"/>
          <a:ext cx="0" cy="0"/>
          <a:chOff x="0" y="0"/>
          <a:chExt cx="0" cy="0"/>
        </a:xfrm>
      </p:grpSpPr>
      <p:sp>
        <p:nvSpPr>
          <p:cNvPr id="860" name="Google Shape;860;p80"/>
          <p:cNvSpPr/>
          <p:nvPr/>
        </p:nvSpPr>
        <p:spPr>
          <a:xfrm>
            <a:off x="0" y="0"/>
            <a:ext cx="9144000" cy="5349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1" name="Google Shape;861;p80"/>
          <p:cNvSpPr/>
          <p:nvPr/>
        </p:nvSpPr>
        <p:spPr>
          <a:xfrm>
            <a:off x="0" y="534924"/>
            <a:ext cx="109800" cy="4608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2" name="Google Shape;862;p80"/>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3" name="Google Shape;863;p80"/>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B05858"/>
                </a:solidFill>
                <a:latin typeface="Microsoft YaHei"/>
                <a:ea typeface="Microsoft YaHei"/>
                <a:cs typeface="Microsoft YaHei"/>
                <a:sym typeface="Microsoft YaHei"/>
              </a:rPr>
              <a:t>5</a:t>
            </a:r>
            <a:endParaRPr sz="1100"/>
          </a:p>
        </p:txBody>
      </p:sp>
      <p:sp>
        <p:nvSpPr>
          <p:cNvPr id="864" name="Google Shape;864;p80"/>
          <p:cNvSpPr txBox="1"/>
          <p:nvPr/>
        </p:nvSpPr>
        <p:spPr>
          <a:xfrm>
            <a:off x="617236" y="109728"/>
            <a:ext cx="5898000" cy="434100"/>
          </a:xfrm>
          <a:prstGeom prst="rect">
            <a:avLst/>
          </a:prstGeom>
          <a:noFill/>
          <a:ln cap="flat" cmpd="sng" w="7150">
            <a:solidFill>
              <a:srgbClr val="B0585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课后作业｜《一个瞬间，看见一个人》</a:t>
            </a:r>
            <a:endParaRPr sz="1100"/>
          </a:p>
        </p:txBody>
      </p:sp>
      <p:sp>
        <p:nvSpPr>
          <p:cNvPr id="865" name="Google Shape;865;p80"/>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5 课</a:t>
            </a:r>
            <a:endParaRPr sz="1100"/>
          </a:p>
        </p:txBody>
      </p:sp>
      <p:sp>
        <p:nvSpPr>
          <p:cNvPr id="866" name="Google Shape;866;p80"/>
          <p:cNvSpPr/>
          <p:nvPr/>
        </p:nvSpPr>
        <p:spPr>
          <a:xfrm>
            <a:off x="534938" y="1268730"/>
            <a:ext cx="4938000" cy="31203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7" name="Google Shape;867;p80"/>
          <p:cNvSpPr/>
          <p:nvPr/>
        </p:nvSpPr>
        <p:spPr>
          <a:xfrm>
            <a:off x="534938" y="1268730"/>
            <a:ext cx="49380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68" name="Google Shape;868;p80"/>
          <p:cNvSpPr txBox="1"/>
          <p:nvPr/>
        </p:nvSpPr>
        <p:spPr>
          <a:xfrm>
            <a:off x="658386" y="1447038"/>
            <a:ext cx="46908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写作任务</a:t>
            </a:r>
            <a:endParaRPr sz="1100"/>
          </a:p>
        </p:txBody>
      </p:sp>
      <p:sp>
        <p:nvSpPr>
          <p:cNvPr id="869" name="Google Shape;869;p80"/>
          <p:cNvSpPr txBox="1"/>
          <p:nvPr/>
        </p:nvSpPr>
        <p:spPr>
          <a:xfrm>
            <a:off x="658386" y="1735074"/>
            <a:ext cx="4690800" cy="1957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描写一位你熟悉的人在一个具体场景中的样子。</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通过他的外貌、动作、语言、物件、环境以及你的观察，让读者自己发现：这个人与某种家庭传统、地域、语言、节日或生活文化之间有怎样的联系。</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不要介绍这个人的一生，也不要直接告诉读者“他很有文化特色”。</a:t>
            </a:r>
            <a:endParaRPr sz="1100"/>
          </a:p>
        </p:txBody>
      </p:sp>
      <p:sp>
        <p:nvSpPr>
          <p:cNvPr id="870" name="Google Shape;870;p80"/>
          <p:cNvSpPr/>
          <p:nvPr/>
        </p:nvSpPr>
        <p:spPr>
          <a:xfrm>
            <a:off x="5658000" y="1268725"/>
            <a:ext cx="3154800" cy="1474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71" name="Google Shape;871;p80"/>
          <p:cNvSpPr/>
          <p:nvPr/>
        </p:nvSpPr>
        <p:spPr>
          <a:xfrm>
            <a:off x="5658001" y="1268730"/>
            <a:ext cx="27090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72" name="Google Shape;872;p80"/>
          <p:cNvSpPr txBox="1"/>
          <p:nvPr/>
        </p:nvSpPr>
        <p:spPr>
          <a:xfrm>
            <a:off x="5781448" y="1447038"/>
            <a:ext cx="24621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建议长度</a:t>
            </a:r>
            <a:endParaRPr sz="1100"/>
          </a:p>
        </p:txBody>
      </p:sp>
      <p:sp>
        <p:nvSpPr>
          <p:cNvPr id="873" name="Google Shape;873;p80"/>
          <p:cNvSpPr txBox="1"/>
          <p:nvPr/>
        </p:nvSpPr>
        <p:spPr>
          <a:xfrm>
            <a:off x="5781450" y="1735075"/>
            <a:ext cx="27852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400-600字</a:t>
            </a:r>
            <a:br>
              <a:rPr b="0" i="0" lang="zh-CN" sz="1500" u="none" cap="none" strike="noStrike">
                <a:solidFill>
                  <a:srgbClr val="2D2D2D"/>
                </a:solidFill>
                <a:latin typeface="Microsoft YaHei"/>
                <a:ea typeface="Microsoft YaHei"/>
                <a:cs typeface="Microsoft YaHei"/>
                <a:sym typeface="Microsoft YaHei"/>
              </a:rPr>
            </a:b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题目可自拟，也可以直接用：</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《一个瞬间，看见一个人》</a:t>
            </a:r>
            <a:endParaRPr sz="1100"/>
          </a:p>
        </p:txBody>
      </p:sp>
      <p:sp>
        <p:nvSpPr>
          <p:cNvPr id="874" name="Google Shape;874;p80"/>
          <p:cNvSpPr/>
          <p:nvPr/>
        </p:nvSpPr>
        <p:spPr>
          <a:xfrm>
            <a:off x="5658000" y="2880350"/>
            <a:ext cx="3154800" cy="20625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75" name="Google Shape;875;p80"/>
          <p:cNvSpPr/>
          <p:nvPr/>
        </p:nvSpPr>
        <p:spPr>
          <a:xfrm>
            <a:off x="5658001" y="2880360"/>
            <a:ext cx="27090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76" name="Google Shape;876;p80"/>
          <p:cNvSpPr txBox="1"/>
          <p:nvPr/>
        </p:nvSpPr>
        <p:spPr>
          <a:xfrm>
            <a:off x="5781448" y="3058668"/>
            <a:ext cx="24621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成功标准</a:t>
            </a:r>
            <a:endParaRPr sz="1100"/>
          </a:p>
        </p:txBody>
      </p:sp>
      <p:sp>
        <p:nvSpPr>
          <p:cNvPr id="877" name="Google Shape;877;p80"/>
          <p:cNvSpPr txBox="1"/>
          <p:nvPr/>
        </p:nvSpPr>
        <p:spPr>
          <a:xfrm>
            <a:off x="5781450" y="3346700"/>
            <a:ext cx="2875200" cy="1496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 我写的是一个具体场景</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我有清楚的画面感</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我发展了至少3个细节</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我让“文化”藏在细节里</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去掉“文化”两个字，文章仍然成立</a:t>
            </a:r>
            <a:endParaRPr sz="1100"/>
          </a:p>
        </p:txBody>
      </p:sp>
      <p:sp>
        <p:nvSpPr>
          <p:cNvPr id="878" name="Google Shape;878;p80"/>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第5课 | 课后作业</a:t>
            </a:r>
            <a:endParaRPr sz="11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4"/>
        </a:solidFill>
      </p:bgPr>
    </p:bg>
    <p:spTree>
      <p:nvGrpSpPr>
        <p:cNvPr id="882" name="Shape 882"/>
        <p:cNvGrpSpPr/>
        <p:nvPr/>
      </p:nvGrpSpPr>
      <p:grpSpPr>
        <a:xfrm>
          <a:off x="0" y="0"/>
          <a:ext cx="0" cy="0"/>
          <a:chOff x="0" y="0"/>
          <a:chExt cx="0" cy="0"/>
        </a:xfrm>
      </p:grpSpPr>
      <p:sp>
        <p:nvSpPr>
          <p:cNvPr id="883" name="Google Shape;883;p81"/>
          <p:cNvSpPr/>
          <p:nvPr/>
        </p:nvSpPr>
        <p:spPr>
          <a:xfrm>
            <a:off x="0" y="0"/>
            <a:ext cx="9144000" cy="5349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84" name="Google Shape;884;p81"/>
          <p:cNvSpPr/>
          <p:nvPr/>
        </p:nvSpPr>
        <p:spPr>
          <a:xfrm>
            <a:off x="0" y="534924"/>
            <a:ext cx="109800" cy="4608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85" name="Google Shape;885;p81"/>
          <p:cNvSpPr/>
          <p:nvPr/>
        </p:nvSpPr>
        <p:spPr>
          <a:xfrm>
            <a:off x="240036" y="123444"/>
            <a:ext cx="288000" cy="288000"/>
          </a:xfrm>
          <a:prstGeom prst="ellipse">
            <a:avLst/>
          </a:prstGeom>
          <a:solidFill>
            <a:srgbClr val="FFFFFF"/>
          </a:solidFill>
          <a:ln cap="flat" cmpd="sng" w="7150">
            <a:solidFill>
              <a:srgbClr val="FFFFFF"/>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86" name="Google Shape;886;p81"/>
          <p:cNvSpPr txBox="1"/>
          <p:nvPr/>
        </p:nvSpPr>
        <p:spPr>
          <a:xfrm>
            <a:off x="240036" y="123444"/>
            <a:ext cx="288000" cy="326400"/>
          </a:xfrm>
          <a:prstGeom prst="rect">
            <a:avLst/>
          </a:prstGeom>
          <a:noFill/>
          <a:ln cap="flat" cmpd="sng" w="7150">
            <a:solidFill>
              <a:srgbClr val="FAF8F4"/>
            </a:solidFill>
            <a:prstDash val="solid"/>
            <a:round/>
            <a:headEnd len="sm" w="sm" type="none"/>
            <a:tailEnd len="sm" w="sm" type="none"/>
          </a:ln>
        </p:spPr>
        <p:txBody>
          <a:bodyPr anchorCtr="0" anchor="ctr" bIns="54875" lIns="54875" spcFirstLastPara="1" rIns="54875" wrap="square" tIns="54875">
            <a:spAutoFit/>
          </a:bodyPr>
          <a:lstStyle/>
          <a:p>
            <a:pPr indent="0" lvl="0" marL="0" marR="0" rtl="0" algn="ctr">
              <a:spcBef>
                <a:spcPts val="0"/>
              </a:spcBef>
              <a:spcAft>
                <a:spcPts val="0"/>
              </a:spcAft>
              <a:buNone/>
            </a:pPr>
            <a:r>
              <a:rPr b="1" i="0" lang="zh-CN" sz="1400" u="none" cap="none" strike="noStrike">
                <a:solidFill>
                  <a:srgbClr val="B05858"/>
                </a:solidFill>
                <a:latin typeface="Microsoft YaHei"/>
                <a:ea typeface="Microsoft YaHei"/>
                <a:cs typeface="Microsoft YaHei"/>
                <a:sym typeface="Microsoft YaHei"/>
              </a:rPr>
              <a:t>5</a:t>
            </a:r>
            <a:endParaRPr sz="1100"/>
          </a:p>
        </p:txBody>
      </p:sp>
      <p:sp>
        <p:nvSpPr>
          <p:cNvPr id="887" name="Google Shape;887;p81"/>
          <p:cNvSpPr txBox="1"/>
          <p:nvPr/>
        </p:nvSpPr>
        <p:spPr>
          <a:xfrm>
            <a:off x="617236" y="109728"/>
            <a:ext cx="5898000" cy="434100"/>
          </a:xfrm>
          <a:prstGeom prst="rect">
            <a:avLst/>
          </a:prstGeom>
          <a:noFill/>
          <a:ln cap="flat" cmpd="sng" w="7150">
            <a:solidFill>
              <a:srgbClr val="B05858"/>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2100" u="none" cap="none" strike="noStrike">
                <a:solidFill>
                  <a:srgbClr val="FFFFFF"/>
                </a:solidFill>
                <a:latin typeface="Microsoft YaHei"/>
                <a:ea typeface="Microsoft YaHei"/>
                <a:cs typeface="Microsoft YaHei"/>
                <a:sym typeface="Microsoft YaHei"/>
              </a:rPr>
              <a:t>单元回顾｜你现在会怎么回答？</a:t>
            </a:r>
            <a:endParaRPr sz="1100"/>
          </a:p>
        </p:txBody>
      </p:sp>
      <p:sp>
        <p:nvSpPr>
          <p:cNvPr id="888" name="Google Shape;888;p81"/>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第 5 课</a:t>
            </a:r>
            <a:endParaRPr sz="1100"/>
          </a:p>
        </p:txBody>
      </p:sp>
      <p:sp>
        <p:nvSpPr>
          <p:cNvPr id="889" name="Google Shape;889;p81"/>
          <p:cNvSpPr/>
          <p:nvPr/>
        </p:nvSpPr>
        <p:spPr>
          <a:xfrm>
            <a:off x="534938" y="1268730"/>
            <a:ext cx="7921200" cy="9258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90" name="Google Shape;890;p81"/>
          <p:cNvSpPr/>
          <p:nvPr/>
        </p:nvSpPr>
        <p:spPr>
          <a:xfrm>
            <a:off x="534938" y="1268730"/>
            <a:ext cx="79212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91" name="Google Shape;891;p81"/>
          <p:cNvSpPr txBox="1"/>
          <p:nvPr/>
        </p:nvSpPr>
        <p:spPr>
          <a:xfrm>
            <a:off x="658386" y="1447038"/>
            <a:ext cx="76743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回到一开始的核心问题</a:t>
            </a:r>
            <a:endParaRPr sz="1100"/>
          </a:p>
        </p:txBody>
      </p:sp>
      <p:sp>
        <p:nvSpPr>
          <p:cNvPr id="892" name="Google Shape;892;p81"/>
          <p:cNvSpPr txBox="1"/>
          <p:nvPr/>
        </p:nvSpPr>
        <p:spPr>
          <a:xfrm>
            <a:off x="658386" y="1735074"/>
            <a:ext cx="7674300" cy="4341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2100" u="none" cap="none" strike="noStrike">
                <a:solidFill>
                  <a:srgbClr val="2D2D2D"/>
                </a:solidFill>
                <a:latin typeface="Microsoft YaHei"/>
                <a:ea typeface="Microsoft YaHei"/>
                <a:cs typeface="Microsoft YaHei"/>
                <a:sym typeface="Microsoft YaHei"/>
              </a:rPr>
              <a:t>文化身份，是别人给的标签，还是自己心里的感觉？</a:t>
            </a:r>
            <a:endParaRPr sz="1100"/>
          </a:p>
        </p:txBody>
      </p:sp>
      <p:sp>
        <p:nvSpPr>
          <p:cNvPr id="893" name="Google Shape;893;p81"/>
          <p:cNvSpPr/>
          <p:nvPr/>
        </p:nvSpPr>
        <p:spPr>
          <a:xfrm>
            <a:off x="534938" y="2468880"/>
            <a:ext cx="3703500" cy="17487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94" name="Google Shape;894;p81"/>
          <p:cNvSpPr/>
          <p:nvPr/>
        </p:nvSpPr>
        <p:spPr>
          <a:xfrm>
            <a:off x="534938" y="2468880"/>
            <a:ext cx="37035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95" name="Google Shape;895;p81"/>
          <p:cNvSpPr txBox="1"/>
          <p:nvPr/>
        </p:nvSpPr>
        <p:spPr>
          <a:xfrm>
            <a:off x="658386" y="2647188"/>
            <a:ext cx="34566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我从《假黎婆》读到……</a:t>
            </a:r>
            <a:endParaRPr sz="1100"/>
          </a:p>
        </p:txBody>
      </p:sp>
      <p:sp>
        <p:nvSpPr>
          <p:cNvPr id="896" name="Google Shape;896;p81"/>
          <p:cNvSpPr txBox="1"/>
          <p:nvPr/>
        </p:nvSpPr>
        <p:spPr>
          <a:xfrm>
            <a:off x="658386" y="2935224"/>
            <a:ext cx="3456600" cy="1034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 一个标签，不一定等于一个人</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外在改变，不一定等于内在消失</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记忆、情感与归属，也是身份的一部分</a:t>
            </a:r>
            <a:endParaRPr sz="1100"/>
          </a:p>
        </p:txBody>
      </p:sp>
      <p:sp>
        <p:nvSpPr>
          <p:cNvPr id="897" name="Google Shape;897;p81"/>
          <p:cNvSpPr/>
          <p:nvPr/>
        </p:nvSpPr>
        <p:spPr>
          <a:xfrm>
            <a:off x="4492110" y="2468880"/>
            <a:ext cx="3963900" cy="1748700"/>
          </a:xfrm>
          <a:prstGeom prst="roundRect">
            <a:avLst>
              <a:gd fmla="val 16667" name="adj"/>
            </a:avLst>
          </a:prstGeom>
          <a:solidFill>
            <a:srgbClr val="FFFFFF"/>
          </a:solidFill>
          <a:ln cap="flat" cmpd="sng" w="7150">
            <a:solidFill>
              <a:srgbClr val="E1DCD4"/>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98" name="Google Shape;898;p81"/>
          <p:cNvSpPr/>
          <p:nvPr/>
        </p:nvSpPr>
        <p:spPr>
          <a:xfrm>
            <a:off x="4492110" y="2468880"/>
            <a:ext cx="3963900" cy="123600"/>
          </a:xfrm>
          <a:prstGeom prst="rect">
            <a:avLst/>
          </a:prstGeom>
          <a:solidFill>
            <a:srgbClr val="B05858"/>
          </a:solidFill>
          <a:ln cap="flat" cmpd="sng" w="7150">
            <a:solidFill>
              <a:srgbClr val="B05858"/>
            </a:solidFill>
            <a:prstDash val="solid"/>
            <a:round/>
            <a:headEnd len="sm" w="sm" type="none"/>
            <a:tailEnd len="sm" w="sm" type="none"/>
          </a:ln>
          <a:effectLst>
            <a:outerShdw blurRad="30001" rotWithShape="0" dir="5400000" dist="1725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99" name="Google Shape;899;p81"/>
          <p:cNvSpPr txBox="1"/>
          <p:nvPr/>
        </p:nvSpPr>
        <p:spPr>
          <a:xfrm>
            <a:off x="4615557" y="2647188"/>
            <a:ext cx="3717000" cy="3108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1" i="0" lang="zh-CN" sz="1300" u="none" cap="none" strike="noStrike">
                <a:solidFill>
                  <a:srgbClr val="B05858"/>
                </a:solidFill>
                <a:latin typeface="Microsoft YaHei"/>
                <a:ea typeface="Microsoft YaHei"/>
                <a:cs typeface="Microsoft YaHei"/>
                <a:sym typeface="Microsoft YaHei"/>
              </a:rPr>
              <a:t>我从写作中学到……</a:t>
            </a:r>
            <a:endParaRPr sz="1100"/>
          </a:p>
        </p:txBody>
      </p:sp>
      <p:sp>
        <p:nvSpPr>
          <p:cNvPr id="900" name="Google Shape;900;p81"/>
          <p:cNvSpPr txBox="1"/>
          <p:nvPr/>
        </p:nvSpPr>
        <p:spPr>
          <a:xfrm>
            <a:off x="4615557" y="2935224"/>
            <a:ext cx="3717000" cy="8034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1500" u="none" cap="none" strike="noStrike">
                <a:solidFill>
                  <a:srgbClr val="2D2D2D"/>
                </a:solidFill>
                <a:latin typeface="Microsoft YaHei"/>
                <a:ea typeface="Microsoft YaHei"/>
                <a:cs typeface="Microsoft YaHei"/>
                <a:sym typeface="Microsoft YaHei"/>
              </a:rPr>
              <a:t>• 抽象概念要落到具体细节</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先让读者看见，再让读者理解</a:t>
            </a:r>
            <a:br>
              <a:rPr b="0" i="0" lang="zh-CN" sz="1500" u="none" cap="none" strike="noStrike">
                <a:solidFill>
                  <a:srgbClr val="2D2D2D"/>
                </a:solidFill>
                <a:latin typeface="Microsoft YaHei"/>
                <a:ea typeface="Microsoft YaHei"/>
                <a:cs typeface="Microsoft YaHei"/>
                <a:sym typeface="Microsoft YaHei"/>
              </a:rPr>
            </a:br>
            <a:r>
              <a:rPr b="0" i="0" lang="zh-CN" sz="1500" u="none" cap="none" strike="noStrike">
                <a:solidFill>
                  <a:srgbClr val="2D2D2D"/>
                </a:solidFill>
                <a:latin typeface="Microsoft YaHei"/>
                <a:ea typeface="Microsoft YaHei"/>
                <a:cs typeface="Microsoft YaHei"/>
                <a:sym typeface="Microsoft YaHei"/>
              </a:rPr>
              <a:t>• 一个瞬间，也可以写出很深的东西</a:t>
            </a:r>
            <a:endParaRPr sz="1100"/>
          </a:p>
        </p:txBody>
      </p:sp>
      <p:sp>
        <p:nvSpPr>
          <p:cNvPr id="901" name="Google Shape;901;p81"/>
          <p:cNvSpPr txBox="1"/>
          <p:nvPr/>
        </p:nvSpPr>
        <p:spPr>
          <a:xfrm>
            <a:off x="240036" y="4869180"/>
            <a:ext cx="8572800" cy="234000"/>
          </a:xfrm>
          <a:prstGeom prst="rect">
            <a:avLst/>
          </a:prstGeom>
          <a:noFill/>
          <a:ln cap="flat" cmpd="sng" w="7150">
            <a:solidFill>
              <a:srgbClr val="FAF8F4"/>
            </a:solidFill>
            <a:prstDash val="solid"/>
            <a:round/>
            <a:headEnd len="sm" w="sm" type="none"/>
            <a:tailEnd len="sm" w="sm" type="none"/>
          </a:ln>
        </p:spPr>
        <p:txBody>
          <a:bodyPr anchorCtr="0" anchor="t" bIns="54875" lIns="54875" spcFirstLastPara="1" rIns="54875" wrap="square" tIns="54875">
            <a:spAutoFit/>
          </a:bodyPr>
          <a:lstStyle/>
          <a:p>
            <a:pPr indent="0" lvl="0" marL="0" marR="0" rtl="0" algn="l">
              <a:spcBef>
                <a:spcPts val="0"/>
              </a:spcBef>
              <a:spcAft>
                <a:spcPts val="0"/>
              </a:spcAft>
              <a:buNone/>
            </a:pPr>
            <a:r>
              <a:rPr b="0" i="0" lang="zh-CN" sz="800" u="none" cap="none" strike="noStrike">
                <a:solidFill>
                  <a:srgbClr val="5C5C5C"/>
                </a:solidFill>
                <a:latin typeface="Microsoft YaHei"/>
                <a:ea typeface="Microsoft YaHei"/>
                <a:cs typeface="Microsoft YaHei"/>
                <a:sym typeface="Microsoft YaHei"/>
              </a:rPr>
              <a:t>《假黎婆》 | 单元回顾</a:t>
            </a:r>
            <a:endParaRPr sz="11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5" name="Shape 905"/>
        <p:cNvGrpSpPr/>
        <p:nvPr/>
      </p:nvGrpSpPr>
      <p:grpSpPr>
        <a:xfrm>
          <a:off x="0" y="0"/>
          <a:ext cx="0" cy="0"/>
          <a:chOff x="0" y="0"/>
          <a:chExt cx="0" cy="0"/>
        </a:xfrm>
      </p:grpSpPr>
      <p:sp>
        <p:nvSpPr>
          <p:cNvPr id="906" name="Google Shape;906;p82"/>
          <p:cNvSpPr txBox="1"/>
          <p:nvPr>
            <p:ph type="title"/>
          </p:nvPr>
        </p:nvSpPr>
        <p:spPr>
          <a:xfrm>
            <a:off x="311700" y="132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单元概况</a:t>
            </a:r>
            <a:endParaRPr/>
          </a:p>
        </p:txBody>
      </p:sp>
      <p:sp>
        <p:nvSpPr>
          <p:cNvPr id="907" name="Google Shape;907;p82"/>
          <p:cNvSpPr txBox="1"/>
          <p:nvPr>
            <p:ph idx="1" type="body"/>
          </p:nvPr>
        </p:nvSpPr>
        <p:spPr>
          <a:xfrm>
            <a:off x="1145025" y="1017725"/>
            <a:ext cx="7687200" cy="41259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Clr>
                <a:schemeClr val="dk2"/>
              </a:buClr>
              <a:buSzPts val="1100"/>
              <a:buFont typeface="Arial"/>
              <a:buNone/>
            </a:pPr>
            <a:r>
              <a:rPr b="1" lang="zh-CN" sz="1600">
                <a:highlight>
                  <a:schemeClr val="dk1"/>
                </a:highlight>
                <a:latin typeface="STKaiti"/>
                <a:ea typeface="STKaiti"/>
                <a:cs typeface="STKaiti"/>
                <a:sym typeface="STKaiti"/>
              </a:rPr>
              <a:t>概念性理解：</a:t>
            </a:r>
            <a:endParaRPr b="1" sz="1600">
              <a:highlight>
                <a:schemeClr val="dk1"/>
              </a:highlight>
              <a:latin typeface="STKaiti"/>
              <a:ea typeface="STKaiti"/>
              <a:cs typeface="STKaiti"/>
              <a:sym typeface="STKaiti"/>
            </a:endParaRPr>
          </a:p>
          <a:p>
            <a:pPr indent="0" lvl="0" marL="0" rtl="0" algn="l">
              <a:lnSpc>
                <a:spcPct val="115000"/>
              </a:lnSpc>
              <a:spcBef>
                <a:spcPts val="0"/>
              </a:spcBef>
              <a:spcAft>
                <a:spcPts val="0"/>
              </a:spcAft>
              <a:buClr>
                <a:schemeClr val="dk2"/>
              </a:buClr>
              <a:buSzPts val="1100"/>
              <a:buFont typeface="Arial"/>
              <a:buNone/>
            </a:pPr>
            <a:r>
              <a:rPr lang="zh-CN" sz="1600">
                <a:latin typeface="STKaiti"/>
                <a:ea typeface="STKaiti"/>
                <a:cs typeface="STKaiti"/>
                <a:sym typeface="STKaiti"/>
              </a:rPr>
              <a:t>文化认同与家庭、语言、种族和社会环境等因素息息相关。</a:t>
            </a:r>
            <a:endParaRPr sz="1600">
              <a:latin typeface="STKaiti"/>
              <a:ea typeface="STKaiti"/>
              <a:cs typeface="STKaiti"/>
              <a:sym typeface="STKaiti"/>
            </a:endParaRPr>
          </a:p>
          <a:p>
            <a:pPr indent="0" lvl="0" marL="0" rtl="0" algn="l">
              <a:lnSpc>
                <a:spcPct val="115000"/>
              </a:lnSpc>
              <a:spcBef>
                <a:spcPts val="0"/>
              </a:spcBef>
              <a:spcAft>
                <a:spcPts val="0"/>
              </a:spcAft>
              <a:buClr>
                <a:schemeClr val="dk2"/>
              </a:buClr>
              <a:buSzPts val="1100"/>
              <a:buFont typeface="Arial"/>
              <a:buNone/>
            </a:pPr>
            <a:r>
              <a:t/>
            </a:r>
            <a:endParaRPr sz="1600">
              <a:latin typeface="STKaiti"/>
              <a:ea typeface="STKaiti"/>
              <a:cs typeface="STKaiti"/>
              <a:sym typeface="STKaiti"/>
            </a:endParaRPr>
          </a:p>
          <a:p>
            <a:pPr indent="0" lvl="0" marL="0" rtl="0" algn="l">
              <a:lnSpc>
                <a:spcPct val="115000"/>
              </a:lnSpc>
              <a:spcBef>
                <a:spcPts val="0"/>
              </a:spcBef>
              <a:spcAft>
                <a:spcPts val="0"/>
              </a:spcAft>
              <a:buClr>
                <a:schemeClr val="dk2"/>
              </a:buClr>
              <a:buSzPts val="1100"/>
              <a:buFont typeface="Arial"/>
              <a:buNone/>
            </a:pPr>
            <a:r>
              <a:rPr b="1" lang="zh-CN" sz="1600">
                <a:highlight>
                  <a:srgbClr val="FFFF00"/>
                </a:highlight>
                <a:latin typeface="STKaiti"/>
                <a:ea typeface="STKaiti"/>
                <a:cs typeface="STKaiti"/>
                <a:sym typeface="STKaiti"/>
              </a:rPr>
              <a:t>探究问题：</a:t>
            </a:r>
            <a:endParaRPr sz="1600" u="sng">
              <a:latin typeface="STKaiti"/>
              <a:ea typeface="STKaiti"/>
              <a:cs typeface="STKaiti"/>
              <a:sym typeface="STKaiti"/>
            </a:endParaRPr>
          </a:p>
          <a:p>
            <a:pPr indent="0" lvl="0" marL="457200" rtl="0" algn="l">
              <a:lnSpc>
                <a:spcPct val="115000"/>
              </a:lnSpc>
              <a:spcBef>
                <a:spcPts val="0"/>
              </a:spcBef>
              <a:spcAft>
                <a:spcPts val="0"/>
              </a:spcAft>
              <a:buClr>
                <a:schemeClr val="dk2"/>
              </a:buClr>
              <a:buSzPts val="1100"/>
              <a:buFont typeface="Arial"/>
              <a:buNone/>
            </a:pPr>
            <a:r>
              <a:rPr lang="zh-CN" sz="1600" u="sng">
                <a:latin typeface="STKaiti"/>
                <a:ea typeface="STKaiti"/>
                <a:cs typeface="STKaiti"/>
                <a:sym typeface="STKaiti"/>
              </a:rPr>
              <a:t>事实性问题(F)</a:t>
            </a:r>
            <a:endParaRPr sz="1600" u="sng">
              <a:latin typeface="STKaiti"/>
              <a:ea typeface="STKaiti"/>
              <a:cs typeface="STKaiti"/>
              <a:sym typeface="STKaiti"/>
            </a:endParaRPr>
          </a:p>
          <a:p>
            <a:pPr indent="-330200" lvl="0" marL="914400" rtl="0" algn="l">
              <a:lnSpc>
                <a:spcPct val="115000"/>
              </a:lnSpc>
              <a:spcBef>
                <a:spcPts val="0"/>
              </a:spcBef>
              <a:spcAft>
                <a:spcPts val="0"/>
              </a:spcAft>
              <a:buSzPts val="1600"/>
              <a:buFont typeface="STKaiti"/>
              <a:buAutoNum type="arabicPeriod"/>
            </a:pPr>
            <a:r>
              <a:rPr lang="zh-CN" sz="1600">
                <a:latin typeface="STKaiti"/>
                <a:ea typeface="STKaiti"/>
                <a:cs typeface="STKaiti"/>
                <a:sym typeface="STKaiti"/>
              </a:rPr>
              <a:t>什么是文化？</a:t>
            </a:r>
            <a:endParaRPr sz="1600">
              <a:latin typeface="STKaiti"/>
              <a:ea typeface="STKaiti"/>
              <a:cs typeface="STKaiti"/>
              <a:sym typeface="STKaiti"/>
            </a:endParaRPr>
          </a:p>
          <a:p>
            <a:pPr indent="-330200" lvl="0" marL="914400" rtl="0" algn="l">
              <a:lnSpc>
                <a:spcPct val="115000"/>
              </a:lnSpc>
              <a:spcBef>
                <a:spcPts val="0"/>
              </a:spcBef>
              <a:spcAft>
                <a:spcPts val="0"/>
              </a:spcAft>
              <a:buSzPts val="1600"/>
              <a:buFont typeface="STKaiti"/>
              <a:buAutoNum type="arabicPeriod"/>
            </a:pPr>
            <a:r>
              <a:rPr lang="zh-CN" sz="1600">
                <a:latin typeface="STKaiti"/>
                <a:ea typeface="STKaiti"/>
                <a:cs typeface="STKaiti"/>
                <a:sym typeface="STKaiti"/>
              </a:rPr>
              <a:t>什么是文化认同？</a:t>
            </a:r>
            <a:endParaRPr sz="1600">
              <a:latin typeface="STKaiti"/>
              <a:ea typeface="STKaiti"/>
              <a:cs typeface="STKaiti"/>
              <a:sym typeface="STKaiti"/>
            </a:endParaRPr>
          </a:p>
          <a:p>
            <a:pPr indent="0" lvl="0" marL="457200" rtl="0" algn="l">
              <a:lnSpc>
                <a:spcPct val="115000"/>
              </a:lnSpc>
              <a:spcBef>
                <a:spcPts val="0"/>
              </a:spcBef>
              <a:spcAft>
                <a:spcPts val="0"/>
              </a:spcAft>
              <a:buClr>
                <a:schemeClr val="dk2"/>
              </a:buClr>
              <a:buSzPts val="1100"/>
              <a:buFont typeface="Arial"/>
              <a:buNone/>
            </a:pPr>
            <a:r>
              <a:rPr lang="zh-CN" sz="1600" u="sng">
                <a:latin typeface="STKaiti"/>
                <a:ea typeface="STKaiti"/>
                <a:cs typeface="STKaiti"/>
                <a:sym typeface="STKaiti"/>
              </a:rPr>
              <a:t>概念性问题(C)</a:t>
            </a:r>
            <a:endParaRPr sz="1600" u="sng">
              <a:latin typeface="STKaiti"/>
              <a:ea typeface="STKaiti"/>
              <a:cs typeface="STKaiti"/>
              <a:sym typeface="STKaiti"/>
            </a:endParaRPr>
          </a:p>
          <a:p>
            <a:pPr indent="-330200" lvl="0" marL="914400" rtl="0" algn="l">
              <a:lnSpc>
                <a:spcPct val="115000"/>
              </a:lnSpc>
              <a:spcBef>
                <a:spcPts val="0"/>
              </a:spcBef>
              <a:spcAft>
                <a:spcPts val="0"/>
              </a:spcAft>
              <a:buSzPts val="1600"/>
              <a:buFont typeface="STKaiti"/>
              <a:buAutoNum type="arabicPeriod"/>
            </a:pPr>
            <a:r>
              <a:rPr lang="zh-CN" sz="1600">
                <a:latin typeface="STKaiti"/>
                <a:ea typeface="STKaiti"/>
                <a:cs typeface="STKaiti"/>
                <a:sym typeface="STKaiti"/>
              </a:rPr>
              <a:t>文化认同是如何形成的？</a:t>
            </a:r>
            <a:endParaRPr sz="1600">
              <a:latin typeface="STKaiti"/>
              <a:ea typeface="STKaiti"/>
              <a:cs typeface="STKaiti"/>
              <a:sym typeface="STKaiti"/>
            </a:endParaRPr>
          </a:p>
          <a:p>
            <a:pPr indent="-330200" lvl="0" marL="914400" rtl="0" algn="l">
              <a:lnSpc>
                <a:spcPct val="115000"/>
              </a:lnSpc>
              <a:spcBef>
                <a:spcPts val="0"/>
              </a:spcBef>
              <a:spcAft>
                <a:spcPts val="0"/>
              </a:spcAft>
              <a:buSzPts val="1600"/>
              <a:buFont typeface="STKaiti"/>
              <a:buAutoNum type="arabicPeriod"/>
            </a:pPr>
            <a:r>
              <a:rPr lang="zh-CN" sz="1600">
                <a:latin typeface="STKaiti"/>
                <a:ea typeface="STKaiti"/>
                <a:cs typeface="STKaiti"/>
                <a:sym typeface="STKaiti"/>
              </a:rPr>
              <a:t>如何让不同的文化和谐共处，和而不同？</a:t>
            </a:r>
            <a:endParaRPr sz="1600">
              <a:latin typeface="STKaiti"/>
              <a:ea typeface="STKaiti"/>
              <a:cs typeface="STKaiti"/>
              <a:sym typeface="STKaiti"/>
            </a:endParaRPr>
          </a:p>
          <a:p>
            <a:pPr indent="0" lvl="0" marL="457200" rtl="0" algn="l">
              <a:lnSpc>
                <a:spcPct val="115000"/>
              </a:lnSpc>
              <a:spcBef>
                <a:spcPts val="0"/>
              </a:spcBef>
              <a:spcAft>
                <a:spcPts val="0"/>
              </a:spcAft>
              <a:buClr>
                <a:schemeClr val="dk2"/>
              </a:buClr>
              <a:buSzPts val="1100"/>
              <a:buFont typeface="Arial"/>
              <a:buNone/>
            </a:pPr>
            <a:r>
              <a:rPr lang="zh-CN" sz="1600" u="sng">
                <a:latin typeface="STKaiti"/>
                <a:ea typeface="STKaiti"/>
                <a:cs typeface="STKaiti"/>
                <a:sym typeface="STKaiti"/>
              </a:rPr>
              <a:t>辩论性问题(D)</a:t>
            </a:r>
            <a:endParaRPr sz="1600" u="sng">
              <a:latin typeface="STKaiti"/>
              <a:ea typeface="STKaiti"/>
              <a:cs typeface="STKaiti"/>
              <a:sym typeface="STKaiti"/>
            </a:endParaRPr>
          </a:p>
          <a:p>
            <a:pPr indent="-330200" lvl="0" marL="914400" rtl="0" algn="l">
              <a:lnSpc>
                <a:spcPct val="115000"/>
              </a:lnSpc>
              <a:spcBef>
                <a:spcPts val="0"/>
              </a:spcBef>
              <a:spcAft>
                <a:spcPts val="0"/>
              </a:spcAft>
              <a:buSzPts val="1600"/>
              <a:buFont typeface="STKaiti"/>
              <a:buAutoNum type="arabicPeriod"/>
            </a:pPr>
            <a:r>
              <a:rPr lang="zh-CN" sz="1600">
                <a:latin typeface="STKaiti"/>
                <a:ea typeface="STKaiti"/>
                <a:cs typeface="STKaiti"/>
                <a:sym typeface="STKaiti"/>
              </a:rPr>
              <a:t>文化认同是否一成不变？</a:t>
            </a:r>
            <a:endParaRPr sz="1600">
              <a:latin typeface="STKaiti"/>
              <a:ea typeface="STKaiti"/>
              <a:cs typeface="STKaiti"/>
              <a:sym typeface="STKaiti"/>
            </a:endParaRPr>
          </a:p>
          <a:p>
            <a:pPr indent="-330200" lvl="0" marL="914400" rtl="0" algn="l">
              <a:lnSpc>
                <a:spcPct val="115000"/>
              </a:lnSpc>
              <a:spcBef>
                <a:spcPts val="0"/>
              </a:spcBef>
              <a:spcAft>
                <a:spcPts val="0"/>
              </a:spcAft>
              <a:buSzPts val="1600"/>
              <a:buFont typeface="STKaiti"/>
              <a:buAutoNum type="arabicPeriod"/>
            </a:pPr>
            <a:r>
              <a:rPr lang="zh-CN" sz="1600">
                <a:latin typeface="STKaiti"/>
                <a:ea typeface="STKaiti"/>
                <a:cs typeface="STKaiti"/>
                <a:sym typeface="STKaiti"/>
              </a:rPr>
              <a:t>语言是否是文化认同的基础？</a:t>
            </a:r>
            <a:endParaRPr sz="1600">
              <a:latin typeface="STKaiti"/>
              <a:ea typeface="STKaiti"/>
              <a:cs typeface="STKaiti"/>
              <a:sym typeface="STKaiti"/>
            </a:endParaRPr>
          </a:p>
          <a:p>
            <a:pPr indent="-330200" lvl="0" marL="914400" rtl="0" algn="l">
              <a:lnSpc>
                <a:spcPct val="115000"/>
              </a:lnSpc>
              <a:spcBef>
                <a:spcPts val="0"/>
              </a:spcBef>
              <a:spcAft>
                <a:spcPts val="0"/>
              </a:spcAft>
              <a:buSzPts val="1600"/>
              <a:buFont typeface="STKaiti"/>
              <a:buAutoNum type="arabicPeriod"/>
            </a:pPr>
            <a:r>
              <a:rPr lang="zh-CN" sz="1600">
                <a:latin typeface="STKaiti"/>
                <a:ea typeface="STKaiti"/>
                <a:cs typeface="STKaiti"/>
                <a:sym typeface="STKaiti"/>
              </a:rPr>
              <a:t>不同文化之间的矛盾是否不可调和？</a:t>
            </a:r>
            <a:endParaRPr sz="1600">
              <a:latin typeface="STKaiti"/>
              <a:ea typeface="STKaiti"/>
              <a:cs typeface="STKaiti"/>
              <a:sym typeface="STKaiti"/>
            </a:endParaRPr>
          </a:p>
          <a:p>
            <a:pPr indent="-330200" lvl="0" marL="914400" rtl="0" algn="l">
              <a:lnSpc>
                <a:spcPct val="115000"/>
              </a:lnSpc>
              <a:spcBef>
                <a:spcPts val="0"/>
              </a:spcBef>
              <a:spcAft>
                <a:spcPts val="0"/>
              </a:spcAft>
              <a:buSzPts val="1600"/>
              <a:buFont typeface="STKaiti"/>
              <a:buAutoNum type="arabicPeriod"/>
            </a:pPr>
            <a:r>
              <a:rPr lang="zh-CN" sz="1600">
                <a:latin typeface="STKaiti"/>
                <a:ea typeface="STKaiti"/>
                <a:cs typeface="STKaiti"/>
                <a:sym typeface="STKaiti"/>
              </a:rPr>
              <a:t>一个人的文化认同是与生俱来的，还是可以自主选择的？</a:t>
            </a:r>
            <a:endParaRPr>
              <a:latin typeface="STKaiti"/>
              <a:ea typeface="STKaiti"/>
              <a:cs typeface="STKaiti"/>
              <a:sym typeface="STKait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1" name="Shape 911"/>
        <p:cNvGrpSpPr/>
        <p:nvPr/>
      </p:nvGrpSpPr>
      <p:grpSpPr>
        <a:xfrm>
          <a:off x="0" y="0"/>
          <a:ext cx="0" cy="0"/>
          <a:chOff x="0" y="0"/>
          <a:chExt cx="0" cy="0"/>
        </a:xfrm>
      </p:grpSpPr>
      <p:sp>
        <p:nvSpPr>
          <p:cNvPr id="912" name="Google Shape;912;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你觉得什么是文化？</a:t>
            </a:r>
            <a:endParaRPr/>
          </a:p>
        </p:txBody>
      </p:sp>
      <p:sp>
        <p:nvSpPr>
          <p:cNvPr id="913" name="Google Shape;913;p83"/>
          <p:cNvSpPr txBox="1"/>
          <p:nvPr>
            <p:ph idx="1" type="body"/>
          </p:nvPr>
        </p:nvSpPr>
        <p:spPr>
          <a:xfrm>
            <a:off x="864250" y="1234075"/>
            <a:ext cx="79680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和旁边不超过三个人讨论，总结出一个简短的文化的定义。</a:t>
            </a:r>
            <a:endParaRPr/>
          </a:p>
          <a:p>
            <a:pPr indent="0" lvl="0" marL="0" rtl="0" algn="l">
              <a:spcBef>
                <a:spcPts val="1200"/>
              </a:spcBef>
              <a:spcAft>
                <a:spcPts val="1200"/>
              </a:spcAft>
              <a:buNone/>
            </a:pPr>
            <a:r>
              <a:t/>
            </a:r>
            <a:endParaRPr/>
          </a:p>
        </p:txBody>
      </p:sp>
      <p:pic>
        <p:nvPicPr>
          <p:cNvPr id="914" name="Google Shape;914;p83"/>
          <p:cNvPicPr preferRelativeResize="0"/>
          <p:nvPr/>
        </p:nvPicPr>
        <p:blipFill>
          <a:blip r:embed="rId3">
            <a:alphaModFix/>
          </a:blip>
          <a:stretch>
            <a:fillRect/>
          </a:stretch>
        </p:blipFill>
        <p:spPr>
          <a:xfrm>
            <a:off x="5823475" y="1938200"/>
            <a:ext cx="2018050" cy="3051849"/>
          </a:xfrm>
          <a:prstGeom prst="rect">
            <a:avLst/>
          </a:prstGeom>
          <a:noFill/>
          <a:ln>
            <a:noFill/>
          </a:ln>
        </p:spPr>
      </p:pic>
      <p:pic>
        <p:nvPicPr>
          <p:cNvPr id="915" name="Google Shape;915;p83"/>
          <p:cNvPicPr preferRelativeResize="0"/>
          <p:nvPr/>
        </p:nvPicPr>
        <p:blipFill>
          <a:blip r:embed="rId4">
            <a:alphaModFix/>
          </a:blip>
          <a:stretch>
            <a:fillRect/>
          </a:stretch>
        </p:blipFill>
        <p:spPr>
          <a:xfrm>
            <a:off x="1238575" y="1996125"/>
            <a:ext cx="3810000" cy="24955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9" name="Shape 919"/>
        <p:cNvGrpSpPr/>
        <p:nvPr/>
      </p:nvGrpSpPr>
      <p:grpSpPr>
        <a:xfrm>
          <a:off x="0" y="0"/>
          <a:ext cx="0" cy="0"/>
          <a:chOff x="0" y="0"/>
          <a:chExt cx="0" cy="0"/>
        </a:xfrm>
      </p:grpSpPr>
      <p:sp>
        <p:nvSpPr>
          <p:cNvPr id="920" name="Google Shape;920;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余秋雨对文化的定义</a:t>
            </a:r>
            <a:endParaRPr/>
          </a:p>
        </p:txBody>
      </p:sp>
      <p:sp>
        <p:nvSpPr>
          <p:cNvPr id="921" name="Google Shape;921;p84"/>
          <p:cNvSpPr txBox="1"/>
          <p:nvPr>
            <p:ph idx="1" type="body"/>
          </p:nvPr>
        </p:nvSpPr>
        <p:spPr>
          <a:xfrm>
            <a:off x="311700" y="1234075"/>
            <a:ext cx="3123900" cy="33348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None/>
            </a:pPr>
            <a:r>
              <a:t/>
            </a:r>
            <a:endParaRPr sz="8379">
              <a:latin typeface="STKaiti"/>
              <a:ea typeface="STKaiti"/>
              <a:cs typeface="STKaiti"/>
              <a:sym typeface="STKaiti"/>
            </a:endParaRPr>
          </a:p>
          <a:p>
            <a:pPr indent="0" lvl="0" marL="0" rtl="0" algn="l">
              <a:spcBef>
                <a:spcPts val="1200"/>
              </a:spcBef>
              <a:spcAft>
                <a:spcPts val="0"/>
              </a:spcAft>
              <a:buNone/>
            </a:pPr>
            <a:r>
              <a:rPr lang="zh-CN" sz="8379">
                <a:solidFill>
                  <a:srgbClr val="FF0000"/>
                </a:solidFill>
                <a:latin typeface="STKaiti"/>
                <a:ea typeface="STKaiti"/>
                <a:cs typeface="STKaiti"/>
                <a:sym typeface="STKaiti"/>
              </a:rPr>
              <a:t>“</a:t>
            </a:r>
            <a:r>
              <a:rPr lang="zh-CN" sz="8379">
                <a:solidFill>
                  <a:srgbClr val="FF0000"/>
                </a:solidFill>
                <a:latin typeface="STKaiti"/>
                <a:ea typeface="STKaiti"/>
                <a:cs typeface="STKaiti"/>
                <a:sym typeface="STKaiti"/>
              </a:rPr>
              <a:t>文化，是一种成为习惯的精神价值和生活方式。它的最终成果，是集体人格。”</a:t>
            </a:r>
            <a:endParaRPr sz="8379">
              <a:solidFill>
                <a:srgbClr val="FF0000"/>
              </a:solidFill>
              <a:latin typeface="STKaiti"/>
              <a:ea typeface="STKaiti"/>
              <a:cs typeface="STKaiti"/>
              <a:sym typeface="STKaiti"/>
            </a:endParaRPr>
          </a:p>
          <a:p>
            <a:pPr indent="0" lvl="0" marL="0" rtl="0" algn="r">
              <a:spcBef>
                <a:spcPts val="1200"/>
              </a:spcBef>
              <a:spcAft>
                <a:spcPts val="0"/>
              </a:spcAft>
              <a:buNone/>
            </a:pPr>
            <a:r>
              <a:rPr lang="zh-CN" sz="8379">
                <a:solidFill>
                  <a:srgbClr val="FF0000"/>
                </a:solidFill>
                <a:latin typeface="STKaiti"/>
                <a:ea typeface="STKaiti"/>
                <a:cs typeface="STKaiti"/>
                <a:sym typeface="STKaiti"/>
              </a:rPr>
              <a:t>——余秋雨</a:t>
            </a:r>
            <a:endParaRPr/>
          </a:p>
          <a:p>
            <a:pPr indent="0" lvl="0" marL="0" rtl="0" algn="l">
              <a:spcBef>
                <a:spcPts val="1200"/>
              </a:spcBef>
              <a:spcAft>
                <a:spcPts val="1200"/>
              </a:spcAft>
              <a:buNone/>
            </a:pPr>
            <a:r>
              <a:rPr lang="zh-CN" sz="4800" u="sng">
                <a:solidFill>
                  <a:schemeClr val="hlink"/>
                </a:solidFill>
                <a:hlinkClick r:id="rId3"/>
              </a:rPr>
              <a:t>http://www.360doc.com/content/22/0727/13/66175384_1041576038.shtml</a:t>
            </a:r>
            <a:endParaRPr sz="4800"/>
          </a:p>
        </p:txBody>
      </p:sp>
      <p:pic>
        <p:nvPicPr>
          <p:cNvPr id="922" name="Google Shape;922;p84" title="Screenshot 2025-08-22 at 8.18.20 AM.png"/>
          <p:cNvPicPr preferRelativeResize="0"/>
          <p:nvPr/>
        </p:nvPicPr>
        <p:blipFill>
          <a:blip r:embed="rId4">
            <a:alphaModFix/>
          </a:blip>
          <a:stretch>
            <a:fillRect/>
          </a:stretch>
        </p:blipFill>
        <p:spPr>
          <a:xfrm>
            <a:off x="3608544" y="0"/>
            <a:ext cx="5535460" cy="514349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6" name="Shape 926"/>
        <p:cNvGrpSpPr/>
        <p:nvPr/>
      </p:nvGrpSpPr>
      <p:grpSpPr>
        <a:xfrm>
          <a:off x="0" y="0"/>
          <a:ext cx="0" cy="0"/>
          <a:chOff x="0" y="0"/>
          <a:chExt cx="0" cy="0"/>
        </a:xfrm>
      </p:grpSpPr>
      <p:sp>
        <p:nvSpPr>
          <p:cNvPr id="927" name="Google Shape;927;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余秋雨 · 中国文化必修课【004】最短的文化定义</a:t>
            </a:r>
            <a:endParaRPr/>
          </a:p>
        </p:txBody>
      </p:sp>
      <p:pic>
        <p:nvPicPr>
          <p:cNvPr descr="余秋雨&#10;中国当代著名的文化学者和杰出的散文家&#10;人类创造的财富有两种，物质与文化。物质财富只能血缘继承与个人创造，而精神文化却可以通过语言，跨越时空与血缘的阻碍，让地球上任何一个人就能获取大师的财富。&#10;&#10;余秋雨用近300堂中国文化课，从百家争鸣的儒释道讲起，连接唐宋元明清的思想文化，涵盖古今文化大师，并将现代中国文化置于全球性视角考量。&#10;&#10;用历史时间线串联起历史上重要文化人物，超过50余位：老子、孔子、屈原、司马迁、曹操、李白、杜甫、苏东坡、李清照、陆游、辛弃疾、顾炎武、王阳明、王国维、陈寅恪、梁启超、胡适、鲁迅……&#10;&#10;一场美学的探究：比较世界四大文明——两河流域、古代中国、古印度、古埃及，探索中国艺术之美，解析中国历代的君子之风与高贵品格，形成自己生活的仪式感与美感。用一年时间，让余秋雨带你走进中国文化史中，所有文化大师的精神世界。&#10;&#10;本课程分四大维度解读：&#10;&#10;（1）经典著作：超过20部大部头经典著作的解读，包括不局限于唐宋诗词、阳明心学、《论语》《红楼梦》《水浒传》《三国演义》《西游记》《四库全书》……&#10;&#10;（2）文化人物：讲解超过50位改变中国历史的文化人物，他们的思想与故事；&#10;&#10;（3）思想传承：了解中华五千年的思想传承，从百家争鸣到21世纪互联网时代；&#10;&#10;（4）美学品格：中国的君子之风，中国书法、戏剧、生态三大美学，世界四大文明的美学之旅；&#10;&#10;（5）历险分享：余秋雨实地考察的经历分享，讲述一生文化历险。&#10;&#10;你将获得&#10;&#10;▲了解中华五千年重要的思想流派&#10;&#10;▲听超过50位文化人物的思想与故事&#10;&#10;▲与余秋雨共读超过100部经典著作&#10;&#10;▲构筑自己的审美与品格&#10;&#10;▲余秋雨答疑课、直播课、VIP线下讲座、美文分享&#10;&#10;适合谁听&#10;&#10;▲热爱文学、美学、艺术的你&#10;&#10;▲想提高修养与审美的你&#10;&#10;▲工作学习中需要从中华文化里汲取营养的你 余秋雨 · 中国文化必修课【001】导言&#10;https://youtu.be/woRGbaF6ADM&#10;余秋雨 · 中国文化必修课【002】导言二 ：国际视野下的中国文化 &#10;https://youtu.be/eH_e2zZ6Yjk&#10;余秋雨 · 中国文化必修课【003】几个傻问题和文化的多个定义&#10;https://youtu.be/4rDBlKs_dvQ&#10;余秋雨 · 中国文化必修课【004】最短的文化定义 &#10;https://youtu.be/7LPo_olV82I&#10;余秋雨 · 中国文化必修课【005】跨越文明门槛的时间与排位&#10;https://youtu.be/Flv4mGsfLrM&#10;&#10;&#10;人类创造的财富有两种，物质与文化。物质财富只能血缘继承与个人创造，而精神文化却可以通过语言，跨越时空与血缘的阻碍，让地球上任何一个人就能获取大师的财富。&#10;&#10;&#10;余秋雨用近300堂中国文化课，从百家争鸣的儒释道讲起，连接唐宋元明清的思想文化，涵盖古今文化大师，并将现代中国文化置于全球性视角考量。&#10;&#10;&#10;用历史时间线串联起历史上重要文化人物，超过50余位：老子、孔子、屈原、司马迁、曹操、李白、杜甫、苏东坡、李清照、陆游、辛弃疾、顾炎武、王阳明、王国维、陈寅恪、梁启超、胡适、鲁迅……&#10;&#10;&#10;一场美学的探究：比较世界四大文明——两河流域、古代中国、古印度、古埃及，探索中国艺术之美，解析中国历代的君子之风与高贵品格，形成自己生活的仪式感与美感。用一年时间，让余秋雨带你走进中国文化史中，所有文化大师的精神世界。&#10;&#10;&#10;本课程分四大维度解读：&#10;&#10;&#10;（1）经典著作：超过20部大部头经典著作的解读，包括不局限于唐宋诗词、阳明心学、《论语》《红楼梦》《水浒传》《三国演义》《西游记》《四库全书》……&#10;&#10;&#10;（2）文化人物：讲解超过50位改变中国历史的文化人物，他们的思想与故事；&#10;&#10;&#10;（3）思想传承：了解中华五千年的思想传承，从百家争鸣到21世纪互联网时代；&#10;&#10;&#10;（4）美学品格：中国的君子之风，中国书法、戏剧、生态三大美学，世界四大文明的美学之旅；&#10;&#10;&#10;（5）历险分享：余秋雨实地考察的经历分享，讲述一生文化历险。&#10;&#10;&#10;你将获得&#10;&#10;&#10;▲了解中华五千年重要的思想流派&#10;&#10;&#10;▲听超过50位文化人物的思想与故事&#10;&#10;&#10;▲与余秋雨共读超过100部经典著作&#10;&#10;&#10;▲构筑自己的审美与品格&#10;&#10;&#10;▲余秋雨答疑课、直播课、VIP线下讲座、美文分享&#10;&#10;&#10;适合谁听&#10;&#10;&#10;▲热爱文学、美学、艺术的你&#10;&#10;&#10;▲想提高修养与审美的你&#10;&#10;&#10;▲工作学习中需要从中华文化里汲取营养的你" id="928" name="Google Shape;928;p85" title="余秋雨 · 中国文化必修课【004】最短的文化定义">
            <a:hlinkClick r:id="rId3"/>
          </p:cNvPr>
          <p:cNvPicPr preferRelativeResize="0"/>
          <p:nvPr/>
        </p:nvPicPr>
        <p:blipFill>
          <a:blip r:embed="rId4">
            <a:alphaModFix/>
          </a:blip>
          <a:stretch>
            <a:fillRect/>
          </a:stretch>
        </p:blipFill>
        <p:spPr>
          <a:xfrm>
            <a:off x="493450" y="1079200"/>
            <a:ext cx="7150626" cy="4022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gtEl>
                                        <p:attrNameLst>
                                          <p:attrName>style.visibility</p:attrName>
                                        </p:attrNameLst>
                                      </p:cBhvr>
                                      <p:to>
                                        <p:strVal val="visible"/>
                                      </p:to>
                                    </p:set>
                                    <p:animEffect filter="fade" transition="in">
                                      <p:cBhvr>
                                        <p:cTn dur="1000"/>
                                        <p:tgtEl>
                                          <p:spTgt spid="9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2" name="Shape 932"/>
        <p:cNvGrpSpPr/>
        <p:nvPr/>
      </p:nvGrpSpPr>
      <p:grpSpPr>
        <a:xfrm>
          <a:off x="0" y="0"/>
          <a:ext cx="0" cy="0"/>
          <a:chOff x="0" y="0"/>
          <a:chExt cx="0" cy="0"/>
        </a:xfrm>
      </p:grpSpPr>
      <p:sp>
        <p:nvSpPr>
          <p:cNvPr id="933" name="Google Shape;933;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文化冰山</a:t>
            </a:r>
            <a:endParaRPr/>
          </a:p>
        </p:txBody>
      </p:sp>
      <p:sp>
        <p:nvSpPr>
          <p:cNvPr id="934" name="Google Shape;934;p86"/>
          <p:cNvSpPr txBox="1"/>
          <p:nvPr>
            <p:ph idx="1" type="body"/>
          </p:nvPr>
        </p:nvSpPr>
        <p:spPr>
          <a:xfrm>
            <a:off x="311700" y="1234075"/>
            <a:ext cx="39234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根据冰川理论，在自己的本子上列出有形文化和无形文化的例子，越多越好。</a:t>
            </a:r>
            <a:endParaRPr/>
          </a:p>
          <a:p>
            <a:pPr indent="0" lvl="0" marL="0" rtl="0" algn="l">
              <a:spcBef>
                <a:spcPts val="1200"/>
              </a:spcBef>
              <a:spcAft>
                <a:spcPts val="0"/>
              </a:spcAft>
              <a:buNone/>
            </a:pPr>
            <a:r>
              <a:rPr lang="zh-CN"/>
              <a:t>粗略地划出冰川，然后进行标注。</a:t>
            </a:r>
            <a:endParaRPr/>
          </a:p>
          <a:p>
            <a:pPr indent="0" lvl="0" marL="0" rtl="0" algn="l">
              <a:spcBef>
                <a:spcPts val="1200"/>
              </a:spcBef>
              <a:spcAft>
                <a:spcPts val="1200"/>
              </a:spcAft>
              <a:buNone/>
            </a:pPr>
            <a:r>
              <a:t/>
            </a:r>
            <a:endParaRPr/>
          </a:p>
        </p:txBody>
      </p:sp>
      <p:pic>
        <p:nvPicPr>
          <p:cNvPr id="935" name="Google Shape;935;p86"/>
          <p:cNvPicPr preferRelativeResize="0"/>
          <p:nvPr/>
        </p:nvPicPr>
        <p:blipFill>
          <a:blip r:embed="rId3">
            <a:alphaModFix/>
          </a:blip>
          <a:stretch>
            <a:fillRect/>
          </a:stretch>
        </p:blipFill>
        <p:spPr>
          <a:xfrm>
            <a:off x="5219498" y="0"/>
            <a:ext cx="3859004" cy="5143501"/>
          </a:xfrm>
          <a:prstGeom prst="rect">
            <a:avLst/>
          </a:prstGeom>
          <a:noFill/>
          <a:ln>
            <a:noFill/>
          </a:ln>
        </p:spPr>
      </p:pic>
      <p:pic>
        <p:nvPicPr>
          <p:cNvPr descr="Do you need a timer for kids that will keep them occupied and entertained? This 5-minute countdown timer with an alarm features fun music and cute sea creatures. This a perfect timer for keeping little ones on track!&#10;&#10;⚡Subscribe: https://bit.ly/3uUcvRk ⚡&#10;&#10;#timer #underthesea #fish" id="936" name="Google Shape;936;p86" title="5 Minute Countdown Timer for Kids with Alarm and Fun Music | Under the Sea 🐟">
            <a:hlinkClick r:id="rId4"/>
          </p:cNvPr>
          <p:cNvPicPr preferRelativeResize="0"/>
          <p:nvPr/>
        </p:nvPicPr>
        <p:blipFill>
          <a:blip r:embed="rId5">
            <a:alphaModFix/>
          </a:blip>
          <a:stretch>
            <a:fillRect/>
          </a:stretch>
        </p:blipFill>
        <p:spPr>
          <a:xfrm>
            <a:off x="583975" y="3212125"/>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
                                        </p:tgtEl>
                                        <p:attrNameLst>
                                          <p:attrName>style.visibility</p:attrName>
                                        </p:attrNameLst>
                                      </p:cBhvr>
                                      <p:to>
                                        <p:strVal val="visible"/>
                                      </p:to>
                                    </p:set>
                                    <p:animEffect filter="fade" transition="in">
                                      <p:cBhvr>
                                        <p:cTn dur="1000"/>
                                        <p:tgtEl>
                                          <p:spTgt spid="9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0" name="Shape 940"/>
        <p:cNvGrpSpPr/>
        <p:nvPr/>
      </p:nvGrpSpPr>
      <p:grpSpPr>
        <a:xfrm>
          <a:off x="0" y="0"/>
          <a:ext cx="0" cy="0"/>
          <a:chOff x="0" y="0"/>
          <a:chExt cx="0" cy="0"/>
        </a:xfrm>
      </p:grpSpPr>
      <p:sp>
        <p:nvSpPr>
          <p:cNvPr id="941" name="Google Shape;941;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思考并分享：</a:t>
            </a:r>
            <a:endParaRPr/>
          </a:p>
        </p:txBody>
      </p:sp>
      <p:sp>
        <p:nvSpPr>
          <p:cNvPr id="942" name="Google Shape;942;p87"/>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zh-CN"/>
              <a:t>冰川中的无形文化是如何影响和反映在有形文化上的？（举例说明）</a:t>
            </a:r>
            <a:endParaRPr/>
          </a:p>
          <a:p>
            <a:pPr indent="0" lvl="0" marL="0" rtl="0" algn="l">
              <a:spcBef>
                <a:spcPts val="1200"/>
              </a:spcBef>
              <a:spcAft>
                <a:spcPts val="1200"/>
              </a:spcAft>
              <a:buNone/>
            </a:pPr>
            <a:r>
              <a:t/>
            </a:r>
            <a:endParaRPr/>
          </a:p>
        </p:txBody>
      </p:sp>
      <p:pic>
        <p:nvPicPr>
          <p:cNvPr descr="2 Minute Cute Timer with Relaxing LoFi Beats for Classroom 🌸🎵&#10;&#10;Enjoy this 2 Minute Cute Timer with relaxing LoFi beats that’s perfect for the classroom! 🎧✨ Whether you’re giving students a short break, transitioning between activities, or adding a fun countdown to your lesson, this 2 minute timer creates a calm and focused atmosphere. 🕰️💖&#10;&#10;✅ Great for classroom breaks, focus time, and transitions&#10;✅ Adorable visuals to keep students engaged&#10;✅ Soft, relaxing LoFi music to promote concentration&#10;&#10;💡 Need more classroom timers? Check out our playlist for a variety of timers with fun and relaxing music!&#10;&#10;#ClassroomTimer #LoFiBeats #2MinuteTimer #CuteTimer &#10;&#10;Join us in the comments, say hi, and subscribe to my channel for more relaxing timers.&#10;&#10;🚨 SUBSCRIBE https://www.youtube.com/@CalmTimerStudio?sub_confirmation=1&#10;&#10;🎵 Music licensed from Uppbeat.io, a platform for content creators to find royalty-free music. Join Uppbeat with this referral link: https://share.uppbeat.io/tta4gwjutulo." id="943" name="Google Shape;943;p87" title="2 Minute Timer with Relaxing LoFi Music for Classroom 🌸🎵">
            <a:hlinkClick r:id="rId3"/>
          </p:cNvPr>
          <p:cNvPicPr preferRelativeResize="0"/>
          <p:nvPr/>
        </p:nvPicPr>
        <p:blipFill>
          <a:blip r:embed="rId4">
            <a:alphaModFix/>
          </a:blip>
          <a:stretch>
            <a:fillRect/>
          </a:stretch>
        </p:blipFill>
        <p:spPr>
          <a:xfrm>
            <a:off x="5868050" y="32630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gtEl>
                                        <p:attrNameLst>
                                          <p:attrName>style.visibility</p:attrName>
                                        </p:attrNameLst>
                                      </p:cBhvr>
                                      <p:to>
                                        <p:strVal val="visible"/>
                                      </p:to>
                                    </p:set>
                                    <p:animEffect filter="fade" transition="in">
                                      <p:cBhvr>
                                        <p:cTn dur="1000"/>
                                        <p:tgtEl>
                                          <p:spTgt spid="9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7" name="Shape 947"/>
        <p:cNvGrpSpPr/>
        <p:nvPr/>
      </p:nvGrpSpPr>
      <p:grpSpPr>
        <a:xfrm>
          <a:off x="0" y="0"/>
          <a:ext cx="0" cy="0"/>
          <a:chOff x="0" y="0"/>
          <a:chExt cx="0" cy="0"/>
        </a:xfrm>
      </p:grpSpPr>
      <p:sp>
        <p:nvSpPr>
          <p:cNvPr id="948" name="Google Shape;948;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最重要的是三层关系</a:t>
            </a:r>
            <a:endParaRPr/>
          </a:p>
        </p:txBody>
      </p:sp>
      <p:sp>
        <p:nvSpPr>
          <p:cNvPr id="949" name="Google Shape;949;p88"/>
          <p:cNvSpPr txBox="1"/>
          <p:nvPr>
            <p:ph idx="1" type="body"/>
          </p:nvPr>
        </p:nvSpPr>
        <p:spPr>
          <a:xfrm>
            <a:off x="865975" y="1070825"/>
            <a:ext cx="7966200" cy="3855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2"/>
              </a:buClr>
              <a:buSzPts val="1100"/>
              <a:buFont typeface="Arial"/>
              <a:buNone/>
            </a:pPr>
            <a:r>
              <a:rPr b="1" lang="zh-CN" sz="1100">
                <a:latin typeface="Arial"/>
                <a:ea typeface="Arial"/>
                <a:cs typeface="Arial"/>
                <a:sym typeface="Arial"/>
              </a:rPr>
              <a:t>看得见的文化表现 → 社会习惯与规范 → 深层价值观与信念</a:t>
            </a:r>
            <a:endParaRPr b="1" sz="11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lang="zh-CN" sz="1100">
                <a:latin typeface="Arial"/>
                <a:ea typeface="Arial"/>
                <a:cs typeface="Arial"/>
                <a:sym typeface="Arial"/>
              </a:rPr>
              <a:t>例如：</a:t>
            </a:r>
            <a:endParaRPr sz="1100">
              <a:latin typeface="Arial"/>
              <a:ea typeface="Arial"/>
              <a:cs typeface="Arial"/>
              <a:sym typeface="Arial"/>
            </a:endParaRPr>
          </a:p>
          <a:p>
            <a:pPr indent="0" lvl="0" marL="381000" marR="381000" rtl="0" algn="l">
              <a:spcBef>
                <a:spcPts val="1200"/>
              </a:spcBef>
              <a:spcAft>
                <a:spcPts val="0"/>
              </a:spcAft>
              <a:buClr>
                <a:schemeClr val="dk2"/>
              </a:buClr>
              <a:buSzPts val="1100"/>
              <a:buFont typeface="Arial"/>
              <a:buNone/>
            </a:pPr>
            <a:r>
              <a:rPr b="1" lang="zh-CN" sz="1100">
                <a:latin typeface="Arial"/>
                <a:ea typeface="Arial"/>
                <a:cs typeface="Arial"/>
                <a:sym typeface="Arial"/>
              </a:rPr>
              <a:t>现象：</a:t>
            </a:r>
            <a:r>
              <a:rPr lang="zh-CN" sz="1100">
                <a:latin typeface="Arial"/>
                <a:ea typeface="Arial"/>
                <a:cs typeface="Arial"/>
                <a:sym typeface="Arial"/>
              </a:rPr>
              <a:t> 春节一家人一起吃年夜饭</a:t>
            </a:r>
            <a:br>
              <a:rPr lang="zh-CN" sz="1100">
                <a:latin typeface="Arial"/>
                <a:ea typeface="Arial"/>
                <a:cs typeface="Arial"/>
                <a:sym typeface="Arial"/>
              </a:rPr>
            </a:br>
            <a:r>
              <a:rPr lang="zh-CN" sz="1100">
                <a:latin typeface="Arial"/>
                <a:ea typeface="Arial"/>
                <a:cs typeface="Arial"/>
                <a:sym typeface="Arial"/>
              </a:rPr>
              <a:t> ↓</a:t>
            </a:r>
            <a:br>
              <a:rPr lang="zh-CN" sz="1100">
                <a:latin typeface="Arial"/>
                <a:ea typeface="Arial"/>
                <a:cs typeface="Arial"/>
                <a:sym typeface="Arial"/>
              </a:rPr>
            </a:br>
            <a:r>
              <a:rPr lang="zh-CN" sz="1100">
                <a:latin typeface="Arial"/>
                <a:ea typeface="Arial"/>
                <a:cs typeface="Arial"/>
                <a:sym typeface="Arial"/>
              </a:rPr>
              <a:t> </a:t>
            </a:r>
            <a:r>
              <a:rPr b="1" lang="zh-CN" sz="1100">
                <a:latin typeface="Arial"/>
                <a:ea typeface="Arial"/>
                <a:cs typeface="Arial"/>
                <a:sym typeface="Arial"/>
              </a:rPr>
              <a:t>习惯：</a:t>
            </a:r>
            <a:r>
              <a:rPr lang="zh-CN" sz="1100">
                <a:latin typeface="Arial"/>
                <a:ea typeface="Arial"/>
                <a:cs typeface="Arial"/>
                <a:sym typeface="Arial"/>
              </a:rPr>
              <a:t> 重要节日应该回家与家人团聚</a:t>
            </a:r>
            <a:br>
              <a:rPr lang="zh-CN" sz="1100">
                <a:latin typeface="Arial"/>
                <a:ea typeface="Arial"/>
                <a:cs typeface="Arial"/>
                <a:sym typeface="Arial"/>
              </a:rPr>
            </a:br>
            <a:r>
              <a:rPr lang="zh-CN" sz="1100">
                <a:latin typeface="Arial"/>
                <a:ea typeface="Arial"/>
                <a:cs typeface="Arial"/>
                <a:sym typeface="Arial"/>
              </a:rPr>
              <a:t> ↓</a:t>
            </a:r>
            <a:br>
              <a:rPr lang="zh-CN" sz="1100">
                <a:latin typeface="Arial"/>
                <a:ea typeface="Arial"/>
                <a:cs typeface="Arial"/>
                <a:sym typeface="Arial"/>
              </a:rPr>
            </a:br>
            <a:r>
              <a:rPr lang="zh-CN" sz="1100">
                <a:latin typeface="Arial"/>
                <a:ea typeface="Arial"/>
                <a:cs typeface="Arial"/>
                <a:sym typeface="Arial"/>
              </a:rPr>
              <a:t> </a:t>
            </a:r>
            <a:r>
              <a:rPr b="1" lang="zh-CN" sz="1100">
                <a:latin typeface="Arial"/>
                <a:ea typeface="Arial"/>
                <a:cs typeface="Arial"/>
                <a:sym typeface="Arial"/>
              </a:rPr>
              <a:t>深层文化：</a:t>
            </a:r>
            <a:r>
              <a:rPr lang="zh-CN" sz="1100">
                <a:latin typeface="Arial"/>
                <a:ea typeface="Arial"/>
                <a:cs typeface="Arial"/>
                <a:sym typeface="Arial"/>
              </a:rPr>
              <a:t> 家庭、团圆、亲属关系具有重要价值</a:t>
            </a:r>
            <a:endParaRPr sz="11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lang="zh-CN" sz="1100">
                <a:latin typeface="Arial"/>
                <a:ea typeface="Arial"/>
                <a:cs typeface="Arial"/>
                <a:sym typeface="Arial"/>
              </a:rPr>
              <a:t>再比如：</a:t>
            </a:r>
            <a:endParaRPr sz="1100">
              <a:latin typeface="Arial"/>
              <a:ea typeface="Arial"/>
              <a:cs typeface="Arial"/>
              <a:sym typeface="Arial"/>
            </a:endParaRPr>
          </a:p>
          <a:p>
            <a:pPr indent="0" lvl="0" marL="381000" marR="381000" rtl="0" algn="l">
              <a:spcBef>
                <a:spcPts val="1200"/>
              </a:spcBef>
              <a:spcAft>
                <a:spcPts val="0"/>
              </a:spcAft>
              <a:buClr>
                <a:schemeClr val="dk2"/>
              </a:buClr>
              <a:buSzPts val="1100"/>
              <a:buFont typeface="Arial"/>
              <a:buNone/>
            </a:pPr>
            <a:r>
              <a:rPr b="1" lang="zh-CN" sz="1100">
                <a:latin typeface="Arial"/>
                <a:ea typeface="Arial"/>
                <a:cs typeface="Arial"/>
                <a:sym typeface="Arial"/>
              </a:rPr>
              <a:t>现象：</a:t>
            </a:r>
            <a:r>
              <a:rPr lang="zh-CN" sz="1100">
                <a:latin typeface="Arial"/>
                <a:ea typeface="Arial"/>
                <a:cs typeface="Arial"/>
                <a:sym typeface="Arial"/>
              </a:rPr>
              <a:t> 学生见到老师称“老师”，而不是直接叫名字</a:t>
            </a:r>
            <a:br>
              <a:rPr lang="zh-CN" sz="1100">
                <a:latin typeface="Arial"/>
                <a:ea typeface="Arial"/>
                <a:cs typeface="Arial"/>
                <a:sym typeface="Arial"/>
              </a:rPr>
            </a:br>
            <a:r>
              <a:rPr lang="zh-CN" sz="1100">
                <a:latin typeface="Arial"/>
                <a:ea typeface="Arial"/>
                <a:cs typeface="Arial"/>
                <a:sym typeface="Arial"/>
              </a:rPr>
              <a:t> ↓</a:t>
            </a:r>
            <a:br>
              <a:rPr lang="zh-CN" sz="1100">
                <a:latin typeface="Arial"/>
                <a:ea typeface="Arial"/>
                <a:cs typeface="Arial"/>
                <a:sym typeface="Arial"/>
              </a:rPr>
            </a:br>
            <a:r>
              <a:rPr lang="zh-CN" sz="1100">
                <a:latin typeface="Arial"/>
                <a:ea typeface="Arial"/>
                <a:cs typeface="Arial"/>
                <a:sym typeface="Arial"/>
              </a:rPr>
              <a:t> </a:t>
            </a:r>
            <a:r>
              <a:rPr b="1" lang="zh-CN" sz="1100">
                <a:latin typeface="Arial"/>
                <a:ea typeface="Arial"/>
                <a:cs typeface="Arial"/>
                <a:sym typeface="Arial"/>
              </a:rPr>
              <a:t>规范：</a:t>
            </a:r>
            <a:r>
              <a:rPr lang="zh-CN" sz="1100">
                <a:latin typeface="Arial"/>
                <a:ea typeface="Arial"/>
                <a:cs typeface="Arial"/>
                <a:sym typeface="Arial"/>
              </a:rPr>
              <a:t> 对老师使用特定称呼表示礼貌</a:t>
            </a:r>
            <a:br>
              <a:rPr lang="zh-CN" sz="1100">
                <a:latin typeface="Arial"/>
                <a:ea typeface="Arial"/>
                <a:cs typeface="Arial"/>
                <a:sym typeface="Arial"/>
              </a:rPr>
            </a:br>
            <a:r>
              <a:rPr lang="zh-CN" sz="1100">
                <a:latin typeface="Arial"/>
                <a:ea typeface="Arial"/>
                <a:cs typeface="Arial"/>
                <a:sym typeface="Arial"/>
              </a:rPr>
              <a:t> ↓</a:t>
            </a:r>
            <a:br>
              <a:rPr lang="zh-CN" sz="1100">
                <a:latin typeface="Arial"/>
                <a:ea typeface="Arial"/>
                <a:cs typeface="Arial"/>
                <a:sym typeface="Arial"/>
              </a:rPr>
            </a:br>
            <a:r>
              <a:rPr lang="zh-CN" sz="1100">
                <a:latin typeface="Arial"/>
                <a:ea typeface="Arial"/>
                <a:cs typeface="Arial"/>
                <a:sym typeface="Arial"/>
              </a:rPr>
              <a:t> </a:t>
            </a:r>
            <a:r>
              <a:rPr b="1" lang="zh-CN" sz="1100">
                <a:latin typeface="Arial"/>
                <a:ea typeface="Arial"/>
                <a:cs typeface="Arial"/>
                <a:sym typeface="Arial"/>
              </a:rPr>
              <a:t>深层文化：</a:t>
            </a:r>
            <a:r>
              <a:rPr lang="zh-CN" sz="1100">
                <a:latin typeface="Arial"/>
                <a:ea typeface="Arial"/>
                <a:cs typeface="Arial"/>
                <a:sym typeface="Arial"/>
              </a:rPr>
              <a:t> 对年龄、身份、教育者和权威的理解</a:t>
            </a:r>
            <a:endParaRPr sz="1100">
              <a:latin typeface="Arial"/>
              <a:ea typeface="Arial"/>
              <a:cs typeface="Arial"/>
              <a:sym typeface="Arial"/>
            </a:endParaRPr>
          </a:p>
          <a:p>
            <a:pPr indent="0" lvl="0" marL="0" rtl="0" algn="l">
              <a:spcBef>
                <a:spcPts val="1200"/>
              </a:spcBef>
              <a:spcAft>
                <a:spcPts val="1200"/>
              </a:spcAft>
              <a:buNone/>
            </a:pPr>
            <a:r>
              <a:rPr lang="zh-CN" sz="1100">
                <a:latin typeface="Arial"/>
                <a:ea typeface="Arial"/>
                <a:cs typeface="Arial"/>
                <a:sym typeface="Arial"/>
              </a:rPr>
              <a:t>所以，</a:t>
            </a:r>
            <a:r>
              <a:rPr b="1" lang="zh-CN" sz="1100">
                <a:latin typeface="Arial"/>
                <a:ea typeface="Arial"/>
                <a:cs typeface="Arial"/>
                <a:sym typeface="Arial"/>
              </a:rPr>
              <a:t>文化冰山真正有价值的地方不是让学生把文化分成两类，而是从一个“看得见的文化现象”继续追问：“为什么人们会这样做？这个行为背后反映了什么价值观、信念或社会观念？”</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3" name="Shape 953"/>
        <p:cNvGrpSpPr/>
        <p:nvPr/>
      </p:nvGrpSpPr>
      <p:grpSpPr>
        <a:xfrm>
          <a:off x="0" y="0"/>
          <a:ext cx="0" cy="0"/>
          <a:chOff x="0" y="0"/>
          <a:chExt cx="0" cy="0"/>
        </a:xfrm>
      </p:grpSpPr>
      <p:sp>
        <p:nvSpPr>
          <p:cNvPr id="954" name="Google Shape;954;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7"/>
              <a:buFont typeface="Arial"/>
              <a:buNone/>
            </a:pPr>
            <a:r>
              <a:rPr lang="zh-CN"/>
              <a:t>分析能力</a:t>
            </a:r>
            <a:endParaRPr/>
          </a:p>
        </p:txBody>
      </p:sp>
      <p:sp>
        <p:nvSpPr>
          <p:cNvPr id="955" name="Google Shape;955;p89"/>
          <p:cNvSpPr txBox="1"/>
          <p:nvPr>
            <p:ph idx="1" type="body"/>
          </p:nvPr>
        </p:nvSpPr>
        <p:spPr>
          <a:xfrm>
            <a:off x="2160300" y="1808700"/>
            <a:ext cx="6672000" cy="248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zh-CN" sz="3200">
                <a:latin typeface="Arial"/>
                <a:ea typeface="Arial"/>
                <a:cs typeface="Arial"/>
                <a:sym typeface="Arial"/>
              </a:rPr>
              <a:t>文化现象 → 原因 → 深层文化意义</a:t>
            </a:r>
            <a:endParaRPr sz="39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9" name="Shape 959"/>
        <p:cNvGrpSpPr/>
        <p:nvPr/>
      </p:nvGrpSpPr>
      <p:grpSpPr>
        <a:xfrm>
          <a:off x="0" y="0"/>
          <a:ext cx="0" cy="0"/>
          <a:chOff x="0" y="0"/>
          <a:chExt cx="0" cy="0"/>
        </a:xfrm>
      </p:grpSpPr>
      <p:sp>
        <p:nvSpPr>
          <p:cNvPr id="960" name="Google Shape;960;p9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课堂任务：                                   文化冰山：</a:t>
            </a:r>
            <a:endParaRPr/>
          </a:p>
        </p:txBody>
      </p:sp>
      <p:sp>
        <p:nvSpPr>
          <p:cNvPr id="961" name="Google Shape;961;p90"/>
          <p:cNvSpPr txBox="1"/>
          <p:nvPr>
            <p:ph idx="1" type="body"/>
          </p:nvPr>
        </p:nvSpPr>
        <p:spPr>
          <a:xfrm>
            <a:off x="311700" y="1234050"/>
            <a:ext cx="4368900" cy="311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文化画像制作</a:t>
            </a:r>
            <a:endParaRPr/>
          </a:p>
          <a:p>
            <a:pPr indent="0" lvl="0" marL="0" rtl="0" algn="l">
              <a:spcBef>
                <a:spcPts val="1200"/>
              </a:spcBef>
              <a:spcAft>
                <a:spcPts val="0"/>
              </a:spcAft>
              <a:buNone/>
            </a:pPr>
            <a:r>
              <a:rPr lang="zh-CN"/>
              <a:t>学生</a:t>
            </a:r>
            <a:r>
              <a:rPr lang="zh-CN"/>
              <a:t>结合对文化冰山的了解，</a:t>
            </a:r>
            <a:r>
              <a:rPr lang="zh-CN"/>
              <a:t>用图文方式呈现自己的“文化身份”：语言、家庭传统、饮食、节日、</a:t>
            </a:r>
            <a:r>
              <a:rPr lang="zh-CN"/>
              <a:t>情绪表达、沟通方式 </a:t>
            </a:r>
            <a:r>
              <a:rPr lang="zh-CN"/>
              <a:t>等。</a:t>
            </a:r>
            <a:endParaRPr/>
          </a:p>
          <a:p>
            <a:pPr indent="0" lvl="0" marL="0" rtl="0" algn="l">
              <a:spcBef>
                <a:spcPts val="1200"/>
              </a:spcBef>
              <a:spcAft>
                <a:spcPts val="0"/>
              </a:spcAft>
              <a:buNone/>
            </a:pPr>
            <a:r>
              <a:rPr lang="zh-CN"/>
              <a:t>（</a:t>
            </a:r>
            <a:r>
              <a:rPr lang="zh-CN"/>
              <a:t>在中华文化认同这个大框架之下的个人文化认同</a:t>
            </a:r>
            <a:r>
              <a:rPr lang="zh-CN"/>
              <a:t>）</a:t>
            </a:r>
            <a:endParaRPr/>
          </a:p>
          <a:p>
            <a:pPr indent="0" lvl="0" marL="0" rtl="0" algn="l">
              <a:spcBef>
                <a:spcPts val="1200"/>
              </a:spcBef>
              <a:spcAft>
                <a:spcPts val="0"/>
              </a:spcAft>
              <a:buNone/>
            </a:pPr>
            <a:r>
              <a:rPr lang="zh-CN"/>
              <a:t>课堂分享和理解他人文化背景。</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962" name="Google Shape;962;p90"/>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Clr>
                <a:schemeClr val="dk2"/>
              </a:buClr>
              <a:buSzPts val="1100"/>
              <a:buFont typeface="Arial"/>
              <a:buNone/>
            </a:pPr>
            <a:r>
              <a:rPr lang="zh-CN"/>
              <a:t>对</a:t>
            </a:r>
            <a:r>
              <a:rPr lang="zh-CN"/>
              <a:t>“文化冰山”模型，可以帮助学生</a:t>
            </a:r>
            <a:r>
              <a:rPr lang="zh-CN"/>
              <a:t>重新审视自身的文化认同</a:t>
            </a:r>
            <a:r>
              <a:rPr lang="zh-CN"/>
              <a:t>：</a:t>
            </a:r>
            <a:endParaRPr/>
          </a:p>
          <a:p>
            <a:pPr indent="-298450" lvl="0" marL="457200" rtl="0" algn="l">
              <a:spcBef>
                <a:spcPts val="1200"/>
              </a:spcBef>
              <a:spcAft>
                <a:spcPts val="0"/>
              </a:spcAft>
              <a:buSzPts val="1100"/>
              <a:buFont typeface="Arial"/>
              <a:buChar char="●"/>
            </a:pPr>
            <a:r>
              <a:rPr lang="zh-CN"/>
              <a:t>理解文化冲突背后的深层原因；</a:t>
            </a:r>
            <a:br>
              <a:rPr lang="zh-CN"/>
            </a:br>
            <a:endParaRPr/>
          </a:p>
          <a:p>
            <a:pPr indent="-298450" lvl="0" marL="457200" rtl="0" algn="l">
              <a:spcBef>
                <a:spcPts val="0"/>
              </a:spcBef>
              <a:spcAft>
                <a:spcPts val="0"/>
              </a:spcAft>
              <a:buSzPts val="1100"/>
              <a:buFont typeface="Arial"/>
              <a:buChar char="●"/>
            </a:pPr>
            <a:r>
              <a:rPr lang="zh-CN"/>
              <a:t>避免以偏概全，仅凭表象判断文化；</a:t>
            </a:r>
            <a:br>
              <a:rPr lang="zh-CN"/>
            </a:br>
            <a:endParaRPr/>
          </a:p>
          <a:p>
            <a:pPr indent="-298450" lvl="0" marL="457200" rtl="0" algn="l">
              <a:spcBef>
                <a:spcPts val="0"/>
              </a:spcBef>
              <a:spcAft>
                <a:spcPts val="0"/>
              </a:spcAft>
              <a:buSzPts val="1100"/>
              <a:buFont typeface="Arial"/>
              <a:buChar char="●"/>
            </a:pPr>
            <a:r>
              <a:rPr lang="zh-CN"/>
              <a:t>更加尊重与包容多样文化，发展跨文化理解力；</a:t>
            </a:r>
            <a:br>
              <a:rPr lang="zh-CN"/>
            </a:br>
            <a:endParaRPr/>
          </a:p>
          <a:p>
            <a:pPr indent="-298450" lvl="0" marL="457200" rtl="0" algn="l">
              <a:spcBef>
                <a:spcPts val="0"/>
              </a:spcBef>
              <a:spcAft>
                <a:spcPts val="0"/>
              </a:spcAft>
              <a:buSzPts val="1100"/>
              <a:buFont typeface="Arial"/>
              <a:buChar char="●"/>
            </a:pPr>
            <a:r>
              <a:rPr lang="zh-CN"/>
              <a:t>反思自己文化中的“水下部分”，增强文化自觉与认同。</a:t>
            </a:r>
            <a:br>
              <a:rPr lang="zh-CN"/>
            </a:br>
            <a:endParaRPr/>
          </a:p>
          <a:p>
            <a:pPr indent="0" lvl="0" marL="0" rtl="0" algn="l">
              <a:spcBef>
                <a:spcPts val="1200"/>
              </a:spcBef>
              <a:spcAft>
                <a:spcPts val="120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6" name="Shape 966"/>
        <p:cNvGrpSpPr/>
        <p:nvPr/>
      </p:nvGrpSpPr>
      <p:grpSpPr>
        <a:xfrm>
          <a:off x="0" y="0"/>
          <a:ext cx="0" cy="0"/>
          <a:chOff x="0" y="0"/>
          <a:chExt cx="0" cy="0"/>
        </a:xfrm>
      </p:grpSpPr>
      <p:sp>
        <p:nvSpPr>
          <p:cNvPr id="967" name="Google Shape;967;p91"/>
          <p:cNvSpPr txBox="1"/>
          <p:nvPr>
            <p:ph type="title"/>
          </p:nvPr>
        </p:nvSpPr>
        <p:spPr>
          <a:xfrm>
            <a:off x="311700" y="66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几个特别清楚的例子</a:t>
            </a:r>
            <a:endParaRPr/>
          </a:p>
        </p:txBody>
      </p:sp>
      <p:sp>
        <p:nvSpPr>
          <p:cNvPr id="968" name="Google Shape;968;p91"/>
          <p:cNvSpPr txBox="1"/>
          <p:nvPr>
            <p:ph idx="1" type="body"/>
          </p:nvPr>
        </p:nvSpPr>
        <p:spPr>
          <a:xfrm>
            <a:off x="672350" y="4244225"/>
            <a:ext cx="8159700" cy="781500"/>
          </a:xfrm>
          <a:prstGeom prst="rect">
            <a:avLst/>
          </a:prstGeom>
        </p:spPr>
        <p:txBody>
          <a:bodyPr anchorCtr="0" anchor="t" bIns="91425" lIns="91425" spcFirstLastPara="1" rIns="91425" wrap="square" tIns="91425">
            <a:normAutofit fontScale="92500"/>
          </a:bodyPr>
          <a:lstStyle/>
          <a:p>
            <a:pPr indent="0" lvl="0" marL="0" rtl="0" algn="l">
              <a:spcBef>
                <a:spcPts val="1200"/>
              </a:spcBef>
              <a:spcAft>
                <a:spcPts val="0"/>
              </a:spcAft>
              <a:buNone/>
            </a:pPr>
            <a:r>
              <a:rPr lang="zh-CN" sz="1100">
                <a:latin typeface="Arial"/>
                <a:ea typeface="Arial"/>
                <a:cs typeface="Arial"/>
                <a:sym typeface="Arial"/>
              </a:rPr>
              <a:t>提醒：</a:t>
            </a:r>
            <a:endParaRPr sz="1100">
              <a:latin typeface="Arial"/>
              <a:ea typeface="Arial"/>
              <a:cs typeface="Arial"/>
              <a:sym typeface="Arial"/>
            </a:endParaRPr>
          </a:p>
          <a:p>
            <a:pPr indent="0" lvl="0" marL="0" rtl="0" algn="l">
              <a:spcBef>
                <a:spcPts val="1200"/>
              </a:spcBef>
              <a:spcAft>
                <a:spcPts val="1200"/>
              </a:spcAft>
              <a:buNone/>
            </a:pPr>
            <a:r>
              <a:rPr lang="zh-CN" sz="1100">
                <a:latin typeface="Arial"/>
                <a:ea typeface="Arial"/>
                <a:cs typeface="Arial"/>
                <a:sym typeface="Arial"/>
              </a:rPr>
              <a:t>同一种行为不一定只有一个文化原因，而且同一文化中的人也不一定都持有相同价值观。 文化冰山是分析工具，不是给一个群体贴标签。</a:t>
            </a:r>
            <a:endParaRPr/>
          </a:p>
        </p:txBody>
      </p:sp>
      <p:graphicFrame>
        <p:nvGraphicFramePr>
          <p:cNvPr id="969" name="Google Shape;969;p91"/>
          <p:cNvGraphicFramePr/>
          <p:nvPr/>
        </p:nvGraphicFramePr>
        <p:xfrm>
          <a:off x="1379425" y="731675"/>
          <a:ext cx="3000000" cy="3000000"/>
        </p:xfrm>
        <a:graphic>
          <a:graphicData uri="http://schemas.openxmlformats.org/drawingml/2006/table">
            <a:tbl>
              <a:tblPr>
                <a:noFill/>
                <a:tableStyleId>{675FCD34-EF06-41C9-BC1E-3197945F6E7B}</a:tableStyleId>
              </a:tblPr>
              <a:tblGrid>
                <a:gridCol w="3748550"/>
                <a:gridCol w="3335825"/>
              </a:tblGrid>
              <a:tr h="228600">
                <a:tc>
                  <a:txBody>
                    <a:bodyPr/>
                    <a:lstStyle/>
                    <a:p>
                      <a:pPr indent="0" lvl="0" marL="0" rtl="0" algn="ctr">
                        <a:lnSpc>
                          <a:spcPct val="115000"/>
                        </a:lnSpc>
                        <a:spcBef>
                          <a:spcPts val="0"/>
                        </a:spcBef>
                        <a:spcAft>
                          <a:spcPts val="0"/>
                        </a:spcAft>
                        <a:buNone/>
                      </a:pPr>
                      <a:r>
                        <a:rPr b="1" lang="zh-CN" sz="1100"/>
                        <a:t>有形 / 显性文化</a:t>
                      </a:r>
                      <a:endParaRPr b="1" sz="1100"/>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CN" sz="1100"/>
                        <a:t>背后的无形 / 隐性文化</a:t>
                      </a:r>
                      <a:endParaRPr b="1" sz="1100"/>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266700">
                <a:tc>
                  <a:txBody>
                    <a:bodyPr/>
                    <a:lstStyle/>
                    <a:p>
                      <a:pPr indent="0" lvl="0" marL="0" rtl="0" algn="l">
                        <a:spcBef>
                          <a:spcPts val="0"/>
                        </a:spcBef>
                        <a:spcAft>
                          <a:spcPts val="0"/>
                        </a:spcAft>
                        <a:buNone/>
                      </a:pPr>
                      <a:r>
                        <a:rPr lang="zh-CN"/>
                        <a:t>🧧 春节发红包</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zh-CN"/>
                        <a:t>祝福、家庭关系、长幼观念</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266700">
                <a:tc>
                  <a:txBody>
                    <a:bodyPr/>
                    <a:lstStyle/>
                    <a:p>
                      <a:pPr indent="0" lvl="0" marL="0" rtl="0" algn="l">
                        <a:spcBef>
                          <a:spcPts val="0"/>
                        </a:spcBef>
                        <a:spcAft>
                          <a:spcPts val="0"/>
                        </a:spcAft>
                        <a:buNone/>
                      </a:pPr>
                      <a:r>
                        <a:rPr lang="zh-CN"/>
                        <a:t>🥮 中秋吃月饼</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zh-CN"/>
                        <a:t>团圆、家庭观念</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266700">
                <a:tc>
                  <a:txBody>
                    <a:bodyPr/>
                    <a:lstStyle/>
                    <a:p>
                      <a:pPr indent="0" lvl="0" marL="0" rtl="0" algn="l">
                        <a:spcBef>
                          <a:spcPts val="0"/>
                        </a:spcBef>
                        <a:spcAft>
                          <a:spcPts val="0"/>
                        </a:spcAft>
                        <a:buNone/>
                      </a:pPr>
                      <a:r>
                        <a:rPr lang="zh-CN"/>
                        <a:t>🧹 春节前大扫除</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zh-CN"/>
                        <a:t>辞旧迎新、对新开始的期待</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266700">
                <a:tc>
                  <a:txBody>
                    <a:bodyPr/>
                    <a:lstStyle/>
                    <a:p>
                      <a:pPr indent="0" lvl="0" marL="0" rtl="0" algn="l">
                        <a:spcBef>
                          <a:spcPts val="0"/>
                        </a:spcBef>
                        <a:spcAft>
                          <a:spcPts val="0"/>
                        </a:spcAft>
                        <a:buNone/>
                      </a:pPr>
                      <a:r>
                        <a:rPr lang="zh-CN"/>
                        <a:t>👵 见到长辈主动问好</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zh-CN"/>
                        <a:t>尊重长辈、礼貌观念</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266700">
                <a:tc>
                  <a:txBody>
                    <a:bodyPr/>
                    <a:lstStyle/>
                    <a:p>
                      <a:pPr indent="0" lvl="0" marL="0" rtl="0" algn="l">
                        <a:spcBef>
                          <a:spcPts val="0"/>
                        </a:spcBef>
                        <a:spcAft>
                          <a:spcPts val="0"/>
                        </a:spcAft>
                        <a:buNone/>
                      </a:pPr>
                      <a:r>
                        <a:rPr lang="zh-CN"/>
                        <a:t>🥢 一家人一起吃饭、共享菜肴</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zh-CN"/>
                        <a:t>家庭关系、分享意识</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266700">
                <a:tc>
                  <a:txBody>
                    <a:bodyPr/>
                    <a:lstStyle/>
                    <a:p>
                      <a:pPr indent="0" lvl="0" marL="0" rtl="0" algn="l">
                        <a:spcBef>
                          <a:spcPts val="0"/>
                        </a:spcBef>
                        <a:spcAft>
                          <a:spcPts val="0"/>
                        </a:spcAft>
                        <a:buNone/>
                      </a:pPr>
                      <a:r>
                        <a:rPr lang="zh-CN"/>
                        <a:t>🎓 家长重视孩子的学习</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zh-CN"/>
                        <a:t>教育观、成功观、家庭责任</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266700">
                <a:tc>
                  <a:txBody>
                    <a:bodyPr/>
                    <a:lstStyle/>
                    <a:p>
                      <a:pPr indent="0" lvl="0" marL="0" rtl="0" algn="l">
                        <a:spcBef>
                          <a:spcPts val="0"/>
                        </a:spcBef>
                        <a:spcAft>
                          <a:spcPts val="0"/>
                        </a:spcAft>
                        <a:buNone/>
                      </a:pPr>
                      <a:r>
                        <a:rPr lang="zh-CN"/>
                        <a:t>🎁 送礼</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zh-CN"/>
                        <a:t>人情、关系、礼尚往来</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r h="266700">
                <a:tc>
                  <a:txBody>
                    <a:bodyPr/>
                    <a:lstStyle/>
                    <a:p>
                      <a:pPr indent="0" lvl="0" marL="0" rtl="0" algn="l">
                        <a:spcBef>
                          <a:spcPts val="0"/>
                        </a:spcBef>
                        <a:spcAft>
                          <a:spcPts val="0"/>
                        </a:spcAft>
                        <a:buNone/>
                      </a:pPr>
                      <a:r>
                        <a:rPr lang="zh-CN"/>
                        <a:t>🗣️ 使用“您”、称呼“叔叔阿姨”</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c>
                  <a:txBody>
                    <a:bodyPr/>
                    <a:lstStyle/>
                    <a:p>
                      <a:pPr indent="0" lvl="0" marL="0" rtl="0" algn="l">
                        <a:spcBef>
                          <a:spcPts val="0"/>
                        </a:spcBef>
                        <a:spcAft>
                          <a:spcPts val="0"/>
                        </a:spcAft>
                        <a:buNone/>
                      </a:pPr>
                      <a:r>
                        <a:rPr lang="zh-CN"/>
                        <a:t>礼貌、身份、社会关系</a:t>
                      </a:r>
                      <a:endParaRPr/>
                    </a:p>
                  </a:txBody>
                  <a:tcPr marT="91425" marB="91425" marR="91425" marL="91425">
                    <a:lnL cap="flat" cmpd="sng" w="9525">
                      <a:solidFill>
                        <a:srgbClr val="FF0000"/>
                      </a:solidFill>
                      <a:prstDash val="solid"/>
                      <a:round/>
                      <a:headEnd len="sm" w="sm" type="none"/>
                      <a:tailEnd len="sm" w="sm" type="none"/>
                    </a:lnL>
                    <a:lnR cap="flat" cmpd="sng" w="9525">
                      <a:solidFill>
                        <a:srgbClr val="FF0000"/>
                      </a:solidFill>
                      <a:prstDash val="solid"/>
                      <a:round/>
                      <a:headEnd len="sm" w="sm" type="none"/>
                      <a:tailEnd len="sm" w="sm" type="none"/>
                    </a:lnR>
                    <a:lnT cap="flat" cmpd="sng" w="9525">
                      <a:solidFill>
                        <a:srgbClr val="FF0000"/>
                      </a:solidFill>
                      <a:prstDash val="solid"/>
                      <a:round/>
                      <a:headEnd len="sm" w="sm" type="none"/>
                      <a:tailEnd len="sm" w="sm" type="none"/>
                    </a:lnT>
                    <a:lnB cap="flat" cmpd="sng" w="9525">
                      <a:solidFill>
                        <a:srgbClr val="FF0000"/>
                      </a:solidFill>
                      <a:prstDash val="solid"/>
                      <a:round/>
                      <a:headEnd len="sm" w="sm" type="none"/>
                      <a:tailEnd len="sm" w="sm" type="none"/>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3" name="Shape 973"/>
        <p:cNvGrpSpPr/>
        <p:nvPr/>
      </p:nvGrpSpPr>
      <p:grpSpPr>
        <a:xfrm>
          <a:off x="0" y="0"/>
          <a:ext cx="0" cy="0"/>
          <a:chOff x="0" y="0"/>
          <a:chExt cx="0" cy="0"/>
        </a:xfrm>
      </p:grpSpPr>
      <p:sp>
        <p:nvSpPr>
          <p:cNvPr id="974" name="Google Shape;974;p9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讨论：</a:t>
            </a:r>
            <a:endParaRPr/>
          </a:p>
        </p:txBody>
      </p:sp>
      <p:sp>
        <p:nvSpPr>
          <p:cNvPr id="975" name="Google Shape;975;p92"/>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2.  </a:t>
            </a:r>
            <a:r>
              <a:rPr lang="zh-CN"/>
              <a:t>请给“文化认同”下一个定义。</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CN"/>
              <a:t>3. 结合文化冰川理论，请谈谈文化如何影响一个人的身份认同。</a:t>
            </a:r>
            <a:endParaRPr/>
          </a:p>
          <a:p>
            <a:pPr indent="0" lvl="0" marL="0" rtl="0" algn="l">
              <a:spcBef>
                <a:spcPts val="1200"/>
              </a:spcBef>
              <a:spcAft>
                <a:spcPts val="1200"/>
              </a:spcAft>
              <a:buNone/>
            </a:pPr>
            <a:r>
              <a:t/>
            </a:r>
            <a:endParaRPr/>
          </a:p>
        </p:txBody>
      </p:sp>
      <p:pic>
        <p:nvPicPr>
          <p:cNvPr descr="🌻🌷 SUBSCRIBE TO SUPPORT MY WORK  👩🏽‍🏫 &#10;✨ ✨✨✨✨✨✨THANK YOU ✨ ✨✨✨✨✨✨&#10;&#10;This 8-minute timer is a great resource for you to use with your students and kids in class or at home!  It helps in: classroom management, students focus; homework; routine organization and more!&#10;&#10;⋆⁺₊✧ Hope you like it ⋆⁺₊✧  Join us in the comments: 🌻🌷&#10;&#10;🎨 Copyright Notice:&#10;Visual designs, branding elements, and creative content featured on this channel are authored, personalized and licensed by Bilinguoteca. Unauthorized use may result in takedown notices.&#10;&#10;♬ ₊.🎧 Music licensed by Uppbeat (use this referral link to join us ➡️) https://share.uppbeat.io/30hywt3cub02  &#10;&#10;Keywords: pomodoro timer, garden, springtime, spring, summer, teacher life, classroom timer, focus, deep focus, chill and relax, instrumental song, playlist to study, lofi, study with me, morning mood." id="976" name="Google Shape;976;p92" title="8 Minute Timer with Calming Music for The Classroom 🌻🌷">
            <a:hlinkClick r:id="rId3"/>
          </p:cNvPr>
          <p:cNvPicPr preferRelativeResize="0"/>
          <p:nvPr/>
        </p:nvPicPr>
        <p:blipFill>
          <a:blip r:embed="rId4">
            <a:alphaModFix/>
          </a:blip>
          <a:stretch>
            <a:fillRect/>
          </a:stretch>
        </p:blipFill>
        <p:spPr>
          <a:xfrm>
            <a:off x="5981075" y="33308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1000"/>
                                        <p:tgtEl>
                                          <p:spTgt spid="9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0" name="Shape 980"/>
        <p:cNvGrpSpPr/>
        <p:nvPr/>
      </p:nvGrpSpPr>
      <p:grpSpPr>
        <a:xfrm>
          <a:off x="0" y="0"/>
          <a:ext cx="0" cy="0"/>
          <a:chOff x="0" y="0"/>
          <a:chExt cx="0" cy="0"/>
        </a:xfrm>
      </p:grpSpPr>
      <p:sp>
        <p:nvSpPr>
          <p:cNvPr id="981" name="Google Shape;981;p9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作业：《假黎婆》阅读理解</a:t>
            </a:r>
            <a:endParaRPr/>
          </a:p>
        </p:txBody>
      </p:sp>
      <p:sp>
        <p:nvSpPr>
          <p:cNvPr id="982" name="Google Shape;982;p93"/>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zh-CN"/>
              <a:t>理清课文里的生词。</a:t>
            </a:r>
            <a:endParaRPr/>
          </a:p>
          <a:p>
            <a:pPr indent="-342900" lvl="0" marL="457200" rtl="0" algn="l">
              <a:spcBef>
                <a:spcPts val="0"/>
              </a:spcBef>
              <a:spcAft>
                <a:spcPts val="0"/>
              </a:spcAft>
              <a:buSzPts val="1800"/>
              <a:buAutoNum type="arabicPeriod"/>
            </a:pPr>
            <a:r>
              <a:rPr lang="zh-CN"/>
              <a:t>明白课文的大意。</a:t>
            </a:r>
            <a:endParaRPr/>
          </a:p>
          <a:p>
            <a:pPr indent="-342900" lvl="0" marL="457200" rtl="0" algn="l">
              <a:spcBef>
                <a:spcPts val="0"/>
              </a:spcBef>
              <a:spcAft>
                <a:spcPts val="0"/>
              </a:spcAft>
              <a:buSzPts val="1800"/>
              <a:buAutoNum type="arabicPeriod"/>
            </a:pPr>
            <a:r>
              <a:rPr lang="zh-CN"/>
              <a:t>课本上的阅读理解，从第12页开始，到第14页回应部分的上面为止。</a:t>
            </a:r>
            <a:endParaRPr/>
          </a:p>
          <a:p>
            <a:pPr indent="0" lvl="0" marL="0" rtl="0" algn="l">
              <a:spcBef>
                <a:spcPts val="1200"/>
              </a:spcBef>
              <a:spcAft>
                <a:spcPts val="120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6" name="Shape 986"/>
        <p:cNvGrpSpPr/>
        <p:nvPr/>
      </p:nvGrpSpPr>
      <p:grpSpPr>
        <a:xfrm>
          <a:off x="0" y="0"/>
          <a:ext cx="0" cy="0"/>
          <a:chOff x="0" y="0"/>
          <a:chExt cx="0" cy="0"/>
        </a:xfrm>
      </p:grpSpPr>
      <p:sp>
        <p:nvSpPr>
          <p:cNvPr id="987" name="Google Shape;987;p94"/>
          <p:cNvSpPr txBox="1"/>
          <p:nvPr>
            <p:ph type="title"/>
          </p:nvPr>
        </p:nvSpPr>
        <p:spPr>
          <a:xfrm>
            <a:off x="344250" y="984350"/>
            <a:ext cx="8455500" cy="2566200"/>
          </a:xfrm>
          <a:prstGeom prst="rect">
            <a:avLst/>
          </a:prstGeom>
        </p:spPr>
        <p:txBody>
          <a:bodyPr anchorCtr="0" anchor="ctr" bIns="91425" lIns="91425" spcFirstLastPara="1" rIns="91425" wrap="square" tIns="91425">
            <a:normAutofit/>
          </a:bodyPr>
          <a:lstStyle/>
          <a:p>
            <a:pPr indent="0" lvl="0" marL="0" rtl="0" algn="ctr">
              <a:lnSpc>
                <a:spcPct val="150000"/>
              </a:lnSpc>
              <a:spcBef>
                <a:spcPts val="0"/>
              </a:spcBef>
              <a:spcAft>
                <a:spcPts val="0"/>
              </a:spcAft>
              <a:buNone/>
            </a:pPr>
            <a:r>
              <a:rPr lang="zh-CN"/>
              <a:t>Week 4 </a:t>
            </a:r>
            <a:r>
              <a:rPr lang="zh-CN"/>
              <a:t>学习目标</a:t>
            </a:r>
            <a:endParaRPr sz="2500"/>
          </a:p>
          <a:p>
            <a:pPr indent="-387350" lvl="0" marL="457200" rtl="0" algn="l">
              <a:lnSpc>
                <a:spcPct val="150000"/>
              </a:lnSpc>
              <a:spcBef>
                <a:spcPts val="0"/>
              </a:spcBef>
              <a:spcAft>
                <a:spcPts val="0"/>
              </a:spcAft>
              <a:buSzPts val="2500"/>
              <a:buChar char="●"/>
            </a:pPr>
            <a:r>
              <a:rPr lang="zh-CN" sz="2500"/>
              <a:t>掌握常见的描写方法</a:t>
            </a:r>
            <a:endParaRPr sz="2500"/>
          </a:p>
          <a:p>
            <a:pPr indent="-387350" lvl="0" marL="457200" rtl="0" algn="l">
              <a:lnSpc>
                <a:spcPct val="150000"/>
              </a:lnSpc>
              <a:spcBef>
                <a:spcPts val="0"/>
              </a:spcBef>
              <a:spcAft>
                <a:spcPts val="0"/>
              </a:spcAft>
              <a:buSzPts val="2500"/>
              <a:buChar char="●"/>
            </a:pPr>
            <a:r>
              <a:rPr lang="zh-CN" sz="2500"/>
              <a:t>理解描写方法如何体现人物的文化认同</a:t>
            </a:r>
            <a:endParaRPr sz="25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1" name="Shape 991"/>
        <p:cNvGrpSpPr/>
        <p:nvPr/>
      </p:nvGrpSpPr>
      <p:grpSpPr>
        <a:xfrm>
          <a:off x="0" y="0"/>
          <a:ext cx="0" cy="0"/>
          <a:chOff x="0" y="0"/>
          <a:chExt cx="0" cy="0"/>
        </a:xfrm>
      </p:grpSpPr>
      <p:sp>
        <p:nvSpPr>
          <p:cNvPr id="992" name="Google Shape;992;p9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热身活动：这些文字使用了什么描写手法？</a:t>
            </a:r>
            <a:endParaRPr/>
          </a:p>
        </p:txBody>
      </p:sp>
      <p:sp>
        <p:nvSpPr>
          <p:cNvPr id="993" name="Google Shape;993;p95"/>
          <p:cNvSpPr txBox="1"/>
          <p:nvPr>
            <p:ph idx="1" type="body"/>
          </p:nvPr>
        </p:nvSpPr>
        <p:spPr>
          <a:xfrm>
            <a:off x="1320625" y="1234075"/>
            <a:ext cx="7511700" cy="33348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Clr>
                <a:schemeClr val="dk2"/>
              </a:buClr>
              <a:buSzPts val="1100"/>
              <a:buFont typeface="Arial"/>
              <a:buNone/>
            </a:pPr>
            <a:r>
              <a:rPr b="1" lang="zh-CN" sz="2100">
                <a:latin typeface="Arial"/>
                <a:ea typeface="Arial"/>
                <a:cs typeface="Arial"/>
                <a:sym typeface="Arial"/>
              </a:rPr>
              <a:t>例子一：</a:t>
            </a:r>
            <a:endParaRPr b="1" sz="21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rPr lang="zh-CN" sz="1900">
                <a:latin typeface="Arial"/>
                <a:ea typeface="Arial"/>
                <a:cs typeface="Arial"/>
                <a:sym typeface="Arial"/>
              </a:rPr>
              <a:t>教室里，李明紧张地攥着手里的笔，指尖都微微泛白。他深吸一口气，额头渗出细细的汗珠。突然，他猛地抬头，眼神急切地望向同桌。</a:t>
            </a:r>
            <a:endParaRPr sz="1900">
              <a:latin typeface="Arial"/>
              <a:ea typeface="Arial"/>
              <a:cs typeface="Arial"/>
              <a:sym typeface="Arial"/>
            </a:endParaRPr>
          </a:p>
          <a:p>
            <a:pPr indent="0" lvl="0" marL="0" rtl="0" algn="l">
              <a:spcBef>
                <a:spcPts val="1200"/>
              </a:spcBef>
              <a:spcAft>
                <a:spcPts val="0"/>
              </a:spcAft>
              <a:buClr>
                <a:schemeClr val="dk2"/>
              </a:buClr>
              <a:buSzPts val="1100"/>
              <a:buFont typeface="Arial"/>
              <a:buNone/>
            </a:pPr>
            <a:r>
              <a:t/>
            </a:r>
            <a:endParaRPr sz="1900">
              <a:latin typeface="Arial"/>
              <a:ea typeface="Arial"/>
              <a:cs typeface="Arial"/>
              <a:sym typeface="Arial"/>
            </a:endParaRPr>
          </a:p>
          <a:p>
            <a:pPr indent="0" lvl="0" marL="0" rtl="0" algn="l">
              <a:spcBef>
                <a:spcPts val="1400"/>
              </a:spcBef>
              <a:spcAft>
                <a:spcPts val="0"/>
              </a:spcAft>
              <a:buNone/>
            </a:pPr>
            <a:r>
              <a:rPr b="1" lang="zh-CN" sz="2100">
                <a:latin typeface="Arial"/>
                <a:ea typeface="Arial"/>
                <a:cs typeface="Arial"/>
                <a:sym typeface="Arial"/>
              </a:rPr>
              <a:t>例子二：</a:t>
            </a:r>
            <a:endParaRPr b="1" sz="2100">
              <a:latin typeface="Arial"/>
              <a:ea typeface="Arial"/>
              <a:cs typeface="Arial"/>
              <a:sym typeface="Arial"/>
            </a:endParaRPr>
          </a:p>
          <a:p>
            <a:pPr indent="0" lvl="0" marL="0" rtl="0" algn="l">
              <a:spcBef>
                <a:spcPts val="1400"/>
              </a:spcBef>
              <a:spcAft>
                <a:spcPts val="0"/>
              </a:spcAft>
              <a:buClr>
                <a:schemeClr val="dk2"/>
              </a:buClr>
              <a:buSzPts val="1100"/>
              <a:buFont typeface="Arial"/>
              <a:buNone/>
            </a:pPr>
            <a:r>
              <a:rPr lang="zh-CN" sz="1900">
                <a:latin typeface="Arial"/>
                <a:ea typeface="Arial"/>
                <a:cs typeface="Arial"/>
                <a:sym typeface="Arial"/>
              </a:rPr>
              <a:t>“好啦，好啦，别再闹啦！”主人笑着说，“我这不是回来了嘛，你就这么想我啊？”</a:t>
            </a:r>
            <a:endParaRPr sz="1900">
              <a:latin typeface="Arial"/>
              <a:ea typeface="Arial"/>
              <a:cs typeface="Arial"/>
              <a:sym typeface="Arial"/>
            </a:endParaRPr>
          </a:p>
          <a:p>
            <a:pPr indent="0" lvl="0" marL="0" rtl="0" algn="l">
              <a:spcBef>
                <a:spcPts val="400"/>
              </a:spcBef>
              <a:spcAft>
                <a:spcPts val="120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7" name="Shape 997"/>
        <p:cNvGrpSpPr/>
        <p:nvPr/>
      </p:nvGrpSpPr>
      <p:grpSpPr>
        <a:xfrm>
          <a:off x="0" y="0"/>
          <a:ext cx="0" cy="0"/>
          <a:chOff x="0" y="0"/>
          <a:chExt cx="0" cy="0"/>
        </a:xfrm>
      </p:grpSpPr>
      <p:sp>
        <p:nvSpPr>
          <p:cNvPr id="998" name="Google Shape;998;p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活动一：你知道的描写方法都有哪些？</a:t>
            </a:r>
            <a:endParaRPr/>
          </a:p>
        </p:txBody>
      </p:sp>
      <p:sp>
        <p:nvSpPr>
          <p:cNvPr id="999" name="Google Shape;999;p96"/>
          <p:cNvSpPr txBox="1"/>
          <p:nvPr>
            <p:ph idx="1" type="body"/>
          </p:nvPr>
        </p:nvSpPr>
        <p:spPr>
          <a:xfrm>
            <a:off x="1262675" y="1234075"/>
            <a:ext cx="7569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和你旁边的人讨论，相互分享你目前所知道的描写方法。</a:t>
            </a:r>
            <a:endParaRPr/>
          </a:p>
          <a:p>
            <a:pPr indent="0" lvl="0" marL="0" rtl="0" algn="l">
              <a:spcBef>
                <a:spcPts val="1200"/>
              </a:spcBef>
              <a:spcAft>
                <a:spcPts val="0"/>
              </a:spcAft>
              <a:buNone/>
            </a:pPr>
            <a:r>
              <a:rPr lang="zh-CN"/>
              <a:t>举出自己的例子。</a:t>
            </a:r>
            <a:endParaRPr/>
          </a:p>
          <a:p>
            <a:pPr indent="0" lvl="0" marL="0" rtl="0" algn="l">
              <a:spcBef>
                <a:spcPts val="1200"/>
              </a:spcBef>
              <a:spcAft>
                <a:spcPts val="1200"/>
              </a:spcAft>
              <a:buNone/>
            </a:pPr>
            <a:r>
              <a:rPr lang="zh-CN"/>
              <a:t>3分钟时间。</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3" name="Shape 1003"/>
        <p:cNvGrpSpPr/>
        <p:nvPr/>
      </p:nvGrpSpPr>
      <p:grpSpPr>
        <a:xfrm>
          <a:off x="0" y="0"/>
          <a:ext cx="0" cy="0"/>
          <a:chOff x="0" y="0"/>
          <a:chExt cx="0" cy="0"/>
        </a:xfrm>
      </p:grpSpPr>
      <p:sp>
        <p:nvSpPr>
          <p:cNvPr id="1004" name="Google Shape;1004;p9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常见的描写方法 （第15页）</a:t>
            </a:r>
            <a:endParaRPr/>
          </a:p>
        </p:txBody>
      </p:sp>
      <p:pic>
        <p:nvPicPr>
          <p:cNvPr id="1005" name="Google Shape;1005;p97" title="IMG_3588.jpg"/>
          <p:cNvPicPr preferRelativeResize="0"/>
          <p:nvPr/>
        </p:nvPicPr>
        <p:blipFill rotWithShape="1">
          <a:blip r:embed="rId3">
            <a:alphaModFix/>
          </a:blip>
          <a:srcRect b="8906" l="4251" r="12395" t="6756"/>
          <a:stretch/>
        </p:blipFill>
        <p:spPr>
          <a:xfrm>
            <a:off x="276975" y="1171500"/>
            <a:ext cx="8590049" cy="35817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9" name="Shape 1009"/>
        <p:cNvGrpSpPr/>
        <p:nvPr/>
      </p:nvGrpSpPr>
      <p:grpSpPr>
        <a:xfrm>
          <a:off x="0" y="0"/>
          <a:ext cx="0" cy="0"/>
          <a:chOff x="0" y="0"/>
          <a:chExt cx="0" cy="0"/>
        </a:xfrm>
      </p:grpSpPr>
      <p:sp>
        <p:nvSpPr>
          <p:cNvPr id="1010" name="Google Shape;1010;p9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细读课文：读的过程中，需要思考</a:t>
            </a:r>
            <a:endParaRPr/>
          </a:p>
        </p:txBody>
      </p:sp>
      <p:grpSp>
        <p:nvGrpSpPr>
          <p:cNvPr id="1011" name="Google Shape;1011;p98"/>
          <p:cNvGrpSpPr/>
          <p:nvPr/>
        </p:nvGrpSpPr>
        <p:grpSpPr>
          <a:xfrm>
            <a:off x="476250" y="1333500"/>
            <a:ext cx="3905400" cy="3238500"/>
            <a:chOff x="476250" y="1333500"/>
            <a:chExt cx="3905400" cy="3238500"/>
          </a:xfrm>
        </p:grpSpPr>
        <p:sp>
          <p:nvSpPr>
            <p:cNvPr id="1012" name="Google Shape;1012;p98"/>
            <p:cNvSpPr/>
            <p:nvPr/>
          </p:nvSpPr>
          <p:spPr>
            <a:xfrm>
              <a:off x="476250" y="1333500"/>
              <a:ext cx="3905400" cy="3238500"/>
            </a:xfrm>
            <a:prstGeom prst="roundRect">
              <a:avLst>
                <a:gd fmla="val 2941" name="adj"/>
              </a:avLst>
            </a:prstGeom>
            <a:solidFill>
              <a:srgbClr val="F8F9FA"/>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3" name="Google Shape;1013;p98"/>
            <p:cNvSpPr txBox="1"/>
            <p:nvPr/>
          </p:nvSpPr>
          <p:spPr>
            <a:xfrm>
              <a:off x="714375" y="1571625"/>
              <a:ext cx="3429000" cy="276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CN" sz="3200">
                  <a:solidFill>
                    <a:srgbClr val="F8E71C"/>
                  </a:solidFill>
                  <a:latin typeface="Inter ExtraBold"/>
                  <a:ea typeface="Inter ExtraBold"/>
                  <a:cs typeface="Inter ExtraBold"/>
                  <a:sym typeface="Inter ExtraBold"/>
                </a:rPr>
                <a:t>01</a:t>
              </a:r>
              <a:endParaRPr b="0" sz="3200">
                <a:solidFill>
                  <a:srgbClr val="F8E71C"/>
                </a:solidFill>
                <a:latin typeface="Inter ExtraBold"/>
                <a:ea typeface="Inter ExtraBold"/>
                <a:cs typeface="Inter ExtraBold"/>
                <a:sym typeface="Inter ExtraBold"/>
              </a:endParaRPr>
            </a:p>
            <a:p>
              <a:pPr indent="0" lvl="0" marL="0" rtl="0" algn="l">
                <a:spcBef>
                  <a:spcPts val="750"/>
                </a:spcBef>
                <a:spcAft>
                  <a:spcPts val="0"/>
                </a:spcAft>
                <a:buNone/>
              </a:pPr>
              <a:r>
                <a:rPr b="1" lang="zh-CN" sz="1800">
                  <a:solidFill>
                    <a:srgbClr val="1A202C"/>
                  </a:solidFill>
                  <a:latin typeface="Oswald"/>
                  <a:ea typeface="Oswald"/>
                  <a:cs typeface="Oswald"/>
                  <a:sym typeface="Oswald"/>
                </a:rPr>
                <a:t>一、段落大意概括</a:t>
              </a:r>
              <a:endParaRPr b="1" sz="1800">
                <a:solidFill>
                  <a:srgbClr val="1A202C"/>
                </a:solidFill>
                <a:latin typeface="Oswald"/>
                <a:ea typeface="Oswald"/>
                <a:cs typeface="Oswald"/>
                <a:sym typeface="Oswald"/>
              </a:endParaRPr>
            </a:p>
            <a:p>
              <a:pPr indent="0" lvl="0" marL="0" rtl="0" algn="l">
                <a:spcBef>
                  <a:spcPts val="1500"/>
                </a:spcBef>
                <a:spcAft>
                  <a:spcPts val="0"/>
                </a:spcAft>
                <a:buNone/>
              </a:pPr>
              <a:r>
                <a:rPr lang="zh-CN" sz="1400">
                  <a:solidFill>
                    <a:srgbClr val="4A5568"/>
                  </a:solidFill>
                  <a:latin typeface="Inter"/>
                  <a:ea typeface="Inter"/>
                  <a:cs typeface="Inter"/>
                  <a:sym typeface="Inter"/>
                </a:rPr>
                <a:t>本篇课文一共有 </a:t>
              </a:r>
              <a:r>
                <a:rPr b="1" lang="zh-CN" sz="1400">
                  <a:solidFill>
                    <a:srgbClr val="1A202C"/>
                  </a:solidFill>
                  <a:latin typeface="Inter"/>
                  <a:ea typeface="Inter"/>
                  <a:cs typeface="Inter"/>
                  <a:sym typeface="Inter"/>
                </a:rPr>
                <a:t>7 个</a:t>
              </a:r>
              <a:r>
                <a:rPr lang="zh-CN" sz="1400">
                  <a:solidFill>
                    <a:srgbClr val="4A5568"/>
                  </a:solidFill>
                  <a:latin typeface="Inter"/>
                  <a:ea typeface="Inter"/>
                  <a:cs typeface="Inter"/>
                  <a:sym typeface="Inter"/>
                </a:rPr>
                <a:t> 大的部分。</a:t>
              </a:r>
              <a:br>
                <a:rPr lang="zh-CN" sz="1400">
                  <a:solidFill>
                    <a:srgbClr val="4A5568"/>
                  </a:solidFill>
                  <a:latin typeface="Inter"/>
                  <a:ea typeface="Inter"/>
                  <a:cs typeface="Inter"/>
                  <a:sym typeface="Inter"/>
                </a:rPr>
              </a:br>
              <a:br>
                <a:rPr lang="zh-CN" sz="1400">
                  <a:solidFill>
                    <a:srgbClr val="4A5568"/>
                  </a:solidFill>
                  <a:latin typeface="Inter"/>
                  <a:ea typeface="Inter"/>
                  <a:cs typeface="Inter"/>
                  <a:sym typeface="Inter"/>
                </a:rPr>
              </a:br>
              <a:r>
                <a:rPr lang="zh-CN" sz="1400">
                  <a:solidFill>
                    <a:srgbClr val="4A5568"/>
                  </a:solidFill>
                  <a:latin typeface="Inter"/>
                  <a:ea typeface="Inter"/>
                  <a:cs typeface="Inter"/>
                  <a:sym typeface="Inter"/>
                </a:rPr>
                <a:t>在阅读过程中，请试着提炼并概括出每一个部分的主旨大意。</a:t>
              </a:r>
              <a:endParaRPr sz="1400">
                <a:solidFill>
                  <a:srgbClr val="4A5568"/>
                </a:solidFill>
                <a:latin typeface="Inter"/>
                <a:ea typeface="Inter"/>
                <a:cs typeface="Inter"/>
                <a:sym typeface="Inter"/>
              </a:endParaRPr>
            </a:p>
          </p:txBody>
        </p:sp>
      </p:grpSp>
      <p:grpSp>
        <p:nvGrpSpPr>
          <p:cNvPr id="1014" name="Google Shape;1014;p98"/>
          <p:cNvGrpSpPr/>
          <p:nvPr/>
        </p:nvGrpSpPr>
        <p:grpSpPr>
          <a:xfrm>
            <a:off x="4762500" y="1333500"/>
            <a:ext cx="3905400" cy="3238500"/>
            <a:chOff x="4762500" y="1333500"/>
            <a:chExt cx="3905400" cy="3238500"/>
          </a:xfrm>
        </p:grpSpPr>
        <p:sp>
          <p:nvSpPr>
            <p:cNvPr id="1015" name="Google Shape;1015;p98"/>
            <p:cNvSpPr/>
            <p:nvPr/>
          </p:nvSpPr>
          <p:spPr>
            <a:xfrm>
              <a:off x="4762500" y="1333500"/>
              <a:ext cx="3905400" cy="3238500"/>
            </a:xfrm>
            <a:prstGeom prst="roundRect">
              <a:avLst>
                <a:gd fmla="val 2941" name="adj"/>
              </a:avLst>
            </a:prstGeom>
            <a:solidFill>
              <a:srgbClr val="F8F9FA"/>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6" name="Google Shape;1016;p98"/>
            <p:cNvSpPr txBox="1"/>
            <p:nvPr/>
          </p:nvSpPr>
          <p:spPr>
            <a:xfrm>
              <a:off x="5000625" y="1571625"/>
              <a:ext cx="3429000" cy="276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zh-CN" sz="3200">
                  <a:solidFill>
                    <a:srgbClr val="F8E71C"/>
                  </a:solidFill>
                  <a:latin typeface="Inter ExtraBold"/>
                  <a:ea typeface="Inter ExtraBold"/>
                  <a:cs typeface="Inter ExtraBold"/>
                  <a:sym typeface="Inter ExtraBold"/>
                </a:rPr>
                <a:t>02</a:t>
              </a:r>
              <a:endParaRPr b="0" sz="3200">
                <a:solidFill>
                  <a:srgbClr val="F8E71C"/>
                </a:solidFill>
                <a:latin typeface="Inter ExtraBold"/>
                <a:ea typeface="Inter ExtraBold"/>
                <a:cs typeface="Inter ExtraBold"/>
                <a:sym typeface="Inter ExtraBold"/>
              </a:endParaRPr>
            </a:p>
            <a:p>
              <a:pPr indent="0" lvl="0" marL="0" rtl="0" algn="l">
                <a:spcBef>
                  <a:spcPts val="750"/>
                </a:spcBef>
                <a:spcAft>
                  <a:spcPts val="0"/>
                </a:spcAft>
                <a:buNone/>
              </a:pPr>
              <a:r>
                <a:rPr b="1" lang="zh-CN" sz="1800">
                  <a:solidFill>
                    <a:srgbClr val="1A202C"/>
                  </a:solidFill>
                  <a:latin typeface="Oswald"/>
                  <a:ea typeface="Oswald"/>
                  <a:cs typeface="Oswald"/>
                  <a:sym typeface="Oswald"/>
                </a:rPr>
                <a:t>二、人物描写与文化认同</a:t>
              </a:r>
              <a:endParaRPr b="1" sz="1800">
                <a:solidFill>
                  <a:srgbClr val="1A202C"/>
                </a:solidFill>
                <a:latin typeface="Oswald"/>
                <a:ea typeface="Oswald"/>
                <a:cs typeface="Oswald"/>
                <a:sym typeface="Oswald"/>
              </a:endParaRPr>
            </a:p>
            <a:p>
              <a:pPr indent="0" lvl="0" marL="0" rtl="0" algn="l">
                <a:spcBef>
                  <a:spcPts val="1125"/>
                </a:spcBef>
                <a:spcAft>
                  <a:spcPts val="0"/>
                </a:spcAft>
                <a:buNone/>
              </a:pPr>
              <a:r>
                <a:rPr lang="zh-CN" sz="1300">
                  <a:solidFill>
                    <a:srgbClr val="4A5568"/>
                  </a:solidFill>
                  <a:latin typeface="Inter"/>
                  <a:ea typeface="Inter"/>
                  <a:cs typeface="Inter"/>
                  <a:sym typeface="Inter"/>
                </a:rPr>
                <a:t>找出课文中的人物描写段落，深入分析这些描写与</a:t>
              </a:r>
              <a:r>
                <a:rPr b="1" lang="zh-CN" sz="1300">
                  <a:solidFill>
                    <a:srgbClr val="1A202C"/>
                  </a:solidFill>
                  <a:latin typeface="Inter"/>
                  <a:ea typeface="Inter"/>
                  <a:cs typeface="Inter"/>
                  <a:sym typeface="Inter"/>
                </a:rPr>
                <a:t>文化认同</a:t>
              </a:r>
              <a:r>
                <a:rPr lang="zh-CN" sz="1300">
                  <a:solidFill>
                    <a:srgbClr val="4A5568"/>
                  </a:solidFill>
                  <a:latin typeface="Inter"/>
                  <a:ea typeface="Inter"/>
                  <a:cs typeface="Inter"/>
                  <a:sym typeface="Inter"/>
                </a:rPr>
                <a:t>之间的关系：</a:t>
              </a:r>
              <a:endParaRPr sz="1300">
                <a:solidFill>
                  <a:srgbClr val="4A5568"/>
                </a:solidFill>
                <a:latin typeface="Inter"/>
                <a:ea typeface="Inter"/>
                <a:cs typeface="Inter"/>
                <a:sym typeface="Inter"/>
              </a:endParaRPr>
            </a:p>
            <a:p>
              <a:pPr indent="-304800" lvl="0" marL="457200" rtl="0" algn="l">
                <a:spcBef>
                  <a:spcPts val="1125"/>
                </a:spcBef>
                <a:spcAft>
                  <a:spcPts val="0"/>
                </a:spcAft>
                <a:buClr>
                  <a:srgbClr val="4A5568"/>
                </a:buClr>
                <a:buSzPts val="1200"/>
                <a:buFont typeface="Inter"/>
                <a:buChar char="●"/>
              </a:pPr>
              <a:r>
                <a:rPr b="1" lang="zh-CN" sz="1200">
                  <a:solidFill>
                    <a:srgbClr val="1A202C"/>
                  </a:solidFill>
                  <a:latin typeface="Inter"/>
                  <a:ea typeface="Inter"/>
                  <a:cs typeface="Inter"/>
                  <a:sym typeface="Inter"/>
                </a:rPr>
                <a:t>外貌描写：</a:t>
              </a:r>
              <a:r>
                <a:rPr lang="zh-CN" sz="1200">
                  <a:solidFill>
                    <a:srgbClr val="4A5568"/>
                  </a:solidFill>
                  <a:latin typeface="Inter"/>
                  <a:ea typeface="Inter"/>
                  <a:cs typeface="Inter"/>
                  <a:sym typeface="Inter"/>
                </a:rPr>
                <a:t>发式、刺青（山地人的显性文化特征）、服饰，以及与其他奶奶的不同之处。</a:t>
              </a:r>
              <a:endParaRPr sz="1200">
                <a:solidFill>
                  <a:srgbClr val="4A5568"/>
                </a:solidFill>
                <a:latin typeface="Inter"/>
                <a:ea typeface="Inter"/>
                <a:cs typeface="Inter"/>
                <a:sym typeface="Inter"/>
              </a:endParaRPr>
            </a:p>
            <a:p>
              <a:pPr indent="-304800" lvl="0" marL="457200" rtl="0" algn="l">
                <a:spcBef>
                  <a:spcPts val="750"/>
                </a:spcBef>
                <a:spcAft>
                  <a:spcPts val="0"/>
                </a:spcAft>
                <a:buClr>
                  <a:srgbClr val="4A5568"/>
                </a:buClr>
                <a:buSzPts val="1200"/>
                <a:buFont typeface="Inter"/>
                <a:buChar char="●"/>
              </a:pPr>
              <a:r>
                <a:rPr b="1" lang="zh-CN" sz="1200">
                  <a:solidFill>
                    <a:srgbClr val="1A202C"/>
                  </a:solidFill>
                  <a:latin typeface="Inter"/>
                  <a:ea typeface="Inter"/>
                  <a:cs typeface="Inter"/>
                  <a:sym typeface="Inter"/>
                </a:rPr>
                <a:t>环境描写：</a:t>
              </a:r>
              <a:r>
                <a:rPr lang="zh-CN" sz="1200">
                  <a:solidFill>
                    <a:srgbClr val="4A5568"/>
                  </a:solidFill>
                  <a:latin typeface="Inter"/>
                  <a:ea typeface="Inter"/>
                  <a:cs typeface="Inter"/>
                  <a:sym typeface="Inter"/>
                </a:rPr>
                <a:t>分析山地奶奶家乡的特定环境所承载的文化意蕴。</a:t>
              </a:r>
              <a:endParaRPr sz="1200">
                <a:solidFill>
                  <a:srgbClr val="4A5568"/>
                </a:solidFill>
                <a:latin typeface="Inter"/>
                <a:ea typeface="Inter"/>
                <a:cs typeface="Inter"/>
                <a:sym typeface="Inter"/>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0" name="Shape 1020"/>
        <p:cNvGrpSpPr/>
        <p:nvPr/>
      </p:nvGrpSpPr>
      <p:grpSpPr>
        <a:xfrm>
          <a:off x="0" y="0"/>
          <a:ext cx="0" cy="0"/>
          <a:chOff x="0" y="0"/>
          <a:chExt cx="0" cy="0"/>
        </a:xfrm>
      </p:grpSpPr>
      <p:sp>
        <p:nvSpPr>
          <p:cNvPr id="1021" name="Google Shape;1021;p9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课文解读</a:t>
            </a:r>
            <a:endParaRPr/>
          </a:p>
        </p:txBody>
      </p:sp>
      <p:sp>
        <p:nvSpPr>
          <p:cNvPr id="1022" name="Google Shape;1022;p99"/>
          <p:cNvSpPr txBox="1"/>
          <p:nvPr>
            <p:ph idx="1" type="body"/>
          </p:nvPr>
        </p:nvSpPr>
        <p:spPr>
          <a:xfrm>
            <a:off x="311700" y="1234075"/>
            <a:ext cx="4397400" cy="3848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zh-CN"/>
              <a:t>个人阅读，先浏览一遍课文。</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zh-CN"/>
              <a:t>分组分析每个部分中写得比较好的部分，画出来，并讨论如何解释为什么好。</a:t>
            </a:r>
            <a:endParaRPr/>
          </a:p>
          <a:p>
            <a:pPr indent="-317500" lvl="1" marL="914400" rtl="0" algn="l">
              <a:spcBef>
                <a:spcPts val="0"/>
              </a:spcBef>
              <a:spcAft>
                <a:spcPts val="0"/>
              </a:spcAft>
              <a:buSzPts val="1400"/>
              <a:buAutoNum type="alphaLcPeriod"/>
            </a:pPr>
            <a:r>
              <a:rPr lang="zh-CN"/>
              <a:t>第一组：第一部分</a:t>
            </a:r>
            <a:endParaRPr/>
          </a:p>
          <a:p>
            <a:pPr indent="-317500" lvl="1" marL="914400" rtl="0" algn="l">
              <a:spcBef>
                <a:spcPts val="0"/>
              </a:spcBef>
              <a:spcAft>
                <a:spcPts val="0"/>
              </a:spcAft>
              <a:buSzPts val="1400"/>
              <a:buAutoNum type="alphaLcPeriod"/>
            </a:pPr>
            <a:r>
              <a:rPr lang="zh-CN"/>
              <a:t>第二组：第二部分</a:t>
            </a:r>
            <a:endParaRPr/>
          </a:p>
          <a:p>
            <a:pPr indent="-317500" lvl="1" marL="914400" rtl="0" algn="l">
              <a:spcBef>
                <a:spcPts val="0"/>
              </a:spcBef>
              <a:spcAft>
                <a:spcPts val="0"/>
              </a:spcAft>
              <a:buSzPts val="1400"/>
              <a:buAutoNum type="alphaLcPeriod"/>
            </a:pPr>
            <a:r>
              <a:rPr lang="zh-CN"/>
              <a:t>第三组：第三、四部分</a:t>
            </a:r>
            <a:endParaRPr/>
          </a:p>
          <a:p>
            <a:pPr indent="-317500" lvl="1" marL="914400" rtl="0" algn="l">
              <a:spcBef>
                <a:spcPts val="0"/>
              </a:spcBef>
              <a:spcAft>
                <a:spcPts val="0"/>
              </a:spcAft>
              <a:buSzPts val="1400"/>
              <a:buAutoNum type="alphaLcPeriod"/>
            </a:pPr>
            <a:r>
              <a:rPr lang="zh-CN"/>
              <a:t>第四组：第五部分</a:t>
            </a:r>
            <a:endParaRPr/>
          </a:p>
          <a:p>
            <a:pPr indent="-317500" lvl="1" marL="914400" rtl="0" algn="l">
              <a:spcBef>
                <a:spcPts val="0"/>
              </a:spcBef>
              <a:spcAft>
                <a:spcPts val="0"/>
              </a:spcAft>
              <a:buSzPts val="1400"/>
              <a:buAutoNum type="alphaLcPeriod"/>
            </a:pPr>
            <a:r>
              <a:rPr lang="zh-CN"/>
              <a:t>第五组：第六、七部分</a:t>
            </a:r>
            <a:endParaRPr/>
          </a:p>
        </p:txBody>
      </p:sp>
      <p:pic>
        <p:nvPicPr>
          <p:cNvPr id="1023" name="Google Shape;1023;p99" title="Screenshot 2025-09-08 at 12.54.00 PM.png"/>
          <p:cNvPicPr preferRelativeResize="0"/>
          <p:nvPr/>
        </p:nvPicPr>
        <p:blipFill>
          <a:blip r:embed="rId3">
            <a:alphaModFix/>
          </a:blip>
          <a:stretch>
            <a:fillRect/>
          </a:stretch>
        </p:blipFill>
        <p:spPr>
          <a:xfrm>
            <a:off x="4805676" y="0"/>
            <a:ext cx="4338325" cy="37843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7" name="Shape 1027"/>
        <p:cNvGrpSpPr/>
        <p:nvPr/>
      </p:nvGrpSpPr>
      <p:grpSpPr>
        <a:xfrm>
          <a:off x="0" y="0"/>
          <a:ext cx="0" cy="0"/>
          <a:chOff x="0" y="0"/>
          <a:chExt cx="0" cy="0"/>
        </a:xfrm>
      </p:grpSpPr>
      <p:sp>
        <p:nvSpPr>
          <p:cNvPr id="1028" name="Google Shape;1028;p10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段落大意</a:t>
            </a:r>
            <a:endParaRPr/>
          </a:p>
        </p:txBody>
      </p:sp>
      <p:sp>
        <p:nvSpPr>
          <p:cNvPr id="1029" name="Google Shape;1029;p100"/>
          <p:cNvSpPr txBox="1"/>
          <p:nvPr>
            <p:ph idx="1" type="body"/>
          </p:nvPr>
        </p:nvSpPr>
        <p:spPr>
          <a:xfrm>
            <a:off x="1479350" y="1234075"/>
            <a:ext cx="7353000" cy="33348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AutoNum type="arabicPeriod"/>
            </a:pPr>
            <a:r>
              <a:rPr lang="zh-CN"/>
              <a:t>介绍“假黎婆”的身份和人物关系。</a:t>
            </a:r>
            <a:endParaRPr/>
          </a:p>
          <a:p>
            <a:pPr indent="-342900" lvl="0" marL="457200" rtl="0" algn="l">
              <a:lnSpc>
                <a:spcPct val="150000"/>
              </a:lnSpc>
              <a:spcBef>
                <a:spcPts val="0"/>
              </a:spcBef>
              <a:spcAft>
                <a:spcPts val="0"/>
              </a:spcAft>
              <a:buSzPts val="1800"/>
              <a:buAutoNum type="arabicPeriod"/>
            </a:pPr>
            <a:r>
              <a:rPr lang="zh-CN"/>
              <a:t>“假黎婆”名字的来源。</a:t>
            </a:r>
            <a:endParaRPr/>
          </a:p>
          <a:p>
            <a:pPr indent="-342900" lvl="0" marL="457200" rtl="0" algn="l">
              <a:lnSpc>
                <a:spcPct val="150000"/>
              </a:lnSpc>
              <a:spcBef>
                <a:spcPts val="0"/>
              </a:spcBef>
              <a:spcAft>
                <a:spcPts val="0"/>
              </a:spcAft>
              <a:buSzPts val="1800"/>
              <a:buAutoNum type="arabicPeriod"/>
            </a:pPr>
            <a:r>
              <a:rPr lang="zh-CN"/>
              <a:t>介绍</a:t>
            </a:r>
            <a:r>
              <a:rPr lang="zh-CN"/>
              <a:t>“假黎婆”的家庭背景和大家对“山地人”的偏见。</a:t>
            </a:r>
            <a:endParaRPr/>
          </a:p>
          <a:p>
            <a:pPr indent="-342900" lvl="0" marL="457200" rtl="0" algn="l">
              <a:lnSpc>
                <a:spcPct val="150000"/>
              </a:lnSpc>
              <a:spcBef>
                <a:spcPts val="0"/>
              </a:spcBef>
              <a:spcAft>
                <a:spcPts val="0"/>
              </a:spcAft>
              <a:buSzPts val="1800"/>
              <a:buAutoNum type="arabicPeriod"/>
            </a:pPr>
            <a:r>
              <a:rPr lang="zh-CN"/>
              <a:t>“假黎婆”如何在作者重病垂危的时候坚持救活了作者。</a:t>
            </a:r>
            <a:endParaRPr/>
          </a:p>
          <a:p>
            <a:pPr indent="-342900" lvl="0" marL="457200" rtl="0" algn="l">
              <a:lnSpc>
                <a:spcPct val="150000"/>
              </a:lnSpc>
              <a:spcBef>
                <a:spcPts val="0"/>
              </a:spcBef>
              <a:spcAft>
                <a:spcPts val="0"/>
              </a:spcAft>
              <a:buSzPts val="1800"/>
              <a:buAutoNum type="arabicPeriod"/>
            </a:pPr>
            <a:r>
              <a:rPr lang="zh-CN"/>
              <a:t>作者在和奶奶一起找牛时候通过奶奶的歌声对她有了更深的理解。</a:t>
            </a:r>
            <a:endParaRPr/>
          </a:p>
          <a:p>
            <a:pPr indent="-342900" lvl="0" marL="457200" rtl="0" algn="l">
              <a:lnSpc>
                <a:spcPct val="150000"/>
              </a:lnSpc>
              <a:spcBef>
                <a:spcPts val="0"/>
              </a:spcBef>
              <a:spcAft>
                <a:spcPts val="0"/>
              </a:spcAft>
              <a:buSzPts val="1800"/>
              <a:buAutoNum type="arabicPeriod"/>
            </a:pPr>
            <a:r>
              <a:rPr lang="zh-CN"/>
              <a:t>奶奶在世和临走时对作者深厚的情感。</a:t>
            </a:r>
            <a:endParaRPr/>
          </a:p>
          <a:p>
            <a:pPr indent="-342900" lvl="0" marL="457200" rtl="0" algn="l">
              <a:lnSpc>
                <a:spcPct val="150000"/>
              </a:lnSpc>
              <a:spcBef>
                <a:spcPts val="0"/>
              </a:spcBef>
              <a:spcAft>
                <a:spcPts val="0"/>
              </a:spcAft>
              <a:buSzPts val="1800"/>
              <a:buAutoNum type="arabicPeriod"/>
            </a:pPr>
            <a:r>
              <a:rPr lang="zh-CN"/>
              <a:t>作者通过扫墓意识到对奶奶的深厚情感。</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3" name="Shape 1033"/>
        <p:cNvGrpSpPr/>
        <p:nvPr/>
      </p:nvGrpSpPr>
      <p:grpSpPr>
        <a:xfrm>
          <a:off x="0" y="0"/>
          <a:ext cx="0" cy="0"/>
          <a:chOff x="0" y="0"/>
          <a:chExt cx="0" cy="0"/>
        </a:xfrm>
      </p:grpSpPr>
      <p:sp>
        <p:nvSpPr>
          <p:cNvPr id="1034" name="Google Shape;1034;p1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热身活动：还记得每部分的</a:t>
            </a:r>
            <a:r>
              <a:rPr lang="zh-CN"/>
              <a:t>段落大意</a:t>
            </a:r>
            <a:r>
              <a:rPr lang="zh-CN"/>
              <a:t>吗？</a:t>
            </a:r>
            <a:endParaRPr/>
          </a:p>
        </p:txBody>
      </p:sp>
      <p:sp>
        <p:nvSpPr>
          <p:cNvPr id="1035" name="Google Shape;1035;p101"/>
          <p:cNvSpPr txBox="1"/>
          <p:nvPr>
            <p:ph idx="1" type="body"/>
          </p:nvPr>
        </p:nvSpPr>
        <p:spPr>
          <a:xfrm>
            <a:off x="1479350" y="1234075"/>
            <a:ext cx="7353000" cy="33348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AutoNum type="arabicPeriod"/>
            </a:pPr>
            <a:r>
              <a:rPr lang="zh-CN"/>
              <a:t>介绍“假黎婆”的身份和人物关系。</a:t>
            </a:r>
            <a:endParaRPr/>
          </a:p>
          <a:p>
            <a:pPr indent="-342900" lvl="0" marL="457200" rtl="0" algn="l">
              <a:lnSpc>
                <a:spcPct val="150000"/>
              </a:lnSpc>
              <a:spcBef>
                <a:spcPts val="0"/>
              </a:spcBef>
              <a:spcAft>
                <a:spcPts val="0"/>
              </a:spcAft>
              <a:buSzPts val="1800"/>
              <a:buAutoNum type="arabicPeriod"/>
            </a:pPr>
            <a:r>
              <a:rPr lang="zh-CN"/>
              <a:t>“假黎婆”名字的来源。</a:t>
            </a:r>
            <a:endParaRPr/>
          </a:p>
          <a:p>
            <a:pPr indent="-342900" lvl="0" marL="457200" rtl="0" algn="l">
              <a:lnSpc>
                <a:spcPct val="150000"/>
              </a:lnSpc>
              <a:spcBef>
                <a:spcPts val="0"/>
              </a:spcBef>
              <a:spcAft>
                <a:spcPts val="0"/>
              </a:spcAft>
              <a:buSzPts val="1800"/>
              <a:buAutoNum type="arabicPeriod"/>
            </a:pPr>
            <a:r>
              <a:rPr lang="zh-CN"/>
              <a:t>介绍“假黎婆”的家庭背景和大家对“山地人”的偏见。</a:t>
            </a:r>
            <a:endParaRPr/>
          </a:p>
          <a:p>
            <a:pPr indent="-342900" lvl="0" marL="457200" rtl="0" algn="l">
              <a:lnSpc>
                <a:spcPct val="150000"/>
              </a:lnSpc>
              <a:spcBef>
                <a:spcPts val="0"/>
              </a:spcBef>
              <a:spcAft>
                <a:spcPts val="0"/>
              </a:spcAft>
              <a:buSzPts val="1800"/>
              <a:buAutoNum type="arabicPeriod"/>
            </a:pPr>
            <a:r>
              <a:rPr lang="zh-CN"/>
              <a:t>“假黎婆”如何在作者重病垂危的时候坚持救活了作者。</a:t>
            </a:r>
            <a:endParaRPr/>
          </a:p>
          <a:p>
            <a:pPr indent="-342900" lvl="0" marL="457200" rtl="0" algn="l">
              <a:lnSpc>
                <a:spcPct val="150000"/>
              </a:lnSpc>
              <a:spcBef>
                <a:spcPts val="0"/>
              </a:spcBef>
              <a:spcAft>
                <a:spcPts val="0"/>
              </a:spcAft>
              <a:buSzPts val="1800"/>
              <a:buAutoNum type="arabicPeriod"/>
            </a:pPr>
            <a:r>
              <a:rPr lang="zh-CN"/>
              <a:t>作者在和奶奶一起找牛时候通过奶奶的歌声对她有了更深的理解。</a:t>
            </a:r>
            <a:endParaRPr/>
          </a:p>
          <a:p>
            <a:pPr indent="-342900" lvl="0" marL="457200" rtl="0" algn="l">
              <a:lnSpc>
                <a:spcPct val="150000"/>
              </a:lnSpc>
              <a:spcBef>
                <a:spcPts val="0"/>
              </a:spcBef>
              <a:spcAft>
                <a:spcPts val="0"/>
              </a:spcAft>
              <a:buSzPts val="1800"/>
              <a:buAutoNum type="arabicPeriod"/>
            </a:pPr>
            <a:r>
              <a:rPr lang="zh-CN"/>
              <a:t>奶奶在世和临走时对作者深厚的情感。</a:t>
            </a:r>
            <a:endParaRPr/>
          </a:p>
          <a:p>
            <a:pPr indent="-342900" lvl="0" marL="457200" rtl="0" algn="l">
              <a:lnSpc>
                <a:spcPct val="150000"/>
              </a:lnSpc>
              <a:spcBef>
                <a:spcPts val="0"/>
              </a:spcBef>
              <a:spcAft>
                <a:spcPts val="0"/>
              </a:spcAft>
              <a:buSzPts val="1800"/>
              <a:buAutoNum type="arabicPeriod"/>
            </a:pPr>
            <a:r>
              <a:rPr lang="zh-CN"/>
              <a:t>作者通过扫墓意识到对奶奶的深厚情感。</a:t>
            </a:r>
            <a:endParaRPr/>
          </a:p>
        </p:txBody>
      </p:sp>
      <p:sp>
        <p:nvSpPr>
          <p:cNvPr id="1036" name="Google Shape;1036;p101"/>
          <p:cNvSpPr/>
          <p:nvPr/>
        </p:nvSpPr>
        <p:spPr>
          <a:xfrm>
            <a:off x="2795000" y="1187375"/>
            <a:ext cx="5905500" cy="3153900"/>
          </a:xfrm>
          <a:prstGeom prst="roundRect">
            <a:avLst>
              <a:gd fmla="val 16667" name="adj"/>
            </a:avLst>
          </a:prstGeom>
          <a:solidFill>
            <a:srgbClr val="00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0" name="Shape 1040"/>
        <p:cNvGrpSpPr/>
        <p:nvPr/>
      </p:nvGrpSpPr>
      <p:grpSpPr>
        <a:xfrm>
          <a:off x="0" y="0"/>
          <a:ext cx="0" cy="0"/>
          <a:chOff x="0" y="0"/>
          <a:chExt cx="0" cy="0"/>
        </a:xfrm>
      </p:grpSpPr>
      <p:sp>
        <p:nvSpPr>
          <p:cNvPr id="1041" name="Google Shape;1041;p102"/>
          <p:cNvSpPr txBox="1"/>
          <p:nvPr>
            <p:ph type="title"/>
          </p:nvPr>
        </p:nvSpPr>
        <p:spPr>
          <a:xfrm>
            <a:off x="311700" y="147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热身活动：“山地人”的特征</a:t>
            </a:r>
            <a:endParaRPr/>
          </a:p>
        </p:txBody>
      </p:sp>
      <p:pic>
        <p:nvPicPr>
          <p:cNvPr id="1042" name="Google Shape;1042;p102" title="IMG_3660.jpg"/>
          <p:cNvPicPr preferRelativeResize="0"/>
          <p:nvPr/>
        </p:nvPicPr>
        <p:blipFill>
          <a:blip r:embed="rId3">
            <a:alphaModFix/>
          </a:blip>
          <a:stretch>
            <a:fillRect/>
          </a:stretch>
        </p:blipFill>
        <p:spPr>
          <a:xfrm>
            <a:off x="1003200" y="881700"/>
            <a:ext cx="7506949" cy="398805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46" name="Shape 1046"/>
        <p:cNvGrpSpPr/>
        <p:nvPr/>
      </p:nvGrpSpPr>
      <p:grpSpPr>
        <a:xfrm>
          <a:off x="0" y="0"/>
          <a:ext cx="0" cy="0"/>
          <a:chOff x="0" y="0"/>
          <a:chExt cx="0" cy="0"/>
        </a:xfrm>
      </p:grpSpPr>
      <p:sp>
        <p:nvSpPr>
          <p:cNvPr id="1047" name="Google Shape;1047;p103"/>
          <p:cNvSpPr txBox="1"/>
          <p:nvPr>
            <p:ph type="title"/>
          </p:nvPr>
        </p:nvSpPr>
        <p:spPr>
          <a:xfrm>
            <a:off x="272975" y="64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活动三：思考课文中的描写如何体现人物性格</a:t>
            </a:r>
            <a:endParaRPr/>
          </a:p>
        </p:txBody>
      </p:sp>
      <p:pic>
        <p:nvPicPr>
          <p:cNvPr id="1048" name="Google Shape;1048;p103" title="IMG_3589.jpg"/>
          <p:cNvPicPr preferRelativeResize="0"/>
          <p:nvPr/>
        </p:nvPicPr>
        <p:blipFill>
          <a:blip r:embed="rId3">
            <a:alphaModFix/>
          </a:blip>
          <a:stretch>
            <a:fillRect/>
          </a:stretch>
        </p:blipFill>
        <p:spPr>
          <a:xfrm>
            <a:off x="13850" y="574950"/>
            <a:ext cx="8818452" cy="4568549"/>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2" name="Shape 1052"/>
        <p:cNvGrpSpPr/>
        <p:nvPr/>
      </p:nvGrpSpPr>
      <p:grpSpPr>
        <a:xfrm>
          <a:off x="0" y="0"/>
          <a:ext cx="0" cy="0"/>
          <a:chOff x="0" y="0"/>
          <a:chExt cx="0" cy="0"/>
        </a:xfrm>
      </p:grpSpPr>
      <p:sp>
        <p:nvSpPr>
          <p:cNvPr id="1053" name="Google Shape;1053;p10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活动二：如何创作出一个有文化特点的人物形象</a:t>
            </a:r>
            <a:endParaRPr/>
          </a:p>
        </p:txBody>
      </p:sp>
      <p:sp>
        <p:nvSpPr>
          <p:cNvPr id="1054" name="Google Shape;1054;p104"/>
          <p:cNvSpPr txBox="1"/>
          <p:nvPr>
            <p:ph idx="1" type="body"/>
          </p:nvPr>
        </p:nvSpPr>
        <p:spPr>
          <a:xfrm>
            <a:off x="311700" y="1234075"/>
            <a:ext cx="5272200" cy="3334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zh-CN"/>
              <a:t>请在你的本子上构思出一个写作提纲，不需要实际地去写出这篇文章。</a:t>
            </a:r>
            <a:endParaRPr/>
          </a:p>
          <a:p>
            <a:pPr indent="0" lvl="0" marL="0" rtl="0" algn="l">
              <a:spcBef>
                <a:spcPts val="1200"/>
              </a:spcBef>
              <a:spcAft>
                <a:spcPts val="0"/>
              </a:spcAft>
              <a:buNone/>
            </a:pPr>
            <a:r>
              <a:rPr lang="zh-CN"/>
              <a:t>要求：</a:t>
            </a:r>
            <a:endParaRPr/>
          </a:p>
          <a:p>
            <a:pPr indent="-342900" lvl="0" marL="457200" rtl="0" algn="l">
              <a:spcBef>
                <a:spcPts val="1200"/>
              </a:spcBef>
              <a:spcAft>
                <a:spcPts val="0"/>
              </a:spcAft>
              <a:buSzPts val="1800"/>
              <a:buChar char="●"/>
            </a:pPr>
            <a:r>
              <a:rPr lang="zh-CN"/>
              <a:t>这个人要是你身边的真实人物，无需是自己的家人。</a:t>
            </a:r>
            <a:endParaRPr/>
          </a:p>
          <a:p>
            <a:pPr indent="-342900" lvl="0" marL="457200" rtl="0" algn="l">
              <a:spcBef>
                <a:spcPts val="0"/>
              </a:spcBef>
              <a:spcAft>
                <a:spcPts val="0"/>
              </a:spcAft>
              <a:buSzPts val="1800"/>
              <a:buChar char="●"/>
            </a:pPr>
            <a:r>
              <a:rPr lang="zh-CN"/>
              <a:t>写出来的人物不应该套用到任何一个其他人都合适。</a:t>
            </a:r>
            <a:endParaRPr/>
          </a:p>
          <a:p>
            <a:pPr indent="-342900" lvl="0" marL="457200" rtl="0" algn="l">
              <a:spcBef>
                <a:spcPts val="0"/>
              </a:spcBef>
              <a:spcAft>
                <a:spcPts val="0"/>
              </a:spcAft>
              <a:buSzPts val="1800"/>
              <a:buChar char="●"/>
            </a:pPr>
            <a:r>
              <a:rPr lang="zh-CN"/>
              <a:t>你有8分钟时间构思。</a:t>
            </a:r>
            <a:endParaRPr/>
          </a:p>
          <a:p>
            <a:pPr indent="0" lvl="0" marL="0" rtl="0" algn="l">
              <a:spcBef>
                <a:spcPts val="1200"/>
              </a:spcBef>
              <a:spcAft>
                <a:spcPts val="1200"/>
              </a:spcAft>
              <a:buNone/>
            </a:pPr>
            <a:r>
              <a:t/>
            </a:r>
            <a:endParaRPr/>
          </a:p>
        </p:txBody>
      </p:sp>
      <p:pic>
        <p:nvPicPr>
          <p:cNvPr id="1055" name="Google Shape;1055;p104"/>
          <p:cNvPicPr preferRelativeResize="0"/>
          <p:nvPr/>
        </p:nvPicPr>
        <p:blipFill>
          <a:blip r:embed="rId3">
            <a:alphaModFix/>
          </a:blip>
          <a:stretch>
            <a:fillRect/>
          </a:stretch>
        </p:blipFill>
        <p:spPr>
          <a:xfrm>
            <a:off x="6034275" y="1133900"/>
            <a:ext cx="2198576" cy="3299149"/>
          </a:xfrm>
          <a:prstGeom prst="rect">
            <a:avLst/>
          </a:prstGeom>
          <a:noFill/>
          <a:ln>
            <a:noFill/>
          </a:ln>
        </p:spPr>
      </p:pic>
      <p:sp>
        <p:nvSpPr>
          <p:cNvPr id="1056" name="Google Shape;1056;p104"/>
          <p:cNvSpPr txBox="1"/>
          <p:nvPr/>
        </p:nvSpPr>
        <p:spPr>
          <a:xfrm>
            <a:off x="5977700" y="4598350"/>
            <a:ext cx="2200800" cy="26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a:solidFill>
                  <a:schemeClr val="dk2"/>
                </a:solidFill>
                <a:latin typeface="Playfair Display"/>
                <a:ea typeface="Playfair Display"/>
                <a:cs typeface="Playfair Display"/>
                <a:sym typeface="Playfair Display"/>
              </a:rPr>
              <a:t>新疆维族女性着传统服饰</a:t>
            </a:r>
            <a:endParaRPr>
              <a:solidFill>
                <a:schemeClr val="dk2"/>
              </a:solidFill>
              <a:latin typeface="Playfair Display"/>
              <a:ea typeface="Playfair Display"/>
              <a:cs typeface="Playfair Display"/>
              <a:sym typeface="Playfair Display"/>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0" name="Shape 1060"/>
        <p:cNvGrpSpPr/>
        <p:nvPr/>
      </p:nvGrpSpPr>
      <p:grpSpPr>
        <a:xfrm>
          <a:off x="0" y="0"/>
          <a:ext cx="0" cy="0"/>
          <a:chOff x="0" y="0"/>
          <a:chExt cx="0" cy="0"/>
        </a:xfrm>
      </p:grpSpPr>
      <p:sp>
        <p:nvSpPr>
          <p:cNvPr id="1061" name="Google Shape;1061;p10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T1W4 CW  基于余秋雨《最短定义》的创意写作</a:t>
            </a:r>
            <a:endParaRPr/>
          </a:p>
        </p:txBody>
      </p:sp>
      <p:sp>
        <p:nvSpPr>
          <p:cNvPr id="1062" name="Google Shape;1062;p105"/>
          <p:cNvSpPr txBox="1"/>
          <p:nvPr>
            <p:ph idx="1" type="body"/>
          </p:nvPr>
        </p:nvSpPr>
        <p:spPr>
          <a:xfrm>
            <a:off x="964975" y="1234075"/>
            <a:ext cx="7867500" cy="3816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zh-CN" u="sng">
                <a:solidFill>
                  <a:schemeClr val="hlink"/>
                </a:solidFill>
                <a:hlinkClick r:id="rId3"/>
              </a:rPr>
              <a:t>扩展阅读_第004讲 《最短的定义》</a:t>
            </a:r>
            <a:endParaRPr/>
          </a:p>
          <a:p>
            <a:pPr indent="0" lvl="0" marL="0" rtl="0" algn="l">
              <a:spcBef>
                <a:spcPts val="1200"/>
              </a:spcBef>
              <a:spcAft>
                <a:spcPts val="0"/>
              </a:spcAft>
              <a:buNone/>
            </a:pPr>
            <a:r>
              <a:rPr lang="zh-CN" sz="1600">
                <a:latin typeface="STKaiti"/>
                <a:ea typeface="STKaiti"/>
                <a:cs typeface="STKaiti"/>
                <a:sym typeface="STKaiti"/>
              </a:rPr>
              <a:t>阅读完之后，反思并选择下面的一个场景，完成创意写作活动，字数无上限，最低500字：</a:t>
            </a:r>
            <a:endParaRPr sz="1600">
              <a:latin typeface="STKaiti"/>
              <a:ea typeface="STKaiti"/>
              <a:cs typeface="STKaiti"/>
              <a:sym typeface="STKaiti"/>
            </a:endParaRPr>
          </a:p>
          <a:p>
            <a:pPr indent="0" lvl="0" marL="0" rtl="0" algn="l">
              <a:spcBef>
                <a:spcPts val="1400"/>
              </a:spcBef>
              <a:spcAft>
                <a:spcPts val="0"/>
              </a:spcAft>
              <a:buClr>
                <a:schemeClr val="dk2"/>
              </a:buClr>
              <a:buSzPts val="1100"/>
              <a:buFont typeface="Arial"/>
              <a:buNone/>
            </a:pPr>
            <a:r>
              <a:rPr lang="zh-CN" sz="1600">
                <a:latin typeface="Arial"/>
                <a:ea typeface="Arial"/>
                <a:cs typeface="Arial"/>
                <a:sym typeface="Arial"/>
              </a:rPr>
              <a:t>场景 1：穿越到未来</a:t>
            </a:r>
            <a:endParaRPr sz="1600">
              <a:latin typeface="Arial"/>
              <a:ea typeface="Arial"/>
              <a:cs typeface="Arial"/>
              <a:sym typeface="Arial"/>
            </a:endParaRPr>
          </a:p>
          <a:p>
            <a:pPr indent="0" lvl="0" marL="0" rtl="0" algn="l">
              <a:lnSpc>
                <a:spcPct val="100000"/>
              </a:lnSpc>
              <a:spcBef>
                <a:spcPts val="1200"/>
              </a:spcBef>
              <a:spcAft>
                <a:spcPts val="0"/>
              </a:spcAft>
              <a:buClr>
                <a:schemeClr val="dk2"/>
              </a:buClr>
              <a:buSzPts val="1100"/>
              <a:buFont typeface="Arial"/>
              <a:buNone/>
            </a:pPr>
            <a:r>
              <a:rPr lang="zh-CN" sz="1600">
                <a:latin typeface="STKaiti"/>
                <a:ea typeface="STKaiti"/>
                <a:cs typeface="STKaiti"/>
                <a:sym typeface="STKaiti"/>
              </a:rPr>
              <a:t>假如你穿越到100年后的某个地方，你发现人们的生活方式和精神价值已经完全不同。你试图和他们交流，却发现对方完全不理解你的文化。</a:t>
            </a:r>
            <a:endParaRPr sz="1600">
              <a:latin typeface="STKaiti"/>
              <a:ea typeface="STKaiti"/>
              <a:cs typeface="STKaiti"/>
              <a:sym typeface="STKaiti"/>
            </a:endParaRPr>
          </a:p>
          <a:p>
            <a:pPr indent="0" lvl="0" marL="0" rtl="0" algn="l">
              <a:lnSpc>
                <a:spcPct val="100000"/>
              </a:lnSpc>
              <a:spcBef>
                <a:spcPts val="1200"/>
              </a:spcBef>
              <a:spcAft>
                <a:spcPts val="0"/>
              </a:spcAft>
              <a:buClr>
                <a:schemeClr val="dk2"/>
              </a:buClr>
              <a:buSzPts val="1100"/>
              <a:buFont typeface="Arial"/>
              <a:buNone/>
            </a:pPr>
            <a:r>
              <a:rPr b="1" lang="zh-CN" sz="1600">
                <a:latin typeface="STKaiti"/>
                <a:ea typeface="STKaiti"/>
                <a:cs typeface="STKaiti"/>
                <a:sym typeface="STKaiti"/>
              </a:rPr>
              <a:t>引导性问题：</a:t>
            </a:r>
            <a:endParaRPr b="1" sz="1600">
              <a:latin typeface="STKaiti"/>
              <a:ea typeface="STKaiti"/>
              <a:cs typeface="STKaiti"/>
              <a:sym typeface="STKaiti"/>
            </a:endParaRPr>
          </a:p>
          <a:p>
            <a:pPr indent="-330200" lvl="0" marL="457200" rtl="0" algn="l">
              <a:lnSpc>
                <a:spcPct val="100000"/>
              </a:lnSpc>
              <a:spcBef>
                <a:spcPts val="1200"/>
              </a:spcBef>
              <a:spcAft>
                <a:spcPts val="0"/>
              </a:spcAft>
              <a:buSzPts val="1600"/>
              <a:buFont typeface="STKaiti"/>
              <a:buAutoNum type="arabicPeriod"/>
            </a:pPr>
            <a:r>
              <a:rPr lang="zh-CN" sz="1600">
                <a:latin typeface="STKaiti"/>
                <a:ea typeface="STKaiti"/>
                <a:cs typeface="STKaiti"/>
                <a:sym typeface="STKaiti"/>
              </a:rPr>
              <a:t>你觉得100年后的中国文化会有哪些变化？有哪些可能会被保留？</a:t>
            </a:r>
            <a:endParaRPr sz="1600">
              <a:latin typeface="STKaiti"/>
              <a:ea typeface="STKaiti"/>
              <a:cs typeface="STKaiti"/>
              <a:sym typeface="STKaiti"/>
            </a:endParaRPr>
          </a:p>
          <a:p>
            <a:pPr indent="-330200" lvl="0" marL="457200" rtl="0" algn="l">
              <a:lnSpc>
                <a:spcPct val="100000"/>
              </a:lnSpc>
              <a:spcBef>
                <a:spcPts val="0"/>
              </a:spcBef>
              <a:spcAft>
                <a:spcPts val="0"/>
              </a:spcAft>
              <a:buSzPts val="1600"/>
              <a:buFont typeface="STKaiti"/>
              <a:buAutoNum type="arabicPeriod"/>
            </a:pPr>
            <a:r>
              <a:rPr lang="zh-CN" sz="1600">
                <a:latin typeface="STKaiti"/>
                <a:ea typeface="STKaiti"/>
                <a:cs typeface="STKaiti"/>
                <a:sym typeface="STKaiti"/>
              </a:rPr>
              <a:t>如果对方问你，“什么是中国人的精神价值？”，你会怎么回答？</a:t>
            </a:r>
            <a:endParaRPr sz="1600">
              <a:latin typeface="STKaiti"/>
              <a:ea typeface="STKaiti"/>
              <a:cs typeface="STKaiti"/>
              <a:sym typeface="STKaiti"/>
            </a:endParaRPr>
          </a:p>
          <a:p>
            <a:pPr indent="-330200" lvl="0" marL="457200" rtl="0" algn="l">
              <a:lnSpc>
                <a:spcPct val="100000"/>
              </a:lnSpc>
              <a:spcBef>
                <a:spcPts val="0"/>
              </a:spcBef>
              <a:spcAft>
                <a:spcPts val="0"/>
              </a:spcAft>
              <a:buSzPts val="1600"/>
              <a:buFont typeface="STKaiti"/>
              <a:buAutoNum type="arabicPeriod"/>
            </a:pPr>
            <a:r>
              <a:rPr lang="zh-CN" sz="1600">
                <a:latin typeface="STKaiti"/>
                <a:ea typeface="STKaiti"/>
                <a:cs typeface="STKaiti"/>
                <a:sym typeface="STKaiti"/>
              </a:rPr>
              <a:t>你觉得哪些现代的生活方式在未来可能会被认为很奇怪或过时？</a:t>
            </a:r>
            <a:endParaRPr sz="1600">
              <a:latin typeface="STKaiti"/>
              <a:ea typeface="STKaiti"/>
              <a:cs typeface="STKaiti"/>
              <a:sym typeface="STKaiti"/>
            </a:endParaRPr>
          </a:p>
          <a:p>
            <a:pPr indent="-330200" lvl="0" marL="457200" rtl="0" algn="l">
              <a:lnSpc>
                <a:spcPct val="100000"/>
              </a:lnSpc>
              <a:spcBef>
                <a:spcPts val="0"/>
              </a:spcBef>
              <a:spcAft>
                <a:spcPts val="0"/>
              </a:spcAft>
              <a:buSzPts val="1600"/>
              <a:buFont typeface="STKaiti"/>
              <a:buAutoNum type="arabicPeriod"/>
            </a:pPr>
            <a:r>
              <a:rPr lang="zh-CN" sz="1600">
                <a:latin typeface="STKaiti"/>
                <a:ea typeface="STKaiti"/>
                <a:cs typeface="STKaiti"/>
                <a:sym typeface="STKaiti"/>
              </a:rPr>
              <a:t>未来的人可能会觉得“集体人格”这个概念已经不适用了，你会如何解释它的意义？</a:t>
            </a:r>
            <a:endParaRPr sz="1600">
              <a:latin typeface="STKaiti"/>
              <a:ea typeface="STKaiti"/>
              <a:cs typeface="STKaiti"/>
              <a:sym typeface="STKaiti"/>
            </a:endParaRPr>
          </a:p>
          <a:p>
            <a:pPr indent="-298450" lvl="0" marL="457200" rtl="0" algn="l">
              <a:lnSpc>
                <a:spcPct val="100000"/>
              </a:lnSpc>
              <a:spcBef>
                <a:spcPts val="0"/>
              </a:spcBef>
              <a:spcAft>
                <a:spcPts val="0"/>
              </a:spcAft>
              <a:buSzPts val="1100"/>
              <a:buFont typeface="STKaiti"/>
              <a:buAutoNum type="arabicPeriod"/>
            </a:pPr>
            <a:r>
              <a:rPr lang="zh-CN" sz="1600">
                <a:latin typeface="STKaiti"/>
                <a:ea typeface="STKaiti"/>
                <a:cs typeface="STKaiti"/>
                <a:sym typeface="STKaiti"/>
              </a:rPr>
              <a:t>你会如何用你的文化知识去缩短和未来人之间的文化差距？</a:t>
            </a:r>
            <a:r>
              <a:rPr lang="zh-CN" sz="2300"/>
              <a:t> </a:t>
            </a:r>
            <a:endParaRPr sz="23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6" name="Shape 1066"/>
        <p:cNvGrpSpPr/>
        <p:nvPr/>
      </p:nvGrpSpPr>
      <p:grpSpPr>
        <a:xfrm>
          <a:off x="0" y="0"/>
          <a:ext cx="0" cy="0"/>
          <a:chOff x="0" y="0"/>
          <a:chExt cx="0" cy="0"/>
        </a:xfrm>
      </p:grpSpPr>
      <p:sp>
        <p:nvSpPr>
          <p:cNvPr id="1067" name="Google Shape;1067;p10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68" name="Google Shape;1068;p106"/>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2"/>
              </a:buClr>
              <a:buSzPts val="1100"/>
              <a:buFont typeface="Arial"/>
              <a:buNone/>
            </a:pPr>
            <a:r>
              <a:rPr lang="zh-CN">
                <a:latin typeface="Arial"/>
                <a:ea typeface="Arial"/>
                <a:cs typeface="Arial"/>
                <a:sym typeface="Arial"/>
              </a:rPr>
              <a:t>场景 2：鲁迅的对话</a:t>
            </a:r>
            <a:endParaRPr>
              <a:latin typeface="Arial"/>
              <a:ea typeface="Arial"/>
              <a:cs typeface="Arial"/>
              <a:sym typeface="Arial"/>
            </a:endParaRPr>
          </a:p>
          <a:p>
            <a:pPr indent="0" lvl="0" marL="0" rtl="0" algn="l">
              <a:lnSpc>
                <a:spcPct val="100000"/>
              </a:lnSpc>
              <a:spcBef>
                <a:spcPts val="1200"/>
              </a:spcBef>
              <a:spcAft>
                <a:spcPts val="0"/>
              </a:spcAft>
              <a:buClr>
                <a:schemeClr val="dk2"/>
              </a:buClr>
              <a:buSzPts val="1100"/>
              <a:buFont typeface="Arial"/>
              <a:buNone/>
            </a:pPr>
            <a:r>
              <a:rPr lang="zh-CN">
                <a:latin typeface="STKaiti"/>
                <a:ea typeface="STKaiti"/>
                <a:cs typeface="STKaiti"/>
                <a:sym typeface="STKaiti"/>
              </a:rPr>
              <a:t>假设你穿越到了鲁迅的时代，与他坐在书房里聊“国民性”和“集体人格”。</a:t>
            </a:r>
            <a:endParaRPr>
              <a:latin typeface="STKaiti"/>
              <a:ea typeface="STKaiti"/>
              <a:cs typeface="STKaiti"/>
              <a:sym typeface="STKaiti"/>
            </a:endParaRPr>
          </a:p>
          <a:p>
            <a:pPr indent="0" lvl="0" marL="0" rtl="0" algn="l">
              <a:lnSpc>
                <a:spcPct val="100000"/>
              </a:lnSpc>
              <a:spcBef>
                <a:spcPts val="1200"/>
              </a:spcBef>
              <a:spcAft>
                <a:spcPts val="0"/>
              </a:spcAft>
              <a:buClr>
                <a:schemeClr val="dk2"/>
              </a:buClr>
              <a:buSzPts val="1100"/>
              <a:buFont typeface="Arial"/>
              <a:buNone/>
            </a:pPr>
            <a:r>
              <a:rPr b="1" lang="zh-CN">
                <a:latin typeface="STKaiti"/>
                <a:ea typeface="STKaiti"/>
                <a:cs typeface="STKaiti"/>
                <a:sym typeface="STKaiti"/>
              </a:rPr>
              <a:t>引导性问题：</a:t>
            </a:r>
            <a:endParaRPr b="1">
              <a:latin typeface="STKaiti"/>
              <a:ea typeface="STKaiti"/>
              <a:cs typeface="STKaiti"/>
              <a:sym typeface="STKaiti"/>
            </a:endParaRPr>
          </a:p>
          <a:p>
            <a:pPr indent="-342900" lvl="0" marL="457200" rtl="0" algn="l">
              <a:lnSpc>
                <a:spcPct val="100000"/>
              </a:lnSpc>
              <a:spcBef>
                <a:spcPts val="1200"/>
              </a:spcBef>
              <a:spcAft>
                <a:spcPts val="0"/>
              </a:spcAft>
              <a:buSzPts val="1800"/>
              <a:buFont typeface="STKaiti"/>
              <a:buAutoNum type="arabicPeriod"/>
            </a:pPr>
            <a:r>
              <a:rPr lang="zh-CN">
                <a:latin typeface="STKaiti"/>
                <a:ea typeface="STKaiti"/>
                <a:cs typeface="STKaiti"/>
                <a:sym typeface="STKaiti"/>
              </a:rPr>
              <a:t>如果你向鲁迅解释今天中国人的“集体人格”，你会怎么说？</a:t>
            </a:r>
            <a:endParaRPr>
              <a:latin typeface="STKaiti"/>
              <a:ea typeface="STKaiti"/>
              <a:cs typeface="STKaiti"/>
              <a:sym typeface="STKaiti"/>
            </a:endParaRPr>
          </a:p>
          <a:p>
            <a:pPr indent="-342900" lvl="0" marL="457200" rtl="0" algn="l">
              <a:lnSpc>
                <a:spcPct val="100000"/>
              </a:lnSpc>
              <a:spcBef>
                <a:spcPts val="0"/>
              </a:spcBef>
              <a:spcAft>
                <a:spcPts val="0"/>
              </a:spcAft>
              <a:buSzPts val="1800"/>
              <a:buFont typeface="STKaiti"/>
              <a:buAutoNum type="arabicPeriod"/>
            </a:pPr>
            <a:r>
              <a:rPr lang="zh-CN">
                <a:latin typeface="STKaiti"/>
                <a:ea typeface="STKaiti"/>
                <a:cs typeface="STKaiti"/>
                <a:sym typeface="STKaiti"/>
              </a:rPr>
              <a:t>鲁迅认为阿Q是中国人的象征之一，你觉得现代社会还存在这样的“阿Q”吗？为什么？</a:t>
            </a:r>
            <a:endParaRPr>
              <a:latin typeface="STKaiti"/>
              <a:ea typeface="STKaiti"/>
              <a:cs typeface="STKaiti"/>
              <a:sym typeface="STKaiti"/>
            </a:endParaRPr>
          </a:p>
          <a:p>
            <a:pPr indent="-342900" lvl="0" marL="457200" rtl="0" algn="l">
              <a:lnSpc>
                <a:spcPct val="100000"/>
              </a:lnSpc>
              <a:spcBef>
                <a:spcPts val="0"/>
              </a:spcBef>
              <a:spcAft>
                <a:spcPts val="0"/>
              </a:spcAft>
              <a:buSzPts val="1800"/>
              <a:buFont typeface="STKaiti"/>
              <a:buAutoNum type="arabicPeriod"/>
            </a:pPr>
            <a:r>
              <a:rPr lang="zh-CN">
                <a:latin typeface="STKaiti"/>
                <a:ea typeface="STKaiti"/>
                <a:cs typeface="STKaiti"/>
                <a:sym typeface="STKaiti"/>
              </a:rPr>
              <a:t>你会如何向鲁迅解释今天的年轻人（比如“00后”）的精神价值和生活方式？</a:t>
            </a:r>
            <a:endParaRPr>
              <a:latin typeface="STKaiti"/>
              <a:ea typeface="STKaiti"/>
              <a:cs typeface="STKaiti"/>
              <a:sym typeface="STKaiti"/>
            </a:endParaRPr>
          </a:p>
          <a:p>
            <a:pPr indent="-342900" lvl="0" marL="457200" rtl="0" algn="l">
              <a:lnSpc>
                <a:spcPct val="100000"/>
              </a:lnSpc>
              <a:spcBef>
                <a:spcPts val="0"/>
              </a:spcBef>
              <a:spcAft>
                <a:spcPts val="0"/>
              </a:spcAft>
              <a:buSzPts val="1800"/>
              <a:buFont typeface="STKaiti"/>
              <a:buAutoNum type="arabicPeriod"/>
            </a:pPr>
            <a:r>
              <a:rPr lang="zh-CN">
                <a:latin typeface="STKaiti"/>
                <a:ea typeface="STKaiti"/>
                <a:cs typeface="STKaiti"/>
                <a:sym typeface="STKaiti"/>
              </a:rPr>
              <a:t>鲁迅对中国文化的批判很严厉，你觉得他在今天会怎么看待中国文化的发展？</a:t>
            </a:r>
            <a:endParaRPr>
              <a:latin typeface="STKaiti"/>
              <a:ea typeface="STKaiti"/>
              <a:cs typeface="STKaiti"/>
              <a:sym typeface="STKaiti"/>
            </a:endParaRPr>
          </a:p>
          <a:p>
            <a:pPr indent="-342900" lvl="0" marL="457200" rtl="0" algn="l">
              <a:lnSpc>
                <a:spcPct val="100000"/>
              </a:lnSpc>
              <a:spcBef>
                <a:spcPts val="0"/>
              </a:spcBef>
              <a:spcAft>
                <a:spcPts val="0"/>
              </a:spcAft>
              <a:buSzPts val="1800"/>
              <a:buFont typeface="STKaiti"/>
              <a:buAutoNum type="arabicPeriod"/>
            </a:pPr>
            <a:r>
              <a:rPr lang="zh-CN">
                <a:latin typeface="STKaiti"/>
                <a:ea typeface="STKaiti"/>
                <a:cs typeface="STKaiti"/>
                <a:sym typeface="STKaiti"/>
              </a:rPr>
              <a:t>如果让鲁迅重新定义“文化”，你觉得他的定义会和余秋雨的定义有什么不同？</a:t>
            </a:r>
            <a:endParaRPr sz="25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2" name="Shape 1072"/>
        <p:cNvGrpSpPr/>
        <p:nvPr/>
      </p:nvGrpSpPr>
      <p:grpSpPr>
        <a:xfrm>
          <a:off x="0" y="0"/>
          <a:ext cx="0" cy="0"/>
          <a:chOff x="0" y="0"/>
          <a:chExt cx="0" cy="0"/>
        </a:xfrm>
      </p:grpSpPr>
      <p:sp>
        <p:nvSpPr>
          <p:cNvPr id="1073" name="Google Shape;1073;p10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7"/>
              <a:buFont typeface="Arial"/>
              <a:buNone/>
            </a:pPr>
            <a:r>
              <a:rPr lang="zh-CN"/>
              <a:t>[FA] T1W4 HW 记叙文-人物写作-我的一位亲人[Feedback]</a:t>
            </a:r>
            <a:endParaRPr/>
          </a:p>
          <a:p>
            <a:pPr indent="0" lvl="0" marL="0" rtl="0" algn="l">
              <a:spcBef>
                <a:spcPts val="0"/>
              </a:spcBef>
              <a:spcAft>
                <a:spcPts val="0"/>
              </a:spcAft>
              <a:buClr>
                <a:schemeClr val="dk2"/>
              </a:buClr>
              <a:buSzPct val="36667"/>
              <a:buFont typeface="Arial"/>
              <a:buNone/>
            </a:pPr>
            <a:r>
              <a:rPr lang="zh-CN"/>
              <a:t>  </a:t>
            </a:r>
            <a:endParaRPr/>
          </a:p>
          <a:p>
            <a:pPr indent="0" lvl="0" marL="0" rtl="0" algn="l">
              <a:spcBef>
                <a:spcPts val="0"/>
              </a:spcBef>
              <a:spcAft>
                <a:spcPts val="0"/>
              </a:spcAft>
              <a:buNone/>
            </a:pPr>
            <a:r>
              <a:t/>
            </a:r>
            <a:endParaRPr/>
          </a:p>
        </p:txBody>
      </p:sp>
      <p:sp>
        <p:nvSpPr>
          <p:cNvPr id="1074" name="Google Shape;1074;p107"/>
          <p:cNvSpPr txBox="1"/>
          <p:nvPr>
            <p:ph idx="1" type="body"/>
          </p:nvPr>
        </p:nvSpPr>
        <p:spPr>
          <a:xfrm>
            <a:off x="311700" y="1234075"/>
            <a:ext cx="8520600" cy="3758400"/>
          </a:xfrm>
          <a:prstGeom prst="rect">
            <a:avLst/>
          </a:prstGeom>
        </p:spPr>
        <p:txBody>
          <a:bodyPr anchorCtr="0" anchor="t" bIns="91425" lIns="91425" spcFirstLastPara="1" rIns="91425" wrap="square" tIns="91425">
            <a:noAutofit/>
          </a:bodyPr>
          <a:lstStyle/>
          <a:p>
            <a:pPr indent="0" lvl="0" marL="0" rtl="0" algn="l">
              <a:spcBef>
                <a:spcPts val="900"/>
              </a:spcBef>
              <a:spcAft>
                <a:spcPts val="0"/>
              </a:spcAft>
              <a:buClr>
                <a:schemeClr val="dk2"/>
              </a:buClr>
              <a:buSzPts val="1100"/>
              <a:buFont typeface="Arial"/>
              <a:buNone/>
            </a:pPr>
            <a:r>
              <a:rPr lang="zh-CN" sz="1400">
                <a:solidFill>
                  <a:srgbClr val="273540"/>
                </a:solidFill>
                <a:highlight>
                  <a:srgbClr val="FFFFFF"/>
                </a:highlight>
                <a:latin typeface="Arial"/>
                <a:ea typeface="Arial"/>
                <a:cs typeface="Arial"/>
                <a:sym typeface="Arial"/>
              </a:rPr>
              <a:t>记叙文 写作 《一位（关心和爱护）你的亲人》</a:t>
            </a:r>
            <a:endParaRPr sz="1400">
              <a:solidFill>
                <a:srgbClr val="273540"/>
              </a:solidFill>
              <a:highlight>
                <a:srgbClr val="FFFFFF"/>
              </a:highlight>
              <a:latin typeface="Arial"/>
              <a:ea typeface="Arial"/>
              <a:cs typeface="Arial"/>
              <a:sym typeface="Arial"/>
            </a:endParaRPr>
          </a:p>
          <a:p>
            <a:pPr indent="0" lvl="0" marL="0" rtl="0" algn="l">
              <a:spcBef>
                <a:spcPts val="900"/>
              </a:spcBef>
              <a:spcAft>
                <a:spcPts val="0"/>
              </a:spcAft>
              <a:buClr>
                <a:schemeClr val="dk2"/>
              </a:buClr>
              <a:buSzPts val="1100"/>
              <a:buFont typeface="Arial"/>
              <a:buNone/>
            </a:pPr>
            <a:r>
              <a:rPr lang="zh-CN" sz="1400">
                <a:solidFill>
                  <a:srgbClr val="273540"/>
                </a:solidFill>
                <a:highlight>
                  <a:srgbClr val="FFFFFF"/>
                </a:highlight>
                <a:latin typeface="Arial"/>
                <a:ea typeface="Arial"/>
                <a:cs typeface="Arial"/>
                <a:sym typeface="Arial"/>
              </a:rPr>
              <a:t>字数：400-600</a:t>
            </a:r>
            <a:endParaRPr sz="1400">
              <a:solidFill>
                <a:srgbClr val="273540"/>
              </a:solidFill>
              <a:highlight>
                <a:srgbClr val="FFFFFF"/>
              </a:highlight>
              <a:latin typeface="Arial"/>
              <a:ea typeface="Arial"/>
              <a:cs typeface="Arial"/>
              <a:sym typeface="Arial"/>
            </a:endParaRPr>
          </a:p>
          <a:p>
            <a:pPr indent="0" lvl="0" marL="0" rtl="0" algn="l">
              <a:spcBef>
                <a:spcPts val="900"/>
              </a:spcBef>
              <a:spcAft>
                <a:spcPts val="0"/>
              </a:spcAft>
              <a:buClr>
                <a:schemeClr val="dk2"/>
              </a:buClr>
              <a:buSzPts val="1100"/>
              <a:buFont typeface="Arial"/>
              <a:buNone/>
            </a:pPr>
            <a:r>
              <a:rPr lang="zh-CN" sz="1400">
                <a:solidFill>
                  <a:srgbClr val="273540"/>
                </a:solidFill>
                <a:highlight>
                  <a:srgbClr val="FFFFFF"/>
                </a:highlight>
                <a:latin typeface="Arial"/>
                <a:ea typeface="Arial"/>
                <a:cs typeface="Arial"/>
                <a:sym typeface="Arial"/>
              </a:rPr>
              <a:t>要求：人物形象的塑造需要体现人物的文化特质，即写作过程中应该注意人物形象隐性文化和显性文化的体现。</a:t>
            </a:r>
            <a:endParaRPr sz="1400">
              <a:solidFill>
                <a:srgbClr val="273540"/>
              </a:solidFill>
              <a:highlight>
                <a:srgbClr val="FFFFFF"/>
              </a:highlight>
              <a:latin typeface="Arial"/>
              <a:ea typeface="Arial"/>
              <a:cs typeface="Arial"/>
              <a:sym typeface="Arial"/>
            </a:endParaRPr>
          </a:p>
          <a:p>
            <a:pPr indent="0" lvl="0" marL="0" rtl="0" algn="l">
              <a:spcBef>
                <a:spcPts val="900"/>
              </a:spcBef>
              <a:spcAft>
                <a:spcPts val="0"/>
              </a:spcAft>
              <a:buClr>
                <a:schemeClr val="dk2"/>
              </a:buClr>
              <a:buSzPts val="1100"/>
              <a:buFont typeface="Arial"/>
              <a:buNone/>
            </a:pPr>
            <a:r>
              <a:rPr lang="zh-CN" sz="1400">
                <a:solidFill>
                  <a:srgbClr val="273540"/>
                </a:solidFill>
                <a:highlight>
                  <a:srgbClr val="FFFFFF"/>
                </a:highlight>
                <a:latin typeface="Arial"/>
                <a:ea typeface="Arial"/>
                <a:cs typeface="Arial"/>
                <a:sym typeface="Arial"/>
              </a:rPr>
              <a:t> </a:t>
            </a:r>
            <a:endParaRPr sz="1400">
              <a:solidFill>
                <a:srgbClr val="273540"/>
              </a:solidFill>
              <a:highlight>
                <a:srgbClr val="FFFFFF"/>
              </a:highlight>
              <a:latin typeface="Arial"/>
              <a:ea typeface="Arial"/>
              <a:cs typeface="Arial"/>
              <a:sym typeface="Arial"/>
            </a:endParaRPr>
          </a:p>
          <a:p>
            <a:pPr indent="0" lvl="0" marL="0" rtl="0" algn="l">
              <a:spcBef>
                <a:spcPts val="900"/>
              </a:spcBef>
              <a:spcAft>
                <a:spcPts val="900"/>
              </a:spcAft>
              <a:buNone/>
            </a:pPr>
            <a:r>
              <a:rPr lang="zh-CN" sz="1400">
                <a:solidFill>
                  <a:srgbClr val="273540"/>
                </a:solidFill>
                <a:highlight>
                  <a:srgbClr val="FFFFFF"/>
                </a:highlight>
                <a:latin typeface="Arial"/>
                <a:ea typeface="Arial"/>
                <a:cs typeface="Arial"/>
                <a:sym typeface="Arial"/>
              </a:rPr>
              <a:t>写人作文的基本步骤：</a:t>
            </a:r>
            <a:br>
              <a:rPr lang="zh-CN" sz="1400">
                <a:solidFill>
                  <a:srgbClr val="273540"/>
                </a:solidFill>
                <a:highlight>
                  <a:srgbClr val="FFFFFF"/>
                </a:highlight>
                <a:latin typeface="Arial"/>
                <a:ea typeface="Arial"/>
                <a:cs typeface="Arial"/>
                <a:sym typeface="Arial"/>
              </a:rPr>
            </a:br>
            <a:r>
              <a:rPr lang="zh-CN" sz="1400">
                <a:solidFill>
                  <a:srgbClr val="273540"/>
                </a:solidFill>
                <a:highlight>
                  <a:srgbClr val="FFFFFF"/>
                </a:highlight>
                <a:latin typeface="Arial"/>
                <a:ea typeface="Arial"/>
                <a:cs typeface="Arial"/>
                <a:sym typeface="Arial"/>
              </a:rPr>
              <a:t>第一、细心审题，弄清题目要求。  （审题）</a:t>
            </a:r>
            <a:br>
              <a:rPr lang="zh-CN" sz="1400">
                <a:solidFill>
                  <a:srgbClr val="273540"/>
                </a:solidFill>
                <a:highlight>
                  <a:srgbClr val="FFFFFF"/>
                </a:highlight>
                <a:latin typeface="Arial"/>
                <a:ea typeface="Arial"/>
                <a:cs typeface="Arial"/>
                <a:sym typeface="Arial"/>
              </a:rPr>
            </a:br>
            <a:r>
              <a:rPr lang="zh-CN" sz="1400">
                <a:solidFill>
                  <a:srgbClr val="273540"/>
                </a:solidFill>
                <a:highlight>
                  <a:srgbClr val="FFFFFF"/>
                </a:highlight>
                <a:latin typeface="Arial"/>
                <a:ea typeface="Arial"/>
                <a:cs typeface="Arial"/>
                <a:sym typeface="Arial"/>
              </a:rPr>
              <a:t>第二、确定好所写人物的品德。  突出人物性格品质，反映人物文化特征。 （立意）</a:t>
            </a:r>
            <a:br>
              <a:rPr lang="zh-CN" sz="1400">
                <a:solidFill>
                  <a:srgbClr val="273540"/>
                </a:solidFill>
                <a:highlight>
                  <a:srgbClr val="FFFFFF"/>
                </a:highlight>
                <a:latin typeface="Arial"/>
                <a:ea typeface="Arial"/>
                <a:cs typeface="Arial"/>
                <a:sym typeface="Arial"/>
              </a:rPr>
            </a:br>
            <a:r>
              <a:rPr lang="zh-CN" sz="1400">
                <a:solidFill>
                  <a:srgbClr val="273540"/>
                </a:solidFill>
                <a:highlight>
                  <a:srgbClr val="FFFFFF"/>
                </a:highlight>
                <a:latin typeface="Arial"/>
                <a:ea typeface="Arial"/>
                <a:cs typeface="Arial"/>
                <a:sym typeface="Arial"/>
              </a:rPr>
              <a:t>第三、依据要表现的品德选择两个或几个具体事例进行具体描写。选典型的材料：最能说明人物性格品质，反映人物文化特征的材料。（选材）</a:t>
            </a:r>
            <a:br>
              <a:rPr lang="zh-CN" sz="1400">
                <a:solidFill>
                  <a:srgbClr val="273540"/>
                </a:solidFill>
                <a:highlight>
                  <a:srgbClr val="FFFFFF"/>
                </a:highlight>
                <a:latin typeface="Arial"/>
                <a:ea typeface="Arial"/>
                <a:cs typeface="Arial"/>
                <a:sym typeface="Arial"/>
              </a:rPr>
            </a:br>
            <a:r>
              <a:rPr lang="zh-CN" sz="1400">
                <a:solidFill>
                  <a:srgbClr val="273540"/>
                </a:solidFill>
                <a:highlight>
                  <a:srgbClr val="FFFFFF"/>
                </a:highlight>
                <a:latin typeface="Arial"/>
                <a:ea typeface="Arial"/>
                <a:cs typeface="Arial"/>
                <a:sym typeface="Arial"/>
              </a:rPr>
              <a:t>第四、据所选材料的情况，按时间或材料类别布局。采用多种手法描写人物：外貌描写、语言描写、动作描写、心理描写、神态描写——选择最能表现突出人物形象的来写  （布局）</a:t>
            </a:r>
            <a:br>
              <a:rPr lang="zh-CN" sz="1400">
                <a:solidFill>
                  <a:srgbClr val="273540"/>
                </a:solidFill>
                <a:highlight>
                  <a:srgbClr val="FFFFFF"/>
                </a:highlight>
                <a:latin typeface="Arial"/>
                <a:ea typeface="Arial"/>
                <a:cs typeface="Arial"/>
                <a:sym typeface="Arial"/>
              </a:rPr>
            </a:br>
            <a:r>
              <a:rPr lang="zh-CN" sz="1400">
                <a:solidFill>
                  <a:srgbClr val="273540"/>
                </a:solidFill>
                <a:highlight>
                  <a:srgbClr val="FFFFFF"/>
                </a:highlight>
                <a:latin typeface="Arial"/>
                <a:ea typeface="Arial"/>
                <a:cs typeface="Arial"/>
                <a:sym typeface="Arial"/>
              </a:rPr>
              <a:t>第五：总结全文，点题照应（点题）</a:t>
            </a:r>
            <a:endParaRPr sz="20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10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卷一/指导写作 训练</a:t>
            </a:r>
            <a:endParaRPr/>
          </a:p>
        </p:txBody>
      </p:sp>
      <p:sp>
        <p:nvSpPr>
          <p:cNvPr id="1080" name="Google Shape;1080;p108"/>
          <p:cNvSpPr txBox="1"/>
          <p:nvPr>
            <p:ph idx="1" type="body"/>
          </p:nvPr>
        </p:nvSpPr>
        <p:spPr>
          <a:xfrm>
            <a:off x="311700" y="1234075"/>
            <a:ext cx="27051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CN"/>
              <a:t>文本部分</a:t>
            </a:r>
            <a:endParaRPr/>
          </a:p>
        </p:txBody>
      </p:sp>
      <p:pic>
        <p:nvPicPr>
          <p:cNvPr id="1081" name="Google Shape;1081;p108" title="Screenshot 2025-09-16 at 10.41.36 PM.png"/>
          <p:cNvPicPr preferRelativeResize="0"/>
          <p:nvPr/>
        </p:nvPicPr>
        <p:blipFill>
          <a:blip r:embed="rId3">
            <a:alphaModFix/>
          </a:blip>
          <a:stretch>
            <a:fillRect/>
          </a:stretch>
        </p:blipFill>
        <p:spPr>
          <a:xfrm>
            <a:off x="3490792" y="0"/>
            <a:ext cx="5653218" cy="5143501"/>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09"/>
          <p:cNvSpPr txBox="1"/>
          <p:nvPr>
            <p:ph idx="1" type="body"/>
          </p:nvPr>
        </p:nvSpPr>
        <p:spPr>
          <a:xfrm>
            <a:off x="144025" y="0"/>
            <a:ext cx="8834100" cy="5143500"/>
          </a:xfrm>
          <a:prstGeom prst="rect">
            <a:avLst/>
          </a:prstGeom>
        </p:spPr>
        <p:txBody>
          <a:bodyPr anchorCtr="0" anchor="t" bIns="91425" lIns="91425" spcFirstLastPara="1" rIns="91425" wrap="square" tIns="91425">
            <a:noAutofit/>
          </a:bodyPr>
          <a:lstStyle/>
          <a:p>
            <a:pPr indent="0" lvl="0" marL="0" rtl="0" algn="l">
              <a:lnSpc>
                <a:spcPct val="85000"/>
              </a:lnSpc>
              <a:spcBef>
                <a:spcPts val="1200"/>
              </a:spcBef>
              <a:spcAft>
                <a:spcPts val="0"/>
              </a:spcAft>
              <a:buClr>
                <a:schemeClr val="dk2"/>
              </a:buClr>
              <a:buSzPts val="853"/>
              <a:buFont typeface="Arial"/>
              <a:buNone/>
            </a:pPr>
            <a:r>
              <a:rPr b="1" lang="zh-CN" sz="1495">
                <a:solidFill>
                  <a:srgbClr val="0000FF"/>
                </a:solidFill>
                <a:latin typeface="STKaiti"/>
                <a:ea typeface="STKaiti"/>
                <a:cs typeface="STKaiti"/>
                <a:sym typeface="STKaiti"/>
              </a:rPr>
              <a:t>短文二</a:t>
            </a:r>
            <a:r>
              <a:rPr lang="zh-CN" sz="1495">
                <a:latin typeface="STKaiti"/>
                <a:ea typeface="STKaiti"/>
                <a:cs typeface="STKaiti"/>
                <a:sym typeface="STKaiti"/>
              </a:rPr>
              <a:t>：在一场面向中学生的心理座谈会上，一些青少年分享了在学习方面存在的问题：“害怕考不好，在同学面前丢脸”“明明花了很多时间，却总觉得时间不够”“白天不想学，晚上睡不着，每天都处于焦躁状态”“在学习上有挫败感，怎么做都满足不了长辈的期待”“对学习提不起兴趣，总想着玩游戏”“明明有作业要完成，就是不想动”……诸如此类的问题反馈，在一定程度上说明了青少年普遍存在着心理压力过大的问题。除却在心理上产生厌学、拖拉严重、焦躁等问题，在生理上还可能会出现食欲不振、失眠、睡眠质量差的问题。</a:t>
            </a:r>
            <a:endParaRPr sz="1495">
              <a:latin typeface="STKaiti"/>
              <a:ea typeface="STKaiti"/>
              <a:cs typeface="STKaiti"/>
              <a:sym typeface="STKaiti"/>
            </a:endParaRPr>
          </a:p>
          <a:p>
            <a:pPr indent="0" lvl="0" marL="0" rtl="0" algn="l">
              <a:lnSpc>
                <a:spcPct val="85000"/>
              </a:lnSpc>
              <a:spcBef>
                <a:spcPts val="1200"/>
              </a:spcBef>
              <a:spcAft>
                <a:spcPts val="0"/>
              </a:spcAft>
              <a:buClr>
                <a:schemeClr val="dk2"/>
              </a:buClr>
              <a:buSzPts val="853"/>
              <a:buFont typeface="Arial"/>
              <a:buNone/>
            </a:pPr>
            <a:r>
              <a:rPr lang="zh-CN" sz="1495">
                <a:latin typeface="STKaiti"/>
                <a:ea typeface="STKaiti"/>
                <a:cs typeface="STKaiti"/>
                <a:sym typeface="STKaiti"/>
              </a:rPr>
              <a:t>减轻学生的心理压力，为学生松绑减负是近几年世界各地教育界一直重视的问题，虽然很多国家的政府都推出了一系列政策推动教育减负，但总体而言，学生身上的负担越减越重。为何会出现这种现象？从事教育的吴老师表示造成“越减越重”的原因是多方面的、复杂的。教育部门的减负政策落地阻力太大，现行的基础教育观念依旧是“看分数、看排名、看升学率”，对于学校的评价也是单一的，其指标就是录取率，学校即使有心贯彻教育部门的减负政策，也难以满足家长们“不能让孩子输在起跑线上”的育儿理念。再者，校外培训机构抓住家长们“望子成龙”的心理发展业务，家长们也热衷于为孩子报名类辅导班、培训班。</a:t>
            </a:r>
            <a:endParaRPr sz="1495">
              <a:latin typeface="STKaiti"/>
              <a:ea typeface="STKaiti"/>
              <a:cs typeface="STKaiti"/>
              <a:sym typeface="STKaiti"/>
            </a:endParaRPr>
          </a:p>
          <a:p>
            <a:pPr indent="0" lvl="0" marL="0" rtl="0" algn="l">
              <a:lnSpc>
                <a:spcPct val="85000"/>
              </a:lnSpc>
              <a:spcBef>
                <a:spcPts val="1200"/>
              </a:spcBef>
              <a:spcAft>
                <a:spcPts val="0"/>
              </a:spcAft>
              <a:buClr>
                <a:schemeClr val="dk2"/>
              </a:buClr>
              <a:buSzPts val="853"/>
              <a:buFont typeface="Arial"/>
              <a:buNone/>
            </a:pPr>
            <a:r>
              <a:rPr b="1" lang="zh-CN" sz="1495">
                <a:solidFill>
                  <a:srgbClr val="0000FF"/>
                </a:solidFill>
                <a:latin typeface="STKaiti"/>
                <a:ea typeface="STKaiti"/>
                <a:cs typeface="STKaiti"/>
                <a:sym typeface="STKaiti"/>
              </a:rPr>
              <a:t>短文三</a:t>
            </a:r>
            <a:r>
              <a:rPr lang="zh-CN" sz="1495">
                <a:latin typeface="STKaiti"/>
                <a:ea typeface="STKaiti"/>
                <a:cs typeface="STKaiti"/>
                <a:sym typeface="STKaiti"/>
              </a:rPr>
              <a:t>：王启明是一位在全中国英语竞赛中取得过优异成绩的中学生。这个刚刚以高分被南京外国语学校录取的大男孩谈到学习时，却是用“快乐”两字。</a:t>
            </a:r>
            <a:endParaRPr sz="1495">
              <a:latin typeface="STKaiti"/>
              <a:ea typeface="STKaiti"/>
              <a:cs typeface="STKaiti"/>
              <a:sym typeface="STKaiti"/>
            </a:endParaRPr>
          </a:p>
          <a:p>
            <a:pPr indent="0" lvl="0" marL="0" rtl="0" algn="l">
              <a:lnSpc>
                <a:spcPct val="85000"/>
              </a:lnSpc>
              <a:spcBef>
                <a:spcPts val="1200"/>
              </a:spcBef>
              <a:spcAft>
                <a:spcPts val="1200"/>
              </a:spcAft>
              <a:buSzPts val="853"/>
              <a:buNone/>
            </a:pPr>
            <a:r>
              <a:rPr lang="zh-CN" sz="1495">
                <a:latin typeface="STKaiti"/>
                <a:ea typeface="STKaiti"/>
                <a:cs typeface="STKaiti"/>
                <a:sym typeface="STKaiti"/>
              </a:rPr>
              <a:t>快乐源于兴趣。兴趣是学习的动力，一方面，可以让自己在学校的功课中找到兴趣点和成就感，避免把学习看作负担；另一方面，可以发展兴趣爱好，打篮球、踢足球、阅读课外书籍、下棋等等，增加愉快体验感，适度地用来奖励和激励自己更高效地学习。当然，王同学表示高效离不开方法。学习方法因人而异，照搬照抄成绩优秀同学的学习方法来指导自己学习，未必会适合自己，所以还是需要自己在学习中摸索。</a:t>
            </a:r>
            <a:endParaRPr sz="1495">
              <a:latin typeface="STKaiti"/>
              <a:ea typeface="STKaiti"/>
              <a:cs typeface="STKaiti"/>
              <a:sym typeface="STKait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1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题目要求</a:t>
            </a:r>
            <a:endParaRPr/>
          </a:p>
        </p:txBody>
      </p:sp>
      <p:sp>
        <p:nvSpPr>
          <p:cNvPr id="1092" name="Google Shape;1092;p110"/>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93" name="Google Shape;1093;p110" title="Screenshot 2025-09-16 at 10.42.36 PM.png"/>
          <p:cNvPicPr preferRelativeResize="0"/>
          <p:nvPr/>
        </p:nvPicPr>
        <p:blipFill>
          <a:blip r:embed="rId3">
            <a:alphaModFix/>
          </a:blip>
          <a:stretch>
            <a:fillRect/>
          </a:stretch>
        </p:blipFill>
        <p:spPr>
          <a:xfrm>
            <a:off x="2189898" y="0"/>
            <a:ext cx="6954104" cy="5143499"/>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1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答案要点</a:t>
            </a:r>
            <a:endParaRPr/>
          </a:p>
        </p:txBody>
      </p:sp>
      <p:pic>
        <p:nvPicPr>
          <p:cNvPr id="1099" name="Google Shape;1099;p111" title="Screenshot 2025-09-16 at 10.43.30 PM.png"/>
          <p:cNvPicPr preferRelativeResize="0"/>
          <p:nvPr/>
        </p:nvPicPr>
        <p:blipFill rotWithShape="1">
          <a:blip r:embed="rId3">
            <a:alphaModFix/>
          </a:blip>
          <a:srcRect b="0" l="0" r="0" t="9910"/>
          <a:stretch/>
        </p:blipFill>
        <p:spPr>
          <a:xfrm>
            <a:off x="4035021" y="0"/>
            <a:ext cx="5108979" cy="5143500"/>
          </a:xfrm>
          <a:prstGeom prst="rect">
            <a:avLst/>
          </a:prstGeom>
          <a:noFill/>
          <a:ln>
            <a:noFill/>
          </a:ln>
        </p:spPr>
      </p:pic>
      <p:sp>
        <p:nvSpPr>
          <p:cNvPr id="1100" name="Google Shape;1100;p111"/>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要点一共15个，15分。</a:t>
            </a:r>
            <a:endParaRPr/>
          </a:p>
          <a:p>
            <a:pPr indent="0" lvl="0" marL="0" rtl="0" algn="l">
              <a:spcBef>
                <a:spcPts val="1200"/>
              </a:spcBef>
              <a:spcAft>
                <a:spcPts val="1200"/>
              </a:spcAft>
              <a:buNone/>
            </a:pPr>
            <a:r>
              <a:rPr lang="zh-CN"/>
              <a:t>每个部分5分，共三个部分。</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1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例文</a:t>
            </a:r>
            <a:endParaRPr/>
          </a:p>
        </p:txBody>
      </p:sp>
      <p:pic>
        <p:nvPicPr>
          <p:cNvPr id="1106" name="Google Shape;1106;p112" title="Screenshot 2025-09-16 at 10.44.07 PM.png"/>
          <p:cNvPicPr preferRelativeResize="0"/>
          <p:nvPr/>
        </p:nvPicPr>
        <p:blipFill>
          <a:blip r:embed="rId3">
            <a:alphaModFix/>
          </a:blip>
          <a:stretch>
            <a:fillRect/>
          </a:stretch>
        </p:blipFill>
        <p:spPr>
          <a:xfrm>
            <a:off x="2259886" y="0"/>
            <a:ext cx="6884113" cy="3242400"/>
          </a:xfrm>
          <a:prstGeom prst="rect">
            <a:avLst/>
          </a:prstGeom>
          <a:noFill/>
          <a:ln>
            <a:noFill/>
          </a:ln>
        </p:spPr>
      </p:pic>
      <p:pic>
        <p:nvPicPr>
          <p:cNvPr id="1107" name="Google Shape;1107;p112" title="Screenshot 2025-09-16 at 10.44.32 PM.png"/>
          <p:cNvPicPr preferRelativeResize="0"/>
          <p:nvPr/>
        </p:nvPicPr>
        <p:blipFill>
          <a:blip r:embed="rId4">
            <a:alphaModFix/>
          </a:blip>
          <a:stretch>
            <a:fillRect/>
          </a:stretch>
        </p:blipFill>
        <p:spPr>
          <a:xfrm>
            <a:off x="2304750" y="3182075"/>
            <a:ext cx="6706849" cy="1961425"/>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1111" name="Shape 1111"/>
        <p:cNvGrpSpPr/>
        <p:nvPr/>
      </p:nvGrpSpPr>
      <p:grpSpPr>
        <a:xfrm>
          <a:off x="0" y="0"/>
          <a:ext cx="0" cy="0"/>
          <a:chOff x="0" y="0"/>
          <a:chExt cx="0" cy="0"/>
        </a:xfrm>
      </p:grpSpPr>
      <p:sp>
        <p:nvSpPr>
          <p:cNvPr id="1112" name="Google Shape;1112;p113"/>
          <p:cNvSpPr txBox="1"/>
          <p:nvPr>
            <p:ph type="title"/>
          </p:nvPr>
        </p:nvSpPr>
        <p:spPr>
          <a:xfrm>
            <a:off x="311700" y="290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答题策略</a:t>
            </a:r>
            <a:endParaRPr/>
          </a:p>
        </p:txBody>
      </p:sp>
      <p:sp>
        <p:nvSpPr>
          <p:cNvPr id="1113" name="Google Shape;1113;p113"/>
          <p:cNvSpPr txBox="1"/>
          <p:nvPr>
            <p:ph idx="1" type="body"/>
          </p:nvPr>
        </p:nvSpPr>
        <p:spPr>
          <a:xfrm>
            <a:off x="1327025" y="995275"/>
            <a:ext cx="7505100" cy="4037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2"/>
              </a:buClr>
              <a:buSzPts val="1100"/>
              <a:buFont typeface="Arial"/>
              <a:buNone/>
            </a:pPr>
            <a:r>
              <a:rPr lang="zh-CN" sz="1300">
                <a:latin typeface="Arial"/>
                <a:ea typeface="Arial"/>
                <a:cs typeface="Arial"/>
                <a:sym typeface="Arial"/>
              </a:rPr>
              <a:t>第一步：三个要点，分别标注为1、2、3</a:t>
            </a:r>
            <a:endParaRPr sz="1300">
              <a:latin typeface="Arial"/>
              <a:ea typeface="Arial"/>
              <a:cs typeface="Arial"/>
              <a:sym typeface="Arial"/>
            </a:endParaRPr>
          </a:p>
          <a:p>
            <a:pPr indent="0" lvl="0" marL="0" rtl="0" algn="l">
              <a:lnSpc>
                <a:spcPct val="95000"/>
              </a:lnSpc>
              <a:spcBef>
                <a:spcPts val="0"/>
              </a:spcBef>
              <a:spcAft>
                <a:spcPts val="0"/>
              </a:spcAft>
              <a:buClr>
                <a:schemeClr val="dk2"/>
              </a:buClr>
              <a:buSzPts val="1100"/>
              <a:buFont typeface="Arial"/>
              <a:buNone/>
            </a:pPr>
            <a:r>
              <a:t/>
            </a:r>
            <a:endParaRPr sz="1300">
              <a:latin typeface="Arial"/>
              <a:ea typeface="Arial"/>
              <a:cs typeface="Arial"/>
              <a:sym typeface="Arial"/>
            </a:endParaRPr>
          </a:p>
          <a:p>
            <a:pPr indent="0" lvl="0" marL="0" rtl="0" algn="l">
              <a:lnSpc>
                <a:spcPct val="95000"/>
              </a:lnSpc>
              <a:spcBef>
                <a:spcPts val="0"/>
              </a:spcBef>
              <a:spcAft>
                <a:spcPts val="0"/>
              </a:spcAft>
              <a:buClr>
                <a:schemeClr val="dk2"/>
              </a:buClr>
              <a:buSzPts val="1100"/>
              <a:buFont typeface="Arial"/>
              <a:buNone/>
            </a:pPr>
            <a:r>
              <a:rPr lang="zh-CN" sz="1300">
                <a:latin typeface="Arial"/>
                <a:ea typeface="Arial"/>
                <a:cs typeface="Arial"/>
                <a:sym typeface="Arial"/>
              </a:rPr>
              <a:t>第二步：在两篇短文里开始查找和三个要点相关的句子，每找到一个，划线并标注数字，最终的短文中标注的数字应该是：</a:t>
            </a:r>
            <a:endParaRPr sz="1300">
              <a:latin typeface="Arial"/>
              <a:ea typeface="Arial"/>
              <a:cs typeface="Arial"/>
              <a:sym typeface="Arial"/>
            </a:endParaRPr>
          </a:p>
          <a:p>
            <a:pPr indent="-311150" lvl="0" marL="457200" rtl="0" algn="l">
              <a:lnSpc>
                <a:spcPct val="95000"/>
              </a:lnSpc>
              <a:spcBef>
                <a:spcPts val="0"/>
              </a:spcBef>
              <a:spcAft>
                <a:spcPts val="0"/>
              </a:spcAft>
              <a:buSzPts val="1300"/>
              <a:buFont typeface="Arial"/>
              <a:buChar char="●"/>
            </a:pPr>
            <a:r>
              <a:rPr lang="zh-CN" sz="1300">
                <a:latin typeface="Arial"/>
                <a:ea typeface="Arial"/>
                <a:cs typeface="Arial"/>
                <a:sym typeface="Arial"/>
              </a:rPr>
              <a:t>1.1、1.2、1.3、1.4、1.5</a:t>
            </a:r>
            <a:endParaRPr sz="1300">
              <a:latin typeface="Arial"/>
              <a:ea typeface="Arial"/>
              <a:cs typeface="Arial"/>
              <a:sym typeface="Arial"/>
            </a:endParaRPr>
          </a:p>
          <a:p>
            <a:pPr indent="-311150" lvl="0" marL="457200" rtl="0" algn="l">
              <a:lnSpc>
                <a:spcPct val="95000"/>
              </a:lnSpc>
              <a:spcBef>
                <a:spcPts val="0"/>
              </a:spcBef>
              <a:spcAft>
                <a:spcPts val="0"/>
              </a:spcAft>
              <a:buSzPts val="1300"/>
              <a:buFont typeface="Arial"/>
              <a:buChar char="●"/>
            </a:pPr>
            <a:r>
              <a:rPr lang="zh-CN" sz="1300">
                <a:latin typeface="Arial"/>
                <a:ea typeface="Arial"/>
                <a:cs typeface="Arial"/>
                <a:sym typeface="Arial"/>
              </a:rPr>
              <a:t>2.1、2.2、2.3、2.4、2.5</a:t>
            </a:r>
            <a:endParaRPr sz="1300">
              <a:latin typeface="Arial"/>
              <a:ea typeface="Arial"/>
              <a:cs typeface="Arial"/>
              <a:sym typeface="Arial"/>
            </a:endParaRPr>
          </a:p>
          <a:p>
            <a:pPr indent="-311150" lvl="0" marL="457200" rtl="0" algn="l">
              <a:lnSpc>
                <a:spcPct val="95000"/>
              </a:lnSpc>
              <a:spcBef>
                <a:spcPts val="0"/>
              </a:spcBef>
              <a:spcAft>
                <a:spcPts val="0"/>
              </a:spcAft>
              <a:buSzPts val="1300"/>
              <a:buFont typeface="Arial"/>
              <a:buChar char="●"/>
            </a:pPr>
            <a:r>
              <a:rPr lang="zh-CN" sz="1300">
                <a:latin typeface="Arial"/>
                <a:ea typeface="Arial"/>
                <a:cs typeface="Arial"/>
                <a:sym typeface="Arial"/>
              </a:rPr>
              <a:t>3.1、3.2、3.3、3.4、3.5</a:t>
            </a:r>
            <a:endParaRPr sz="1300">
              <a:latin typeface="Arial"/>
              <a:ea typeface="Arial"/>
              <a:cs typeface="Arial"/>
              <a:sym typeface="Arial"/>
            </a:endParaRPr>
          </a:p>
          <a:p>
            <a:pPr indent="0" lvl="0" marL="0" rtl="0" algn="l">
              <a:lnSpc>
                <a:spcPct val="95000"/>
              </a:lnSpc>
              <a:spcBef>
                <a:spcPts val="0"/>
              </a:spcBef>
              <a:spcAft>
                <a:spcPts val="0"/>
              </a:spcAft>
              <a:buNone/>
            </a:pPr>
            <a:r>
              <a:rPr lang="zh-CN" sz="1300">
                <a:latin typeface="Arial"/>
                <a:ea typeface="Arial"/>
                <a:cs typeface="Arial"/>
                <a:sym typeface="Arial"/>
              </a:rPr>
              <a:t>第三步：根据找到的要点进行梳理，用适当的结构把短文写出来。</a:t>
            </a:r>
            <a:endParaRPr sz="1300">
              <a:latin typeface="Arial"/>
              <a:ea typeface="Arial"/>
              <a:cs typeface="Arial"/>
              <a:sym typeface="Arial"/>
            </a:endParaRPr>
          </a:p>
          <a:p>
            <a:pPr indent="0" lvl="0" marL="0" rtl="0" algn="l">
              <a:lnSpc>
                <a:spcPct val="95000"/>
              </a:lnSpc>
              <a:spcBef>
                <a:spcPts val="0"/>
              </a:spcBef>
              <a:spcAft>
                <a:spcPts val="0"/>
              </a:spcAft>
              <a:buNone/>
            </a:pPr>
            <a:r>
              <a:t/>
            </a:r>
            <a:endParaRPr sz="1300">
              <a:latin typeface="Arial"/>
              <a:ea typeface="Arial"/>
              <a:cs typeface="Arial"/>
              <a:sym typeface="Arial"/>
            </a:endParaRPr>
          </a:p>
          <a:p>
            <a:pPr indent="0" lvl="0" marL="0" rtl="0" algn="l">
              <a:lnSpc>
                <a:spcPct val="95000"/>
              </a:lnSpc>
              <a:spcBef>
                <a:spcPts val="0"/>
              </a:spcBef>
              <a:spcAft>
                <a:spcPts val="0"/>
              </a:spcAft>
              <a:buNone/>
            </a:pPr>
            <a:r>
              <a:rPr b="1" lang="zh-CN" sz="1300">
                <a:solidFill>
                  <a:srgbClr val="980000"/>
                </a:solidFill>
                <a:latin typeface="Arial"/>
                <a:ea typeface="Arial"/>
                <a:cs typeface="Arial"/>
                <a:sym typeface="Arial"/>
              </a:rPr>
              <a:t>注意事项（包括可以避免的常见错误）</a:t>
            </a:r>
            <a:endParaRPr b="1" sz="1300">
              <a:solidFill>
                <a:srgbClr val="980000"/>
              </a:solidFill>
              <a:latin typeface="Arial"/>
              <a:ea typeface="Arial"/>
              <a:cs typeface="Arial"/>
              <a:sym typeface="Arial"/>
            </a:endParaRPr>
          </a:p>
          <a:p>
            <a:pPr indent="-311150" lvl="0" marL="457200" rtl="0" algn="l">
              <a:lnSpc>
                <a:spcPct val="95000"/>
              </a:lnSpc>
              <a:spcBef>
                <a:spcPts val="0"/>
              </a:spcBef>
              <a:spcAft>
                <a:spcPts val="0"/>
              </a:spcAft>
              <a:buSzPts val="1300"/>
              <a:buFont typeface="Arial"/>
              <a:buAutoNum type="arabicPeriod"/>
            </a:pPr>
            <a:r>
              <a:rPr lang="zh-CN" sz="1300">
                <a:latin typeface="Arial"/>
                <a:ea typeface="Arial"/>
                <a:cs typeface="Arial"/>
                <a:sym typeface="Arial"/>
              </a:rPr>
              <a:t>避免大段抄写原文。</a:t>
            </a:r>
            <a:endParaRPr sz="1300">
              <a:latin typeface="Arial"/>
              <a:ea typeface="Arial"/>
              <a:cs typeface="Arial"/>
              <a:sym typeface="Arial"/>
            </a:endParaRPr>
          </a:p>
          <a:p>
            <a:pPr indent="-311150" lvl="0" marL="457200" rtl="0" algn="l">
              <a:lnSpc>
                <a:spcPct val="95000"/>
              </a:lnSpc>
              <a:spcBef>
                <a:spcPts val="0"/>
              </a:spcBef>
              <a:spcAft>
                <a:spcPts val="0"/>
              </a:spcAft>
              <a:buSzPts val="1300"/>
              <a:buFont typeface="Arial"/>
              <a:buAutoNum type="arabicPeriod"/>
            </a:pPr>
            <a:r>
              <a:rPr lang="zh-CN" sz="1300">
                <a:latin typeface="Arial"/>
                <a:ea typeface="Arial"/>
                <a:cs typeface="Arial"/>
                <a:sym typeface="Arial"/>
              </a:rPr>
              <a:t>避免添加自己的观点。</a:t>
            </a:r>
            <a:endParaRPr sz="1300">
              <a:latin typeface="Arial"/>
              <a:ea typeface="Arial"/>
              <a:cs typeface="Arial"/>
              <a:sym typeface="Arial"/>
            </a:endParaRPr>
          </a:p>
          <a:p>
            <a:pPr indent="-311150" lvl="0" marL="457200" rtl="0" algn="l">
              <a:lnSpc>
                <a:spcPct val="95000"/>
              </a:lnSpc>
              <a:spcBef>
                <a:spcPts val="0"/>
              </a:spcBef>
              <a:spcAft>
                <a:spcPts val="0"/>
              </a:spcAft>
              <a:buSzPts val="1300"/>
              <a:buFont typeface="Arial"/>
              <a:buAutoNum type="arabicPeriod"/>
            </a:pPr>
            <a:r>
              <a:rPr lang="zh-CN" sz="1300">
                <a:latin typeface="Arial"/>
                <a:ea typeface="Arial"/>
                <a:cs typeface="Arial"/>
                <a:sym typeface="Arial"/>
              </a:rPr>
              <a:t>文章应该有议论文的结构，通常分三段：什么现象、为什么、应该怎么办等。</a:t>
            </a:r>
            <a:endParaRPr sz="1300">
              <a:latin typeface="Arial"/>
              <a:ea typeface="Arial"/>
              <a:cs typeface="Arial"/>
              <a:sym typeface="Arial"/>
            </a:endParaRPr>
          </a:p>
          <a:p>
            <a:pPr indent="0" lvl="0" marL="0" rtl="0" algn="l">
              <a:lnSpc>
                <a:spcPct val="95000"/>
              </a:lnSpc>
              <a:spcBef>
                <a:spcPts val="0"/>
              </a:spcBef>
              <a:spcAft>
                <a:spcPts val="0"/>
              </a:spcAft>
              <a:buNone/>
            </a:pPr>
            <a:r>
              <a:t/>
            </a:r>
            <a:endParaRPr sz="1300">
              <a:latin typeface="Arial"/>
              <a:ea typeface="Arial"/>
              <a:cs typeface="Arial"/>
              <a:sym typeface="Arial"/>
            </a:endParaRPr>
          </a:p>
          <a:p>
            <a:pPr indent="0" lvl="0" marL="0" rtl="0" algn="l">
              <a:lnSpc>
                <a:spcPct val="95000"/>
              </a:lnSpc>
              <a:spcBef>
                <a:spcPts val="0"/>
              </a:spcBef>
              <a:spcAft>
                <a:spcPts val="0"/>
              </a:spcAft>
              <a:buNone/>
            </a:pPr>
            <a:r>
              <a:rPr b="1" lang="zh-CN" sz="1300">
                <a:highlight>
                  <a:srgbClr val="FFFF00"/>
                </a:highlight>
                <a:latin typeface="Arial"/>
                <a:ea typeface="Arial"/>
                <a:cs typeface="Arial"/>
                <a:sym typeface="Arial"/>
              </a:rPr>
              <a:t>分数换算</a:t>
            </a:r>
            <a:endParaRPr b="1" sz="1300">
              <a:highlight>
                <a:srgbClr val="FFFF00"/>
              </a:highlight>
              <a:latin typeface="Arial"/>
              <a:ea typeface="Arial"/>
              <a:cs typeface="Arial"/>
              <a:sym typeface="Arial"/>
            </a:endParaRPr>
          </a:p>
          <a:p>
            <a:pPr indent="-311150" lvl="0" marL="457200" rtl="0" algn="l">
              <a:lnSpc>
                <a:spcPct val="95000"/>
              </a:lnSpc>
              <a:spcBef>
                <a:spcPts val="0"/>
              </a:spcBef>
              <a:spcAft>
                <a:spcPts val="0"/>
              </a:spcAft>
              <a:buClr>
                <a:srgbClr val="FF0000"/>
              </a:buClr>
              <a:buSzPts val="1300"/>
              <a:buFont typeface="Arial"/>
              <a:buChar char="●"/>
            </a:pPr>
            <a:r>
              <a:rPr lang="zh-CN" sz="1300">
                <a:solidFill>
                  <a:srgbClr val="FF0000"/>
                </a:solidFill>
                <a:latin typeface="Arial"/>
                <a:ea typeface="Arial"/>
                <a:cs typeface="Arial"/>
                <a:sym typeface="Arial"/>
              </a:rPr>
              <a:t>一般情况，三个部分没有0分的，按照分数综合加1计算，比如（2+3+5）+1=10。</a:t>
            </a:r>
            <a:endParaRPr sz="1300">
              <a:solidFill>
                <a:srgbClr val="FF0000"/>
              </a:solidFill>
              <a:latin typeface="Arial"/>
              <a:ea typeface="Arial"/>
              <a:cs typeface="Arial"/>
              <a:sym typeface="Arial"/>
            </a:endParaRPr>
          </a:p>
          <a:p>
            <a:pPr indent="-311150" lvl="0" marL="457200" rtl="0" algn="l">
              <a:lnSpc>
                <a:spcPct val="95000"/>
              </a:lnSpc>
              <a:spcBef>
                <a:spcPts val="0"/>
              </a:spcBef>
              <a:spcAft>
                <a:spcPts val="0"/>
              </a:spcAft>
              <a:buClr>
                <a:srgbClr val="FF0000"/>
              </a:buClr>
              <a:buSzPts val="1300"/>
              <a:buFont typeface="Arial"/>
              <a:buChar char="●"/>
            </a:pPr>
            <a:r>
              <a:rPr lang="zh-CN" sz="1300">
                <a:solidFill>
                  <a:srgbClr val="FF0000"/>
                </a:solidFill>
                <a:latin typeface="Arial"/>
                <a:ea typeface="Arial"/>
                <a:cs typeface="Arial"/>
                <a:sym typeface="Arial"/>
              </a:rPr>
              <a:t>三个部分的要点有一个0分和两个5分的，按照（5+5+0）-1 = 9分计算。</a:t>
            </a:r>
            <a:endParaRPr sz="1300">
              <a:solidFill>
                <a:srgbClr val="FF0000"/>
              </a:solidFill>
              <a:latin typeface="Arial"/>
              <a:ea typeface="Arial"/>
              <a:cs typeface="Arial"/>
              <a:sym typeface="Arial"/>
            </a:endParaRPr>
          </a:p>
          <a:p>
            <a:pPr indent="-311150" lvl="0" marL="457200" rtl="0" algn="l">
              <a:lnSpc>
                <a:spcPct val="95000"/>
              </a:lnSpc>
              <a:spcBef>
                <a:spcPts val="0"/>
              </a:spcBef>
              <a:spcAft>
                <a:spcPts val="0"/>
              </a:spcAft>
              <a:buClr>
                <a:srgbClr val="FF0000"/>
              </a:buClr>
              <a:buSzPts val="1300"/>
              <a:buFont typeface="Arial"/>
              <a:buChar char="●"/>
            </a:pPr>
            <a:r>
              <a:rPr lang="zh-CN" sz="1300">
                <a:solidFill>
                  <a:srgbClr val="FF0000"/>
                </a:solidFill>
                <a:latin typeface="Arial"/>
                <a:ea typeface="Arial"/>
                <a:cs typeface="Arial"/>
                <a:sym typeface="Arial"/>
              </a:rPr>
              <a:t>三个部分的要点有一个0分，一个4分，一个5分的，不加不减，按照（5+4+0）=9分计算。</a:t>
            </a:r>
            <a:endParaRPr sz="1300">
              <a:solidFill>
                <a:srgbClr val="FF0000"/>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语言质量评分 10 分</a:t>
            </a:r>
            <a:endParaRPr/>
          </a:p>
        </p:txBody>
      </p:sp>
      <p:sp>
        <p:nvSpPr>
          <p:cNvPr id="1119" name="Google Shape;1119;p11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20" name="Google Shape;1120;p114" title="Screenshot 2026-09-09 at 11.47.39 AM.png"/>
          <p:cNvPicPr preferRelativeResize="0"/>
          <p:nvPr/>
        </p:nvPicPr>
        <p:blipFill>
          <a:blip r:embed="rId3">
            <a:alphaModFix/>
          </a:blip>
          <a:stretch>
            <a:fillRect/>
          </a:stretch>
        </p:blipFill>
        <p:spPr>
          <a:xfrm>
            <a:off x="3504300" y="0"/>
            <a:ext cx="5143501" cy="5143501"/>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语言质量</a:t>
            </a:r>
            <a:endParaRPr/>
          </a:p>
        </p:txBody>
      </p:sp>
      <p:sp>
        <p:nvSpPr>
          <p:cNvPr id="1126" name="Google Shape;1126;p115"/>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满分10分</a:t>
            </a:r>
            <a:endParaRPr/>
          </a:p>
          <a:p>
            <a:pPr indent="0" lvl="0" marL="0" rtl="0" algn="l">
              <a:spcBef>
                <a:spcPts val="1200"/>
              </a:spcBef>
              <a:spcAft>
                <a:spcPts val="0"/>
              </a:spcAft>
              <a:buNone/>
            </a:pPr>
            <a:r>
              <a:rPr lang="zh-CN"/>
              <a:t>评估标准</a:t>
            </a:r>
            <a:endParaRPr/>
          </a:p>
          <a:p>
            <a:pPr indent="0" lvl="0" marL="0" rtl="0" algn="l">
              <a:spcBef>
                <a:spcPts val="1200"/>
              </a:spcBef>
              <a:spcAft>
                <a:spcPts val="1200"/>
              </a:spcAft>
              <a:buNone/>
            </a:pPr>
            <a:r>
              <a:rPr lang="zh-CN"/>
              <a:t>中文版</a:t>
            </a:r>
            <a:endParaRPr/>
          </a:p>
        </p:txBody>
      </p:sp>
      <p:pic>
        <p:nvPicPr>
          <p:cNvPr id="1127" name="Google Shape;1127;p115"/>
          <p:cNvPicPr preferRelativeResize="0"/>
          <p:nvPr/>
        </p:nvPicPr>
        <p:blipFill rotWithShape="1">
          <a:blip r:embed="rId3">
            <a:alphaModFix/>
          </a:blip>
          <a:srcRect b="0" l="0" r="13956" t="10354"/>
          <a:stretch/>
        </p:blipFill>
        <p:spPr>
          <a:xfrm>
            <a:off x="2493630" y="-52825"/>
            <a:ext cx="6650371" cy="5196325"/>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[FA] </a:t>
            </a:r>
            <a:r>
              <a:rPr lang="zh-CN"/>
              <a:t>指导写作 Directed Writing (Paper 1 Section 2)</a:t>
            </a:r>
            <a:endParaRPr/>
          </a:p>
        </p:txBody>
      </p:sp>
      <p:sp>
        <p:nvSpPr>
          <p:cNvPr id="1133" name="Google Shape;1133;p116"/>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17"/>
          <p:cNvSpPr txBox="1"/>
          <p:nvPr>
            <p:ph type="title"/>
          </p:nvPr>
        </p:nvSpPr>
        <p:spPr>
          <a:xfrm>
            <a:off x="173925" y="226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FA </a:t>
            </a:r>
            <a:r>
              <a:rPr lang="zh-CN"/>
              <a:t>评分标准 - A 部分</a:t>
            </a:r>
            <a:endParaRPr/>
          </a:p>
        </p:txBody>
      </p:sp>
      <p:sp>
        <p:nvSpPr>
          <p:cNvPr id="1139" name="Google Shape;1139;p117"/>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40" name="Google Shape;1140;p117" title="Screenshot 2026-09-16 at 3.01.42 PM.png"/>
          <p:cNvPicPr preferRelativeResize="0"/>
          <p:nvPr/>
        </p:nvPicPr>
        <p:blipFill>
          <a:blip r:embed="rId3">
            <a:alphaModFix/>
          </a:blip>
          <a:stretch>
            <a:fillRect/>
          </a:stretch>
        </p:blipFill>
        <p:spPr>
          <a:xfrm>
            <a:off x="1" y="868725"/>
            <a:ext cx="4736250" cy="4065499"/>
          </a:xfrm>
          <a:prstGeom prst="rect">
            <a:avLst/>
          </a:prstGeom>
          <a:noFill/>
          <a:ln>
            <a:noFill/>
          </a:ln>
        </p:spPr>
      </p:pic>
      <p:pic>
        <p:nvPicPr>
          <p:cNvPr id="1141" name="Google Shape;1141;p117" title="Screenshot 2026-09-16 at 3.02.01 PM.png"/>
          <p:cNvPicPr preferRelativeResize="0"/>
          <p:nvPr/>
        </p:nvPicPr>
        <p:blipFill>
          <a:blip r:embed="rId4">
            <a:alphaModFix/>
          </a:blip>
          <a:stretch>
            <a:fillRect/>
          </a:stretch>
        </p:blipFill>
        <p:spPr>
          <a:xfrm>
            <a:off x="5308587" y="0"/>
            <a:ext cx="3646826" cy="514350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118"/>
          <p:cNvSpPr txBox="1"/>
          <p:nvPr>
            <p:ph type="title"/>
          </p:nvPr>
        </p:nvSpPr>
        <p:spPr>
          <a:xfrm>
            <a:off x="278775" y="41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小组调查研究活</a:t>
            </a:r>
            <a:r>
              <a:rPr lang="zh-CN"/>
              <a:t>动：课本18页</a:t>
            </a:r>
            <a:endParaRPr/>
          </a:p>
        </p:txBody>
      </p:sp>
      <p:pic>
        <p:nvPicPr>
          <p:cNvPr id="1147" name="Google Shape;1147;p118" title="Screenshot 2026-09-18 at 9.03.23 AM.png"/>
          <p:cNvPicPr preferRelativeResize="0"/>
          <p:nvPr/>
        </p:nvPicPr>
        <p:blipFill>
          <a:blip r:embed="rId3">
            <a:alphaModFix/>
          </a:blip>
          <a:stretch>
            <a:fillRect/>
          </a:stretch>
        </p:blipFill>
        <p:spPr>
          <a:xfrm>
            <a:off x="1522051" y="673312"/>
            <a:ext cx="7621951" cy="4456324"/>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1" name="Shape 1151"/>
        <p:cNvGrpSpPr/>
        <p:nvPr/>
      </p:nvGrpSpPr>
      <p:grpSpPr>
        <a:xfrm>
          <a:off x="0" y="0"/>
          <a:ext cx="0" cy="0"/>
          <a:chOff x="0" y="0"/>
          <a:chExt cx="0" cy="0"/>
        </a:xfrm>
      </p:grpSpPr>
      <p:grpSp>
        <p:nvGrpSpPr>
          <p:cNvPr id="1152" name="Google Shape;1152;p119"/>
          <p:cNvGrpSpPr/>
          <p:nvPr/>
        </p:nvGrpSpPr>
        <p:grpSpPr>
          <a:xfrm>
            <a:off x="381000" y="381000"/>
            <a:ext cx="1714500" cy="457200"/>
            <a:chOff x="0" y="0"/>
            <a:chExt cx="1714500" cy="457200"/>
          </a:xfrm>
        </p:grpSpPr>
        <p:sp>
          <p:nvSpPr>
            <p:cNvPr id="1153" name="Google Shape;1153;p119"/>
            <p:cNvSpPr/>
            <p:nvPr/>
          </p:nvSpPr>
          <p:spPr>
            <a:xfrm>
              <a:off x="0" y="0"/>
              <a:ext cx="1714500" cy="457200"/>
            </a:xfrm>
            <a:prstGeom prst="roundRect">
              <a:avLst>
                <a:gd fmla="val 12500" name="adj"/>
              </a:avLst>
            </a:prstGeom>
            <a:solidFill>
              <a:srgbClr val="F8E71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4" name="Google Shape;1154;p119"/>
            <p:cNvSpPr txBox="1"/>
            <p:nvPr/>
          </p:nvSpPr>
          <p:spPr>
            <a:xfrm>
              <a:off x="0" y="0"/>
              <a:ext cx="17145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zh-CN" sz="2000">
                  <a:solidFill>
                    <a:srgbClr val="111827"/>
                  </a:solidFill>
                  <a:latin typeface="Oswald"/>
                  <a:ea typeface="Oswald"/>
                  <a:cs typeface="Oswald"/>
                  <a:sym typeface="Oswald"/>
                </a:rPr>
                <a:t>社区大会</a:t>
              </a:r>
              <a:endParaRPr b="1" sz="2000">
                <a:solidFill>
                  <a:srgbClr val="111827"/>
                </a:solidFill>
                <a:latin typeface="Oswald"/>
                <a:ea typeface="Oswald"/>
                <a:cs typeface="Oswald"/>
                <a:sym typeface="Oswald"/>
              </a:endParaRPr>
            </a:p>
          </p:txBody>
        </p:sp>
      </p:grpSp>
      <p:sp>
        <p:nvSpPr>
          <p:cNvPr id="1155" name="Google Shape;1155;p119"/>
          <p:cNvSpPr txBox="1"/>
          <p:nvPr/>
        </p:nvSpPr>
        <p:spPr>
          <a:xfrm>
            <a:off x="381000" y="1028700"/>
            <a:ext cx="838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zh-CN" sz="2000">
                <a:solidFill>
                  <a:srgbClr val="374151"/>
                </a:solidFill>
                <a:latin typeface="Playfair Display"/>
                <a:ea typeface="Playfair Display"/>
                <a:cs typeface="Playfair Display"/>
                <a:sym typeface="Playfair Display"/>
              </a:rPr>
              <a:t>根据你找到的资料，以</a:t>
            </a:r>
            <a:r>
              <a:rPr b="1" lang="zh-CN" sz="2000">
                <a:solidFill>
                  <a:srgbClr val="111827"/>
                </a:solidFill>
                <a:latin typeface="Playfair Display"/>
                <a:ea typeface="Playfair Display"/>
                <a:cs typeface="Playfair Display"/>
                <a:sym typeface="Playfair Display"/>
              </a:rPr>
              <a:t>第一人称</a:t>
            </a:r>
            <a:r>
              <a:rPr lang="zh-CN" sz="2000">
                <a:solidFill>
                  <a:srgbClr val="374151"/>
                </a:solidFill>
                <a:latin typeface="Playfair Display"/>
                <a:ea typeface="Playfair Display"/>
                <a:cs typeface="Playfair Display"/>
                <a:sym typeface="Playfair Display"/>
              </a:rPr>
              <a:t>向大家表达自己在新加坡多种族模式下的</a:t>
            </a:r>
            <a:r>
              <a:rPr b="1" lang="zh-CN" sz="2000">
                <a:solidFill>
                  <a:srgbClr val="2563EB"/>
                </a:solidFill>
                <a:latin typeface="Playfair Display"/>
                <a:ea typeface="Playfair Display"/>
                <a:cs typeface="Playfair Display"/>
                <a:sym typeface="Playfair Display"/>
              </a:rPr>
              <a:t>优势</a:t>
            </a:r>
            <a:r>
              <a:rPr lang="zh-CN" sz="2000">
                <a:solidFill>
                  <a:srgbClr val="374151"/>
                </a:solidFill>
                <a:latin typeface="Playfair Display"/>
                <a:ea typeface="Playfair Display"/>
                <a:cs typeface="Playfair Display"/>
                <a:sym typeface="Playfair Display"/>
              </a:rPr>
              <a:t>、</a:t>
            </a:r>
            <a:r>
              <a:rPr b="1" lang="zh-CN" sz="2000">
                <a:solidFill>
                  <a:srgbClr val="DC2626"/>
                </a:solidFill>
                <a:latin typeface="Playfair Display"/>
                <a:ea typeface="Playfair Display"/>
                <a:cs typeface="Playfair Display"/>
                <a:sym typeface="Playfair Display"/>
              </a:rPr>
              <a:t>挑战</a:t>
            </a:r>
            <a:r>
              <a:rPr lang="zh-CN" sz="2000">
                <a:solidFill>
                  <a:srgbClr val="374151"/>
                </a:solidFill>
                <a:latin typeface="Playfair Display"/>
                <a:ea typeface="Playfair Display"/>
                <a:cs typeface="Playfair Display"/>
                <a:sym typeface="Playfair Display"/>
              </a:rPr>
              <a:t>和对</a:t>
            </a:r>
            <a:r>
              <a:rPr b="1" lang="zh-CN" sz="2000">
                <a:solidFill>
                  <a:srgbClr val="16A34A"/>
                </a:solidFill>
                <a:latin typeface="Playfair Display"/>
                <a:ea typeface="Playfair Display"/>
                <a:cs typeface="Playfair Display"/>
                <a:sym typeface="Playfair Display"/>
              </a:rPr>
              <a:t>政府的诉求</a:t>
            </a:r>
            <a:r>
              <a:rPr lang="zh-CN" sz="2000">
                <a:solidFill>
                  <a:srgbClr val="374151"/>
                </a:solidFill>
                <a:latin typeface="Playfair Display"/>
                <a:ea typeface="Playfair Display"/>
                <a:cs typeface="Playfair Display"/>
                <a:sym typeface="Playfair Display"/>
              </a:rPr>
              <a:t>。</a:t>
            </a:r>
            <a:endParaRPr sz="2000">
              <a:solidFill>
                <a:srgbClr val="374151"/>
              </a:solidFill>
              <a:latin typeface="Playfair Display"/>
              <a:ea typeface="Playfair Display"/>
              <a:cs typeface="Playfair Display"/>
              <a:sym typeface="Playfair Display"/>
            </a:endParaRPr>
          </a:p>
        </p:txBody>
      </p:sp>
      <p:grpSp>
        <p:nvGrpSpPr>
          <p:cNvPr id="1156" name="Google Shape;1156;p119"/>
          <p:cNvGrpSpPr/>
          <p:nvPr/>
        </p:nvGrpSpPr>
        <p:grpSpPr>
          <a:xfrm>
            <a:off x="381000" y="1809750"/>
            <a:ext cx="4000500" cy="2933700"/>
            <a:chOff x="0" y="0"/>
            <a:chExt cx="4000500" cy="2933700"/>
          </a:xfrm>
        </p:grpSpPr>
        <p:sp>
          <p:nvSpPr>
            <p:cNvPr id="1157" name="Google Shape;1157;p119"/>
            <p:cNvSpPr/>
            <p:nvPr/>
          </p:nvSpPr>
          <p:spPr>
            <a:xfrm>
              <a:off x="0" y="0"/>
              <a:ext cx="4000500" cy="647700"/>
            </a:xfrm>
            <a:prstGeom prst="roundRect">
              <a:avLst>
                <a:gd fmla="val 11764"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8" name="Google Shape;1158;p119"/>
            <p:cNvSpPr txBox="1"/>
            <p:nvPr/>
          </p:nvSpPr>
          <p:spPr>
            <a:xfrm>
              <a:off x="190500" y="0"/>
              <a:ext cx="3619500" cy="647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zh-CN" sz="2400">
                  <a:solidFill>
                    <a:srgbClr val="EF4444"/>
                  </a:solidFill>
                  <a:latin typeface="Material Icons"/>
                  <a:ea typeface="Material Icons"/>
                  <a:cs typeface="Material Icons"/>
                  <a:sym typeface="Material Icons"/>
                </a:rPr>
                <a:t>person</a:t>
              </a:r>
              <a:r>
                <a:rPr b="1" lang="zh-CN" sz="1600">
                  <a:solidFill>
                    <a:srgbClr val="1F2937"/>
                  </a:solidFill>
                  <a:latin typeface="Playfair Display"/>
                  <a:ea typeface="Playfair Display"/>
                  <a:cs typeface="Playfair Display"/>
                  <a:sym typeface="Playfair Display"/>
                </a:rPr>
                <a:t>华人居民代表</a:t>
              </a:r>
              <a:endParaRPr b="1" sz="1600">
                <a:solidFill>
                  <a:srgbClr val="1F2937"/>
                </a:solidFill>
                <a:latin typeface="Playfair Display"/>
                <a:ea typeface="Playfair Display"/>
                <a:cs typeface="Playfair Display"/>
                <a:sym typeface="Playfair Display"/>
              </a:endParaRPr>
            </a:p>
          </p:txBody>
        </p:sp>
        <p:sp>
          <p:nvSpPr>
            <p:cNvPr id="1159" name="Google Shape;1159;p119"/>
            <p:cNvSpPr/>
            <p:nvPr/>
          </p:nvSpPr>
          <p:spPr>
            <a:xfrm>
              <a:off x="0" y="762000"/>
              <a:ext cx="4000500" cy="647700"/>
            </a:xfrm>
            <a:prstGeom prst="roundRect">
              <a:avLst>
                <a:gd fmla="val 11764"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0" name="Google Shape;1160;p119"/>
            <p:cNvSpPr txBox="1"/>
            <p:nvPr/>
          </p:nvSpPr>
          <p:spPr>
            <a:xfrm>
              <a:off x="190500" y="762000"/>
              <a:ext cx="3619500" cy="647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zh-CN" sz="2400">
                  <a:solidFill>
                    <a:srgbClr val="3B82F6"/>
                  </a:solidFill>
                  <a:latin typeface="Material Icons"/>
                  <a:ea typeface="Material Icons"/>
                  <a:cs typeface="Material Icons"/>
                  <a:sym typeface="Material Icons"/>
                </a:rPr>
                <a:t>person</a:t>
              </a:r>
              <a:r>
                <a:rPr b="1" lang="zh-CN" sz="1600">
                  <a:solidFill>
                    <a:srgbClr val="1F2937"/>
                  </a:solidFill>
                  <a:latin typeface="Playfair Display"/>
                  <a:ea typeface="Playfair Display"/>
                  <a:cs typeface="Playfair Display"/>
                  <a:sym typeface="Playfair Display"/>
                </a:rPr>
                <a:t>马来人居民代表</a:t>
              </a:r>
              <a:endParaRPr b="1" sz="1600">
                <a:solidFill>
                  <a:srgbClr val="1F2937"/>
                </a:solidFill>
                <a:latin typeface="Playfair Display"/>
                <a:ea typeface="Playfair Display"/>
                <a:cs typeface="Playfair Display"/>
                <a:sym typeface="Playfair Display"/>
              </a:endParaRPr>
            </a:p>
          </p:txBody>
        </p:sp>
        <p:sp>
          <p:nvSpPr>
            <p:cNvPr id="1161" name="Google Shape;1161;p119"/>
            <p:cNvSpPr/>
            <p:nvPr/>
          </p:nvSpPr>
          <p:spPr>
            <a:xfrm>
              <a:off x="0" y="1524000"/>
              <a:ext cx="4000500" cy="647700"/>
            </a:xfrm>
            <a:prstGeom prst="roundRect">
              <a:avLst>
                <a:gd fmla="val 11764"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2" name="Google Shape;1162;p119"/>
            <p:cNvSpPr txBox="1"/>
            <p:nvPr/>
          </p:nvSpPr>
          <p:spPr>
            <a:xfrm>
              <a:off x="190500" y="1524000"/>
              <a:ext cx="3619500" cy="647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zh-CN" sz="2400">
                  <a:solidFill>
                    <a:srgbClr val="10B981"/>
                  </a:solidFill>
                  <a:latin typeface="Material Icons"/>
                  <a:ea typeface="Material Icons"/>
                  <a:cs typeface="Material Icons"/>
                  <a:sym typeface="Material Icons"/>
                </a:rPr>
                <a:t>person</a:t>
              </a:r>
              <a:r>
                <a:rPr b="1" lang="zh-CN" sz="1600">
                  <a:solidFill>
                    <a:srgbClr val="1F2937"/>
                  </a:solidFill>
                  <a:latin typeface="Playfair Display"/>
                  <a:ea typeface="Playfair Display"/>
                  <a:cs typeface="Playfair Display"/>
                  <a:sym typeface="Playfair Display"/>
                </a:rPr>
                <a:t>印度人居民代表</a:t>
              </a:r>
              <a:endParaRPr b="1" sz="1600">
                <a:solidFill>
                  <a:srgbClr val="1F2937"/>
                </a:solidFill>
                <a:latin typeface="Playfair Display"/>
                <a:ea typeface="Playfair Display"/>
                <a:cs typeface="Playfair Display"/>
                <a:sym typeface="Playfair Display"/>
              </a:endParaRPr>
            </a:p>
          </p:txBody>
        </p:sp>
        <p:sp>
          <p:nvSpPr>
            <p:cNvPr id="1163" name="Google Shape;1163;p119"/>
            <p:cNvSpPr/>
            <p:nvPr/>
          </p:nvSpPr>
          <p:spPr>
            <a:xfrm>
              <a:off x="0" y="2286000"/>
              <a:ext cx="4000500" cy="647700"/>
            </a:xfrm>
            <a:prstGeom prst="roundRect">
              <a:avLst>
                <a:gd fmla="val 11764" name="adj"/>
              </a:avLst>
            </a:prstGeom>
            <a:solidFill>
              <a:srgbClr val="FFFFFF"/>
            </a:solidFill>
            <a:ln cap="flat" cmpd="sng" w="1430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4" name="Google Shape;1164;p119"/>
            <p:cNvSpPr txBox="1"/>
            <p:nvPr/>
          </p:nvSpPr>
          <p:spPr>
            <a:xfrm>
              <a:off x="190500" y="2286000"/>
              <a:ext cx="3619500" cy="647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zh-CN" sz="2400">
                  <a:solidFill>
                    <a:srgbClr val="8B5CF6"/>
                  </a:solidFill>
                  <a:latin typeface="Material Icons"/>
                  <a:ea typeface="Material Icons"/>
                  <a:cs typeface="Material Icons"/>
                  <a:sym typeface="Material Icons"/>
                </a:rPr>
                <a:t>person</a:t>
              </a:r>
              <a:r>
                <a:rPr b="1" lang="zh-CN" sz="1600">
                  <a:solidFill>
                    <a:srgbClr val="1F2937"/>
                  </a:solidFill>
                  <a:latin typeface="Playfair Display"/>
                  <a:ea typeface="Playfair Display"/>
                  <a:cs typeface="Playfair Display"/>
                  <a:sym typeface="Playfair Display"/>
                </a:rPr>
                <a:t>其他族群居民代表</a:t>
              </a:r>
              <a:endParaRPr b="1" sz="1600">
                <a:solidFill>
                  <a:srgbClr val="1F2937"/>
                </a:solidFill>
                <a:latin typeface="Playfair Display"/>
                <a:ea typeface="Playfair Display"/>
                <a:cs typeface="Playfair Display"/>
                <a:sym typeface="Playfair Display"/>
              </a:endParaRPr>
            </a:p>
          </p:txBody>
        </p:sp>
      </p:grpSp>
      <p:pic>
        <p:nvPicPr>
          <p:cNvPr id="1165" name="Google Shape;1165;p119"/>
          <p:cNvPicPr preferRelativeResize="0"/>
          <p:nvPr/>
        </p:nvPicPr>
        <p:blipFill>
          <a:blip r:embed="rId4">
            <a:alphaModFix/>
          </a:blip>
          <a:stretch>
            <a:fillRect/>
          </a:stretch>
        </p:blipFill>
        <p:spPr>
          <a:xfrm>
            <a:off x="4935100" y="1657350"/>
            <a:ext cx="3238500" cy="32385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1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活动：完成总结写作</a:t>
            </a:r>
            <a:endParaRPr/>
          </a:p>
        </p:txBody>
      </p:sp>
      <p:sp>
        <p:nvSpPr>
          <p:cNvPr id="1171" name="Google Shape;1171;p120"/>
          <p:cNvSpPr txBox="1"/>
          <p:nvPr>
            <p:ph idx="1" type="body"/>
          </p:nvPr>
        </p:nvSpPr>
        <p:spPr>
          <a:xfrm>
            <a:off x="1127450" y="1234075"/>
            <a:ext cx="77049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lang="zh-CN"/>
              <a:t>课本17-18页</a:t>
            </a:r>
            <a:endParaRPr/>
          </a:p>
          <a:p>
            <a:pPr indent="0" lvl="0" marL="0" rtl="0" algn="l">
              <a:spcBef>
                <a:spcPts val="1200"/>
              </a:spcBef>
              <a:spcAft>
                <a:spcPts val="0"/>
              </a:spcAft>
              <a:buClr>
                <a:schemeClr val="dk2"/>
              </a:buClr>
              <a:buSzPts val="1100"/>
              <a:buFont typeface="Arial"/>
              <a:buNone/>
            </a:pPr>
            <a:r>
              <a:rPr lang="zh-CN"/>
              <a:t>关于“新加坡多种族政策”</a:t>
            </a:r>
            <a:endParaRPr/>
          </a:p>
          <a:p>
            <a:pPr indent="0" lvl="0" marL="0" rtl="0" algn="l">
              <a:spcBef>
                <a:spcPts val="1200"/>
              </a:spcBef>
              <a:spcAft>
                <a:spcPts val="1200"/>
              </a:spcAft>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概括总结练习</a:t>
            </a:r>
            <a:endParaRPr/>
          </a:p>
        </p:txBody>
      </p:sp>
      <p:sp>
        <p:nvSpPr>
          <p:cNvPr id="1177" name="Google Shape;1177;p121"/>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sz="2200">
                <a:solidFill>
                  <a:srgbClr val="FF0000"/>
                </a:solidFill>
              </a:rPr>
              <a:t>作者</a:t>
            </a:r>
            <a:r>
              <a:rPr lang="zh-CN" sz="2200"/>
              <a:t>对</a:t>
            </a:r>
            <a:r>
              <a:rPr lang="zh-CN" sz="2200">
                <a:solidFill>
                  <a:srgbClr val="0000FF"/>
                </a:solidFill>
              </a:rPr>
              <a:t>故宫内配置</a:t>
            </a:r>
            <a:r>
              <a:rPr lang="zh-CN" sz="2200"/>
              <a:t>的失望和自我安慰。</a:t>
            </a:r>
            <a:endParaRPr sz="2200"/>
          </a:p>
          <a:p>
            <a:pPr indent="0" lvl="0" marL="0" rtl="0" algn="l">
              <a:spcBef>
                <a:spcPts val="1200"/>
              </a:spcBef>
              <a:spcAft>
                <a:spcPts val="0"/>
              </a:spcAft>
              <a:buNone/>
            </a:pPr>
            <a:r>
              <a:t/>
            </a:r>
            <a:endParaRPr sz="2200"/>
          </a:p>
          <a:p>
            <a:pPr indent="0" lvl="0" marL="0" rtl="0" algn="l">
              <a:spcBef>
                <a:spcPts val="1200"/>
              </a:spcBef>
              <a:spcAft>
                <a:spcPts val="0"/>
              </a:spcAft>
              <a:buNone/>
            </a:pPr>
            <a:r>
              <a:rPr lang="zh-CN" sz="2200"/>
              <a:t>作者对</a:t>
            </a:r>
            <a:r>
              <a:rPr lang="zh-CN" sz="2200">
                <a:solidFill>
                  <a:srgbClr val="0000FF"/>
                </a:solidFill>
              </a:rPr>
              <a:t>商店</a:t>
            </a:r>
            <a:r>
              <a:rPr lang="zh-CN" sz="2200"/>
              <a:t>失望，自我安慰。</a:t>
            </a:r>
            <a:endParaRPr sz="2200"/>
          </a:p>
          <a:p>
            <a:pPr indent="0" lvl="0" marL="0" rtl="0" algn="l">
              <a:spcBef>
                <a:spcPts val="1200"/>
              </a:spcBef>
              <a:spcAft>
                <a:spcPts val="0"/>
              </a:spcAft>
              <a:buNone/>
            </a:pPr>
            <a:r>
              <a:t/>
            </a:r>
            <a:endParaRPr sz="2200"/>
          </a:p>
          <a:p>
            <a:pPr indent="0" lvl="0" marL="0" rtl="0" algn="l">
              <a:spcBef>
                <a:spcPts val="1200"/>
              </a:spcBef>
              <a:spcAft>
                <a:spcPts val="0"/>
              </a:spcAft>
              <a:buNone/>
            </a:pPr>
            <a:r>
              <a:rPr lang="zh-CN" sz="2200"/>
              <a:t>作者</a:t>
            </a:r>
            <a:r>
              <a:rPr lang="zh-CN" sz="2200">
                <a:solidFill>
                  <a:srgbClr val="0000FF"/>
                </a:solidFill>
              </a:rPr>
              <a:t>进一步对故宫内设置</a:t>
            </a:r>
            <a:r>
              <a:rPr lang="zh-CN" sz="2200"/>
              <a:t>的刻画，以及对其的自我安慰。</a:t>
            </a:r>
            <a:endParaRPr sz="2200"/>
          </a:p>
          <a:p>
            <a:pPr indent="0" lvl="0" marL="0" rtl="0" algn="l">
              <a:spcBef>
                <a:spcPts val="1200"/>
              </a:spcBef>
              <a:spcAft>
                <a:spcPts val="1200"/>
              </a:spcAft>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122"/>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CN"/>
              <a:t>逻辑思维训练</a:t>
            </a:r>
            <a:endParaRPr/>
          </a:p>
          <a:p>
            <a:pPr indent="0" lvl="0" marL="0" rtl="0" algn="ctr">
              <a:spcBef>
                <a:spcPts val="0"/>
              </a:spcBef>
              <a:spcAft>
                <a:spcPts val="0"/>
              </a:spcAft>
              <a:buNone/>
            </a:pPr>
            <a:r>
              <a:rPr lang="zh-CN" sz="2800"/>
              <a:t>（议论文/讨论文写作）</a:t>
            </a:r>
            <a:endParaRPr sz="28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pic>
        <p:nvPicPr>
          <p:cNvPr id="1187" name="Google Shape;1187;p123"/>
          <p:cNvPicPr preferRelativeResize="0"/>
          <p:nvPr/>
        </p:nvPicPr>
        <p:blipFill>
          <a:blip r:embed="rId3">
            <a:alphaModFix/>
          </a:blip>
          <a:stretch>
            <a:fillRect/>
          </a:stretch>
        </p:blipFill>
        <p:spPr>
          <a:xfrm>
            <a:off x="336950" y="118227"/>
            <a:ext cx="8470101" cy="3796000"/>
          </a:xfrm>
          <a:prstGeom prst="rect">
            <a:avLst/>
          </a:prstGeom>
          <a:noFill/>
          <a:ln>
            <a:noFill/>
          </a:ln>
        </p:spPr>
      </p:pic>
      <p:sp>
        <p:nvSpPr>
          <p:cNvPr id="1188" name="Google Shape;1188;p123"/>
          <p:cNvSpPr txBox="1"/>
          <p:nvPr/>
        </p:nvSpPr>
        <p:spPr>
          <a:xfrm>
            <a:off x="773650" y="4267825"/>
            <a:ext cx="7387800" cy="47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2000">
                <a:solidFill>
                  <a:schemeClr val="dk2"/>
                </a:solidFill>
                <a:latin typeface="Playfair Display"/>
                <a:ea typeface="Playfair Display"/>
                <a:cs typeface="Playfair Display"/>
                <a:sym typeface="Playfair Display"/>
              </a:rPr>
              <a:t>热身活动：看到这些帽子，你会想到什么？</a:t>
            </a:r>
            <a:endParaRPr sz="2000">
              <a:solidFill>
                <a:schemeClr val="dk2"/>
              </a:solidFill>
              <a:latin typeface="Playfair Display"/>
              <a:ea typeface="Playfair Display"/>
              <a:cs typeface="Playfair Display"/>
              <a:sym typeface="Playfair Display"/>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24"/>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六顶帽子讨论</a:t>
            </a:r>
            <a:endParaRPr/>
          </a:p>
        </p:txBody>
      </p:sp>
      <p:graphicFrame>
        <p:nvGraphicFramePr>
          <p:cNvPr id="1194" name="Google Shape;1194;p124"/>
          <p:cNvGraphicFramePr/>
          <p:nvPr/>
        </p:nvGraphicFramePr>
        <p:xfrm>
          <a:off x="125363" y="691425"/>
          <a:ext cx="3000000" cy="3000000"/>
        </p:xfrm>
        <a:graphic>
          <a:graphicData uri="http://schemas.openxmlformats.org/drawingml/2006/table">
            <a:tbl>
              <a:tblPr>
                <a:noFill/>
                <a:tableStyleId>{675FCD34-EF06-41C9-BC1E-3197945F6E7B}</a:tableStyleId>
              </a:tblPr>
              <a:tblGrid>
                <a:gridCol w="784000"/>
                <a:gridCol w="1733725"/>
                <a:gridCol w="3080750"/>
                <a:gridCol w="3294800"/>
              </a:tblGrid>
              <a:tr h="100000">
                <a:tc>
                  <a:txBody>
                    <a:bodyPr/>
                    <a:lstStyle/>
                    <a:p>
                      <a:pPr indent="0" lvl="0" marL="0" rtl="0" algn="ctr">
                        <a:lnSpc>
                          <a:spcPct val="115000"/>
                        </a:lnSpc>
                        <a:spcBef>
                          <a:spcPts val="0"/>
                        </a:spcBef>
                        <a:spcAft>
                          <a:spcPts val="0"/>
                        </a:spcAft>
                        <a:buNone/>
                      </a:pPr>
                      <a:r>
                        <a:rPr b="1" lang="zh-CN" sz="1100"/>
                        <a:t>颜色</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CN" sz="1100"/>
                        <a:t>象征</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CN" sz="1100"/>
                        <a:t>思考特征</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CN" sz="1100"/>
                        <a:t>常提问的问题</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66750">
                <a:tc>
                  <a:txBody>
                    <a:bodyPr/>
                    <a:lstStyle/>
                    <a:p>
                      <a:pPr indent="0" lvl="0" marL="0" rtl="0" algn="l">
                        <a:spcBef>
                          <a:spcPts val="0"/>
                        </a:spcBef>
                        <a:spcAft>
                          <a:spcPts val="0"/>
                        </a:spcAft>
                        <a:buNone/>
                      </a:pPr>
                      <a:r>
                        <a:rPr lang="zh-CN" sz="1100"/>
                        <a:t>白帽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100"/>
                        <a:t>电脑</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100"/>
                        <a:t>中立、客观 客观的事实、真相、数字与证据</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100"/>
                        <a:t>1.我们已有哪些信息、数据？ 2.我们还需要哪些信息？ 3.我们如何得到所需资料？ 4.这件事情的实际情况究竟如何？</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66750">
                <a:tc>
                  <a:txBody>
                    <a:bodyPr/>
                    <a:lstStyle/>
                    <a:p>
                      <a:pPr indent="0" lvl="0" marL="0" rtl="0" algn="l">
                        <a:spcBef>
                          <a:spcPts val="0"/>
                        </a:spcBef>
                        <a:spcAft>
                          <a:spcPts val="0"/>
                        </a:spcAft>
                        <a:buNone/>
                      </a:pPr>
                      <a:r>
                        <a:rPr lang="zh-CN" sz="1100"/>
                        <a:t>红帽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zh-CN" sz="1100"/>
                        <a:t>情绪观点 愤怒、狂热、情感</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zh-CN" sz="1100"/>
                        <a:t>情绪和感觉、预感和直觉、价值感 较凭感性而缺乏理性</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zh-CN" sz="1100"/>
                        <a:t>1.你的感觉是什么？ 2.你喜欢吗？</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r>
              <a:tr h="447675">
                <a:tc>
                  <a:txBody>
                    <a:bodyPr/>
                    <a:lstStyle/>
                    <a:p>
                      <a:pPr indent="0" lvl="0" marL="0" rtl="0" algn="l">
                        <a:spcBef>
                          <a:spcPts val="0"/>
                        </a:spcBef>
                        <a:spcAft>
                          <a:spcPts val="0"/>
                        </a:spcAft>
                        <a:buNone/>
                      </a:pPr>
                      <a:r>
                        <a:rPr lang="zh-CN" sz="1100"/>
                        <a:t>黑帽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zh-CN" sz="1100"/>
                        <a:t>黑脸 忧郁、负面</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zh-CN" sz="1100"/>
                        <a:t>符合逻辑事情的黑暗面、负面批判 危机、风险、负面的因素——行不通的理由</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zh-CN" sz="1100"/>
                        <a:t>1.它是真的吗？ 2.它管用吗？ 3.它合适吗？ 4.会有危险和困难吗？</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r>
              <a:tr h="447675">
                <a:tc>
                  <a:txBody>
                    <a:bodyPr/>
                    <a:lstStyle/>
                    <a:p>
                      <a:pPr indent="0" lvl="0" marL="0" rtl="0" algn="l">
                        <a:spcBef>
                          <a:spcPts val="0"/>
                        </a:spcBef>
                        <a:spcAft>
                          <a:spcPts val="0"/>
                        </a:spcAft>
                        <a:buNone/>
                      </a:pPr>
                      <a:r>
                        <a:rPr lang="zh-CN" sz="1100"/>
                        <a:t>黄帽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lang="zh-CN" sz="1100"/>
                        <a:t>阳光 正向光谱</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lang="zh-CN" sz="1100"/>
                        <a:t>乐观、希望、正面思考的逻辑与理由 肯定、建设性思维、机会</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lang="zh-CN" sz="1100"/>
                        <a:t>1.有什么利益功能？ 2.为何说它有利益或功能？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666750">
                <a:tc>
                  <a:txBody>
                    <a:bodyPr/>
                    <a:lstStyle/>
                    <a:p>
                      <a:pPr indent="0" lvl="0" marL="0" rtl="0" algn="l">
                        <a:spcBef>
                          <a:spcPts val="0"/>
                        </a:spcBef>
                        <a:spcAft>
                          <a:spcPts val="0"/>
                        </a:spcAft>
                        <a:buNone/>
                      </a:pPr>
                      <a:r>
                        <a:rPr lang="zh-CN" sz="1100"/>
                        <a:t>绿帽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zh-CN" sz="1100"/>
                        <a:t>草地 生机盎然、丰饶多产</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zh-CN" sz="1100"/>
                        <a:t>创意与新的想法——新点子、新概念、创意、水平思考、替代方案</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zh-CN" sz="1100"/>
                        <a:t>1.有什么计划与建议？ 2.有什么新构想？ 3.我们如何得到所需资料？ 4.有什么替代方案？</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r h="666750">
                <a:tc>
                  <a:txBody>
                    <a:bodyPr/>
                    <a:lstStyle/>
                    <a:p>
                      <a:pPr indent="0" lvl="0" marL="0" rtl="0" algn="l">
                        <a:spcBef>
                          <a:spcPts val="0"/>
                        </a:spcBef>
                        <a:spcAft>
                          <a:spcPts val="0"/>
                        </a:spcAft>
                        <a:buNone/>
                      </a:pPr>
                      <a:r>
                        <a:rPr lang="zh-CN" sz="1100"/>
                        <a:t>蓝帽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zh-CN" sz="1100"/>
                        <a:t>天空 乐团指挥 冷静、在万物上方</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zh-CN" sz="1100"/>
                        <a:t>冷静、抽离、掌握、架构、归纳、总结 控制与组织思考过程、控制其他五种思考帽的使用、对靶心正确提问、确定问题、指定思考任务</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zh-CN" sz="1100"/>
                        <a:t>1.我们现在思考进行到哪里？ 2.下一步怎么进行？ 3.作摘要 4.思考计划为何？ 5.观察与评论</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pic>
        <p:nvPicPr>
          <p:cNvPr id="1199" name="Google Shape;1199;p125" title="Screenshot 2025-11-17 at 11.33.48 PM.png"/>
          <p:cNvPicPr preferRelativeResize="0"/>
          <p:nvPr/>
        </p:nvPicPr>
        <p:blipFill>
          <a:blip r:embed="rId3">
            <a:alphaModFix/>
          </a:blip>
          <a:stretch>
            <a:fillRect/>
          </a:stretch>
        </p:blipFill>
        <p:spPr>
          <a:xfrm>
            <a:off x="865102" y="0"/>
            <a:ext cx="7211996" cy="51435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1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05" name="Google Shape;1205;p126"/>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06" name="Google Shape;1206;p126" title="Screenshot 2025-11-17 at 11.34.29 PM.png"/>
          <p:cNvPicPr preferRelativeResize="0"/>
          <p:nvPr/>
        </p:nvPicPr>
        <p:blipFill>
          <a:blip r:embed="rId3">
            <a:alphaModFix/>
          </a:blip>
          <a:stretch>
            <a:fillRect/>
          </a:stretch>
        </p:blipFill>
        <p:spPr>
          <a:xfrm>
            <a:off x="0" y="184526"/>
            <a:ext cx="9144000" cy="4909197"/>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127"/>
          <p:cNvSpPr txBox="1"/>
          <p:nvPr>
            <p:ph type="title"/>
          </p:nvPr>
        </p:nvSpPr>
        <p:spPr>
          <a:xfrm>
            <a:off x="143250" y="175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我们要讨论的话题：</a:t>
            </a:r>
            <a:endParaRPr/>
          </a:p>
        </p:txBody>
      </p:sp>
      <p:sp>
        <p:nvSpPr>
          <p:cNvPr id="1212" name="Google Shape;1212;p127"/>
          <p:cNvSpPr txBox="1"/>
          <p:nvPr>
            <p:ph idx="1" type="body"/>
          </p:nvPr>
        </p:nvSpPr>
        <p:spPr>
          <a:xfrm>
            <a:off x="3388825" y="242875"/>
            <a:ext cx="4899300" cy="5727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lang="zh-CN"/>
              <a:t>所有餐饮店必须强制标注“使用预制菜”吗？</a:t>
            </a:r>
            <a:endParaRPr/>
          </a:p>
        </p:txBody>
      </p:sp>
      <p:pic>
        <p:nvPicPr>
          <p:cNvPr descr="罗永浩直播回应西贝预制菜一事：我不反对预制菜，但我反对将预制菜当现做的菜来售卖！-Luo Yonghao responded to the Xibei pre made dish incident live: I am not against pre made dishes, but I am against selling them as freshly made dishes!" id="1213" name="Google Shape;1213;p127" title="罗永浩直播回应西贝预制菜一事：我不反对预制菜，但我反对将预制菜当现做的菜来售卖！">
            <a:hlinkClick r:id="rId3"/>
          </p:cNvPr>
          <p:cNvPicPr preferRelativeResize="0"/>
          <p:nvPr/>
        </p:nvPicPr>
        <p:blipFill>
          <a:blip r:embed="rId4">
            <a:alphaModFix/>
          </a:blip>
          <a:stretch>
            <a:fillRect/>
          </a:stretch>
        </p:blipFill>
        <p:spPr>
          <a:xfrm>
            <a:off x="641340" y="815574"/>
            <a:ext cx="7694110" cy="4327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gtEl>
                                        <p:attrNameLst>
                                          <p:attrName>style.visibility</p:attrName>
                                        </p:attrNameLst>
                                      </p:cBhvr>
                                      <p:to>
                                        <p:strVal val="visible"/>
                                      </p:to>
                                    </p:set>
                                    <p:animEffect filter="fade" transition="in">
                                      <p:cBhvr>
                                        <p:cTn dur="1000"/>
                                        <p:tgtEl>
                                          <p:spTgt spid="1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p1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19" name="Google Shape;1219;p128"/>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20" name="Google Shape;1220;p128" title="Screenshot 2025-11-18 at 9.16.59 AM.png"/>
          <p:cNvPicPr preferRelativeResize="0"/>
          <p:nvPr/>
        </p:nvPicPr>
        <p:blipFill>
          <a:blip r:embed="rId3">
            <a:alphaModFix/>
          </a:blip>
          <a:stretch>
            <a:fillRect/>
          </a:stretch>
        </p:blipFill>
        <p:spPr>
          <a:xfrm>
            <a:off x="130325" y="230473"/>
            <a:ext cx="9013676" cy="4716001"/>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29"/>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六顶帽子讨论： </a:t>
            </a:r>
            <a:r>
              <a:rPr lang="zh-CN" sz="3333"/>
              <a:t>  </a:t>
            </a:r>
            <a:r>
              <a:rPr lang="zh-CN" sz="2133">
                <a:latin typeface="Playfair Display"/>
                <a:ea typeface="Playfair Display"/>
                <a:cs typeface="Playfair Display"/>
                <a:sym typeface="Playfair Display"/>
              </a:rPr>
              <a:t>所有餐饮店必须强制标注“使用预制菜”吗？</a:t>
            </a:r>
            <a:endParaRPr sz="3333"/>
          </a:p>
        </p:txBody>
      </p:sp>
      <p:graphicFrame>
        <p:nvGraphicFramePr>
          <p:cNvPr id="1226" name="Google Shape;1226;p129"/>
          <p:cNvGraphicFramePr/>
          <p:nvPr/>
        </p:nvGraphicFramePr>
        <p:xfrm>
          <a:off x="125363" y="691425"/>
          <a:ext cx="3000000" cy="3000000"/>
        </p:xfrm>
        <a:graphic>
          <a:graphicData uri="http://schemas.openxmlformats.org/drawingml/2006/table">
            <a:tbl>
              <a:tblPr>
                <a:noFill/>
                <a:tableStyleId>{675FCD34-EF06-41C9-BC1E-3197945F6E7B}</a:tableStyleId>
              </a:tblPr>
              <a:tblGrid>
                <a:gridCol w="784000"/>
                <a:gridCol w="1733725"/>
                <a:gridCol w="3080750"/>
                <a:gridCol w="3294800"/>
              </a:tblGrid>
              <a:tr h="100000">
                <a:tc>
                  <a:txBody>
                    <a:bodyPr/>
                    <a:lstStyle/>
                    <a:p>
                      <a:pPr indent="0" lvl="0" marL="0" rtl="0" algn="ctr">
                        <a:lnSpc>
                          <a:spcPct val="115000"/>
                        </a:lnSpc>
                        <a:spcBef>
                          <a:spcPts val="0"/>
                        </a:spcBef>
                        <a:spcAft>
                          <a:spcPts val="0"/>
                        </a:spcAft>
                        <a:buNone/>
                      </a:pPr>
                      <a:r>
                        <a:rPr b="1" lang="zh-CN" sz="1100"/>
                        <a:t>颜色</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CN" sz="1100"/>
                        <a:t>象征</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CN" sz="1100"/>
                        <a:t>思考特征</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zh-CN" sz="1100"/>
                        <a:t>常提问的问题</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66750">
                <a:tc>
                  <a:txBody>
                    <a:bodyPr/>
                    <a:lstStyle/>
                    <a:p>
                      <a:pPr indent="0" lvl="0" marL="0" rtl="0" algn="l">
                        <a:spcBef>
                          <a:spcPts val="0"/>
                        </a:spcBef>
                        <a:spcAft>
                          <a:spcPts val="0"/>
                        </a:spcAft>
                        <a:buNone/>
                      </a:pPr>
                      <a:r>
                        <a:rPr lang="zh-CN" sz="1100"/>
                        <a:t>白帽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100"/>
                        <a:t>电脑</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100"/>
                        <a:t>中立、客观 客观的事实、真相、数字与证据</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zh-CN" sz="1100"/>
                        <a:t>1.我们已有哪些信息、数据？ 2.我们还需要哪些信息？ 3.我们如何得到所需资料？ 4.这件事情的实际情况究竟如何？</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66750">
                <a:tc>
                  <a:txBody>
                    <a:bodyPr/>
                    <a:lstStyle/>
                    <a:p>
                      <a:pPr indent="0" lvl="0" marL="0" rtl="0" algn="l">
                        <a:spcBef>
                          <a:spcPts val="0"/>
                        </a:spcBef>
                        <a:spcAft>
                          <a:spcPts val="0"/>
                        </a:spcAft>
                        <a:buNone/>
                      </a:pPr>
                      <a:r>
                        <a:rPr lang="zh-CN" sz="1100"/>
                        <a:t>红帽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zh-CN" sz="1100"/>
                        <a:t>情绪观点 愤怒、狂热、情感</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zh-CN" sz="1100"/>
                        <a:t>情绪和感觉、预感和直觉、价值感 较凭感性而缺乏理性</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l">
                        <a:spcBef>
                          <a:spcPts val="0"/>
                        </a:spcBef>
                        <a:spcAft>
                          <a:spcPts val="0"/>
                        </a:spcAft>
                        <a:buNone/>
                      </a:pPr>
                      <a:r>
                        <a:rPr lang="zh-CN" sz="1100"/>
                        <a:t>1.你的感觉是什么？ 2.你喜欢吗？</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r>
              <a:tr h="447675">
                <a:tc>
                  <a:txBody>
                    <a:bodyPr/>
                    <a:lstStyle/>
                    <a:p>
                      <a:pPr indent="0" lvl="0" marL="0" rtl="0" algn="l">
                        <a:spcBef>
                          <a:spcPts val="0"/>
                        </a:spcBef>
                        <a:spcAft>
                          <a:spcPts val="0"/>
                        </a:spcAft>
                        <a:buNone/>
                      </a:pPr>
                      <a:r>
                        <a:rPr lang="zh-CN" sz="1100"/>
                        <a:t>黑帽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zh-CN" sz="1100"/>
                        <a:t>黑脸 忧郁、负面</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zh-CN" sz="1100"/>
                        <a:t>符合逻辑事情的黑暗面、负面批判 危机、风险、负面的因素——行不通的理由</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lang="zh-CN" sz="1100"/>
                        <a:t>1.它是真的吗？ 2.它管用吗？ 3.它合适吗？ 4.会有危险和困难吗？</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CCCCC"/>
                    </a:solidFill>
                  </a:tcPr>
                </a:tc>
              </a:tr>
              <a:tr h="447675">
                <a:tc>
                  <a:txBody>
                    <a:bodyPr/>
                    <a:lstStyle/>
                    <a:p>
                      <a:pPr indent="0" lvl="0" marL="0" rtl="0" algn="l">
                        <a:spcBef>
                          <a:spcPts val="0"/>
                        </a:spcBef>
                        <a:spcAft>
                          <a:spcPts val="0"/>
                        </a:spcAft>
                        <a:buNone/>
                      </a:pPr>
                      <a:r>
                        <a:rPr lang="zh-CN" sz="1100"/>
                        <a:t>黄帽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lang="zh-CN" sz="1100"/>
                        <a:t>阳光 正向光谱</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lang="zh-CN" sz="1100"/>
                        <a:t>乐观、希望、正面思考的逻辑与理由 肯定、建设性思维、机会</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rtl="0" algn="l">
                        <a:spcBef>
                          <a:spcPts val="0"/>
                        </a:spcBef>
                        <a:spcAft>
                          <a:spcPts val="0"/>
                        </a:spcAft>
                        <a:buNone/>
                      </a:pPr>
                      <a:r>
                        <a:rPr lang="zh-CN" sz="1100"/>
                        <a:t>1.有什么利益功能？ 2.为何说它有利益或功能？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r>
              <a:tr h="666750">
                <a:tc>
                  <a:txBody>
                    <a:bodyPr/>
                    <a:lstStyle/>
                    <a:p>
                      <a:pPr indent="0" lvl="0" marL="0" rtl="0" algn="l">
                        <a:spcBef>
                          <a:spcPts val="0"/>
                        </a:spcBef>
                        <a:spcAft>
                          <a:spcPts val="0"/>
                        </a:spcAft>
                        <a:buNone/>
                      </a:pPr>
                      <a:r>
                        <a:rPr lang="zh-CN" sz="1100"/>
                        <a:t>绿帽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zh-CN" sz="1100"/>
                        <a:t>草地 生机盎然、丰饶多产</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zh-CN" sz="1100"/>
                        <a:t>创意与新的想法——新点子、新概念、创意、水平思考、替代方案</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zh-CN" sz="1100"/>
                        <a:t>1.有什么计划与建议？ 2.有什么新构想？ 3.我们如何得到所需资料？ 4.有什么替代方案？</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r h="666750">
                <a:tc>
                  <a:txBody>
                    <a:bodyPr/>
                    <a:lstStyle/>
                    <a:p>
                      <a:pPr indent="0" lvl="0" marL="0" rtl="0" algn="l">
                        <a:spcBef>
                          <a:spcPts val="0"/>
                        </a:spcBef>
                        <a:spcAft>
                          <a:spcPts val="0"/>
                        </a:spcAft>
                        <a:buNone/>
                      </a:pPr>
                      <a:r>
                        <a:rPr lang="zh-CN" sz="1100"/>
                        <a:t>蓝帽</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zh-CN" sz="1100"/>
                        <a:t>天空 乐团指挥 冷静、在万物上方</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zh-CN" sz="1100"/>
                        <a:t>冷静、抽离、掌握、架构、归纳、总结 控制与组织思考过程、控制其他五种思考帽的使用、对靶心正确提问、确定问题、指定思考任务</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c>
                  <a:txBody>
                    <a:bodyPr/>
                    <a:lstStyle/>
                    <a:p>
                      <a:pPr indent="0" lvl="0" marL="0" rtl="0" algn="l">
                        <a:spcBef>
                          <a:spcPts val="0"/>
                        </a:spcBef>
                        <a:spcAft>
                          <a:spcPts val="0"/>
                        </a:spcAft>
                        <a:buNone/>
                      </a:pPr>
                      <a:r>
                        <a:rPr lang="zh-CN" sz="1100"/>
                        <a:t>1.我们现在思考进行到哪里？ 2.下一步怎么进行？ 3.作摘要 4.思考计划为何？ 5.观察与评论</a:t>
                      </a:r>
                      <a:endParaRPr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AF8"/>
                    </a:solidFill>
                  </a:tcPr>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32" name="Google Shape;1232;p130"/>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33" name="Google Shape;1233;p130"/>
          <p:cNvPicPr preferRelativeResize="0"/>
          <p:nvPr/>
        </p:nvPicPr>
        <p:blipFill>
          <a:blip r:embed="rId3">
            <a:alphaModFix/>
          </a:blip>
          <a:stretch>
            <a:fillRect/>
          </a:stretch>
        </p:blipFill>
        <p:spPr>
          <a:xfrm>
            <a:off x="1495125" y="1310891"/>
            <a:ext cx="6026650" cy="2969325"/>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131"/>
          <p:cNvSpPr txBox="1"/>
          <p:nvPr>
            <p:ph type="title"/>
          </p:nvPr>
        </p:nvSpPr>
        <p:spPr>
          <a:xfrm>
            <a:off x="311700" y="328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鱼骨图分析法</a:t>
            </a:r>
            <a:endParaRPr/>
          </a:p>
        </p:txBody>
      </p:sp>
      <p:sp>
        <p:nvSpPr>
          <p:cNvPr id="1239" name="Google Shape;1239;p131"/>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40" name="Google Shape;1240;p131"/>
          <p:cNvPicPr preferRelativeResize="0"/>
          <p:nvPr/>
        </p:nvPicPr>
        <p:blipFill>
          <a:blip r:embed="rId3">
            <a:alphaModFix/>
          </a:blip>
          <a:stretch>
            <a:fillRect/>
          </a:stretch>
        </p:blipFill>
        <p:spPr>
          <a:xfrm>
            <a:off x="0" y="900692"/>
            <a:ext cx="9144000" cy="4242816"/>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1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T2W4 HW </a:t>
            </a:r>
            <a:r>
              <a:rPr lang="zh-CN"/>
              <a:t>用六个帽子的视角分析预制菜问题</a:t>
            </a:r>
            <a:endParaRPr/>
          </a:p>
        </p:txBody>
      </p:sp>
      <p:sp>
        <p:nvSpPr>
          <p:cNvPr id="1246" name="Google Shape;1246;p132"/>
          <p:cNvSpPr txBox="1"/>
          <p:nvPr>
            <p:ph idx="1" type="body"/>
          </p:nvPr>
        </p:nvSpPr>
        <p:spPr>
          <a:xfrm>
            <a:off x="311700" y="1234075"/>
            <a:ext cx="8520600" cy="33348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zh-CN"/>
              <a:t>所有餐饮店必须强制标注“使用预制菜”吗？</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CN"/>
              <a:t>以六个帽子的视角为框架，在A4纸上手写各个视角的分析。</a:t>
            </a:r>
            <a:endParaRPr/>
          </a:p>
          <a:p>
            <a:pPr indent="-342900" lvl="0" marL="457200" rtl="0" algn="l">
              <a:spcBef>
                <a:spcPts val="1200"/>
              </a:spcBef>
              <a:spcAft>
                <a:spcPts val="0"/>
              </a:spcAft>
              <a:buSzPts val="1800"/>
              <a:buChar char="●"/>
            </a:pPr>
            <a:r>
              <a:rPr lang="zh-CN"/>
              <a:t>白帽：客观事实</a:t>
            </a:r>
            <a:endParaRPr/>
          </a:p>
          <a:p>
            <a:pPr indent="-342900" lvl="0" marL="457200" rtl="0" algn="l">
              <a:spcBef>
                <a:spcPts val="0"/>
              </a:spcBef>
              <a:spcAft>
                <a:spcPts val="0"/>
              </a:spcAft>
              <a:buSzPts val="1800"/>
              <a:buChar char="●"/>
            </a:pPr>
            <a:r>
              <a:rPr lang="zh-CN"/>
              <a:t>红帽：情绪反应</a:t>
            </a:r>
            <a:endParaRPr/>
          </a:p>
          <a:p>
            <a:pPr indent="-342900" lvl="0" marL="457200" rtl="0" algn="l">
              <a:spcBef>
                <a:spcPts val="0"/>
              </a:spcBef>
              <a:spcAft>
                <a:spcPts val="0"/>
              </a:spcAft>
              <a:buSzPts val="1800"/>
              <a:buChar char="●"/>
            </a:pPr>
            <a:r>
              <a:rPr lang="zh-CN"/>
              <a:t>黑帽：悲观、负面、风险</a:t>
            </a:r>
            <a:endParaRPr/>
          </a:p>
          <a:p>
            <a:pPr indent="-342900" lvl="0" marL="457200" rtl="0" algn="l">
              <a:spcBef>
                <a:spcPts val="0"/>
              </a:spcBef>
              <a:spcAft>
                <a:spcPts val="0"/>
              </a:spcAft>
              <a:buSzPts val="1800"/>
              <a:buChar char="●"/>
            </a:pPr>
            <a:r>
              <a:rPr lang="zh-CN"/>
              <a:t>黄帽：乐观、正面、好处</a:t>
            </a:r>
            <a:endParaRPr/>
          </a:p>
          <a:p>
            <a:pPr indent="-342900" lvl="0" marL="457200" rtl="0" algn="l">
              <a:spcBef>
                <a:spcPts val="0"/>
              </a:spcBef>
              <a:spcAft>
                <a:spcPts val="0"/>
              </a:spcAft>
              <a:buSzPts val="1800"/>
              <a:buChar char="●"/>
            </a:pPr>
            <a:r>
              <a:rPr lang="zh-CN"/>
              <a:t>绿帽：措施、建议</a:t>
            </a:r>
            <a:endParaRPr/>
          </a:p>
          <a:p>
            <a:pPr indent="-342900" lvl="0" marL="457200" rtl="0" algn="l">
              <a:spcBef>
                <a:spcPts val="0"/>
              </a:spcBef>
              <a:spcAft>
                <a:spcPts val="0"/>
              </a:spcAft>
              <a:buSzPts val="1800"/>
              <a:buChar char="●"/>
            </a:pPr>
            <a:r>
              <a:rPr lang="zh-CN"/>
              <a:t>蓝帽：宏观总结、全局思维</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1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热身活动：</a:t>
            </a:r>
            <a:endParaRPr/>
          </a:p>
        </p:txBody>
      </p:sp>
      <p:sp>
        <p:nvSpPr>
          <p:cNvPr id="1252" name="Google Shape;1252;p133"/>
          <p:cNvSpPr txBox="1"/>
          <p:nvPr>
            <p:ph idx="1" type="body"/>
          </p:nvPr>
        </p:nvSpPr>
        <p:spPr>
          <a:xfrm>
            <a:off x="2097425" y="1234075"/>
            <a:ext cx="67347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zh-CN"/>
              <a:t>请说一说 IGCSE 4 种文体分别是什么？</a:t>
            </a:r>
            <a:endParaRPr/>
          </a:p>
          <a:p>
            <a:pPr indent="0" lvl="0" marL="0" rtl="0" algn="l">
              <a:spcBef>
                <a:spcPts val="1200"/>
              </a:spcBef>
              <a:spcAft>
                <a:spcPts val="1200"/>
              </a:spcAft>
              <a:buNone/>
            </a:pPr>
            <a:r>
              <a:rPr lang="zh-CN"/>
              <a:t>说出它们的区别。</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sp>
        <p:nvSpPr>
          <p:cNvPr id="1257" name="Google Shape;1257;p1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58" name="Google Shape;1258;p13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35"/>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CN"/>
              <a:t>文言文</a:t>
            </a:r>
            <a:endParaRPr sz="2800"/>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1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热身活动：</a:t>
            </a:r>
            <a:endParaRPr/>
          </a:p>
        </p:txBody>
      </p:sp>
      <p:sp>
        <p:nvSpPr>
          <p:cNvPr id="1269" name="Google Shape;1269;p136"/>
          <p:cNvSpPr txBox="1"/>
          <p:nvPr>
            <p:ph idx="1" type="body"/>
          </p:nvPr>
        </p:nvSpPr>
        <p:spPr>
          <a:xfrm>
            <a:off x="1217725" y="1234075"/>
            <a:ext cx="7614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sz="2400">
                <a:latin typeface="STKaiti"/>
                <a:ea typeface="STKaiti"/>
                <a:cs typeface="STKaiti"/>
                <a:sym typeface="STKaiti"/>
              </a:rPr>
              <a:t>思考以下问题，准备跟大家分享你的看法和经验：</a:t>
            </a:r>
            <a:endParaRPr sz="2400">
              <a:latin typeface="STKaiti"/>
              <a:ea typeface="STKaiti"/>
              <a:cs typeface="STKaiti"/>
              <a:sym typeface="STKaiti"/>
            </a:endParaRPr>
          </a:p>
          <a:p>
            <a:pPr indent="-381000" lvl="0" marL="457200" rtl="0" algn="l">
              <a:spcBef>
                <a:spcPts val="1200"/>
              </a:spcBef>
              <a:spcAft>
                <a:spcPts val="0"/>
              </a:spcAft>
              <a:buSzPts val="2400"/>
              <a:buFont typeface="STKaiti"/>
              <a:buAutoNum type="arabicPeriod"/>
            </a:pPr>
            <a:r>
              <a:rPr lang="zh-CN" sz="2400">
                <a:latin typeface="STKaiti"/>
                <a:ea typeface="STKaiti"/>
                <a:cs typeface="STKaiti"/>
                <a:sym typeface="STKaiti"/>
              </a:rPr>
              <a:t>学习文言文有什么用？</a:t>
            </a:r>
            <a:endParaRPr sz="2400">
              <a:latin typeface="STKaiti"/>
              <a:ea typeface="STKaiti"/>
              <a:cs typeface="STKaiti"/>
              <a:sym typeface="STKaiti"/>
            </a:endParaRPr>
          </a:p>
          <a:p>
            <a:pPr indent="-381000" lvl="0" marL="457200" rtl="0" algn="l">
              <a:spcBef>
                <a:spcPts val="0"/>
              </a:spcBef>
              <a:spcAft>
                <a:spcPts val="0"/>
              </a:spcAft>
              <a:buSzPts val="2400"/>
              <a:buFont typeface="STKaiti"/>
              <a:buAutoNum type="arabicPeriod"/>
            </a:pPr>
            <a:r>
              <a:rPr lang="zh-CN" sz="2400">
                <a:latin typeface="STKaiti"/>
                <a:ea typeface="STKaiti"/>
                <a:cs typeface="STKaiti"/>
                <a:sym typeface="STKaiti"/>
              </a:rPr>
              <a:t>你觉得学习文言文最难的是什么？</a:t>
            </a:r>
            <a:endParaRPr sz="2400">
              <a:latin typeface="STKaiti"/>
              <a:ea typeface="STKaiti"/>
              <a:cs typeface="STKaiti"/>
              <a:sym typeface="STKaiti"/>
            </a:endParaRPr>
          </a:p>
          <a:p>
            <a:pPr indent="-381000" lvl="0" marL="457200" rtl="0" algn="l">
              <a:spcBef>
                <a:spcPts val="0"/>
              </a:spcBef>
              <a:spcAft>
                <a:spcPts val="0"/>
              </a:spcAft>
              <a:buSzPts val="2400"/>
              <a:buFont typeface="STKaiti"/>
              <a:buAutoNum type="arabicPeriod"/>
            </a:pPr>
            <a:r>
              <a:rPr lang="zh-CN" sz="2400">
                <a:latin typeface="STKaiti"/>
                <a:ea typeface="STKaiti"/>
                <a:cs typeface="STKaiti"/>
                <a:sym typeface="STKaiti"/>
              </a:rPr>
              <a:t>你是怎么学习一篇文言文的？</a:t>
            </a:r>
            <a:endParaRPr sz="2400">
              <a:latin typeface="STKaiti"/>
              <a:ea typeface="STKaiti"/>
              <a:cs typeface="STKaiti"/>
              <a:sym typeface="STKaiti"/>
            </a:endParaRPr>
          </a:p>
          <a:p>
            <a:pPr indent="-381000" lvl="0" marL="457200" rtl="0" algn="l">
              <a:spcBef>
                <a:spcPts val="0"/>
              </a:spcBef>
              <a:spcAft>
                <a:spcPts val="0"/>
              </a:spcAft>
              <a:buSzPts val="2400"/>
              <a:buFont typeface="STKaiti"/>
              <a:buAutoNum type="arabicPeriod"/>
            </a:pPr>
            <a:r>
              <a:rPr lang="zh-CN" sz="2400">
                <a:latin typeface="STKaiti"/>
                <a:ea typeface="STKaiti"/>
                <a:cs typeface="STKaiti"/>
                <a:sym typeface="STKaiti"/>
              </a:rPr>
              <a:t>你觉得怎么学才能学好文言文？</a:t>
            </a:r>
            <a:endParaRPr sz="2400">
              <a:latin typeface="STKaiti"/>
              <a:ea typeface="STKaiti"/>
              <a:cs typeface="STKaiti"/>
              <a:sym typeface="STKaiti"/>
            </a:endParaRPr>
          </a:p>
        </p:txBody>
      </p:sp>
      <p:pic>
        <p:nvPicPr>
          <p:cNvPr id="1270" name="Google Shape;1270;p136"/>
          <p:cNvPicPr preferRelativeResize="0"/>
          <p:nvPr/>
        </p:nvPicPr>
        <p:blipFill>
          <a:blip r:embed="rId3">
            <a:alphaModFix/>
          </a:blip>
          <a:stretch>
            <a:fillRect/>
          </a:stretch>
        </p:blipFill>
        <p:spPr>
          <a:xfrm>
            <a:off x="7051450" y="2993843"/>
            <a:ext cx="2017950" cy="2103175"/>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137"/>
          <p:cNvSpPr txBox="1"/>
          <p:nvPr>
            <p:ph type="title"/>
          </p:nvPr>
        </p:nvSpPr>
        <p:spPr>
          <a:xfrm>
            <a:off x="250775" y="70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文言文学习的四个方面：</a:t>
            </a:r>
            <a:endParaRPr/>
          </a:p>
        </p:txBody>
      </p:sp>
      <p:sp>
        <p:nvSpPr>
          <p:cNvPr id="1276" name="Google Shape;1276;p137"/>
          <p:cNvSpPr/>
          <p:nvPr/>
        </p:nvSpPr>
        <p:spPr>
          <a:xfrm>
            <a:off x="2962500" y="1962900"/>
            <a:ext cx="2408100" cy="2126400"/>
          </a:xfrm>
          <a:prstGeom prst="quadArrowCallout">
            <a:avLst>
              <a:gd fmla="val 18515" name="adj1"/>
              <a:gd fmla="val 18515" name="adj2"/>
              <a:gd fmla="val 18515" name="adj3"/>
              <a:gd fmla="val 48123" name="adj4"/>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1277" name="Google Shape;1277;p137"/>
          <p:cNvSpPr/>
          <p:nvPr/>
        </p:nvSpPr>
        <p:spPr>
          <a:xfrm>
            <a:off x="3335100" y="945075"/>
            <a:ext cx="1517700" cy="781500"/>
          </a:xfrm>
          <a:prstGeom prst="flowChartAlternateProcess">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sz="3000">
                <a:latin typeface="STKaiti"/>
                <a:ea typeface="STKaiti"/>
                <a:cs typeface="STKaiti"/>
                <a:sym typeface="STKaiti"/>
              </a:rPr>
              <a:t>文化</a:t>
            </a:r>
            <a:endParaRPr sz="3000">
              <a:latin typeface="STKaiti"/>
              <a:ea typeface="STKaiti"/>
              <a:cs typeface="STKaiti"/>
              <a:sym typeface="STKaiti"/>
            </a:endParaRPr>
          </a:p>
        </p:txBody>
      </p:sp>
      <p:sp>
        <p:nvSpPr>
          <p:cNvPr id="1278" name="Google Shape;1278;p137"/>
          <p:cNvSpPr/>
          <p:nvPr/>
        </p:nvSpPr>
        <p:spPr>
          <a:xfrm>
            <a:off x="5759350" y="2635350"/>
            <a:ext cx="1517700" cy="781500"/>
          </a:xfrm>
          <a:prstGeom prst="flowChartAlternateProcess">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sz="3000">
                <a:latin typeface="STKaiti"/>
                <a:ea typeface="STKaiti"/>
                <a:cs typeface="STKaiti"/>
                <a:sym typeface="STKaiti"/>
              </a:rPr>
              <a:t>文</a:t>
            </a:r>
            <a:r>
              <a:rPr lang="zh-CN" sz="3000">
                <a:latin typeface="STKaiti"/>
                <a:ea typeface="STKaiti"/>
                <a:cs typeface="STKaiti"/>
                <a:sym typeface="STKaiti"/>
              </a:rPr>
              <a:t>学</a:t>
            </a:r>
            <a:endParaRPr sz="3000">
              <a:latin typeface="STKaiti"/>
              <a:ea typeface="STKaiti"/>
              <a:cs typeface="STKaiti"/>
              <a:sym typeface="STKaiti"/>
            </a:endParaRPr>
          </a:p>
        </p:txBody>
      </p:sp>
      <p:sp>
        <p:nvSpPr>
          <p:cNvPr id="1279" name="Google Shape;1279;p137"/>
          <p:cNvSpPr/>
          <p:nvPr/>
        </p:nvSpPr>
        <p:spPr>
          <a:xfrm>
            <a:off x="3407700" y="4285100"/>
            <a:ext cx="1517700" cy="781500"/>
          </a:xfrm>
          <a:prstGeom prst="flowChartAlternateProcess">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sz="3000">
                <a:latin typeface="STKaiti"/>
                <a:ea typeface="STKaiti"/>
                <a:cs typeface="STKaiti"/>
                <a:sym typeface="STKaiti"/>
              </a:rPr>
              <a:t>文</a:t>
            </a:r>
            <a:r>
              <a:rPr lang="zh-CN" sz="3000">
                <a:latin typeface="STKaiti"/>
                <a:ea typeface="STKaiti"/>
                <a:cs typeface="STKaiti"/>
                <a:sym typeface="STKaiti"/>
              </a:rPr>
              <a:t>言</a:t>
            </a:r>
            <a:endParaRPr sz="3000">
              <a:latin typeface="STKaiti"/>
              <a:ea typeface="STKaiti"/>
              <a:cs typeface="STKaiti"/>
              <a:sym typeface="STKaiti"/>
            </a:endParaRPr>
          </a:p>
        </p:txBody>
      </p:sp>
      <p:sp>
        <p:nvSpPr>
          <p:cNvPr id="1280" name="Google Shape;1280;p137"/>
          <p:cNvSpPr/>
          <p:nvPr/>
        </p:nvSpPr>
        <p:spPr>
          <a:xfrm>
            <a:off x="1011525" y="2635350"/>
            <a:ext cx="1517700" cy="781500"/>
          </a:xfrm>
          <a:prstGeom prst="flowChartAlternateProcess">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CN" sz="3000">
                <a:latin typeface="STKaiti"/>
                <a:ea typeface="STKaiti"/>
                <a:cs typeface="STKaiti"/>
                <a:sym typeface="STKaiti"/>
              </a:rPr>
              <a:t>文</a:t>
            </a:r>
            <a:r>
              <a:rPr lang="zh-CN" sz="3000">
                <a:latin typeface="STKaiti"/>
                <a:ea typeface="STKaiti"/>
                <a:cs typeface="STKaiti"/>
                <a:sym typeface="STKaiti"/>
              </a:rPr>
              <a:t>章</a:t>
            </a:r>
            <a:endParaRPr sz="3000">
              <a:latin typeface="STKaiti"/>
              <a:ea typeface="STKaiti"/>
              <a:cs typeface="STKaiti"/>
              <a:sym typeface="STKaiti"/>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1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zh-CN"/>
              <a:t>文言</a:t>
            </a:r>
            <a:endParaRPr/>
          </a:p>
        </p:txBody>
      </p:sp>
      <p:sp>
        <p:nvSpPr>
          <p:cNvPr id="1286" name="Google Shape;1286;p138"/>
          <p:cNvSpPr txBox="1"/>
          <p:nvPr>
            <p:ph idx="1" type="body"/>
          </p:nvPr>
        </p:nvSpPr>
        <p:spPr>
          <a:xfrm>
            <a:off x="1183625" y="1234075"/>
            <a:ext cx="76488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以</a:t>
            </a:r>
            <a:r>
              <a:rPr b="1" lang="zh-CN">
                <a:solidFill>
                  <a:srgbClr val="FF0000"/>
                </a:solidFill>
              </a:rPr>
              <a:t>先秦汉语为基础</a:t>
            </a:r>
            <a:r>
              <a:rPr lang="zh-CN"/>
              <a:t>形成的古代汉语书面语。</a:t>
            </a:r>
            <a:endParaRPr/>
          </a:p>
          <a:p>
            <a:pPr indent="0" lvl="0" marL="0" rtl="0" algn="l">
              <a:spcBef>
                <a:spcPts val="1200"/>
              </a:spcBef>
              <a:spcAft>
                <a:spcPts val="1200"/>
              </a:spcAft>
              <a:buNone/>
            </a:pPr>
            <a:r>
              <a:rPr lang="zh-CN"/>
              <a:t>与现代汉语的差异，主要体现在</a:t>
            </a:r>
            <a:r>
              <a:rPr b="1" lang="zh-CN">
                <a:solidFill>
                  <a:srgbClr val="FF0000"/>
                </a:solidFill>
              </a:rPr>
              <a:t>词汇</a:t>
            </a:r>
            <a:r>
              <a:rPr lang="zh-CN"/>
              <a:t>和</a:t>
            </a:r>
            <a:r>
              <a:rPr b="1" lang="zh-CN">
                <a:solidFill>
                  <a:srgbClr val="FF0000"/>
                </a:solidFill>
              </a:rPr>
              <a:t>语法</a:t>
            </a:r>
            <a:r>
              <a:rPr lang="zh-CN"/>
              <a:t>方面。</a:t>
            </a:r>
            <a:endParaRPr/>
          </a:p>
        </p:txBody>
      </p:sp>
      <p:pic>
        <p:nvPicPr>
          <p:cNvPr id="1287" name="Google Shape;1287;p138"/>
          <p:cNvPicPr preferRelativeResize="0"/>
          <p:nvPr/>
        </p:nvPicPr>
        <p:blipFill>
          <a:blip r:embed="rId3">
            <a:alphaModFix/>
          </a:blip>
          <a:stretch>
            <a:fillRect/>
          </a:stretch>
        </p:blipFill>
        <p:spPr>
          <a:xfrm>
            <a:off x="5909379" y="2631325"/>
            <a:ext cx="3181600" cy="2383125"/>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1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zh-CN"/>
              <a:t>文言</a:t>
            </a:r>
            <a:endParaRPr/>
          </a:p>
        </p:txBody>
      </p:sp>
      <p:sp>
        <p:nvSpPr>
          <p:cNvPr id="1293" name="Google Shape;1293;p139"/>
          <p:cNvSpPr txBox="1"/>
          <p:nvPr>
            <p:ph idx="1" type="body"/>
          </p:nvPr>
        </p:nvSpPr>
        <p:spPr>
          <a:xfrm>
            <a:off x="1209725" y="1234075"/>
            <a:ext cx="7622700" cy="3334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zh-CN"/>
              <a:t>文言文的词汇，分两个方面：</a:t>
            </a:r>
            <a:endParaRPr/>
          </a:p>
          <a:p>
            <a:pPr indent="-342900" lvl="0" marL="457200" rtl="0" algn="l">
              <a:spcBef>
                <a:spcPts val="1200"/>
              </a:spcBef>
              <a:spcAft>
                <a:spcPts val="0"/>
              </a:spcAft>
              <a:buSzPts val="1800"/>
              <a:buAutoNum type="arabicPeriod"/>
            </a:pPr>
            <a:r>
              <a:rPr lang="zh-CN"/>
              <a:t>“古代特有”：大多数，不是意义不同，就是用法不一样。</a:t>
            </a:r>
            <a:endParaRPr/>
          </a:p>
          <a:p>
            <a:pPr indent="-342900" lvl="0" marL="457200" rtl="0" algn="l">
              <a:spcBef>
                <a:spcPts val="0"/>
              </a:spcBef>
              <a:spcAft>
                <a:spcPts val="0"/>
              </a:spcAft>
              <a:buSzPts val="1800"/>
              <a:buAutoNum type="arabicPeriod"/>
            </a:pPr>
            <a:r>
              <a:rPr lang="zh-CN"/>
              <a:t>“古今相同”：所占比例相对较小。</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CN"/>
              <a:t>语法方面：</a:t>
            </a:r>
            <a:endParaRPr/>
          </a:p>
          <a:p>
            <a:pPr indent="-342900" lvl="0" marL="457200" rtl="0" algn="l">
              <a:spcBef>
                <a:spcPts val="1200"/>
              </a:spcBef>
              <a:spcAft>
                <a:spcPts val="0"/>
              </a:spcAft>
              <a:buSzPts val="1800"/>
              <a:buChar char="●"/>
            </a:pPr>
            <a:r>
              <a:rPr lang="zh-CN"/>
              <a:t>差别很大。</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zh-CN">
                <a:solidFill>
                  <a:srgbClr val="FF0000"/>
                </a:solidFill>
              </a:rPr>
              <a:t>那么如何学习文言文的词汇和语法？</a:t>
            </a:r>
            <a:endParaRPr b="1">
              <a:solidFill>
                <a:srgbClr val="FF00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297" name="Shape 1297"/>
        <p:cNvGrpSpPr/>
        <p:nvPr/>
      </p:nvGrpSpPr>
      <p:grpSpPr>
        <a:xfrm>
          <a:off x="0" y="0"/>
          <a:ext cx="0" cy="0"/>
          <a:chOff x="0" y="0"/>
          <a:chExt cx="0" cy="0"/>
        </a:xfrm>
      </p:grpSpPr>
      <p:sp>
        <p:nvSpPr>
          <p:cNvPr id="1298" name="Google Shape;1298;p1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zh-CN"/>
              <a:t>文言的学习方法</a:t>
            </a:r>
            <a:endParaRPr/>
          </a:p>
        </p:txBody>
      </p:sp>
      <p:sp>
        <p:nvSpPr>
          <p:cNvPr id="1299" name="Google Shape;1299;p140"/>
          <p:cNvSpPr txBox="1"/>
          <p:nvPr>
            <p:ph idx="1" type="body"/>
          </p:nvPr>
        </p:nvSpPr>
        <p:spPr>
          <a:xfrm>
            <a:off x="1462100" y="1234075"/>
            <a:ext cx="7370100" cy="3813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b="1" lang="zh-CN" sz="1865">
                <a:solidFill>
                  <a:srgbClr val="0000FF"/>
                </a:solidFill>
                <a:latin typeface="STKaiti"/>
                <a:ea typeface="STKaiti"/>
                <a:cs typeface="STKaiti"/>
                <a:sym typeface="STKaiti"/>
              </a:rPr>
              <a:t>放过：</a:t>
            </a:r>
            <a:endParaRPr b="1" sz="1865">
              <a:solidFill>
                <a:srgbClr val="0000FF"/>
              </a:solidFill>
              <a:latin typeface="STKaiti"/>
              <a:ea typeface="STKaiti"/>
              <a:cs typeface="STKaiti"/>
              <a:sym typeface="STKaiti"/>
            </a:endParaRPr>
          </a:p>
          <a:p>
            <a:pPr indent="0" lvl="0" marL="457200" rtl="0" algn="l">
              <a:lnSpc>
                <a:spcPct val="95000"/>
              </a:lnSpc>
              <a:spcBef>
                <a:spcPts val="1200"/>
              </a:spcBef>
              <a:spcAft>
                <a:spcPts val="0"/>
              </a:spcAft>
              <a:buSzPts val="1018"/>
              <a:buNone/>
            </a:pPr>
            <a:r>
              <a:rPr lang="zh-CN" sz="1865">
                <a:latin typeface="STKaiti"/>
                <a:ea typeface="STKaiti"/>
                <a:cs typeface="STKaiti"/>
                <a:sym typeface="STKaiti"/>
              </a:rPr>
              <a:t>1. 古今一致</a:t>
            </a:r>
            <a:endParaRPr sz="1865">
              <a:latin typeface="STKaiti"/>
              <a:ea typeface="STKaiti"/>
              <a:cs typeface="STKaiti"/>
              <a:sym typeface="STKaiti"/>
            </a:endParaRPr>
          </a:p>
          <a:p>
            <a:pPr indent="0" lvl="0" marL="457200" rtl="0" algn="l">
              <a:lnSpc>
                <a:spcPct val="95000"/>
              </a:lnSpc>
              <a:spcBef>
                <a:spcPts val="1200"/>
              </a:spcBef>
              <a:spcAft>
                <a:spcPts val="0"/>
              </a:spcAft>
              <a:buSzPts val="1018"/>
              <a:buNone/>
            </a:pPr>
            <a:r>
              <a:rPr lang="zh-CN" sz="1865">
                <a:latin typeface="STKaiti"/>
                <a:ea typeface="STKaiti"/>
                <a:cs typeface="STKaiti"/>
                <a:sym typeface="STKaiti"/>
              </a:rPr>
              <a:t>2. 生僻的难字难句 （有些词仅在该篇文章里意义重大，并不在其他文章频繁使用）</a:t>
            </a:r>
            <a:endParaRPr sz="1865">
              <a:latin typeface="STKaiti"/>
              <a:ea typeface="STKaiti"/>
              <a:cs typeface="STKaiti"/>
              <a:sym typeface="STKaiti"/>
            </a:endParaRPr>
          </a:p>
          <a:p>
            <a:pPr indent="0" lvl="0" marL="0" rtl="0" algn="l">
              <a:lnSpc>
                <a:spcPct val="95000"/>
              </a:lnSpc>
              <a:spcBef>
                <a:spcPts val="1200"/>
              </a:spcBef>
              <a:spcAft>
                <a:spcPts val="0"/>
              </a:spcAft>
              <a:buSzPts val="1018"/>
              <a:buNone/>
            </a:pPr>
            <a:r>
              <a:rPr b="1" lang="zh-CN" sz="1865">
                <a:solidFill>
                  <a:srgbClr val="0000FF"/>
                </a:solidFill>
                <a:latin typeface="STKaiti"/>
                <a:ea typeface="STKaiti"/>
                <a:cs typeface="STKaiti"/>
                <a:sym typeface="STKaiti"/>
              </a:rPr>
              <a:t>重点：</a:t>
            </a:r>
            <a:endParaRPr b="1" sz="1865">
              <a:solidFill>
                <a:srgbClr val="0000FF"/>
              </a:solidFill>
              <a:latin typeface="STKaiti"/>
              <a:ea typeface="STKaiti"/>
              <a:cs typeface="STKaiti"/>
              <a:sym typeface="STKaiti"/>
            </a:endParaRPr>
          </a:p>
          <a:p>
            <a:pPr indent="-347028" lvl="0" marL="457200" rtl="0" algn="l">
              <a:lnSpc>
                <a:spcPct val="95000"/>
              </a:lnSpc>
              <a:spcBef>
                <a:spcPts val="1200"/>
              </a:spcBef>
              <a:spcAft>
                <a:spcPts val="0"/>
              </a:spcAft>
              <a:buSzPts val="1865"/>
              <a:buFont typeface="STKaiti"/>
              <a:buChar char="●"/>
            </a:pPr>
            <a:r>
              <a:rPr lang="zh-CN" sz="1865">
                <a:latin typeface="STKaiti"/>
                <a:ea typeface="STKaiti"/>
                <a:cs typeface="STKaiti"/>
                <a:sym typeface="STKaiti"/>
              </a:rPr>
              <a:t>古今“同中有异”的常用字。Quizlet ？</a:t>
            </a:r>
            <a:endParaRPr sz="1865">
              <a:latin typeface="STKaiti"/>
              <a:ea typeface="STKaiti"/>
              <a:cs typeface="STKaiti"/>
              <a:sym typeface="STKaiti"/>
            </a:endParaRPr>
          </a:p>
          <a:p>
            <a:pPr indent="-347028" lvl="0" marL="457200" rtl="0" algn="l">
              <a:lnSpc>
                <a:spcPct val="95000"/>
              </a:lnSpc>
              <a:spcBef>
                <a:spcPts val="0"/>
              </a:spcBef>
              <a:spcAft>
                <a:spcPts val="0"/>
              </a:spcAft>
              <a:buSzPts val="1865"/>
              <a:buFont typeface="STKaiti"/>
              <a:buChar char="●"/>
            </a:pPr>
            <a:r>
              <a:rPr lang="zh-CN" sz="1865">
                <a:latin typeface="STKaiti"/>
                <a:ea typeface="STKaiti"/>
                <a:cs typeface="STKaiti"/>
                <a:sym typeface="STKaiti"/>
              </a:rPr>
              <a:t>古今语序不同的句式。</a:t>
            </a:r>
            <a:endParaRPr sz="1865">
              <a:latin typeface="STKaiti"/>
              <a:ea typeface="STKaiti"/>
              <a:cs typeface="STKaiti"/>
              <a:sym typeface="STKaiti"/>
            </a:endParaRPr>
          </a:p>
          <a:p>
            <a:pPr indent="0" lvl="0" marL="0" rtl="0" algn="l">
              <a:lnSpc>
                <a:spcPct val="95000"/>
              </a:lnSpc>
              <a:spcBef>
                <a:spcPts val="1200"/>
              </a:spcBef>
              <a:spcAft>
                <a:spcPts val="0"/>
              </a:spcAft>
              <a:buSzPts val="1018"/>
              <a:buNone/>
            </a:pPr>
            <a:r>
              <a:rPr b="1" lang="zh-CN" sz="1865">
                <a:solidFill>
                  <a:srgbClr val="0000FF"/>
                </a:solidFill>
                <a:latin typeface="STKaiti"/>
                <a:ea typeface="STKaiti"/>
                <a:cs typeface="STKaiti"/>
                <a:sym typeface="STKaiti"/>
              </a:rPr>
              <a:t>深入分析：</a:t>
            </a:r>
            <a:endParaRPr b="1" sz="1865">
              <a:solidFill>
                <a:srgbClr val="0000FF"/>
              </a:solidFill>
              <a:latin typeface="STKaiti"/>
              <a:ea typeface="STKaiti"/>
              <a:cs typeface="STKaiti"/>
              <a:sym typeface="STKaiti"/>
            </a:endParaRPr>
          </a:p>
          <a:p>
            <a:pPr indent="-347028" lvl="0" marL="457200" rtl="0" algn="l">
              <a:lnSpc>
                <a:spcPct val="95000"/>
              </a:lnSpc>
              <a:spcBef>
                <a:spcPts val="1200"/>
              </a:spcBef>
              <a:spcAft>
                <a:spcPts val="0"/>
              </a:spcAft>
              <a:buSzPts val="1865"/>
              <a:buFont typeface="STKaiti"/>
              <a:buChar char="●"/>
            </a:pPr>
            <a:r>
              <a:rPr lang="zh-CN" sz="1865">
                <a:latin typeface="STKaiti"/>
                <a:ea typeface="STKaiti"/>
                <a:cs typeface="STKaiti"/>
                <a:sym typeface="STKaiti"/>
              </a:rPr>
              <a:t>章法考究处、炼字炼句处</a:t>
            </a:r>
            <a:endParaRPr sz="1865">
              <a:latin typeface="STKaiti"/>
              <a:ea typeface="STKaiti"/>
              <a:cs typeface="STKaiti"/>
              <a:sym typeface="STKaiti"/>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1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2. </a:t>
            </a:r>
            <a:r>
              <a:rPr lang="zh-CN"/>
              <a:t>文章 和 3. 文学  的统一</a:t>
            </a:r>
            <a:endParaRPr/>
          </a:p>
        </p:txBody>
      </p:sp>
      <p:sp>
        <p:nvSpPr>
          <p:cNvPr id="1305" name="Google Shape;1305;p141"/>
          <p:cNvSpPr txBox="1"/>
          <p:nvPr>
            <p:ph idx="1" type="body"/>
          </p:nvPr>
        </p:nvSpPr>
        <p:spPr>
          <a:xfrm>
            <a:off x="1340275" y="1070475"/>
            <a:ext cx="7623900" cy="3898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zh-CN"/>
              <a:t>“</a:t>
            </a:r>
            <a:r>
              <a:rPr lang="zh-CN"/>
              <a:t>文章”指的是功能。</a:t>
            </a:r>
            <a:endParaRPr/>
          </a:p>
          <a:p>
            <a:pPr indent="-334328" lvl="0" marL="457200" rtl="0" algn="l">
              <a:spcBef>
                <a:spcPts val="1200"/>
              </a:spcBef>
              <a:spcAft>
                <a:spcPts val="0"/>
              </a:spcAft>
              <a:buSzPct val="100000"/>
              <a:buChar char="●"/>
            </a:pPr>
            <a:r>
              <a:rPr lang="zh-CN"/>
              <a:t>古代当时有实用功能：《陈情表》、《出师表》等；</a:t>
            </a:r>
            <a:endParaRPr/>
          </a:p>
          <a:p>
            <a:pPr indent="-334328" lvl="0" marL="457200" rtl="0" algn="l">
              <a:spcBef>
                <a:spcPts val="0"/>
              </a:spcBef>
              <a:spcAft>
                <a:spcPts val="0"/>
              </a:spcAft>
              <a:buSzPct val="100000"/>
              <a:buChar char="●"/>
            </a:pPr>
            <a:r>
              <a:rPr lang="zh-CN"/>
              <a:t>载道：《劝学》、《是说》等；</a:t>
            </a:r>
            <a:endParaRPr/>
          </a:p>
          <a:p>
            <a:pPr indent="-334328" lvl="0" marL="457200" rtl="0" algn="l">
              <a:spcBef>
                <a:spcPts val="0"/>
              </a:spcBef>
              <a:spcAft>
                <a:spcPts val="0"/>
              </a:spcAft>
              <a:buSzPct val="100000"/>
              <a:buChar char="●"/>
            </a:pPr>
            <a:r>
              <a:rPr lang="zh-CN"/>
              <a:t>言志：《兰亭集序》、《项脊轩志》等</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CN"/>
              <a:t>“文学” 是指表现形式。古典散文作品的文学性，主要体现在</a:t>
            </a:r>
            <a:r>
              <a:rPr lang="zh-CN"/>
              <a:t>两个方面</a:t>
            </a:r>
            <a:r>
              <a:rPr lang="zh-CN"/>
              <a:t>：</a:t>
            </a:r>
            <a:endParaRPr/>
          </a:p>
          <a:p>
            <a:pPr indent="-334328" lvl="0" marL="457200" rtl="0" algn="l">
              <a:spcBef>
                <a:spcPts val="1200"/>
              </a:spcBef>
              <a:spcAft>
                <a:spcPts val="0"/>
              </a:spcAft>
              <a:buSzPct val="100000"/>
              <a:buAutoNum type="arabicPeriod"/>
            </a:pPr>
            <a:r>
              <a:rPr lang="zh-CN"/>
              <a:t>语言的锤炼</a:t>
            </a:r>
            <a:endParaRPr/>
          </a:p>
          <a:p>
            <a:pPr indent="-334328" lvl="0" marL="457200" rtl="0" algn="l">
              <a:spcBef>
                <a:spcPts val="0"/>
              </a:spcBef>
              <a:spcAft>
                <a:spcPts val="0"/>
              </a:spcAft>
              <a:buSzPct val="100000"/>
              <a:buAutoNum type="arabicPeriod"/>
            </a:pPr>
            <a:r>
              <a:rPr lang="zh-CN"/>
              <a:t>章法的考究</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CN">
                <a:solidFill>
                  <a:srgbClr val="FF0000"/>
                </a:solidFill>
              </a:rPr>
              <a:t>文言文的章法考究处、炼字炼句处，往往就是作者言志载道的关节点、精髓处，“文道统一”。</a:t>
            </a:r>
            <a:endParaRPr>
              <a:solidFill>
                <a:srgbClr val="FF0000"/>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1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4. </a:t>
            </a:r>
            <a:r>
              <a:rPr lang="zh-CN"/>
              <a:t>文化</a:t>
            </a:r>
            <a:endParaRPr/>
          </a:p>
        </p:txBody>
      </p:sp>
      <p:sp>
        <p:nvSpPr>
          <p:cNvPr id="1311" name="Google Shape;1311;p142"/>
          <p:cNvSpPr txBox="1"/>
          <p:nvPr>
            <p:ph idx="1" type="body"/>
          </p:nvPr>
        </p:nvSpPr>
        <p:spPr>
          <a:xfrm>
            <a:off x="1314150" y="1234075"/>
            <a:ext cx="75183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文化在文言文的体现是多层面的：</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b="1" lang="zh-CN">
                <a:solidFill>
                  <a:srgbClr val="FF0000"/>
                </a:solidFill>
              </a:rPr>
              <a:t>文言</a:t>
            </a:r>
            <a:r>
              <a:rPr lang="zh-CN"/>
              <a:t>。 本身就是传统文化的体现。</a:t>
            </a:r>
            <a:endParaRPr/>
          </a:p>
          <a:p>
            <a:pPr indent="-342900" lvl="0" marL="457200" rtl="0" algn="l">
              <a:spcBef>
                <a:spcPts val="0"/>
              </a:spcBef>
              <a:spcAft>
                <a:spcPts val="0"/>
              </a:spcAft>
              <a:buSzPts val="1800"/>
              <a:buAutoNum type="arabicPeriod"/>
            </a:pPr>
            <a:r>
              <a:rPr b="1" lang="zh-CN">
                <a:solidFill>
                  <a:srgbClr val="FF0000"/>
                </a:solidFill>
              </a:rPr>
              <a:t>传统思维方式</a:t>
            </a:r>
            <a:r>
              <a:rPr lang="zh-CN"/>
              <a:t>。“语言不仅是思维的工具，它同时也影响和制约着思维。”</a:t>
            </a:r>
            <a:endParaRPr/>
          </a:p>
          <a:p>
            <a:pPr indent="-342900" lvl="0" marL="457200" rtl="0" algn="l">
              <a:spcBef>
                <a:spcPts val="0"/>
              </a:spcBef>
              <a:spcAft>
                <a:spcPts val="0"/>
              </a:spcAft>
              <a:buSzPts val="1800"/>
              <a:buAutoNum type="arabicPeriod"/>
            </a:pPr>
            <a:r>
              <a:rPr b="1" lang="zh-CN">
                <a:solidFill>
                  <a:srgbClr val="FF0000"/>
                </a:solidFill>
              </a:rPr>
              <a:t>具体的文化内容</a:t>
            </a:r>
            <a:r>
              <a:rPr lang="zh-CN"/>
              <a:t>。文言文记载的典章制度、天文地理、民俗风情等。</a:t>
            </a:r>
            <a:endParaRPr/>
          </a:p>
          <a:p>
            <a:pPr indent="-342900" lvl="0" marL="457200" rtl="0" algn="l">
              <a:spcBef>
                <a:spcPts val="0"/>
              </a:spcBef>
              <a:spcAft>
                <a:spcPts val="0"/>
              </a:spcAft>
              <a:buSzPts val="1800"/>
              <a:buAutoNum type="arabicPeriod"/>
            </a:pPr>
            <a:r>
              <a:rPr lang="zh-CN"/>
              <a:t>所言志，所载道。文言文传达的中国古代仁人贤士的情意与思想。</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315" name="Shape 1315"/>
        <p:cNvGrpSpPr/>
        <p:nvPr/>
      </p:nvGrpSpPr>
      <p:grpSpPr>
        <a:xfrm>
          <a:off x="0" y="0"/>
          <a:ext cx="0" cy="0"/>
          <a:chOff x="0" y="0"/>
          <a:chExt cx="0" cy="0"/>
        </a:xfrm>
      </p:grpSpPr>
      <p:sp>
        <p:nvSpPr>
          <p:cNvPr id="1316" name="Google Shape;1316;p143"/>
          <p:cNvSpPr txBox="1"/>
          <p:nvPr>
            <p:ph idx="1" type="body"/>
          </p:nvPr>
        </p:nvSpPr>
        <p:spPr>
          <a:xfrm>
            <a:off x="1053075" y="1234075"/>
            <a:ext cx="77793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CN" sz="5400">
                <a:latin typeface="STKaiti"/>
                <a:ea typeface="STKaiti"/>
                <a:cs typeface="STKaiti"/>
                <a:sym typeface="STKaiti"/>
              </a:rPr>
              <a:t>学习文言文，最终的落点是文化的传承与反思。</a:t>
            </a:r>
            <a:endParaRPr sz="5400">
              <a:latin typeface="STKaiti"/>
              <a:ea typeface="STKaiti"/>
              <a:cs typeface="STKaiti"/>
              <a:sym typeface="STKaiti"/>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1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活动一：古今同义</a:t>
            </a:r>
            <a:endParaRPr/>
          </a:p>
        </p:txBody>
      </p:sp>
      <p:sp>
        <p:nvSpPr>
          <p:cNvPr id="1322" name="Google Shape;1322;p144"/>
          <p:cNvSpPr txBox="1"/>
          <p:nvPr>
            <p:ph idx="1" type="body"/>
          </p:nvPr>
        </p:nvSpPr>
        <p:spPr>
          <a:xfrm>
            <a:off x="1348975" y="1234075"/>
            <a:ext cx="74832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大家一起思考，找一些使用了同样字的成语，在成语里，这个词有同样的意思。</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CN"/>
              <a:t>第一段：</a:t>
            </a:r>
            <a:endParaRPr/>
          </a:p>
          <a:p>
            <a:pPr indent="-342900" lvl="0" marL="457200" rtl="0" algn="l">
              <a:spcBef>
                <a:spcPts val="1200"/>
              </a:spcBef>
              <a:spcAft>
                <a:spcPts val="0"/>
              </a:spcAft>
              <a:buSzPts val="1800"/>
              <a:buChar char="●"/>
            </a:pPr>
            <a:r>
              <a:rPr lang="zh-CN"/>
              <a:t>我可独为倡耶——独</a:t>
            </a:r>
            <a:endParaRPr/>
          </a:p>
          <a:p>
            <a:pPr indent="-342900" lvl="0" marL="457200" rtl="0" algn="l">
              <a:spcBef>
                <a:spcPts val="0"/>
              </a:spcBef>
              <a:spcAft>
                <a:spcPts val="0"/>
              </a:spcAft>
              <a:buSzPts val="1800"/>
              <a:buChar char="●"/>
            </a:pPr>
            <a:r>
              <a:rPr lang="zh-CN"/>
              <a:t>母告以衣食所仰——仰</a:t>
            </a:r>
            <a:endParaRPr/>
          </a:p>
          <a:p>
            <a:pPr indent="-342900" lvl="0" marL="457200" rtl="0" algn="l">
              <a:spcBef>
                <a:spcPts val="0"/>
              </a:spcBef>
              <a:spcAft>
                <a:spcPts val="0"/>
              </a:spcAft>
              <a:buSzPts val="1800"/>
              <a:buChar char="●"/>
            </a:pPr>
            <a:r>
              <a:rPr lang="zh-CN"/>
              <a:t>与母约曰——约</a:t>
            </a:r>
            <a:endParaRPr/>
          </a:p>
          <a:p>
            <a:pPr indent="-342900" lvl="0" marL="457200" rtl="0" algn="l">
              <a:spcBef>
                <a:spcPts val="0"/>
              </a:spcBef>
              <a:spcAft>
                <a:spcPts val="0"/>
              </a:spcAft>
              <a:buSzPts val="1800"/>
              <a:buChar char="●"/>
            </a:pPr>
            <a:r>
              <a:rPr lang="zh-CN"/>
              <a:t>阳从之——阳</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1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活动一：古今同义</a:t>
            </a:r>
            <a:endParaRPr/>
          </a:p>
        </p:txBody>
      </p:sp>
      <p:sp>
        <p:nvSpPr>
          <p:cNvPr id="1328" name="Google Shape;1328;p145"/>
          <p:cNvSpPr txBox="1"/>
          <p:nvPr>
            <p:ph idx="1" type="body"/>
          </p:nvPr>
        </p:nvSpPr>
        <p:spPr>
          <a:xfrm>
            <a:off x="1270650" y="1017725"/>
            <a:ext cx="74832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CN"/>
              <a:t>分组</a:t>
            </a:r>
            <a:r>
              <a:rPr lang="zh-CN"/>
              <a:t>找一些使用了同样字的成语，在成语里，这个词有同样的意思。</a:t>
            </a:r>
            <a:endParaRPr/>
          </a:p>
        </p:txBody>
      </p:sp>
      <p:sp>
        <p:nvSpPr>
          <p:cNvPr id="1329" name="Google Shape;1329;p145"/>
          <p:cNvSpPr txBox="1"/>
          <p:nvPr/>
        </p:nvSpPr>
        <p:spPr>
          <a:xfrm>
            <a:off x="1044350" y="3446400"/>
            <a:ext cx="3611700" cy="1453500"/>
          </a:xfrm>
          <a:prstGeom prst="rect">
            <a:avLst/>
          </a:prstGeom>
          <a:solidFill>
            <a:srgbClr val="FFFF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2"/>
                </a:solidFill>
                <a:latin typeface="Playfair Display"/>
                <a:ea typeface="Playfair Display"/>
                <a:cs typeface="Playfair Display"/>
                <a:sym typeface="Playfair Display"/>
              </a:rPr>
              <a:t>第三段：</a:t>
            </a:r>
            <a:endParaRPr sz="1800">
              <a:solidFill>
                <a:schemeClr val="dk2"/>
              </a:solidFill>
              <a:latin typeface="Playfair Display"/>
              <a:ea typeface="Playfair Display"/>
              <a:cs typeface="Playfair Display"/>
              <a:sym typeface="Playfair Display"/>
            </a:endParaRPr>
          </a:p>
          <a:p>
            <a:pPr indent="-342900" lvl="0" marL="457200" rtl="0" algn="l">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县令年颇少——颇</a:t>
            </a:r>
            <a:endParaRPr sz="1800">
              <a:solidFill>
                <a:schemeClr val="dk2"/>
              </a:solidFill>
              <a:latin typeface="Playfair Display"/>
              <a:ea typeface="Playfair Display"/>
              <a:cs typeface="Playfair Display"/>
              <a:sym typeface="Playfair Display"/>
            </a:endParaRPr>
          </a:p>
          <a:p>
            <a:pPr indent="-342900" lvl="0" marL="457200" rtl="0" algn="l">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汝纵不能而忍坏之耶——纵⭐️</a:t>
            </a:r>
            <a:endParaRPr sz="1800">
              <a:solidFill>
                <a:schemeClr val="dk2"/>
              </a:solidFill>
              <a:latin typeface="Playfair Display"/>
              <a:ea typeface="Playfair Display"/>
              <a:cs typeface="Playfair Display"/>
              <a:sym typeface="Playfair Display"/>
            </a:endParaRPr>
          </a:p>
          <a:p>
            <a:pPr indent="-342900" lvl="0" marL="457200" rtl="0" algn="l">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乃真贼尔——贼</a:t>
            </a:r>
            <a:endParaRPr sz="1800">
              <a:solidFill>
                <a:schemeClr val="dk2"/>
              </a:solidFill>
              <a:latin typeface="Playfair Display"/>
              <a:ea typeface="Playfair Display"/>
              <a:cs typeface="Playfair Display"/>
              <a:sym typeface="Playfair Display"/>
            </a:endParaRPr>
          </a:p>
        </p:txBody>
      </p:sp>
      <p:sp>
        <p:nvSpPr>
          <p:cNvPr id="1330" name="Google Shape;1330;p145"/>
          <p:cNvSpPr txBox="1"/>
          <p:nvPr/>
        </p:nvSpPr>
        <p:spPr>
          <a:xfrm>
            <a:off x="5221825" y="2053950"/>
            <a:ext cx="3376800" cy="20973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2"/>
                </a:solidFill>
                <a:latin typeface="Playfair Display"/>
                <a:ea typeface="Playfair Display"/>
                <a:cs typeface="Playfair Display"/>
                <a:sym typeface="Playfair Display"/>
              </a:rPr>
              <a:t>第</a:t>
            </a:r>
            <a:r>
              <a:rPr lang="zh-CN" sz="1800">
                <a:solidFill>
                  <a:schemeClr val="dk2"/>
                </a:solidFill>
                <a:latin typeface="Playfair Display"/>
                <a:ea typeface="Playfair Display"/>
                <a:cs typeface="Playfair Display"/>
                <a:sym typeface="Playfair Display"/>
              </a:rPr>
              <a:t>四</a:t>
            </a:r>
            <a:r>
              <a:rPr lang="zh-CN" sz="1800">
                <a:solidFill>
                  <a:schemeClr val="dk2"/>
                </a:solidFill>
                <a:latin typeface="Playfair Display"/>
                <a:ea typeface="Playfair Display"/>
                <a:cs typeface="Playfair Display"/>
                <a:sym typeface="Playfair Display"/>
              </a:rPr>
              <a:t>段：</a:t>
            </a:r>
            <a:endParaRPr sz="1800">
              <a:solidFill>
                <a:schemeClr val="dk2"/>
              </a:solidFill>
              <a:latin typeface="Playfair Display"/>
              <a:ea typeface="Playfair Display"/>
              <a:cs typeface="Playfair Display"/>
              <a:sym typeface="Playfair Display"/>
            </a:endParaRPr>
          </a:p>
          <a:p>
            <a:pPr indent="-342900" lvl="0" marL="457200" rtl="0" algn="l">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聘为之妇——妇</a:t>
            </a:r>
            <a:endParaRPr sz="1800">
              <a:solidFill>
                <a:schemeClr val="dk2"/>
              </a:solidFill>
              <a:latin typeface="Playfair Display"/>
              <a:ea typeface="Playfair Display"/>
              <a:cs typeface="Playfair Display"/>
              <a:sym typeface="Playfair Display"/>
            </a:endParaRPr>
          </a:p>
          <a:p>
            <a:pPr indent="-342900" lvl="0" marL="457200" rtl="0" algn="l">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居数年——居</a:t>
            </a:r>
            <a:endParaRPr sz="1800">
              <a:solidFill>
                <a:schemeClr val="dk2"/>
              </a:solidFill>
              <a:latin typeface="Playfair Display"/>
              <a:ea typeface="Playfair Display"/>
              <a:cs typeface="Playfair Display"/>
              <a:sym typeface="Playfair Display"/>
            </a:endParaRPr>
          </a:p>
          <a:p>
            <a:pPr indent="-342900" lvl="0" marL="457200" rtl="0" algn="l">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俱为贼所执——执</a:t>
            </a:r>
            <a:endParaRPr sz="1800">
              <a:solidFill>
                <a:schemeClr val="dk2"/>
              </a:solidFill>
              <a:latin typeface="Playfair Display"/>
              <a:ea typeface="Playfair Display"/>
              <a:cs typeface="Playfair Display"/>
              <a:sym typeface="Playfair Display"/>
            </a:endParaRPr>
          </a:p>
          <a:p>
            <a:pPr indent="-342900" lvl="0" marL="457200" rtl="0" algn="l">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贼悦李有殊色——悦</a:t>
            </a:r>
            <a:endParaRPr sz="1800">
              <a:solidFill>
                <a:schemeClr val="dk2"/>
              </a:solidFill>
              <a:latin typeface="Playfair Display"/>
              <a:ea typeface="Playfair Display"/>
              <a:cs typeface="Playfair Display"/>
              <a:sym typeface="Playfair Display"/>
            </a:endParaRPr>
          </a:p>
          <a:p>
            <a:pPr indent="-342900" lvl="0" marL="457200" rtl="0" algn="l">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并杀之——并</a:t>
            </a:r>
            <a:endParaRPr sz="1800">
              <a:solidFill>
                <a:schemeClr val="dk2"/>
              </a:solidFill>
              <a:latin typeface="Playfair Display"/>
              <a:ea typeface="Playfair Display"/>
              <a:cs typeface="Playfair Display"/>
              <a:sym typeface="Playfair Display"/>
            </a:endParaRPr>
          </a:p>
          <a:p>
            <a:pPr indent="-342900" lvl="0" marL="457200" rtl="0" algn="l">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可慨也——慨</a:t>
            </a:r>
            <a:endParaRPr sz="1800">
              <a:solidFill>
                <a:schemeClr val="dk2"/>
              </a:solidFill>
              <a:latin typeface="Playfair Display"/>
              <a:ea typeface="Playfair Display"/>
              <a:cs typeface="Playfair Display"/>
              <a:sym typeface="Playfair Display"/>
            </a:endParaRPr>
          </a:p>
        </p:txBody>
      </p:sp>
      <p:sp>
        <p:nvSpPr>
          <p:cNvPr id="1331" name="Google Shape;1331;p145"/>
          <p:cNvSpPr txBox="1"/>
          <p:nvPr/>
        </p:nvSpPr>
        <p:spPr>
          <a:xfrm>
            <a:off x="1488200" y="1557700"/>
            <a:ext cx="2724000" cy="17145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Font typeface="Arial"/>
              <a:buNone/>
            </a:pPr>
            <a:r>
              <a:rPr lang="zh-CN" sz="1800">
                <a:solidFill>
                  <a:schemeClr val="dk2"/>
                </a:solidFill>
                <a:latin typeface="Playfair Display"/>
                <a:ea typeface="Playfair Display"/>
                <a:cs typeface="Playfair Display"/>
                <a:sym typeface="Playfair Display"/>
              </a:rPr>
              <a:t>第二段：</a:t>
            </a:r>
            <a:endParaRPr sz="1800">
              <a:solidFill>
                <a:schemeClr val="dk2"/>
              </a:solidFill>
              <a:latin typeface="Playfair Display"/>
              <a:ea typeface="Playfair Display"/>
              <a:cs typeface="Playfair Display"/>
              <a:sym typeface="Playfair Display"/>
            </a:endParaRPr>
          </a:p>
          <a:p>
            <a:pPr indent="-342900" lvl="0" marL="457200" rtl="0" algn="l">
              <a:lnSpc>
                <a:spcPct val="115000"/>
              </a:lnSpc>
              <a:spcBef>
                <a:spcPts val="120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复遣人觇之——复</a:t>
            </a:r>
            <a:endParaRPr sz="1800">
              <a:solidFill>
                <a:schemeClr val="dk2"/>
              </a:solidFill>
              <a:latin typeface="Playfair Display"/>
              <a:ea typeface="Playfair Display"/>
              <a:cs typeface="Playfair Display"/>
              <a:sym typeface="Playfair Display"/>
            </a:endParaRPr>
          </a:p>
          <a:p>
            <a:pPr indent="-342900" lvl="0" marL="457200" rtl="0" algn="l">
              <a:lnSpc>
                <a:spcPct val="115000"/>
              </a:lnSpc>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人亦熟李行——行</a:t>
            </a:r>
            <a:endParaRPr sz="1800">
              <a:solidFill>
                <a:schemeClr val="dk2"/>
              </a:solidFill>
              <a:latin typeface="Playfair Display"/>
              <a:ea typeface="Playfair Display"/>
              <a:cs typeface="Playfair Display"/>
              <a:sym typeface="Playfair Display"/>
            </a:endParaRPr>
          </a:p>
          <a:p>
            <a:pPr indent="-342900" lvl="0" marL="457200" rtl="0" algn="l">
              <a:lnSpc>
                <a:spcPct val="115000"/>
              </a:lnSpc>
              <a:spcBef>
                <a:spcPts val="0"/>
              </a:spcBef>
              <a:spcAft>
                <a:spcPts val="0"/>
              </a:spcAft>
              <a:buClr>
                <a:schemeClr val="dk2"/>
              </a:buClr>
              <a:buSzPts val="1800"/>
              <a:buFont typeface="Playfair Display"/>
              <a:buChar char="●"/>
            </a:pPr>
            <a:r>
              <a:rPr lang="zh-CN" sz="1800">
                <a:solidFill>
                  <a:schemeClr val="dk2"/>
                </a:solidFill>
                <a:latin typeface="Playfair Display"/>
                <a:ea typeface="Playfair Display"/>
                <a:cs typeface="Playfair Display"/>
                <a:sym typeface="Playfair Display"/>
              </a:rPr>
              <a:t>必拒不往——往</a:t>
            </a:r>
            <a:endParaRPr sz="1800">
              <a:solidFill>
                <a:schemeClr val="dk2"/>
              </a:solidFill>
              <a:latin typeface="Playfair Display"/>
              <a:ea typeface="Playfair Display"/>
              <a:cs typeface="Playfair Display"/>
              <a:sym typeface="Playfair Display"/>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146"/>
          <p:cNvSpPr txBox="1"/>
          <p:nvPr>
            <p:ph type="title"/>
          </p:nvPr>
        </p:nvSpPr>
        <p:spPr>
          <a:xfrm>
            <a:off x="311700" y="36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37" name="Google Shape;1337;p146"/>
          <p:cNvSpPr txBox="1"/>
          <p:nvPr>
            <p:ph idx="1" type="body"/>
          </p:nvPr>
        </p:nvSpPr>
        <p:spPr>
          <a:xfrm>
            <a:off x="834075" y="816700"/>
            <a:ext cx="7998300" cy="4109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zh-CN"/>
              <a:t>复：重蹈覆辙❌ 、周而复始、循环往复</a:t>
            </a:r>
            <a:endParaRPr/>
          </a:p>
          <a:p>
            <a:pPr indent="-342900" lvl="0" marL="457200" rtl="0" algn="l">
              <a:spcBef>
                <a:spcPts val="0"/>
              </a:spcBef>
              <a:spcAft>
                <a:spcPts val="0"/>
              </a:spcAft>
              <a:buSzPts val="1800"/>
              <a:buChar char="●"/>
            </a:pPr>
            <a:r>
              <a:rPr lang="zh-CN"/>
              <a:t>行：我行我素、雷厉风行</a:t>
            </a:r>
            <a:endParaRPr/>
          </a:p>
          <a:p>
            <a:pPr indent="-342900" lvl="0" marL="457200" rtl="0" algn="l">
              <a:spcBef>
                <a:spcPts val="0"/>
              </a:spcBef>
              <a:spcAft>
                <a:spcPts val="0"/>
              </a:spcAft>
              <a:buSzPts val="1800"/>
              <a:buChar char="●"/>
            </a:pPr>
            <a:r>
              <a:rPr lang="zh-CN"/>
              <a:t>往：人来人往、勇往直前</a:t>
            </a:r>
            <a:endParaRPr/>
          </a:p>
          <a:p>
            <a:pPr indent="-342900" lvl="0" marL="457200" rtl="0" algn="l">
              <a:spcBef>
                <a:spcPts val="0"/>
              </a:spcBef>
              <a:spcAft>
                <a:spcPts val="0"/>
              </a:spcAft>
              <a:buSzPts val="1800"/>
              <a:buChar char="●"/>
            </a:pPr>
            <a:r>
              <a:rPr lang="zh-CN"/>
              <a:t>颇：颇有见地、</a:t>
            </a:r>
            <a:endParaRPr/>
          </a:p>
          <a:p>
            <a:pPr indent="-342900" lvl="0" marL="457200" rtl="0" algn="l">
              <a:spcBef>
                <a:spcPts val="0"/>
              </a:spcBef>
              <a:spcAft>
                <a:spcPts val="0"/>
              </a:spcAft>
              <a:buSzPts val="1800"/>
              <a:buChar char="●"/>
            </a:pPr>
            <a:r>
              <a:rPr lang="zh-CN"/>
              <a:t>纵：纵然、（欲擒故纵❌、放纵不羁❌、纵虎归山❌）（纵横交错❌、纵横四海❌、）</a:t>
            </a:r>
            <a:endParaRPr/>
          </a:p>
          <a:p>
            <a:pPr indent="-342900" lvl="0" marL="457200" rtl="0" algn="l">
              <a:spcBef>
                <a:spcPts val="0"/>
              </a:spcBef>
              <a:spcAft>
                <a:spcPts val="0"/>
              </a:spcAft>
              <a:buSzPts val="1800"/>
              <a:buChar char="●"/>
            </a:pPr>
            <a:r>
              <a:rPr lang="zh-CN"/>
              <a:t>贼：擒贼先擒王、贼眉鼠眼、贼喊捉贼</a:t>
            </a:r>
            <a:endParaRPr/>
          </a:p>
          <a:p>
            <a:pPr indent="-342900" lvl="0" marL="457200" rtl="0" algn="l">
              <a:spcBef>
                <a:spcPts val="0"/>
              </a:spcBef>
              <a:spcAft>
                <a:spcPts val="0"/>
              </a:spcAft>
              <a:buSzPts val="1800"/>
              <a:buChar char="●"/>
            </a:pPr>
            <a:r>
              <a:rPr lang="zh-CN"/>
              <a:t>妇：有妇之夫、有夫之妇、夫唱妇随、妇人之仁/妇人之见、</a:t>
            </a:r>
            <a:endParaRPr/>
          </a:p>
          <a:p>
            <a:pPr indent="-342900" lvl="0" marL="457200" rtl="0" algn="l">
              <a:spcBef>
                <a:spcPts val="0"/>
              </a:spcBef>
              <a:spcAft>
                <a:spcPts val="0"/>
              </a:spcAft>
              <a:buSzPts val="1800"/>
              <a:buChar char="●"/>
            </a:pPr>
            <a:r>
              <a:rPr lang="zh-CN"/>
              <a:t>居：居无定所❌、居安思危❌、屈居第二❌、安居乐业❌</a:t>
            </a:r>
            <a:endParaRPr/>
          </a:p>
          <a:p>
            <a:pPr indent="-342900" lvl="0" marL="457200" rtl="0" algn="l">
              <a:spcBef>
                <a:spcPts val="0"/>
              </a:spcBef>
              <a:spcAft>
                <a:spcPts val="0"/>
              </a:spcAft>
              <a:buSzPts val="1800"/>
              <a:buChar char="●"/>
            </a:pPr>
            <a:r>
              <a:rPr lang="zh-CN"/>
              <a:t>执：执迷不悟❌、</a:t>
            </a:r>
            <a:endParaRPr/>
          </a:p>
          <a:p>
            <a:pPr indent="-342900" lvl="0" marL="457200" rtl="0" algn="l">
              <a:spcBef>
                <a:spcPts val="0"/>
              </a:spcBef>
              <a:spcAft>
                <a:spcPts val="0"/>
              </a:spcAft>
              <a:buSzPts val="1800"/>
              <a:buChar char="●"/>
            </a:pPr>
            <a:r>
              <a:rPr lang="zh-CN"/>
              <a:t>悦：和颜悦色❌、心悦于你</a:t>
            </a:r>
            <a:endParaRPr/>
          </a:p>
          <a:p>
            <a:pPr indent="-342900" lvl="0" marL="457200" rtl="0" algn="l">
              <a:spcBef>
                <a:spcPts val="0"/>
              </a:spcBef>
              <a:spcAft>
                <a:spcPts val="0"/>
              </a:spcAft>
              <a:buSzPts val="1800"/>
              <a:buChar char="●"/>
            </a:pPr>
            <a:r>
              <a:rPr lang="zh-CN"/>
              <a:t>并：并肩作战、齐头并进、并驾齐驱</a:t>
            </a:r>
            <a:endParaRPr/>
          </a:p>
          <a:p>
            <a:pPr indent="-342900" lvl="0" marL="457200" rtl="0" algn="l">
              <a:spcBef>
                <a:spcPts val="0"/>
              </a:spcBef>
              <a:spcAft>
                <a:spcPts val="0"/>
              </a:spcAft>
              <a:buSzPts val="1800"/>
              <a:buChar char="●"/>
            </a:pPr>
            <a:r>
              <a:rPr lang="zh-CN"/>
              <a:t>慨：慷慨解囊❓、感慨万千、慨然应允</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1" name="Shape 1341"/>
        <p:cNvGrpSpPr/>
        <p:nvPr/>
      </p:nvGrpSpPr>
      <p:grpSpPr>
        <a:xfrm>
          <a:off x="0" y="0"/>
          <a:ext cx="0" cy="0"/>
          <a:chOff x="0" y="0"/>
          <a:chExt cx="0" cy="0"/>
        </a:xfrm>
      </p:grpSpPr>
      <p:sp>
        <p:nvSpPr>
          <p:cNvPr id="1342" name="Google Shape;1342;p147"/>
          <p:cNvSpPr txBox="1"/>
          <p:nvPr>
            <p:ph type="title"/>
          </p:nvPr>
        </p:nvSpPr>
        <p:spPr>
          <a:xfrm>
            <a:off x="311700" y="18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Semester 1 Reflection：</a:t>
            </a:r>
            <a:r>
              <a:rPr lang="zh-CN"/>
              <a:t>放在写作SA的留言里</a:t>
            </a:r>
            <a:endParaRPr/>
          </a:p>
        </p:txBody>
      </p:sp>
      <p:sp>
        <p:nvSpPr>
          <p:cNvPr id="1343" name="Google Shape;1343;p147"/>
          <p:cNvSpPr txBox="1"/>
          <p:nvPr>
            <p:ph idx="1" type="body"/>
          </p:nvPr>
        </p:nvSpPr>
        <p:spPr>
          <a:xfrm>
            <a:off x="1805000" y="1017725"/>
            <a:ext cx="7027200" cy="4081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zh-CN"/>
              <a:t>放在Canvas上，这个学期写作的期末评估的留言框里。</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CN"/>
              <a:t>卷一，</a:t>
            </a:r>
            <a:r>
              <a:rPr lang="zh-CN"/>
              <a:t> </a:t>
            </a:r>
            <a:r>
              <a:rPr lang="zh-CN"/>
              <a:t>现代文阅读：</a:t>
            </a:r>
            <a:endParaRPr/>
          </a:p>
          <a:p>
            <a:pPr indent="0" lvl="0" marL="0" rtl="0" algn="l">
              <a:spcBef>
                <a:spcPts val="1200"/>
              </a:spcBef>
              <a:spcAft>
                <a:spcPts val="0"/>
              </a:spcAft>
              <a:buNone/>
            </a:pPr>
            <a:r>
              <a:rPr lang="zh-CN"/>
              <a:t>卷一，总结写作/指导写作：</a:t>
            </a:r>
            <a:endParaRPr/>
          </a:p>
          <a:p>
            <a:pPr indent="0" lvl="0" marL="0" rtl="0" algn="l">
              <a:spcBef>
                <a:spcPts val="1200"/>
              </a:spcBef>
              <a:spcAft>
                <a:spcPts val="0"/>
              </a:spcAft>
              <a:buNone/>
            </a:pPr>
            <a:r>
              <a:rPr lang="zh-CN"/>
              <a:t>卷二，记叙文写作：</a:t>
            </a:r>
            <a:endParaRPr/>
          </a:p>
          <a:p>
            <a:pPr indent="0" lvl="0" marL="0" rtl="0" algn="l">
              <a:spcBef>
                <a:spcPts val="1200"/>
              </a:spcBef>
              <a:spcAft>
                <a:spcPts val="1200"/>
              </a:spcAft>
              <a:buNone/>
            </a:pPr>
            <a:r>
              <a:rPr lang="zh-CN"/>
              <a:t>卷二，议论文写作：</a:t>
            </a:r>
            <a:endParaRPr/>
          </a:p>
        </p:txBody>
      </p:sp>
      <p:pic>
        <p:nvPicPr>
          <p:cNvPr id="1344" name="Google Shape;1344;p147" title="Screenshot 2025-12-12 at 9.11.00 AM.png"/>
          <p:cNvPicPr preferRelativeResize="0"/>
          <p:nvPr/>
        </p:nvPicPr>
        <p:blipFill>
          <a:blip r:embed="rId3">
            <a:alphaModFix/>
          </a:blip>
          <a:stretch>
            <a:fillRect/>
          </a:stretch>
        </p:blipFill>
        <p:spPr>
          <a:xfrm>
            <a:off x="2465375" y="1491325"/>
            <a:ext cx="5956100" cy="1735350"/>
          </a:xfrm>
          <a:prstGeom prst="rect">
            <a:avLst/>
          </a:prstGeom>
          <a:noFill/>
          <a:ln>
            <a:noFill/>
          </a:ln>
        </p:spPr>
      </p:pic>
      <p:sp>
        <p:nvSpPr>
          <p:cNvPr id="1345" name="Google Shape;1345;p147"/>
          <p:cNvSpPr/>
          <p:nvPr/>
        </p:nvSpPr>
        <p:spPr>
          <a:xfrm>
            <a:off x="2744200" y="1951750"/>
            <a:ext cx="5062800" cy="5727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
        <p:nvSpPr>
          <p:cNvPr id="1346" name="Google Shape;1346;p147"/>
          <p:cNvSpPr/>
          <p:nvPr/>
        </p:nvSpPr>
        <p:spPr>
          <a:xfrm>
            <a:off x="1284050" y="1907725"/>
            <a:ext cx="1401300" cy="663900"/>
          </a:xfrm>
          <a:prstGeom prst="rightArrow">
            <a:avLst>
              <a:gd fmla="val 50000" name="adj1"/>
              <a:gd fmla="val 50000" name="adj2"/>
            </a:avLst>
          </a:prstGeom>
          <a:solidFill>
            <a:schemeClr val="dk1"/>
          </a:solid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ayfair Display"/>
              <a:ea typeface="Playfair Display"/>
              <a:cs typeface="Playfair Display"/>
              <a:sym typeface="Playfair Display"/>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148"/>
          <p:cNvSpPr txBox="1"/>
          <p:nvPr>
            <p:ph type="ctrTitle"/>
          </p:nvPr>
        </p:nvSpPr>
        <p:spPr>
          <a:xfrm>
            <a:off x="700700" y="392150"/>
            <a:ext cx="8131500" cy="2690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CN">
                <a:latin typeface="STKaiti"/>
                <a:ea typeface="STKaiti"/>
                <a:cs typeface="STKaiti"/>
                <a:sym typeface="STKaiti"/>
              </a:rPr>
              <a:t>目标一：读顺</a:t>
            </a:r>
            <a:endParaRPr>
              <a:latin typeface="STKaiti"/>
              <a:ea typeface="STKaiti"/>
              <a:cs typeface="STKaiti"/>
              <a:sym typeface="STKaiti"/>
            </a:endParaRPr>
          </a:p>
        </p:txBody>
      </p:sp>
      <p:sp>
        <p:nvSpPr>
          <p:cNvPr id="1352" name="Google Shape;1352;p148"/>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14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latin typeface="STKaiti"/>
                <a:ea typeface="STKaiti"/>
                <a:cs typeface="STKaiti"/>
                <a:sym typeface="STKaiti"/>
              </a:rPr>
              <a:t>目标一：读顺（</a:t>
            </a:r>
            <a:r>
              <a:rPr lang="zh-CN">
                <a:solidFill>
                  <a:srgbClr val="FF0000"/>
                </a:solidFill>
                <a:latin typeface="STKaiti"/>
                <a:ea typeface="STKaiti"/>
                <a:cs typeface="STKaiti"/>
                <a:sym typeface="STKaiti"/>
              </a:rPr>
              <a:t>难读、易读错的字</a:t>
            </a:r>
            <a:r>
              <a:rPr lang="zh-CN">
                <a:latin typeface="STKaiti"/>
                <a:ea typeface="STKaiti"/>
                <a:cs typeface="STKaiti"/>
                <a:sym typeface="STKaiti"/>
              </a:rPr>
              <a:t>）</a:t>
            </a:r>
            <a:endParaRPr>
              <a:latin typeface="STKaiti"/>
              <a:ea typeface="STKaiti"/>
              <a:cs typeface="STKaiti"/>
              <a:sym typeface="STKaiti"/>
            </a:endParaRPr>
          </a:p>
        </p:txBody>
      </p:sp>
      <p:sp>
        <p:nvSpPr>
          <p:cNvPr id="1358" name="Google Shape;1358;p149"/>
          <p:cNvSpPr txBox="1"/>
          <p:nvPr>
            <p:ph idx="1" type="body"/>
          </p:nvPr>
        </p:nvSpPr>
        <p:spPr>
          <a:xfrm>
            <a:off x="954300" y="1161575"/>
            <a:ext cx="4666200" cy="37881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000000"/>
              </a:buClr>
              <a:buSzPts val="1200"/>
              <a:buFont typeface="STKaiti"/>
              <a:buAutoNum type="arabicPeriod"/>
            </a:pPr>
            <a:r>
              <a:rPr b="1" lang="zh-CN" sz="1200">
                <a:solidFill>
                  <a:srgbClr val="000000"/>
                </a:solidFill>
                <a:latin typeface="STKaiti"/>
                <a:ea typeface="STKaiti"/>
                <a:cs typeface="STKaiti"/>
                <a:sym typeface="STKaiti"/>
              </a:rPr>
              <a:t>霸</a:t>
            </a:r>
            <a:r>
              <a:rPr lang="zh-CN" sz="1200">
                <a:solidFill>
                  <a:srgbClr val="000000"/>
                </a:solidFill>
                <a:latin typeface="STKaiti"/>
                <a:ea typeface="STKaiti"/>
                <a:cs typeface="STKaiti"/>
                <a:sym typeface="STKaiti"/>
              </a:rPr>
              <a:t>州（?）：地名。</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STKaiti"/>
              <a:buAutoNum type="arabicPeriod"/>
            </a:pPr>
            <a:r>
              <a:rPr b="1" lang="zh-CN" sz="1200">
                <a:solidFill>
                  <a:srgbClr val="000000"/>
                </a:solidFill>
                <a:latin typeface="STKaiti"/>
                <a:ea typeface="STKaiti"/>
                <a:cs typeface="STKaiti"/>
                <a:sym typeface="STKaiti"/>
              </a:rPr>
              <a:t>倡</a:t>
            </a:r>
            <a:r>
              <a:rPr lang="zh-CN" sz="1200">
                <a:solidFill>
                  <a:srgbClr val="000000"/>
                </a:solidFill>
                <a:latin typeface="STKaiti"/>
                <a:ea typeface="STKaiti"/>
                <a:cs typeface="STKaiti"/>
                <a:sym typeface="STKaiti"/>
              </a:rPr>
              <a:t>（?）：古代指歌舞艺人，文中指娼妓。</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STKaiti"/>
              <a:buAutoNum type="arabicPeriod"/>
            </a:pPr>
            <a:r>
              <a:rPr b="1" lang="zh-CN" sz="1200">
                <a:solidFill>
                  <a:srgbClr val="000000"/>
                </a:solidFill>
                <a:latin typeface="STKaiti"/>
                <a:ea typeface="STKaiti"/>
                <a:cs typeface="STKaiti"/>
                <a:sym typeface="STKaiti"/>
              </a:rPr>
              <a:t>媪</a:t>
            </a:r>
            <a:r>
              <a:rPr lang="zh-CN" sz="1200">
                <a:solidFill>
                  <a:srgbClr val="000000"/>
                </a:solidFill>
                <a:latin typeface="STKaiti"/>
                <a:ea typeface="STKaiti"/>
                <a:cs typeface="STKaiti"/>
                <a:sym typeface="STKaiti"/>
              </a:rPr>
              <a:t>（?）：对年老妇女的称呼。</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STKaiti"/>
              <a:buAutoNum type="arabicPeriod"/>
            </a:pPr>
            <a:r>
              <a:rPr b="1" lang="zh-CN" sz="1200">
                <a:solidFill>
                  <a:srgbClr val="000000"/>
                </a:solidFill>
                <a:latin typeface="STKaiti"/>
                <a:ea typeface="STKaiti"/>
                <a:cs typeface="STKaiti"/>
                <a:sym typeface="STKaiti"/>
              </a:rPr>
              <a:t>荤</a:t>
            </a:r>
            <a:r>
              <a:rPr lang="zh-CN" sz="1200">
                <a:solidFill>
                  <a:srgbClr val="000000"/>
                </a:solidFill>
                <a:latin typeface="STKaiti"/>
                <a:ea typeface="STKaiti"/>
                <a:cs typeface="STKaiti"/>
                <a:sym typeface="STKaiti"/>
              </a:rPr>
              <a:t>（?）：指肉食。</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STKaiti"/>
              <a:buAutoNum type="arabicPeriod"/>
            </a:pPr>
            <a:r>
              <a:rPr b="1" lang="zh-CN" sz="1200">
                <a:solidFill>
                  <a:srgbClr val="000000"/>
                </a:solidFill>
                <a:latin typeface="STKaiti"/>
                <a:ea typeface="STKaiti"/>
                <a:cs typeface="STKaiti"/>
                <a:sym typeface="STKaiti"/>
              </a:rPr>
              <a:t>缟</a:t>
            </a:r>
            <a:r>
              <a:rPr lang="zh-CN" sz="1200">
                <a:solidFill>
                  <a:srgbClr val="000000"/>
                </a:solidFill>
                <a:latin typeface="STKaiti"/>
                <a:ea typeface="STKaiti"/>
                <a:cs typeface="STKaiti"/>
                <a:sym typeface="STKaiti"/>
              </a:rPr>
              <a:t>（?）衣：白色的丝织品。</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STKaiti"/>
              <a:buAutoNum type="arabicPeriod"/>
            </a:pPr>
            <a:r>
              <a:rPr lang="zh-CN" sz="1200">
                <a:solidFill>
                  <a:srgbClr val="000000"/>
                </a:solidFill>
                <a:latin typeface="STKaiti"/>
                <a:ea typeface="STKaiti"/>
                <a:cs typeface="STKaiti"/>
                <a:sym typeface="STKaiti"/>
              </a:rPr>
              <a:t>翠</a:t>
            </a:r>
            <a:r>
              <a:rPr b="1" lang="zh-CN" sz="1200">
                <a:solidFill>
                  <a:srgbClr val="000000"/>
                </a:solidFill>
                <a:latin typeface="STKaiti"/>
                <a:ea typeface="STKaiti"/>
                <a:cs typeface="STKaiti"/>
                <a:sym typeface="STKaiti"/>
              </a:rPr>
              <a:t>鬟</a:t>
            </a:r>
            <a:r>
              <a:rPr lang="zh-CN" sz="1200">
                <a:solidFill>
                  <a:srgbClr val="000000"/>
                </a:solidFill>
                <a:latin typeface="STKaiti"/>
                <a:ea typeface="STKaiti"/>
                <a:cs typeface="STKaiti"/>
                <a:sym typeface="STKaiti"/>
              </a:rPr>
              <a:t>（?）：发髻。</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STKaiti"/>
              <a:buAutoNum type="arabicPeriod"/>
            </a:pPr>
            <a:r>
              <a:rPr lang="zh-CN" sz="1200">
                <a:solidFill>
                  <a:srgbClr val="000000"/>
                </a:solidFill>
                <a:latin typeface="STKaiti"/>
                <a:ea typeface="STKaiti"/>
                <a:cs typeface="STKaiti"/>
                <a:sym typeface="STKaiti"/>
              </a:rPr>
              <a:t>愈致其</a:t>
            </a:r>
            <a:r>
              <a:rPr b="1" lang="zh-CN" sz="1200">
                <a:solidFill>
                  <a:srgbClr val="000000"/>
                </a:solidFill>
                <a:latin typeface="STKaiti"/>
                <a:ea typeface="STKaiti"/>
                <a:cs typeface="STKaiti"/>
                <a:sym typeface="STKaiti"/>
              </a:rPr>
              <a:t>妍</a:t>
            </a:r>
            <a:r>
              <a:rPr lang="zh-CN" sz="1200">
                <a:solidFill>
                  <a:srgbClr val="000000"/>
                </a:solidFill>
                <a:latin typeface="STKaiti"/>
                <a:ea typeface="STKaiti"/>
                <a:cs typeface="STKaiti"/>
                <a:sym typeface="STKaiti"/>
              </a:rPr>
              <a:t>（?）：美丽。</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STKaiti"/>
              <a:buAutoNum type="arabicPeriod"/>
            </a:pPr>
            <a:r>
              <a:rPr b="1" lang="zh-CN" sz="1200">
                <a:solidFill>
                  <a:srgbClr val="000000"/>
                </a:solidFill>
                <a:latin typeface="STKaiti"/>
                <a:ea typeface="STKaiti"/>
                <a:cs typeface="STKaiti"/>
                <a:sym typeface="STKaiti"/>
              </a:rPr>
              <a:t>狎</a:t>
            </a:r>
            <a:r>
              <a:rPr lang="zh-CN" sz="1200">
                <a:solidFill>
                  <a:srgbClr val="000000"/>
                </a:solidFill>
                <a:latin typeface="STKaiti"/>
                <a:ea typeface="STKaiti"/>
                <a:cs typeface="STKaiti"/>
                <a:sym typeface="STKaiti"/>
              </a:rPr>
              <a:t>（?）：亲近而态度不庄重。</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STKaiti"/>
              <a:buAutoNum type="arabicPeriod"/>
            </a:pPr>
            <a:r>
              <a:rPr lang="zh-CN" sz="1200">
                <a:solidFill>
                  <a:srgbClr val="000000"/>
                </a:solidFill>
                <a:latin typeface="STKaiti"/>
                <a:ea typeface="STKaiti"/>
                <a:cs typeface="STKaiti"/>
                <a:sym typeface="STKaiti"/>
              </a:rPr>
              <a:t>巨木</a:t>
            </a:r>
            <a:r>
              <a:rPr b="1" lang="zh-CN" sz="1200">
                <a:solidFill>
                  <a:srgbClr val="000000"/>
                </a:solidFill>
                <a:latin typeface="STKaiti"/>
                <a:ea typeface="STKaiti"/>
                <a:cs typeface="STKaiti"/>
                <a:sym typeface="STKaiti"/>
              </a:rPr>
              <a:t>撑</a:t>
            </a:r>
            <a:r>
              <a:rPr lang="zh-CN" sz="1200">
                <a:solidFill>
                  <a:srgbClr val="000000"/>
                </a:solidFill>
                <a:latin typeface="STKaiti"/>
                <a:ea typeface="STKaiti"/>
                <a:cs typeface="STKaiti"/>
                <a:sym typeface="STKaiti"/>
              </a:rPr>
              <a:t>柱（?）：支撑。</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STKaiti"/>
              <a:buAutoNum type="arabicPeriod"/>
            </a:pPr>
            <a:r>
              <a:rPr b="1" lang="zh-CN" sz="1200">
                <a:solidFill>
                  <a:srgbClr val="000000"/>
                </a:solidFill>
                <a:latin typeface="STKaiti"/>
                <a:ea typeface="STKaiti"/>
                <a:cs typeface="STKaiti"/>
                <a:sym typeface="STKaiti"/>
              </a:rPr>
              <a:t>诋</a:t>
            </a:r>
            <a:r>
              <a:rPr lang="zh-CN" sz="1200">
                <a:solidFill>
                  <a:srgbClr val="000000"/>
                </a:solidFill>
                <a:latin typeface="STKaiti"/>
                <a:ea typeface="STKaiti"/>
                <a:cs typeface="STKaiti"/>
                <a:sym typeface="STKaiti"/>
              </a:rPr>
              <a:t>（?）：辱骂、诋毁。</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STKaiti"/>
              <a:buAutoNum type="arabicPeriod"/>
            </a:pPr>
            <a:r>
              <a:rPr b="1" lang="zh-CN" sz="1200">
                <a:solidFill>
                  <a:srgbClr val="000000"/>
                </a:solidFill>
                <a:latin typeface="STKaiti"/>
                <a:ea typeface="STKaiti"/>
                <a:cs typeface="STKaiti"/>
                <a:sym typeface="STKaiti"/>
              </a:rPr>
              <a:t>监</a:t>
            </a:r>
            <a:r>
              <a:rPr lang="zh-CN" sz="1200">
                <a:solidFill>
                  <a:srgbClr val="000000"/>
                </a:solidFill>
                <a:latin typeface="STKaiti"/>
                <a:ea typeface="STKaiti"/>
                <a:cs typeface="STKaiti"/>
                <a:sym typeface="STKaiti"/>
              </a:rPr>
              <a:t>州：官名。</a:t>
            </a:r>
            <a:endParaRPr sz="1200">
              <a:solidFill>
                <a:srgbClr val="000000"/>
              </a:solidFill>
              <a:latin typeface="STKaiti"/>
              <a:ea typeface="STKaiti"/>
              <a:cs typeface="STKaiti"/>
              <a:sym typeface="STKaiti"/>
            </a:endParaRPr>
          </a:p>
          <a:p>
            <a:pPr indent="0" lvl="0" marL="0" rtl="0" algn="l">
              <a:spcBef>
                <a:spcPts val="1200"/>
              </a:spcBef>
              <a:spcAft>
                <a:spcPts val="0"/>
              </a:spcAft>
              <a:buNone/>
            </a:pPr>
            <a:r>
              <a:rPr b="1" lang="zh-CN" sz="1200">
                <a:solidFill>
                  <a:srgbClr val="000000"/>
                </a:solidFill>
                <a:latin typeface="STKaiti"/>
                <a:ea typeface="STKaiti"/>
                <a:cs typeface="STKaiti"/>
                <a:sym typeface="STKaiti"/>
              </a:rPr>
              <a:t>通假字：</a:t>
            </a:r>
            <a:endParaRPr b="1" sz="1200">
              <a:solidFill>
                <a:srgbClr val="000000"/>
              </a:solidFill>
              <a:latin typeface="STKaiti"/>
              <a:ea typeface="STKaiti"/>
              <a:cs typeface="STKaiti"/>
              <a:sym typeface="STKaiti"/>
            </a:endParaRPr>
          </a:p>
          <a:p>
            <a:pPr indent="-304800" lvl="0" marL="457200" rtl="0" algn="l">
              <a:spcBef>
                <a:spcPts val="1200"/>
              </a:spcBef>
              <a:spcAft>
                <a:spcPts val="0"/>
              </a:spcAft>
              <a:buClr>
                <a:srgbClr val="000000"/>
              </a:buClr>
              <a:buSzPts val="1200"/>
              <a:buFont typeface="STKaiti"/>
              <a:buAutoNum type="arabicPeriod"/>
            </a:pPr>
            <a:r>
              <a:rPr b="1" lang="zh-CN" sz="1200">
                <a:solidFill>
                  <a:srgbClr val="000000"/>
                </a:solidFill>
                <a:latin typeface="STKaiti"/>
                <a:ea typeface="STKaiti"/>
                <a:cs typeface="STKaiti"/>
                <a:sym typeface="STKaiti"/>
              </a:rPr>
              <a:t>阳</a:t>
            </a:r>
            <a:r>
              <a:rPr lang="zh-CN" sz="1200">
                <a:solidFill>
                  <a:srgbClr val="000000"/>
                </a:solidFill>
                <a:latin typeface="STKaiti"/>
                <a:ea typeface="STKaiti"/>
                <a:cs typeface="STKaiti"/>
                <a:sym typeface="STKaiti"/>
              </a:rPr>
              <a:t>（?）从之</a:t>
            </a:r>
            <a:endParaRPr sz="1900">
              <a:latin typeface="STKaiti"/>
              <a:ea typeface="STKaiti"/>
              <a:cs typeface="STKaiti"/>
              <a:sym typeface="STKaiti"/>
            </a:endParaRPr>
          </a:p>
        </p:txBody>
      </p:sp>
      <p:pic>
        <p:nvPicPr>
          <p:cNvPr id="1359" name="Google Shape;1359;p149"/>
          <p:cNvPicPr preferRelativeResize="0"/>
          <p:nvPr/>
        </p:nvPicPr>
        <p:blipFill>
          <a:blip r:embed="rId3">
            <a:alphaModFix/>
          </a:blip>
          <a:stretch>
            <a:fillRect/>
          </a:stretch>
        </p:blipFill>
        <p:spPr>
          <a:xfrm>
            <a:off x="5772900" y="1246250"/>
            <a:ext cx="2133600" cy="2143125"/>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15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65" name="Google Shape;1365;p150"/>
          <p:cNvSpPr txBox="1"/>
          <p:nvPr>
            <p:ph idx="1" type="body"/>
          </p:nvPr>
        </p:nvSpPr>
        <p:spPr>
          <a:xfrm>
            <a:off x="954150" y="1221225"/>
            <a:ext cx="357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zh-CN">
                <a:latin typeface="STKaiti"/>
                <a:ea typeface="STKaiti"/>
                <a:cs typeface="STKaiti"/>
                <a:sym typeface="STKaiti"/>
              </a:rPr>
              <a:t>难读、易读错的字：</a:t>
            </a:r>
            <a:endParaRPr>
              <a:latin typeface="STKaiti"/>
              <a:ea typeface="STKaiti"/>
              <a:cs typeface="STKaiti"/>
              <a:sym typeface="STKaiti"/>
            </a:endParaRPr>
          </a:p>
          <a:p>
            <a:pPr indent="-304800" lvl="0" marL="457200" rtl="0" algn="l">
              <a:spcBef>
                <a:spcPts val="1200"/>
              </a:spcBef>
              <a:spcAft>
                <a:spcPts val="0"/>
              </a:spcAft>
              <a:buClr>
                <a:srgbClr val="000000"/>
              </a:buClr>
              <a:buSzPts val="1200"/>
              <a:buFont typeface="Arial"/>
              <a:buAutoNum type="arabicPeriod"/>
            </a:pPr>
            <a:r>
              <a:rPr b="1" lang="zh-CN" sz="1200">
                <a:solidFill>
                  <a:srgbClr val="000000"/>
                </a:solidFill>
                <a:latin typeface="STKaiti"/>
                <a:ea typeface="STKaiti"/>
                <a:cs typeface="STKaiti"/>
                <a:sym typeface="STKaiti"/>
              </a:rPr>
              <a:t>霸</a:t>
            </a:r>
            <a:r>
              <a:rPr lang="zh-CN" sz="1200">
                <a:solidFill>
                  <a:srgbClr val="000000"/>
                </a:solidFill>
                <a:latin typeface="STKaiti"/>
                <a:ea typeface="STKaiti"/>
                <a:cs typeface="STKaiti"/>
                <a:sym typeface="STKaiti"/>
              </a:rPr>
              <a:t>州（?）：地名。</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Arial"/>
              <a:buAutoNum type="arabicPeriod"/>
            </a:pPr>
            <a:r>
              <a:rPr b="1" lang="zh-CN" sz="1200">
                <a:solidFill>
                  <a:srgbClr val="000000"/>
                </a:solidFill>
                <a:latin typeface="STKaiti"/>
                <a:ea typeface="STKaiti"/>
                <a:cs typeface="STKaiti"/>
                <a:sym typeface="STKaiti"/>
              </a:rPr>
              <a:t>倡</a:t>
            </a:r>
            <a:r>
              <a:rPr lang="zh-CN" sz="1200">
                <a:solidFill>
                  <a:srgbClr val="000000"/>
                </a:solidFill>
                <a:latin typeface="STKaiti"/>
                <a:ea typeface="STKaiti"/>
                <a:cs typeface="STKaiti"/>
                <a:sym typeface="STKaiti"/>
              </a:rPr>
              <a:t>（?）：古代指歌舞艺人，文中指娼妓。</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Arial"/>
              <a:buAutoNum type="arabicPeriod"/>
            </a:pPr>
            <a:r>
              <a:rPr b="1" lang="zh-CN" sz="1200">
                <a:solidFill>
                  <a:srgbClr val="000000"/>
                </a:solidFill>
                <a:latin typeface="STKaiti"/>
                <a:ea typeface="STKaiti"/>
                <a:cs typeface="STKaiti"/>
                <a:sym typeface="STKaiti"/>
              </a:rPr>
              <a:t>媪</a:t>
            </a:r>
            <a:r>
              <a:rPr lang="zh-CN" sz="1200">
                <a:solidFill>
                  <a:srgbClr val="000000"/>
                </a:solidFill>
                <a:latin typeface="STKaiti"/>
                <a:ea typeface="STKaiti"/>
                <a:cs typeface="STKaiti"/>
                <a:sym typeface="STKaiti"/>
              </a:rPr>
              <a:t>（?）：对年老妇女的称呼。</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Arial"/>
              <a:buAutoNum type="arabicPeriod"/>
            </a:pPr>
            <a:r>
              <a:rPr b="1" lang="zh-CN" sz="1200">
                <a:solidFill>
                  <a:srgbClr val="000000"/>
                </a:solidFill>
                <a:latin typeface="STKaiti"/>
                <a:ea typeface="STKaiti"/>
                <a:cs typeface="STKaiti"/>
                <a:sym typeface="STKaiti"/>
              </a:rPr>
              <a:t>荤</a:t>
            </a:r>
            <a:r>
              <a:rPr lang="zh-CN" sz="1200">
                <a:solidFill>
                  <a:srgbClr val="000000"/>
                </a:solidFill>
                <a:latin typeface="STKaiti"/>
                <a:ea typeface="STKaiti"/>
                <a:cs typeface="STKaiti"/>
                <a:sym typeface="STKaiti"/>
              </a:rPr>
              <a:t>（?）：指肉食。</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Arial"/>
              <a:buAutoNum type="arabicPeriod"/>
            </a:pPr>
            <a:r>
              <a:rPr b="1" lang="zh-CN" sz="1200">
                <a:solidFill>
                  <a:srgbClr val="000000"/>
                </a:solidFill>
                <a:latin typeface="STKaiti"/>
                <a:ea typeface="STKaiti"/>
                <a:cs typeface="STKaiti"/>
                <a:sym typeface="STKaiti"/>
              </a:rPr>
              <a:t>缟</a:t>
            </a:r>
            <a:r>
              <a:rPr lang="zh-CN" sz="1200">
                <a:solidFill>
                  <a:srgbClr val="000000"/>
                </a:solidFill>
                <a:latin typeface="STKaiti"/>
                <a:ea typeface="STKaiti"/>
                <a:cs typeface="STKaiti"/>
                <a:sym typeface="STKaiti"/>
              </a:rPr>
              <a:t>（?）衣：白色的丝织品。</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Arial"/>
              <a:buAutoNum type="arabicPeriod"/>
            </a:pPr>
            <a:r>
              <a:rPr lang="zh-CN" sz="1200">
                <a:solidFill>
                  <a:srgbClr val="000000"/>
                </a:solidFill>
                <a:latin typeface="STKaiti"/>
                <a:ea typeface="STKaiti"/>
                <a:cs typeface="STKaiti"/>
                <a:sym typeface="STKaiti"/>
              </a:rPr>
              <a:t>翠</a:t>
            </a:r>
            <a:r>
              <a:rPr b="1" lang="zh-CN" sz="1200">
                <a:solidFill>
                  <a:srgbClr val="000000"/>
                </a:solidFill>
                <a:latin typeface="STKaiti"/>
                <a:ea typeface="STKaiti"/>
                <a:cs typeface="STKaiti"/>
                <a:sym typeface="STKaiti"/>
              </a:rPr>
              <a:t>鬟</a:t>
            </a:r>
            <a:r>
              <a:rPr lang="zh-CN" sz="1200">
                <a:solidFill>
                  <a:srgbClr val="000000"/>
                </a:solidFill>
                <a:latin typeface="STKaiti"/>
                <a:ea typeface="STKaiti"/>
                <a:cs typeface="STKaiti"/>
                <a:sym typeface="STKaiti"/>
              </a:rPr>
              <a:t>（?）：发髻。</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Arial"/>
              <a:buAutoNum type="arabicPeriod"/>
            </a:pPr>
            <a:r>
              <a:rPr lang="zh-CN" sz="1200">
                <a:solidFill>
                  <a:srgbClr val="000000"/>
                </a:solidFill>
                <a:latin typeface="STKaiti"/>
                <a:ea typeface="STKaiti"/>
                <a:cs typeface="STKaiti"/>
                <a:sym typeface="STKaiti"/>
              </a:rPr>
              <a:t>愈致其</a:t>
            </a:r>
            <a:r>
              <a:rPr b="1" lang="zh-CN" sz="1200">
                <a:solidFill>
                  <a:srgbClr val="000000"/>
                </a:solidFill>
                <a:latin typeface="STKaiti"/>
                <a:ea typeface="STKaiti"/>
                <a:cs typeface="STKaiti"/>
                <a:sym typeface="STKaiti"/>
              </a:rPr>
              <a:t>妍</a:t>
            </a:r>
            <a:r>
              <a:rPr lang="zh-CN" sz="1200">
                <a:solidFill>
                  <a:srgbClr val="000000"/>
                </a:solidFill>
                <a:latin typeface="STKaiti"/>
                <a:ea typeface="STKaiti"/>
                <a:cs typeface="STKaiti"/>
                <a:sym typeface="STKaiti"/>
              </a:rPr>
              <a:t>（?）：美丽。</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Arial"/>
              <a:buAutoNum type="arabicPeriod"/>
            </a:pPr>
            <a:r>
              <a:rPr b="1" lang="zh-CN" sz="1200">
                <a:solidFill>
                  <a:srgbClr val="000000"/>
                </a:solidFill>
                <a:latin typeface="STKaiti"/>
                <a:ea typeface="STKaiti"/>
                <a:cs typeface="STKaiti"/>
                <a:sym typeface="STKaiti"/>
              </a:rPr>
              <a:t>狎</a:t>
            </a:r>
            <a:r>
              <a:rPr lang="zh-CN" sz="1200">
                <a:solidFill>
                  <a:srgbClr val="000000"/>
                </a:solidFill>
                <a:latin typeface="STKaiti"/>
                <a:ea typeface="STKaiti"/>
                <a:cs typeface="STKaiti"/>
                <a:sym typeface="STKaiti"/>
              </a:rPr>
              <a:t>（?）：亲近而态度不庄重。</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Arial"/>
              <a:buAutoNum type="arabicPeriod"/>
            </a:pPr>
            <a:r>
              <a:rPr lang="zh-CN" sz="1200">
                <a:solidFill>
                  <a:srgbClr val="000000"/>
                </a:solidFill>
                <a:latin typeface="STKaiti"/>
                <a:ea typeface="STKaiti"/>
                <a:cs typeface="STKaiti"/>
                <a:sym typeface="STKaiti"/>
              </a:rPr>
              <a:t>巨木</a:t>
            </a:r>
            <a:r>
              <a:rPr b="1" lang="zh-CN" sz="1200">
                <a:solidFill>
                  <a:srgbClr val="000000"/>
                </a:solidFill>
                <a:latin typeface="STKaiti"/>
                <a:ea typeface="STKaiti"/>
                <a:cs typeface="STKaiti"/>
                <a:sym typeface="STKaiti"/>
              </a:rPr>
              <a:t>撑</a:t>
            </a:r>
            <a:r>
              <a:rPr lang="zh-CN" sz="1200">
                <a:solidFill>
                  <a:srgbClr val="000000"/>
                </a:solidFill>
                <a:latin typeface="STKaiti"/>
                <a:ea typeface="STKaiti"/>
                <a:cs typeface="STKaiti"/>
                <a:sym typeface="STKaiti"/>
              </a:rPr>
              <a:t>柱（?）：支撑。</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Arial"/>
              <a:buAutoNum type="arabicPeriod"/>
            </a:pPr>
            <a:r>
              <a:rPr b="1" lang="zh-CN" sz="1200">
                <a:solidFill>
                  <a:srgbClr val="000000"/>
                </a:solidFill>
                <a:latin typeface="STKaiti"/>
                <a:ea typeface="STKaiti"/>
                <a:cs typeface="STKaiti"/>
                <a:sym typeface="STKaiti"/>
              </a:rPr>
              <a:t>诋</a:t>
            </a:r>
            <a:r>
              <a:rPr lang="zh-CN" sz="1200">
                <a:solidFill>
                  <a:srgbClr val="000000"/>
                </a:solidFill>
                <a:latin typeface="STKaiti"/>
                <a:ea typeface="STKaiti"/>
                <a:cs typeface="STKaiti"/>
                <a:sym typeface="STKaiti"/>
              </a:rPr>
              <a:t>（?）：辱骂、诋毁。</a:t>
            </a:r>
            <a:endParaRPr sz="1200">
              <a:solidFill>
                <a:srgbClr val="000000"/>
              </a:solidFill>
              <a:latin typeface="STKaiti"/>
              <a:ea typeface="STKaiti"/>
              <a:cs typeface="STKaiti"/>
              <a:sym typeface="STKaiti"/>
            </a:endParaRPr>
          </a:p>
          <a:p>
            <a:pPr indent="-304800" lvl="0" marL="457200" rtl="0" algn="l">
              <a:spcBef>
                <a:spcPts val="0"/>
              </a:spcBef>
              <a:spcAft>
                <a:spcPts val="0"/>
              </a:spcAft>
              <a:buClr>
                <a:srgbClr val="000000"/>
              </a:buClr>
              <a:buSzPts val="1200"/>
              <a:buFont typeface="Arial"/>
              <a:buAutoNum type="arabicPeriod"/>
            </a:pPr>
            <a:r>
              <a:rPr b="1" lang="zh-CN" sz="1200">
                <a:solidFill>
                  <a:srgbClr val="000000"/>
                </a:solidFill>
                <a:latin typeface="STKaiti"/>
                <a:ea typeface="STKaiti"/>
                <a:cs typeface="STKaiti"/>
                <a:sym typeface="STKaiti"/>
              </a:rPr>
              <a:t>监</a:t>
            </a:r>
            <a:r>
              <a:rPr lang="zh-CN" sz="1200">
                <a:solidFill>
                  <a:srgbClr val="000000"/>
                </a:solidFill>
                <a:latin typeface="STKaiti"/>
                <a:ea typeface="STKaiti"/>
                <a:cs typeface="STKaiti"/>
                <a:sym typeface="STKaiti"/>
              </a:rPr>
              <a:t>州：官名。</a:t>
            </a:r>
            <a:endParaRPr sz="1200">
              <a:solidFill>
                <a:srgbClr val="000000"/>
              </a:solidFill>
              <a:latin typeface="STKaiti"/>
              <a:ea typeface="STKaiti"/>
              <a:cs typeface="STKaiti"/>
              <a:sym typeface="STKaiti"/>
            </a:endParaRPr>
          </a:p>
          <a:p>
            <a:pPr indent="0" lvl="0" marL="0" rtl="0" algn="l">
              <a:spcBef>
                <a:spcPts val="1200"/>
              </a:spcBef>
              <a:spcAft>
                <a:spcPts val="0"/>
              </a:spcAft>
              <a:buNone/>
            </a:pPr>
            <a:r>
              <a:rPr b="1" lang="zh-CN" sz="1200">
                <a:solidFill>
                  <a:srgbClr val="000000"/>
                </a:solidFill>
                <a:latin typeface="STKaiti"/>
                <a:ea typeface="STKaiti"/>
                <a:cs typeface="STKaiti"/>
                <a:sym typeface="STKaiti"/>
              </a:rPr>
              <a:t>通假字：</a:t>
            </a:r>
            <a:endParaRPr b="1" sz="1200">
              <a:solidFill>
                <a:srgbClr val="000000"/>
              </a:solidFill>
              <a:latin typeface="STKaiti"/>
              <a:ea typeface="STKaiti"/>
              <a:cs typeface="STKaiti"/>
              <a:sym typeface="STKaiti"/>
            </a:endParaRPr>
          </a:p>
          <a:p>
            <a:pPr indent="-304800" lvl="0" marL="457200" rtl="0" algn="l">
              <a:spcBef>
                <a:spcPts val="1200"/>
              </a:spcBef>
              <a:spcAft>
                <a:spcPts val="0"/>
              </a:spcAft>
              <a:buClr>
                <a:srgbClr val="000000"/>
              </a:buClr>
              <a:buSzPts val="1200"/>
              <a:buFont typeface="Arial"/>
              <a:buAutoNum type="arabicPeriod"/>
            </a:pPr>
            <a:r>
              <a:rPr b="1" lang="zh-CN" sz="1200">
                <a:solidFill>
                  <a:srgbClr val="000000"/>
                </a:solidFill>
                <a:latin typeface="STKaiti"/>
                <a:ea typeface="STKaiti"/>
                <a:cs typeface="STKaiti"/>
                <a:sym typeface="STKaiti"/>
              </a:rPr>
              <a:t>阳</a:t>
            </a:r>
            <a:r>
              <a:rPr lang="zh-CN" sz="1200">
                <a:solidFill>
                  <a:srgbClr val="000000"/>
                </a:solidFill>
                <a:latin typeface="STKaiti"/>
                <a:ea typeface="STKaiti"/>
                <a:cs typeface="STKaiti"/>
                <a:sym typeface="STKaiti"/>
              </a:rPr>
              <a:t>（?）从之</a:t>
            </a:r>
            <a:endParaRPr b="1" sz="1100">
              <a:solidFill>
                <a:srgbClr val="000000"/>
              </a:solidFill>
              <a:latin typeface="STKaiti"/>
              <a:ea typeface="STKaiti"/>
              <a:cs typeface="STKaiti"/>
              <a:sym typeface="STKaiti"/>
            </a:endParaRPr>
          </a:p>
        </p:txBody>
      </p:sp>
      <p:sp>
        <p:nvSpPr>
          <p:cNvPr id="1366" name="Google Shape;1366;p150"/>
          <p:cNvSpPr txBox="1"/>
          <p:nvPr>
            <p:ph idx="1" type="body"/>
          </p:nvPr>
        </p:nvSpPr>
        <p:spPr>
          <a:xfrm>
            <a:off x="4967900" y="1157475"/>
            <a:ext cx="3570600" cy="3340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zh-CN">
                <a:solidFill>
                  <a:srgbClr val="0000FF"/>
                </a:solidFill>
                <a:latin typeface="STKaiti"/>
                <a:ea typeface="STKaiti"/>
                <a:cs typeface="STKaiti"/>
                <a:sym typeface="STKaiti"/>
              </a:rPr>
              <a:t>正确读音：</a:t>
            </a:r>
            <a:endParaRPr>
              <a:solidFill>
                <a:srgbClr val="0000FF"/>
              </a:solidFill>
              <a:latin typeface="STKaiti"/>
              <a:ea typeface="STKaiti"/>
              <a:cs typeface="STKaiti"/>
              <a:sym typeface="STKaiti"/>
            </a:endParaRPr>
          </a:p>
          <a:p>
            <a:pPr indent="-298450" lvl="0" marL="457200" rtl="0" algn="l">
              <a:spcBef>
                <a:spcPts val="1200"/>
              </a:spcBef>
              <a:spcAft>
                <a:spcPts val="0"/>
              </a:spcAft>
              <a:buClr>
                <a:srgbClr val="0000FF"/>
              </a:buClr>
              <a:buSzPts val="1100"/>
              <a:buFont typeface="Arial"/>
              <a:buAutoNum type="arabicPeriod"/>
            </a:pPr>
            <a:r>
              <a:rPr b="1" lang="zh-CN" sz="1100">
                <a:solidFill>
                  <a:srgbClr val="0000FF"/>
                </a:solidFill>
                <a:latin typeface="STKaiti"/>
                <a:ea typeface="STKaiti"/>
                <a:cs typeface="STKaiti"/>
                <a:sym typeface="STKaiti"/>
              </a:rPr>
              <a:t>霸州</a:t>
            </a:r>
            <a:r>
              <a:rPr lang="zh-CN" sz="1100">
                <a:solidFill>
                  <a:srgbClr val="0000FF"/>
                </a:solidFill>
                <a:latin typeface="STKaiti"/>
                <a:ea typeface="STKaiti"/>
                <a:cs typeface="STKaiti"/>
                <a:sym typeface="STKaiti"/>
              </a:rPr>
              <a:t>（bà）：地名。</a:t>
            </a:r>
            <a:endParaRPr sz="1100">
              <a:solidFill>
                <a:srgbClr val="0000FF"/>
              </a:solidFill>
              <a:latin typeface="STKaiti"/>
              <a:ea typeface="STKaiti"/>
              <a:cs typeface="STKaiti"/>
              <a:sym typeface="STKaiti"/>
            </a:endParaRPr>
          </a:p>
          <a:p>
            <a:pPr indent="-298450" lvl="0" marL="457200" rtl="0" algn="l">
              <a:spcBef>
                <a:spcPts val="0"/>
              </a:spcBef>
              <a:spcAft>
                <a:spcPts val="0"/>
              </a:spcAft>
              <a:buClr>
                <a:srgbClr val="0000FF"/>
              </a:buClr>
              <a:buSzPts val="1100"/>
              <a:buFont typeface="Arial"/>
              <a:buAutoNum type="arabicPeriod"/>
            </a:pPr>
            <a:r>
              <a:rPr b="1" lang="zh-CN" sz="1100">
                <a:solidFill>
                  <a:srgbClr val="0000FF"/>
                </a:solidFill>
                <a:latin typeface="STKaiti"/>
                <a:ea typeface="STKaiti"/>
                <a:cs typeface="STKaiti"/>
                <a:sym typeface="STKaiti"/>
              </a:rPr>
              <a:t>倡</a:t>
            </a:r>
            <a:r>
              <a:rPr lang="zh-CN" sz="1100">
                <a:solidFill>
                  <a:srgbClr val="0000FF"/>
                </a:solidFill>
                <a:latin typeface="STKaiti"/>
                <a:ea typeface="STKaiti"/>
                <a:cs typeface="STKaiti"/>
                <a:sym typeface="STKaiti"/>
              </a:rPr>
              <a:t>（chāng）：古代指歌舞艺人，文中指娼妓。</a:t>
            </a:r>
            <a:endParaRPr sz="1100">
              <a:solidFill>
                <a:srgbClr val="0000FF"/>
              </a:solidFill>
              <a:latin typeface="STKaiti"/>
              <a:ea typeface="STKaiti"/>
              <a:cs typeface="STKaiti"/>
              <a:sym typeface="STKaiti"/>
            </a:endParaRPr>
          </a:p>
          <a:p>
            <a:pPr indent="-298450" lvl="0" marL="457200" rtl="0" algn="l">
              <a:spcBef>
                <a:spcPts val="0"/>
              </a:spcBef>
              <a:spcAft>
                <a:spcPts val="0"/>
              </a:spcAft>
              <a:buClr>
                <a:srgbClr val="0000FF"/>
              </a:buClr>
              <a:buSzPts val="1100"/>
              <a:buFont typeface="Arial"/>
              <a:buAutoNum type="arabicPeriod"/>
            </a:pPr>
            <a:r>
              <a:rPr b="1" lang="zh-CN" sz="1100">
                <a:solidFill>
                  <a:srgbClr val="0000FF"/>
                </a:solidFill>
                <a:latin typeface="STKaiti"/>
                <a:ea typeface="STKaiti"/>
                <a:cs typeface="STKaiti"/>
                <a:sym typeface="STKaiti"/>
              </a:rPr>
              <a:t>媪</a:t>
            </a:r>
            <a:r>
              <a:rPr lang="zh-CN" sz="1100">
                <a:solidFill>
                  <a:srgbClr val="0000FF"/>
                </a:solidFill>
                <a:latin typeface="STKaiti"/>
                <a:ea typeface="STKaiti"/>
                <a:cs typeface="STKaiti"/>
                <a:sym typeface="STKaiti"/>
              </a:rPr>
              <a:t>（yùn）：对年老妇女的称呼。</a:t>
            </a:r>
            <a:endParaRPr sz="1100">
              <a:solidFill>
                <a:srgbClr val="0000FF"/>
              </a:solidFill>
              <a:latin typeface="STKaiti"/>
              <a:ea typeface="STKaiti"/>
              <a:cs typeface="STKaiti"/>
              <a:sym typeface="STKaiti"/>
            </a:endParaRPr>
          </a:p>
          <a:p>
            <a:pPr indent="-298450" lvl="0" marL="457200" rtl="0" algn="l">
              <a:spcBef>
                <a:spcPts val="0"/>
              </a:spcBef>
              <a:spcAft>
                <a:spcPts val="0"/>
              </a:spcAft>
              <a:buClr>
                <a:srgbClr val="0000FF"/>
              </a:buClr>
              <a:buSzPts val="1100"/>
              <a:buFont typeface="Arial"/>
              <a:buAutoNum type="arabicPeriod"/>
            </a:pPr>
            <a:r>
              <a:rPr b="1" lang="zh-CN" sz="1100">
                <a:solidFill>
                  <a:srgbClr val="0000FF"/>
                </a:solidFill>
                <a:latin typeface="STKaiti"/>
                <a:ea typeface="STKaiti"/>
                <a:cs typeface="STKaiti"/>
                <a:sym typeface="STKaiti"/>
              </a:rPr>
              <a:t>荤</a:t>
            </a:r>
            <a:r>
              <a:rPr lang="zh-CN" sz="1100">
                <a:solidFill>
                  <a:srgbClr val="0000FF"/>
                </a:solidFill>
                <a:latin typeface="STKaiti"/>
                <a:ea typeface="STKaiti"/>
                <a:cs typeface="STKaiti"/>
                <a:sym typeface="STKaiti"/>
              </a:rPr>
              <a:t>（hūn）：指肉食。</a:t>
            </a:r>
            <a:endParaRPr sz="1100">
              <a:solidFill>
                <a:srgbClr val="0000FF"/>
              </a:solidFill>
              <a:latin typeface="STKaiti"/>
              <a:ea typeface="STKaiti"/>
              <a:cs typeface="STKaiti"/>
              <a:sym typeface="STKaiti"/>
            </a:endParaRPr>
          </a:p>
          <a:p>
            <a:pPr indent="-298450" lvl="0" marL="457200" rtl="0" algn="l">
              <a:spcBef>
                <a:spcPts val="0"/>
              </a:spcBef>
              <a:spcAft>
                <a:spcPts val="0"/>
              </a:spcAft>
              <a:buClr>
                <a:srgbClr val="0000FF"/>
              </a:buClr>
              <a:buSzPts val="1100"/>
              <a:buFont typeface="Arial"/>
              <a:buAutoNum type="arabicPeriod"/>
            </a:pPr>
            <a:r>
              <a:rPr b="1" lang="zh-CN" sz="1100">
                <a:solidFill>
                  <a:srgbClr val="0000FF"/>
                </a:solidFill>
                <a:latin typeface="STKaiti"/>
                <a:ea typeface="STKaiti"/>
                <a:cs typeface="STKaiti"/>
                <a:sym typeface="STKaiti"/>
              </a:rPr>
              <a:t>缟</a:t>
            </a:r>
            <a:r>
              <a:rPr lang="zh-CN" sz="1100">
                <a:solidFill>
                  <a:srgbClr val="0000FF"/>
                </a:solidFill>
                <a:latin typeface="STKaiti"/>
                <a:ea typeface="STKaiti"/>
                <a:cs typeface="STKaiti"/>
                <a:sym typeface="STKaiti"/>
              </a:rPr>
              <a:t>（gǎo）衣：白色的丝织品。</a:t>
            </a:r>
            <a:endParaRPr sz="1100">
              <a:solidFill>
                <a:srgbClr val="0000FF"/>
              </a:solidFill>
              <a:latin typeface="STKaiti"/>
              <a:ea typeface="STKaiti"/>
              <a:cs typeface="STKaiti"/>
              <a:sym typeface="STKaiti"/>
            </a:endParaRPr>
          </a:p>
          <a:p>
            <a:pPr indent="-298450" lvl="0" marL="457200" rtl="0" algn="l">
              <a:spcBef>
                <a:spcPts val="0"/>
              </a:spcBef>
              <a:spcAft>
                <a:spcPts val="0"/>
              </a:spcAft>
              <a:buClr>
                <a:srgbClr val="0000FF"/>
              </a:buClr>
              <a:buSzPts val="1100"/>
              <a:buFont typeface="Arial"/>
              <a:buAutoNum type="arabicPeriod"/>
            </a:pPr>
            <a:r>
              <a:rPr lang="zh-CN" sz="1100">
                <a:solidFill>
                  <a:srgbClr val="0000FF"/>
                </a:solidFill>
                <a:latin typeface="STKaiti"/>
                <a:ea typeface="STKaiti"/>
                <a:cs typeface="STKaiti"/>
                <a:sym typeface="STKaiti"/>
              </a:rPr>
              <a:t>翠</a:t>
            </a:r>
            <a:r>
              <a:rPr b="1" lang="zh-CN" sz="1100">
                <a:solidFill>
                  <a:srgbClr val="0000FF"/>
                </a:solidFill>
                <a:latin typeface="STKaiti"/>
                <a:ea typeface="STKaiti"/>
                <a:cs typeface="STKaiti"/>
                <a:sym typeface="STKaiti"/>
              </a:rPr>
              <a:t>鬟</a:t>
            </a:r>
            <a:r>
              <a:rPr lang="zh-CN" sz="1100">
                <a:solidFill>
                  <a:srgbClr val="0000FF"/>
                </a:solidFill>
                <a:latin typeface="STKaiti"/>
                <a:ea typeface="STKaiti"/>
                <a:cs typeface="STKaiti"/>
                <a:sym typeface="STKaiti"/>
              </a:rPr>
              <a:t>（huán）：发髻</a:t>
            </a:r>
            <a:r>
              <a:rPr lang="zh-CN" sz="1200">
                <a:solidFill>
                  <a:srgbClr val="0A0A0A"/>
                </a:solidFill>
                <a:highlight>
                  <a:srgbClr val="FFFFFF"/>
                </a:highlight>
                <a:latin typeface="Arial"/>
                <a:ea typeface="Arial"/>
                <a:cs typeface="Arial"/>
                <a:sym typeface="Arial"/>
              </a:rPr>
              <a:t> jì</a:t>
            </a:r>
            <a:r>
              <a:rPr lang="zh-CN" sz="1100">
                <a:solidFill>
                  <a:srgbClr val="0000FF"/>
                </a:solidFill>
                <a:latin typeface="STKaiti"/>
                <a:ea typeface="STKaiti"/>
                <a:cs typeface="STKaiti"/>
                <a:sym typeface="STKaiti"/>
              </a:rPr>
              <a:t>。</a:t>
            </a:r>
            <a:endParaRPr sz="1100">
              <a:solidFill>
                <a:srgbClr val="0000FF"/>
              </a:solidFill>
              <a:latin typeface="STKaiti"/>
              <a:ea typeface="STKaiti"/>
              <a:cs typeface="STKaiti"/>
              <a:sym typeface="STKaiti"/>
            </a:endParaRPr>
          </a:p>
          <a:p>
            <a:pPr indent="-298450" lvl="0" marL="457200" rtl="0" algn="l">
              <a:spcBef>
                <a:spcPts val="0"/>
              </a:spcBef>
              <a:spcAft>
                <a:spcPts val="0"/>
              </a:spcAft>
              <a:buClr>
                <a:srgbClr val="0000FF"/>
              </a:buClr>
              <a:buSzPts val="1100"/>
              <a:buFont typeface="Arial"/>
              <a:buAutoNum type="arabicPeriod"/>
            </a:pPr>
            <a:r>
              <a:rPr lang="zh-CN" sz="1100">
                <a:solidFill>
                  <a:srgbClr val="0000FF"/>
                </a:solidFill>
                <a:latin typeface="STKaiti"/>
                <a:ea typeface="STKaiti"/>
                <a:cs typeface="STKaiti"/>
                <a:sym typeface="STKaiti"/>
              </a:rPr>
              <a:t>愈致其</a:t>
            </a:r>
            <a:r>
              <a:rPr b="1" lang="zh-CN" sz="1100">
                <a:solidFill>
                  <a:srgbClr val="0000FF"/>
                </a:solidFill>
                <a:latin typeface="STKaiti"/>
                <a:ea typeface="STKaiti"/>
                <a:cs typeface="STKaiti"/>
                <a:sym typeface="STKaiti"/>
              </a:rPr>
              <a:t>妍</a:t>
            </a:r>
            <a:r>
              <a:rPr lang="zh-CN" sz="1100">
                <a:solidFill>
                  <a:srgbClr val="0000FF"/>
                </a:solidFill>
                <a:latin typeface="STKaiti"/>
                <a:ea typeface="STKaiti"/>
                <a:cs typeface="STKaiti"/>
                <a:sym typeface="STKaiti"/>
              </a:rPr>
              <a:t>（yán）：美丽。</a:t>
            </a:r>
            <a:endParaRPr sz="1100">
              <a:solidFill>
                <a:srgbClr val="0000FF"/>
              </a:solidFill>
              <a:latin typeface="STKaiti"/>
              <a:ea typeface="STKaiti"/>
              <a:cs typeface="STKaiti"/>
              <a:sym typeface="STKaiti"/>
            </a:endParaRPr>
          </a:p>
          <a:p>
            <a:pPr indent="-298450" lvl="0" marL="457200" rtl="0" algn="l">
              <a:spcBef>
                <a:spcPts val="0"/>
              </a:spcBef>
              <a:spcAft>
                <a:spcPts val="0"/>
              </a:spcAft>
              <a:buClr>
                <a:srgbClr val="0000FF"/>
              </a:buClr>
              <a:buSzPts val="1100"/>
              <a:buFont typeface="Arial"/>
              <a:buAutoNum type="arabicPeriod"/>
            </a:pPr>
            <a:r>
              <a:rPr b="1" lang="zh-CN" sz="1100">
                <a:solidFill>
                  <a:srgbClr val="0000FF"/>
                </a:solidFill>
                <a:latin typeface="STKaiti"/>
                <a:ea typeface="STKaiti"/>
                <a:cs typeface="STKaiti"/>
                <a:sym typeface="STKaiti"/>
              </a:rPr>
              <a:t>狎</a:t>
            </a:r>
            <a:r>
              <a:rPr lang="zh-CN" sz="1100">
                <a:solidFill>
                  <a:srgbClr val="0000FF"/>
                </a:solidFill>
                <a:latin typeface="STKaiti"/>
                <a:ea typeface="STKaiti"/>
                <a:cs typeface="STKaiti"/>
                <a:sym typeface="STKaiti"/>
              </a:rPr>
              <a:t>（xiá）：亲近而态度不庄重。</a:t>
            </a:r>
            <a:endParaRPr sz="1100">
              <a:solidFill>
                <a:srgbClr val="0000FF"/>
              </a:solidFill>
              <a:latin typeface="STKaiti"/>
              <a:ea typeface="STKaiti"/>
              <a:cs typeface="STKaiti"/>
              <a:sym typeface="STKaiti"/>
            </a:endParaRPr>
          </a:p>
          <a:p>
            <a:pPr indent="-298450" lvl="0" marL="457200" rtl="0" algn="l">
              <a:spcBef>
                <a:spcPts val="0"/>
              </a:spcBef>
              <a:spcAft>
                <a:spcPts val="0"/>
              </a:spcAft>
              <a:buClr>
                <a:srgbClr val="0000FF"/>
              </a:buClr>
              <a:buSzPts val="1100"/>
              <a:buFont typeface="Arial"/>
              <a:buAutoNum type="arabicPeriod"/>
            </a:pPr>
            <a:r>
              <a:rPr lang="zh-CN" sz="1100">
                <a:solidFill>
                  <a:srgbClr val="0000FF"/>
                </a:solidFill>
                <a:latin typeface="STKaiti"/>
                <a:ea typeface="STKaiti"/>
                <a:cs typeface="STKaiti"/>
                <a:sym typeface="STKaiti"/>
              </a:rPr>
              <a:t>巨木</a:t>
            </a:r>
            <a:r>
              <a:rPr b="1" lang="zh-CN" sz="1100">
                <a:solidFill>
                  <a:srgbClr val="0000FF"/>
                </a:solidFill>
                <a:latin typeface="STKaiti"/>
                <a:ea typeface="STKaiti"/>
                <a:cs typeface="STKaiti"/>
                <a:sym typeface="STKaiti"/>
              </a:rPr>
              <a:t>撑</a:t>
            </a:r>
            <a:r>
              <a:rPr lang="zh-CN" sz="1100">
                <a:solidFill>
                  <a:srgbClr val="0000FF"/>
                </a:solidFill>
                <a:latin typeface="STKaiti"/>
                <a:ea typeface="STKaiti"/>
                <a:cs typeface="STKaiti"/>
                <a:sym typeface="STKaiti"/>
              </a:rPr>
              <a:t>柱（chēng）：支撑。</a:t>
            </a:r>
            <a:endParaRPr sz="1100">
              <a:solidFill>
                <a:srgbClr val="0000FF"/>
              </a:solidFill>
              <a:latin typeface="STKaiti"/>
              <a:ea typeface="STKaiti"/>
              <a:cs typeface="STKaiti"/>
              <a:sym typeface="STKaiti"/>
            </a:endParaRPr>
          </a:p>
          <a:p>
            <a:pPr indent="-298450" lvl="0" marL="457200" rtl="0" algn="l">
              <a:spcBef>
                <a:spcPts val="0"/>
              </a:spcBef>
              <a:spcAft>
                <a:spcPts val="0"/>
              </a:spcAft>
              <a:buClr>
                <a:srgbClr val="0000FF"/>
              </a:buClr>
              <a:buSzPts val="1100"/>
              <a:buFont typeface="Arial"/>
              <a:buAutoNum type="arabicPeriod"/>
            </a:pPr>
            <a:r>
              <a:rPr b="1" lang="zh-CN" sz="1100">
                <a:solidFill>
                  <a:srgbClr val="0000FF"/>
                </a:solidFill>
                <a:latin typeface="STKaiti"/>
                <a:ea typeface="STKaiti"/>
                <a:cs typeface="STKaiti"/>
                <a:sym typeface="STKaiti"/>
              </a:rPr>
              <a:t>诋</a:t>
            </a:r>
            <a:r>
              <a:rPr lang="zh-CN" sz="1100">
                <a:solidFill>
                  <a:srgbClr val="0000FF"/>
                </a:solidFill>
                <a:latin typeface="STKaiti"/>
                <a:ea typeface="STKaiti"/>
                <a:cs typeface="STKaiti"/>
                <a:sym typeface="STKaiti"/>
              </a:rPr>
              <a:t>（dǐ）：辱骂、诋毁。</a:t>
            </a:r>
            <a:endParaRPr sz="1100">
              <a:solidFill>
                <a:srgbClr val="0000FF"/>
              </a:solidFill>
              <a:latin typeface="STKaiti"/>
              <a:ea typeface="STKaiti"/>
              <a:cs typeface="STKaiti"/>
              <a:sym typeface="STKaiti"/>
            </a:endParaRPr>
          </a:p>
          <a:p>
            <a:pPr indent="-298450" lvl="0" marL="457200" rtl="0" algn="l">
              <a:spcBef>
                <a:spcPts val="0"/>
              </a:spcBef>
              <a:spcAft>
                <a:spcPts val="0"/>
              </a:spcAft>
              <a:buClr>
                <a:srgbClr val="0000FF"/>
              </a:buClr>
              <a:buSzPts val="1100"/>
              <a:buFont typeface="Arial"/>
              <a:buAutoNum type="arabicPeriod"/>
            </a:pPr>
            <a:r>
              <a:rPr b="1" lang="zh-CN" sz="1100">
                <a:solidFill>
                  <a:srgbClr val="0000FF"/>
                </a:solidFill>
                <a:latin typeface="STKaiti"/>
                <a:ea typeface="STKaiti"/>
                <a:cs typeface="STKaiti"/>
                <a:sym typeface="STKaiti"/>
              </a:rPr>
              <a:t>监州</a:t>
            </a:r>
            <a:r>
              <a:rPr lang="zh-CN" sz="1100">
                <a:solidFill>
                  <a:srgbClr val="0000FF"/>
                </a:solidFill>
                <a:latin typeface="STKaiti"/>
                <a:ea typeface="STKaiti"/>
                <a:cs typeface="STKaiti"/>
                <a:sym typeface="STKaiti"/>
              </a:rPr>
              <a:t>（jiàn）：官名。</a:t>
            </a:r>
            <a:endParaRPr sz="1100">
              <a:solidFill>
                <a:srgbClr val="0000FF"/>
              </a:solidFill>
              <a:latin typeface="STKaiti"/>
              <a:ea typeface="STKaiti"/>
              <a:cs typeface="STKaiti"/>
              <a:sym typeface="STKaiti"/>
            </a:endParaRPr>
          </a:p>
          <a:p>
            <a:pPr indent="0" lvl="0" marL="0" rtl="0" algn="l">
              <a:spcBef>
                <a:spcPts val="1200"/>
              </a:spcBef>
              <a:spcAft>
                <a:spcPts val="0"/>
              </a:spcAft>
              <a:buNone/>
            </a:pPr>
            <a:r>
              <a:rPr b="1" lang="zh-CN" sz="1100">
                <a:solidFill>
                  <a:srgbClr val="0000FF"/>
                </a:solidFill>
                <a:latin typeface="STKaiti"/>
                <a:ea typeface="STKaiti"/>
                <a:cs typeface="STKaiti"/>
                <a:sym typeface="STKaiti"/>
              </a:rPr>
              <a:t>通假字：</a:t>
            </a:r>
            <a:endParaRPr b="1" sz="1100">
              <a:solidFill>
                <a:srgbClr val="0000FF"/>
              </a:solidFill>
              <a:latin typeface="STKaiti"/>
              <a:ea typeface="STKaiti"/>
              <a:cs typeface="STKaiti"/>
              <a:sym typeface="STKaiti"/>
            </a:endParaRPr>
          </a:p>
          <a:p>
            <a:pPr indent="-298450" lvl="0" marL="457200" rtl="0" algn="l">
              <a:spcBef>
                <a:spcPts val="1200"/>
              </a:spcBef>
              <a:spcAft>
                <a:spcPts val="0"/>
              </a:spcAft>
              <a:buClr>
                <a:srgbClr val="0000FF"/>
              </a:buClr>
              <a:buSzPts val="1100"/>
              <a:buFont typeface="Arial"/>
              <a:buAutoNum type="arabicPeriod" startAt="12"/>
            </a:pPr>
            <a:r>
              <a:rPr b="1" lang="zh-CN" sz="1100">
                <a:solidFill>
                  <a:srgbClr val="0000FF"/>
                </a:solidFill>
                <a:latin typeface="STKaiti"/>
                <a:ea typeface="STKaiti"/>
                <a:cs typeface="STKaiti"/>
                <a:sym typeface="STKaiti"/>
              </a:rPr>
              <a:t>阳</a:t>
            </a:r>
            <a:r>
              <a:rPr lang="zh-CN" sz="1100">
                <a:solidFill>
                  <a:srgbClr val="0000FF"/>
                </a:solidFill>
                <a:latin typeface="STKaiti"/>
                <a:ea typeface="STKaiti"/>
                <a:cs typeface="STKaiti"/>
                <a:sym typeface="STKaiti"/>
              </a:rPr>
              <a:t>从之：同“佯”，假装。</a:t>
            </a:r>
            <a:endParaRPr>
              <a:solidFill>
                <a:srgbClr val="0000FF"/>
              </a:solidFill>
              <a:latin typeface="STKaiti"/>
              <a:ea typeface="STKaiti"/>
              <a:cs typeface="STKaiti"/>
              <a:sym typeface="STKaiti"/>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15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latin typeface="STKaiti"/>
                <a:ea typeface="STKaiti"/>
                <a:cs typeface="STKaiti"/>
                <a:sym typeface="STKaiti"/>
              </a:rPr>
              <a:t>目标一：读顺（</a:t>
            </a:r>
            <a:r>
              <a:rPr lang="zh-CN">
                <a:solidFill>
                  <a:srgbClr val="FF0000"/>
                </a:solidFill>
                <a:latin typeface="STKaiti"/>
                <a:ea typeface="STKaiti"/>
                <a:cs typeface="STKaiti"/>
                <a:sym typeface="STKaiti"/>
              </a:rPr>
              <a:t>停顿易失误的句子</a:t>
            </a:r>
            <a:r>
              <a:rPr lang="zh-CN">
                <a:latin typeface="STKaiti"/>
                <a:ea typeface="STKaiti"/>
                <a:cs typeface="STKaiti"/>
                <a:sym typeface="STKaiti"/>
              </a:rPr>
              <a:t>）</a:t>
            </a:r>
            <a:endParaRPr>
              <a:latin typeface="STKaiti"/>
              <a:ea typeface="STKaiti"/>
              <a:cs typeface="STKaiti"/>
              <a:sym typeface="STKaiti"/>
            </a:endParaRPr>
          </a:p>
        </p:txBody>
      </p:sp>
      <p:sp>
        <p:nvSpPr>
          <p:cNvPr id="1372" name="Google Shape;1372;p151"/>
          <p:cNvSpPr txBox="1"/>
          <p:nvPr>
            <p:ph idx="1" type="body"/>
          </p:nvPr>
        </p:nvSpPr>
        <p:spPr>
          <a:xfrm>
            <a:off x="566525" y="1276750"/>
            <a:ext cx="4226400" cy="3084000"/>
          </a:xfrm>
          <a:prstGeom prst="rect">
            <a:avLst/>
          </a:prstGeom>
        </p:spPr>
        <p:txBody>
          <a:bodyPr anchorCtr="0" anchor="t" bIns="91425" lIns="91425" spcFirstLastPara="1" rIns="91425" wrap="square" tIns="91425">
            <a:noAutofit/>
          </a:bodyPr>
          <a:lstStyle/>
          <a:p>
            <a:pPr indent="-336550" lvl="0" marL="457200" rtl="0" algn="l">
              <a:lnSpc>
                <a:spcPct val="200000"/>
              </a:lnSpc>
              <a:spcBef>
                <a:spcPts val="0"/>
              </a:spcBef>
              <a:spcAft>
                <a:spcPts val="0"/>
              </a:spcAft>
              <a:buClr>
                <a:srgbClr val="000000"/>
              </a:buClr>
              <a:buSzPts val="1700"/>
              <a:buFont typeface="STKaiti"/>
              <a:buChar char="●"/>
            </a:pPr>
            <a:r>
              <a:rPr lang="zh-CN" sz="1700">
                <a:solidFill>
                  <a:srgbClr val="000000"/>
                </a:solidFill>
                <a:latin typeface="STKaiti"/>
                <a:ea typeface="STKaiti"/>
                <a:cs typeface="STKaiti"/>
                <a:sym typeface="STKaiti"/>
              </a:rPr>
              <a:t>其母一枝梅，倡也。</a:t>
            </a:r>
            <a:endParaRPr sz="1700">
              <a:solidFill>
                <a:srgbClr val="000000"/>
              </a:solidFill>
              <a:latin typeface="STKaiti"/>
              <a:ea typeface="STKaiti"/>
              <a:cs typeface="STKaiti"/>
              <a:sym typeface="STKaiti"/>
            </a:endParaRPr>
          </a:p>
          <a:p>
            <a:pPr indent="-336550" lvl="0" marL="457200" rtl="0" algn="l">
              <a:lnSpc>
                <a:spcPct val="200000"/>
              </a:lnSpc>
              <a:spcBef>
                <a:spcPts val="0"/>
              </a:spcBef>
              <a:spcAft>
                <a:spcPts val="0"/>
              </a:spcAft>
              <a:buClr>
                <a:srgbClr val="000000"/>
              </a:buClr>
              <a:buSzPts val="1700"/>
              <a:buFont typeface="STKaiti"/>
              <a:buChar char="●"/>
            </a:pPr>
            <a:r>
              <a:rPr lang="zh-CN" sz="1700">
                <a:solidFill>
                  <a:srgbClr val="000000"/>
                </a:solidFill>
                <a:latin typeface="STKaiti"/>
                <a:ea typeface="STKaiti"/>
                <a:cs typeface="STKaiti"/>
                <a:sym typeface="STKaiti"/>
              </a:rPr>
              <a:t>媪能宽我不脂泽，不荤肉，则可尔。</a:t>
            </a:r>
            <a:endParaRPr sz="1700">
              <a:solidFill>
                <a:srgbClr val="000000"/>
              </a:solidFill>
              <a:latin typeface="STKaiti"/>
              <a:ea typeface="STKaiti"/>
              <a:cs typeface="STKaiti"/>
              <a:sym typeface="STKaiti"/>
            </a:endParaRPr>
          </a:p>
          <a:p>
            <a:pPr indent="-336550" lvl="0" marL="457200" rtl="0" algn="l">
              <a:lnSpc>
                <a:spcPct val="200000"/>
              </a:lnSpc>
              <a:spcBef>
                <a:spcPts val="0"/>
              </a:spcBef>
              <a:spcAft>
                <a:spcPts val="0"/>
              </a:spcAft>
              <a:buClr>
                <a:srgbClr val="000000"/>
              </a:buClr>
              <a:buSzPts val="1700"/>
              <a:buFont typeface="STKaiti"/>
              <a:buChar char="●"/>
            </a:pPr>
            <a:r>
              <a:rPr lang="zh-CN" sz="1700">
                <a:solidFill>
                  <a:srgbClr val="000000"/>
                </a:solidFill>
                <a:latin typeface="STKaiti"/>
                <a:ea typeface="STKaiti"/>
                <a:cs typeface="STKaiti"/>
                <a:sym typeface="STKaiti"/>
              </a:rPr>
              <a:t>李必询筵中无恶少年/乃行。</a:t>
            </a:r>
            <a:endParaRPr sz="1700">
              <a:solidFill>
                <a:srgbClr val="000000"/>
              </a:solidFill>
              <a:latin typeface="STKaiti"/>
              <a:ea typeface="STKaiti"/>
              <a:cs typeface="STKaiti"/>
              <a:sym typeface="STKaiti"/>
            </a:endParaRPr>
          </a:p>
          <a:p>
            <a:pPr indent="-336550" lvl="0" marL="457200" rtl="0" algn="l">
              <a:lnSpc>
                <a:spcPct val="200000"/>
              </a:lnSpc>
              <a:spcBef>
                <a:spcPts val="0"/>
              </a:spcBef>
              <a:spcAft>
                <a:spcPts val="0"/>
              </a:spcAft>
              <a:buClr>
                <a:srgbClr val="000000"/>
              </a:buClr>
              <a:buSzPts val="1700"/>
              <a:buFont typeface="STKaiti"/>
              <a:buChar char="●"/>
            </a:pPr>
            <a:r>
              <a:rPr lang="zh-CN" sz="1700">
                <a:solidFill>
                  <a:srgbClr val="000000"/>
                </a:solidFill>
                <a:latin typeface="STKaiti"/>
                <a:ea typeface="STKaiti"/>
                <a:cs typeface="STKaiti"/>
                <a:sym typeface="STKaiti"/>
              </a:rPr>
              <a:t>汝纵不能而忍坏之耶？</a:t>
            </a:r>
            <a:endParaRPr sz="1700">
              <a:solidFill>
                <a:srgbClr val="000000"/>
              </a:solidFill>
              <a:latin typeface="STKaiti"/>
              <a:ea typeface="STKaiti"/>
              <a:cs typeface="STKaiti"/>
              <a:sym typeface="STKaiti"/>
            </a:endParaRPr>
          </a:p>
          <a:p>
            <a:pPr indent="-336550" lvl="0" marL="457200" rtl="0" algn="l">
              <a:lnSpc>
                <a:spcPct val="200000"/>
              </a:lnSpc>
              <a:spcBef>
                <a:spcPts val="0"/>
              </a:spcBef>
              <a:spcAft>
                <a:spcPts val="0"/>
              </a:spcAft>
              <a:buClr>
                <a:srgbClr val="000000"/>
              </a:buClr>
              <a:buSzPts val="1700"/>
              <a:buFont typeface="STKaiti"/>
              <a:buChar char="●"/>
            </a:pPr>
            <a:r>
              <a:rPr lang="zh-CN" sz="1700">
                <a:solidFill>
                  <a:srgbClr val="000000"/>
                </a:solidFill>
                <a:latin typeface="STKaiti"/>
                <a:ea typeface="STKaiti"/>
                <a:cs typeface="STKaiti"/>
                <a:sym typeface="STKaiti"/>
              </a:rPr>
              <a:t>今冠裳其形而狗彘其行。</a:t>
            </a:r>
            <a:endParaRPr sz="1700">
              <a:solidFill>
                <a:srgbClr val="000000"/>
              </a:solidFill>
              <a:latin typeface="STKaiti"/>
              <a:ea typeface="STKaiti"/>
              <a:cs typeface="STKaiti"/>
              <a:sym typeface="STKaiti"/>
            </a:endParaRPr>
          </a:p>
          <a:p>
            <a:pPr indent="-336550" lvl="0" marL="457200" rtl="0" algn="l">
              <a:lnSpc>
                <a:spcPct val="200000"/>
              </a:lnSpc>
              <a:spcBef>
                <a:spcPts val="0"/>
              </a:spcBef>
              <a:spcAft>
                <a:spcPts val="0"/>
              </a:spcAft>
              <a:buClr>
                <a:srgbClr val="000000"/>
              </a:buClr>
              <a:buSzPts val="1700"/>
              <a:buFont typeface="STKaiti"/>
              <a:buChar char="●"/>
            </a:pPr>
            <a:r>
              <a:rPr lang="zh-CN" sz="1700">
                <a:solidFill>
                  <a:srgbClr val="000000"/>
                </a:solidFill>
                <a:latin typeface="STKaiti"/>
                <a:ea typeface="STKaiti"/>
                <a:cs typeface="STKaiti"/>
                <a:sym typeface="STKaiti"/>
              </a:rPr>
              <a:t>倡犹能有是哉！</a:t>
            </a:r>
            <a:endParaRPr sz="2400">
              <a:latin typeface="STKaiti"/>
              <a:ea typeface="STKaiti"/>
              <a:cs typeface="STKaiti"/>
              <a:sym typeface="STKaiti"/>
            </a:endParaRPr>
          </a:p>
        </p:txBody>
      </p:sp>
      <p:pic>
        <p:nvPicPr>
          <p:cNvPr id="1373" name="Google Shape;1373;p151"/>
          <p:cNvPicPr preferRelativeResize="0"/>
          <p:nvPr/>
        </p:nvPicPr>
        <p:blipFill>
          <a:blip r:embed="rId3">
            <a:alphaModFix/>
          </a:blip>
          <a:stretch>
            <a:fillRect/>
          </a:stretch>
        </p:blipFill>
        <p:spPr>
          <a:xfrm>
            <a:off x="5414500" y="2097725"/>
            <a:ext cx="2619375" cy="1743075"/>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1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79" name="Google Shape;1379;p152"/>
          <p:cNvSpPr txBox="1"/>
          <p:nvPr>
            <p:ph idx="1" type="body"/>
          </p:nvPr>
        </p:nvSpPr>
        <p:spPr>
          <a:xfrm>
            <a:off x="3861350" y="1228675"/>
            <a:ext cx="52032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solidFill>
                  <a:srgbClr val="0000FF"/>
                </a:solidFill>
                <a:latin typeface="STKaiti"/>
                <a:ea typeface="STKaiti"/>
                <a:cs typeface="STKaiti"/>
                <a:sym typeface="STKaiti"/>
              </a:rPr>
              <a:t>正确的停顿：</a:t>
            </a:r>
            <a:endParaRPr>
              <a:solidFill>
                <a:srgbClr val="0000FF"/>
              </a:solidFill>
              <a:latin typeface="STKaiti"/>
              <a:ea typeface="STKaiti"/>
              <a:cs typeface="STKaiti"/>
              <a:sym typeface="STKaiti"/>
            </a:endParaRPr>
          </a:p>
          <a:p>
            <a:pPr indent="-304800" lvl="0" marL="457200" rtl="0" algn="l">
              <a:lnSpc>
                <a:spcPct val="200000"/>
              </a:lnSpc>
              <a:spcBef>
                <a:spcPts val="1200"/>
              </a:spcBef>
              <a:spcAft>
                <a:spcPts val="0"/>
              </a:spcAft>
              <a:buClr>
                <a:srgbClr val="0000FF"/>
              </a:buClr>
              <a:buSzPts val="1200"/>
              <a:buFont typeface="Arial"/>
              <a:buAutoNum type="arabicPeriod"/>
            </a:pPr>
            <a:r>
              <a:rPr b="1" lang="zh-CN" sz="1200">
                <a:solidFill>
                  <a:srgbClr val="0000FF"/>
                </a:solidFill>
                <a:latin typeface="STKaiti"/>
                <a:ea typeface="STKaiti"/>
                <a:cs typeface="STKaiti"/>
                <a:sym typeface="STKaiti"/>
              </a:rPr>
              <a:t>其母/一枝梅，倡也。</a:t>
            </a:r>
            <a:r>
              <a:rPr lang="zh-CN" sz="1200">
                <a:solidFill>
                  <a:srgbClr val="0000FF"/>
                </a:solidFill>
                <a:latin typeface="STKaiti"/>
                <a:ea typeface="STKaiti"/>
                <a:cs typeface="STKaiti"/>
                <a:sym typeface="STKaiti"/>
              </a:rPr>
              <a:t>（判断句停顿）</a:t>
            </a:r>
            <a:endParaRPr sz="1200">
              <a:solidFill>
                <a:srgbClr val="0000FF"/>
              </a:solidFill>
              <a:latin typeface="STKaiti"/>
              <a:ea typeface="STKaiti"/>
              <a:cs typeface="STKaiti"/>
              <a:sym typeface="STKaiti"/>
            </a:endParaRPr>
          </a:p>
          <a:p>
            <a:pPr indent="-304800" lvl="0" marL="457200" rtl="0" algn="l">
              <a:lnSpc>
                <a:spcPct val="200000"/>
              </a:lnSpc>
              <a:spcBef>
                <a:spcPts val="0"/>
              </a:spcBef>
              <a:spcAft>
                <a:spcPts val="0"/>
              </a:spcAft>
              <a:buClr>
                <a:srgbClr val="0000FF"/>
              </a:buClr>
              <a:buSzPts val="1200"/>
              <a:buFont typeface="Arial"/>
              <a:buAutoNum type="arabicPeriod"/>
            </a:pPr>
            <a:r>
              <a:rPr b="1" lang="zh-CN" sz="1200">
                <a:solidFill>
                  <a:srgbClr val="0000FF"/>
                </a:solidFill>
                <a:latin typeface="STKaiti"/>
                <a:ea typeface="STKaiti"/>
                <a:cs typeface="STKaiti"/>
                <a:sym typeface="STKaiti"/>
              </a:rPr>
              <a:t>媪/能宽我/不脂泽，不荤肉，则可尔。</a:t>
            </a:r>
            <a:r>
              <a:rPr lang="zh-CN" sz="1200">
                <a:solidFill>
                  <a:srgbClr val="0000FF"/>
                </a:solidFill>
                <a:latin typeface="STKaiti"/>
                <a:ea typeface="STKaiti"/>
                <a:cs typeface="STKaiti"/>
                <a:sym typeface="STKaiti"/>
              </a:rPr>
              <a:t>（注意条件关系的层次）</a:t>
            </a:r>
            <a:endParaRPr sz="1200">
              <a:solidFill>
                <a:srgbClr val="0000FF"/>
              </a:solidFill>
              <a:latin typeface="STKaiti"/>
              <a:ea typeface="STKaiti"/>
              <a:cs typeface="STKaiti"/>
              <a:sym typeface="STKaiti"/>
            </a:endParaRPr>
          </a:p>
          <a:p>
            <a:pPr indent="-304800" lvl="0" marL="457200" rtl="0" algn="l">
              <a:lnSpc>
                <a:spcPct val="200000"/>
              </a:lnSpc>
              <a:spcBef>
                <a:spcPts val="0"/>
              </a:spcBef>
              <a:spcAft>
                <a:spcPts val="0"/>
              </a:spcAft>
              <a:buClr>
                <a:srgbClr val="0000FF"/>
              </a:buClr>
              <a:buSzPts val="1200"/>
              <a:buFont typeface="Arial"/>
              <a:buAutoNum type="arabicPeriod"/>
            </a:pPr>
            <a:r>
              <a:rPr b="1" lang="zh-CN" sz="1200">
                <a:solidFill>
                  <a:srgbClr val="0000FF"/>
                </a:solidFill>
                <a:latin typeface="STKaiti"/>
                <a:ea typeface="STKaiti"/>
                <a:cs typeface="STKaiti"/>
                <a:sym typeface="STKaiti"/>
              </a:rPr>
              <a:t>李/必询/筵中无恶少年/乃行。</a:t>
            </a:r>
            <a:r>
              <a:rPr lang="zh-CN" sz="1200">
                <a:solidFill>
                  <a:srgbClr val="0000FF"/>
                </a:solidFill>
                <a:latin typeface="STKaiti"/>
                <a:ea typeface="STKaiti"/>
                <a:cs typeface="STKaiti"/>
                <a:sym typeface="STKaiti"/>
              </a:rPr>
              <a:t>（注意长句中的逻辑停顿）</a:t>
            </a:r>
            <a:endParaRPr sz="1200">
              <a:solidFill>
                <a:srgbClr val="0000FF"/>
              </a:solidFill>
              <a:latin typeface="STKaiti"/>
              <a:ea typeface="STKaiti"/>
              <a:cs typeface="STKaiti"/>
              <a:sym typeface="STKaiti"/>
            </a:endParaRPr>
          </a:p>
          <a:p>
            <a:pPr indent="-304800" lvl="0" marL="457200" rtl="0" algn="l">
              <a:lnSpc>
                <a:spcPct val="200000"/>
              </a:lnSpc>
              <a:spcBef>
                <a:spcPts val="0"/>
              </a:spcBef>
              <a:spcAft>
                <a:spcPts val="0"/>
              </a:spcAft>
              <a:buClr>
                <a:srgbClr val="0000FF"/>
              </a:buClr>
              <a:buSzPts val="1200"/>
              <a:buFont typeface="Arial"/>
              <a:buAutoNum type="arabicPeriod"/>
            </a:pPr>
            <a:r>
              <a:rPr b="1" lang="zh-CN" sz="1200">
                <a:solidFill>
                  <a:srgbClr val="0000FF"/>
                </a:solidFill>
                <a:latin typeface="STKaiti"/>
                <a:ea typeface="STKaiti"/>
                <a:cs typeface="STKaiti"/>
                <a:sym typeface="STKaiti"/>
              </a:rPr>
              <a:t>汝/纵不能/而忍坏之耶？</a:t>
            </a:r>
            <a:r>
              <a:rPr lang="zh-CN" sz="1200">
                <a:solidFill>
                  <a:srgbClr val="0000FF"/>
                </a:solidFill>
                <a:latin typeface="STKaiti"/>
                <a:ea typeface="STKaiti"/>
                <a:cs typeface="STKaiti"/>
                <a:sym typeface="STKaiti"/>
              </a:rPr>
              <a:t>（反问语气停顿）</a:t>
            </a:r>
            <a:endParaRPr sz="1200">
              <a:solidFill>
                <a:srgbClr val="0000FF"/>
              </a:solidFill>
              <a:latin typeface="STKaiti"/>
              <a:ea typeface="STKaiti"/>
              <a:cs typeface="STKaiti"/>
              <a:sym typeface="STKaiti"/>
            </a:endParaRPr>
          </a:p>
          <a:p>
            <a:pPr indent="-304800" lvl="0" marL="457200" rtl="0" algn="l">
              <a:lnSpc>
                <a:spcPct val="200000"/>
              </a:lnSpc>
              <a:spcBef>
                <a:spcPts val="0"/>
              </a:spcBef>
              <a:spcAft>
                <a:spcPts val="0"/>
              </a:spcAft>
              <a:buClr>
                <a:srgbClr val="0000FF"/>
              </a:buClr>
              <a:buSzPts val="1200"/>
              <a:buFont typeface="Arial"/>
              <a:buAutoNum type="arabicPeriod"/>
            </a:pPr>
            <a:r>
              <a:rPr b="1" lang="zh-CN" sz="1200">
                <a:solidFill>
                  <a:srgbClr val="0000FF"/>
                </a:solidFill>
                <a:latin typeface="STKaiti"/>
                <a:ea typeface="STKaiti"/>
                <a:cs typeface="STKaiti"/>
                <a:sym typeface="STKaiti"/>
              </a:rPr>
              <a:t>今/冠裳其形/而狗彘其行。</a:t>
            </a:r>
            <a:r>
              <a:rPr lang="zh-CN" sz="1200">
                <a:solidFill>
                  <a:srgbClr val="0000FF"/>
                </a:solidFill>
                <a:latin typeface="STKaiti"/>
                <a:ea typeface="STKaiti"/>
                <a:cs typeface="STKaiti"/>
                <a:sym typeface="STKaiti"/>
              </a:rPr>
              <a:t>（对偶句式，重音在“形”与“行”）</a:t>
            </a:r>
            <a:endParaRPr sz="1200">
              <a:solidFill>
                <a:srgbClr val="0000FF"/>
              </a:solidFill>
              <a:latin typeface="STKaiti"/>
              <a:ea typeface="STKaiti"/>
              <a:cs typeface="STKaiti"/>
              <a:sym typeface="STKaiti"/>
            </a:endParaRPr>
          </a:p>
          <a:p>
            <a:pPr indent="-304800" lvl="0" marL="457200" rtl="0" algn="l">
              <a:lnSpc>
                <a:spcPct val="200000"/>
              </a:lnSpc>
              <a:spcBef>
                <a:spcPts val="0"/>
              </a:spcBef>
              <a:spcAft>
                <a:spcPts val="0"/>
              </a:spcAft>
              <a:buClr>
                <a:srgbClr val="0000FF"/>
              </a:buClr>
              <a:buSzPts val="1200"/>
              <a:buFont typeface="Arial"/>
              <a:buAutoNum type="arabicPeriod"/>
            </a:pPr>
            <a:r>
              <a:rPr b="1" lang="zh-CN" sz="1200">
                <a:solidFill>
                  <a:srgbClr val="0000FF"/>
                </a:solidFill>
                <a:latin typeface="STKaiti"/>
                <a:ea typeface="STKaiti"/>
                <a:cs typeface="STKaiti"/>
                <a:sym typeface="STKaiti"/>
              </a:rPr>
              <a:t>倡/犹能有是哉！</a:t>
            </a:r>
            <a:r>
              <a:rPr lang="zh-CN" sz="1200">
                <a:solidFill>
                  <a:srgbClr val="0000FF"/>
                </a:solidFill>
                <a:latin typeface="STKaiti"/>
                <a:ea typeface="STKaiti"/>
                <a:cs typeface="STKaiti"/>
                <a:sym typeface="STKaiti"/>
              </a:rPr>
              <a:t>（感叹句语气）</a:t>
            </a:r>
            <a:endParaRPr sz="1900">
              <a:solidFill>
                <a:srgbClr val="0000FF"/>
              </a:solidFill>
              <a:latin typeface="STKaiti"/>
              <a:ea typeface="STKaiti"/>
              <a:cs typeface="STKaiti"/>
              <a:sym typeface="STKaiti"/>
            </a:endParaRPr>
          </a:p>
        </p:txBody>
      </p:sp>
      <p:sp>
        <p:nvSpPr>
          <p:cNvPr id="1380" name="Google Shape;1380;p152"/>
          <p:cNvSpPr txBox="1"/>
          <p:nvPr>
            <p:ph idx="1" type="body"/>
          </p:nvPr>
        </p:nvSpPr>
        <p:spPr>
          <a:xfrm>
            <a:off x="223625" y="1276725"/>
            <a:ext cx="32949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latin typeface="STKaiti"/>
                <a:ea typeface="STKaiti"/>
                <a:cs typeface="STKaiti"/>
                <a:sym typeface="STKaiti"/>
              </a:rPr>
              <a:t>停顿易失误的句子：</a:t>
            </a:r>
            <a:endParaRPr>
              <a:latin typeface="STKaiti"/>
              <a:ea typeface="STKaiti"/>
              <a:cs typeface="STKaiti"/>
              <a:sym typeface="STKaiti"/>
            </a:endParaRPr>
          </a:p>
          <a:p>
            <a:pPr indent="-311150" lvl="0" marL="457200" rtl="0" algn="l">
              <a:lnSpc>
                <a:spcPct val="200000"/>
              </a:lnSpc>
              <a:spcBef>
                <a:spcPts val="1200"/>
              </a:spcBef>
              <a:spcAft>
                <a:spcPts val="0"/>
              </a:spcAft>
              <a:buClr>
                <a:srgbClr val="000000"/>
              </a:buClr>
              <a:buSzPts val="1300"/>
              <a:buFont typeface="STKaiti"/>
              <a:buAutoNum type="arabicPeriod"/>
            </a:pPr>
            <a:r>
              <a:rPr lang="zh-CN" sz="1300">
                <a:solidFill>
                  <a:srgbClr val="000000"/>
                </a:solidFill>
                <a:latin typeface="STKaiti"/>
                <a:ea typeface="STKaiti"/>
                <a:cs typeface="STKaiti"/>
                <a:sym typeface="STKaiti"/>
              </a:rPr>
              <a:t>其母一枝梅，倡也。</a:t>
            </a:r>
            <a:endParaRPr sz="1300">
              <a:solidFill>
                <a:srgbClr val="000000"/>
              </a:solidFill>
              <a:latin typeface="STKaiti"/>
              <a:ea typeface="STKaiti"/>
              <a:cs typeface="STKaiti"/>
              <a:sym typeface="STKaiti"/>
            </a:endParaRPr>
          </a:p>
          <a:p>
            <a:pPr indent="-311150" lvl="0" marL="457200" rtl="0" algn="l">
              <a:lnSpc>
                <a:spcPct val="200000"/>
              </a:lnSpc>
              <a:spcBef>
                <a:spcPts val="0"/>
              </a:spcBef>
              <a:spcAft>
                <a:spcPts val="0"/>
              </a:spcAft>
              <a:buClr>
                <a:srgbClr val="000000"/>
              </a:buClr>
              <a:buSzPts val="1300"/>
              <a:buFont typeface="STKaiti"/>
              <a:buAutoNum type="arabicPeriod"/>
            </a:pPr>
            <a:r>
              <a:rPr lang="zh-CN" sz="1300">
                <a:solidFill>
                  <a:srgbClr val="000000"/>
                </a:solidFill>
                <a:latin typeface="STKaiti"/>
                <a:ea typeface="STKaiti"/>
                <a:cs typeface="STKaiti"/>
                <a:sym typeface="STKaiti"/>
              </a:rPr>
              <a:t>媪能宽我不脂泽，不荤肉，则可尔。</a:t>
            </a:r>
            <a:endParaRPr sz="1300">
              <a:solidFill>
                <a:srgbClr val="000000"/>
              </a:solidFill>
              <a:latin typeface="STKaiti"/>
              <a:ea typeface="STKaiti"/>
              <a:cs typeface="STKaiti"/>
              <a:sym typeface="STKaiti"/>
            </a:endParaRPr>
          </a:p>
          <a:p>
            <a:pPr indent="-311150" lvl="0" marL="457200" rtl="0" algn="l">
              <a:lnSpc>
                <a:spcPct val="200000"/>
              </a:lnSpc>
              <a:spcBef>
                <a:spcPts val="0"/>
              </a:spcBef>
              <a:spcAft>
                <a:spcPts val="0"/>
              </a:spcAft>
              <a:buClr>
                <a:srgbClr val="000000"/>
              </a:buClr>
              <a:buSzPts val="1300"/>
              <a:buFont typeface="STKaiti"/>
              <a:buAutoNum type="arabicPeriod"/>
            </a:pPr>
            <a:r>
              <a:rPr lang="zh-CN" sz="1300">
                <a:solidFill>
                  <a:srgbClr val="000000"/>
                </a:solidFill>
                <a:latin typeface="STKaiti"/>
                <a:ea typeface="STKaiti"/>
                <a:cs typeface="STKaiti"/>
                <a:sym typeface="STKaiti"/>
              </a:rPr>
              <a:t>李必询筵中无恶少年/乃行。</a:t>
            </a:r>
            <a:endParaRPr sz="1300">
              <a:solidFill>
                <a:srgbClr val="000000"/>
              </a:solidFill>
              <a:latin typeface="STKaiti"/>
              <a:ea typeface="STKaiti"/>
              <a:cs typeface="STKaiti"/>
              <a:sym typeface="STKaiti"/>
            </a:endParaRPr>
          </a:p>
          <a:p>
            <a:pPr indent="-311150" lvl="0" marL="457200" rtl="0" algn="l">
              <a:lnSpc>
                <a:spcPct val="200000"/>
              </a:lnSpc>
              <a:spcBef>
                <a:spcPts val="0"/>
              </a:spcBef>
              <a:spcAft>
                <a:spcPts val="0"/>
              </a:spcAft>
              <a:buClr>
                <a:srgbClr val="000000"/>
              </a:buClr>
              <a:buSzPts val="1300"/>
              <a:buFont typeface="STKaiti"/>
              <a:buAutoNum type="arabicPeriod"/>
            </a:pPr>
            <a:r>
              <a:rPr lang="zh-CN" sz="1300">
                <a:solidFill>
                  <a:srgbClr val="000000"/>
                </a:solidFill>
                <a:latin typeface="STKaiti"/>
                <a:ea typeface="STKaiti"/>
                <a:cs typeface="STKaiti"/>
                <a:sym typeface="STKaiti"/>
              </a:rPr>
              <a:t>汝纵不能而忍坏之耶？</a:t>
            </a:r>
            <a:endParaRPr sz="1300">
              <a:solidFill>
                <a:srgbClr val="000000"/>
              </a:solidFill>
              <a:latin typeface="STKaiti"/>
              <a:ea typeface="STKaiti"/>
              <a:cs typeface="STKaiti"/>
              <a:sym typeface="STKaiti"/>
            </a:endParaRPr>
          </a:p>
          <a:p>
            <a:pPr indent="-311150" lvl="0" marL="457200" rtl="0" algn="l">
              <a:lnSpc>
                <a:spcPct val="200000"/>
              </a:lnSpc>
              <a:spcBef>
                <a:spcPts val="0"/>
              </a:spcBef>
              <a:spcAft>
                <a:spcPts val="0"/>
              </a:spcAft>
              <a:buClr>
                <a:srgbClr val="000000"/>
              </a:buClr>
              <a:buSzPts val="1300"/>
              <a:buFont typeface="STKaiti"/>
              <a:buAutoNum type="arabicPeriod"/>
            </a:pPr>
            <a:r>
              <a:rPr lang="zh-CN" sz="1300">
                <a:solidFill>
                  <a:srgbClr val="000000"/>
                </a:solidFill>
                <a:latin typeface="STKaiti"/>
                <a:ea typeface="STKaiti"/>
                <a:cs typeface="STKaiti"/>
                <a:sym typeface="STKaiti"/>
              </a:rPr>
              <a:t>今冠裳其形而狗彘其行。</a:t>
            </a:r>
            <a:endParaRPr sz="1300">
              <a:solidFill>
                <a:srgbClr val="000000"/>
              </a:solidFill>
              <a:latin typeface="STKaiti"/>
              <a:ea typeface="STKaiti"/>
              <a:cs typeface="STKaiti"/>
              <a:sym typeface="STKaiti"/>
            </a:endParaRPr>
          </a:p>
          <a:p>
            <a:pPr indent="-311150" lvl="0" marL="457200" rtl="0" algn="l">
              <a:lnSpc>
                <a:spcPct val="200000"/>
              </a:lnSpc>
              <a:spcBef>
                <a:spcPts val="0"/>
              </a:spcBef>
              <a:spcAft>
                <a:spcPts val="0"/>
              </a:spcAft>
              <a:buClr>
                <a:srgbClr val="000000"/>
              </a:buClr>
              <a:buSzPts val="1300"/>
              <a:buFont typeface="STKaiti"/>
              <a:buAutoNum type="arabicPeriod"/>
            </a:pPr>
            <a:r>
              <a:rPr lang="zh-CN" sz="1300">
                <a:solidFill>
                  <a:srgbClr val="000000"/>
                </a:solidFill>
                <a:latin typeface="STKaiti"/>
                <a:ea typeface="STKaiti"/>
                <a:cs typeface="STKaiti"/>
                <a:sym typeface="STKaiti"/>
              </a:rPr>
              <a:t>倡犹能有是哉！</a:t>
            </a:r>
            <a:endParaRPr sz="2000">
              <a:latin typeface="STKaiti"/>
              <a:ea typeface="STKaiti"/>
              <a:cs typeface="STKaiti"/>
              <a:sym typeface="STKaiti"/>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153"/>
          <p:cNvSpPr txBox="1"/>
          <p:nvPr>
            <p:ph type="ctrTitle"/>
          </p:nvPr>
        </p:nvSpPr>
        <p:spPr>
          <a:xfrm>
            <a:off x="700700" y="392150"/>
            <a:ext cx="8131500" cy="2690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CN">
                <a:latin typeface="STKaiti"/>
                <a:ea typeface="STKaiti"/>
                <a:cs typeface="STKaiti"/>
                <a:sym typeface="STKaiti"/>
              </a:rPr>
              <a:t>目标二：读懂</a:t>
            </a:r>
            <a:endParaRPr>
              <a:latin typeface="STKaiti"/>
              <a:ea typeface="STKaiti"/>
              <a:cs typeface="STKaiti"/>
              <a:sym typeface="STKaiti"/>
            </a:endParaRPr>
          </a:p>
          <a:p>
            <a:pPr indent="0" lvl="0" marL="0" rtl="0" algn="l">
              <a:spcBef>
                <a:spcPts val="0"/>
              </a:spcBef>
              <a:spcAft>
                <a:spcPts val="0"/>
              </a:spcAft>
              <a:buNone/>
            </a:pPr>
            <a:r>
              <a:rPr lang="zh-CN">
                <a:latin typeface="STKaiti"/>
                <a:ea typeface="STKaiti"/>
                <a:cs typeface="STKaiti"/>
                <a:sym typeface="STKaiti"/>
              </a:rPr>
              <a:t>——字面意思</a:t>
            </a:r>
            <a:endParaRPr>
              <a:latin typeface="STKaiti"/>
              <a:ea typeface="STKaiti"/>
              <a:cs typeface="STKaiti"/>
              <a:sym typeface="STKaiti"/>
            </a:endParaRPr>
          </a:p>
        </p:txBody>
      </p:sp>
      <p:sp>
        <p:nvSpPr>
          <p:cNvPr id="1386" name="Google Shape;1386;p15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154"/>
          <p:cNvSpPr txBox="1"/>
          <p:nvPr>
            <p:ph type="title"/>
          </p:nvPr>
        </p:nvSpPr>
        <p:spPr>
          <a:xfrm>
            <a:off x="164000" y="292850"/>
            <a:ext cx="88332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latin typeface="STKaiti"/>
                <a:ea typeface="STKaiti"/>
                <a:cs typeface="STKaiti"/>
                <a:sym typeface="STKaiti"/>
              </a:rPr>
              <a:t>目标二：读懂字面意思（</a:t>
            </a:r>
            <a:r>
              <a:rPr lang="zh-CN">
                <a:solidFill>
                  <a:srgbClr val="FF0000"/>
                </a:solidFill>
                <a:latin typeface="STKaiti"/>
                <a:ea typeface="STKaiti"/>
                <a:cs typeface="STKaiti"/>
                <a:sym typeface="STKaiti"/>
              </a:rPr>
              <a:t>易误解的字词</a:t>
            </a:r>
            <a:r>
              <a:rPr lang="zh-CN">
                <a:latin typeface="STKaiti"/>
                <a:ea typeface="STKaiti"/>
                <a:cs typeface="STKaiti"/>
                <a:sym typeface="STKaiti"/>
              </a:rPr>
              <a:t>）</a:t>
            </a:r>
            <a:endParaRPr>
              <a:latin typeface="STKaiti"/>
              <a:ea typeface="STKaiti"/>
              <a:cs typeface="STKaiti"/>
              <a:sym typeface="STKaiti"/>
            </a:endParaRPr>
          </a:p>
        </p:txBody>
      </p:sp>
      <p:sp>
        <p:nvSpPr>
          <p:cNvPr id="1392" name="Google Shape;1392;p154"/>
          <p:cNvSpPr txBox="1"/>
          <p:nvPr>
            <p:ph idx="1" type="body"/>
          </p:nvPr>
        </p:nvSpPr>
        <p:spPr>
          <a:xfrm>
            <a:off x="723075" y="1228675"/>
            <a:ext cx="8109300" cy="3340200"/>
          </a:xfrm>
          <a:prstGeom prst="rect">
            <a:avLst/>
          </a:prstGeom>
        </p:spPr>
        <p:txBody>
          <a:bodyPr anchorCtr="0" anchor="t" bIns="91425" lIns="91425" spcFirstLastPara="1" rIns="91425" wrap="square" tIns="91425">
            <a:normAutofit/>
          </a:bodyPr>
          <a:lstStyle/>
          <a:p>
            <a:pPr indent="-374650" lvl="0" marL="457200" rtl="0" algn="l">
              <a:lnSpc>
                <a:spcPct val="150000"/>
              </a:lnSpc>
              <a:spcBef>
                <a:spcPts val="1200"/>
              </a:spcBef>
              <a:spcAft>
                <a:spcPts val="0"/>
              </a:spcAft>
              <a:buClr>
                <a:srgbClr val="000000"/>
              </a:buClr>
              <a:buSzPts val="2300"/>
              <a:buFont typeface="Arial"/>
              <a:buAutoNum type="arabicPeriod"/>
            </a:pPr>
            <a:r>
              <a:rPr b="1" lang="zh-CN" sz="2300">
                <a:solidFill>
                  <a:srgbClr val="000000"/>
                </a:solidFill>
                <a:latin typeface="STKaiti"/>
                <a:ea typeface="STKaiti"/>
                <a:cs typeface="STKaiti"/>
                <a:sym typeface="STKaiti"/>
              </a:rPr>
              <a:t>“不脂泽”的用法：</a:t>
            </a:r>
            <a:r>
              <a:rPr lang="zh-CN" sz="2300">
                <a:solidFill>
                  <a:srgbClr val="000000"/>
                </a:solidFill>
                <a:latin typeface="STKaiti"/>
                <a:ea typeface="STKaiti"/>
                <a:cs typeface="STKaiti"/>
                <a:sym typeface="STKaiti"/>
              </a:rPr>
              <a:t>“脂”和“泽”</a:t>
            </a:r>
            <a:endParaRPr sz="2300">
              <a:solidFill>
                <a:srgbClr val="000000"/>
              </a:solidFill>
              <a:latin typeface="STKaiti"/>
              <a:ea typeface="STKaiti"/>
              <a:cs typeface="STKaiti"/>
              <a:sym typeface="STKaiti"/>
            </a:endParaRPr>
          </a:p>
          <a:p>
            <a:pPr indent="-374650" lvl="0" marL="457200" rtl="0" algn="l">
              <a:lnSpc>
                <a:spcPct val="150000"/>
              </a:lnSpc>
              <a:spcBef>
                <a:spcPts val="0"/>
              </a:spcBef>
              <a:spcAft>
                <a:spcPts val="0"/>
              </a:spcAft>
              <a:buClr>
                <a:srgbClr val="000000"/>
              </a:buClr>
              <a:buSzPts val="2300"/>
              <a:buFont typeface="Arial"/>
              <a:buAutoNum type="arabicPeriod"/>
            </a:pPr>
            <a:r>
              <a:rPr b="1" lang="zh-CN" sz="2300">
                <a:solidFill>
                  <a:srgbClr val="000000"/>
                </a:solidFill>
                <a:latin typeface="STKaiti"/>
                <a:ea typeface="STKaiti"/>
                <a:cs typeface="STKaiti"/>
                <a:sym typeface="STKaiti"/>
              </a:rPr>
              <a:t>“望之宛若仙人”：</a:t>
            </a:r>
            <a:r>
              <a:rPr lang="zh-CN" sz="2300">
                <a:solidFill>
                  <a:srgbClr val="000000"/>
                </a:solidFill>
                <a:latin typeface="STKaiti"/>
                <a:ea typeface="STKaiti"/>
                <a:cs typeface="STKaiti"/>
                <a:sym typeface="STKaiti"/>
              </a:rPr>
              <a:t> “望之”，“之”</a:t>
            </a:r>
            <a:endParaRPr sz="2300">
              <a:solidFill>
                <a:srgbClr val="000000"/>
              </a:solidFill>
              <a:latin typeface="STKaiti"/>
              <a:ea typeface="STKaiti"/>
              <a:cs typeface="STKaiti"/>
              <a:sym typeface="STKaiti"/>
            </a:endParaRPr>
          </a:p>
          <a:p>
            <a:pPr indent="-374650" lvl="0" marL="457200" rtl="0" algn="l">
              <a:lnSpc>
                <a:spcPct val="150000"/>
              </a:lnSpc>
              <a:spcBef>
                <a:spcPts val="0"/>
              </a:spcBef>
              <a:spcAft>
                <a:spcPts val="0"/>
              </a:spcAft>
              <a:buClr>
                <a:srgbClr val="000000"/>
              </a:buClr>
              <a:buSzPts val="2300"/>
              <a:buFont typeface="Arial"/>
              <a:buAutoNum type="arabicPeriod"/>
            </a:pPr>
            <a:r>
              <a:rPr b="1" lang="zh-CN" sz="2300">
                <a:solidFill>
                  <a:srgbClr val="000000"/>
                </a:solidFill>
                <a:latin typeface="STKaiti"/>
                <a:ea typeface="STKaiti"/>
                <a:cs typeface="STKaiti"/>
                <a:sym typeface="STKaiti"/>
              </a:rPr>
              <a:t>“白金遗其母”：</a:t>
            </a:r>
            <a:r>
              <a:rPr lang="zh-CN" sz="2300">
                <a:solidFill>
                  <a:srgbClr val="000000"/>
                </a:solidFill>
                <a:latin typeface="STKaiti"/>
                <a:ea typeface="STKaiti"/>
                <a:cs typeface="STKaiti"/>
                <a:sym typeface="STKaiti"/>
              </a:rPr>
              <a:t>“遗（wèi）”</a:t>
            </a:r>
            <a:endParaRPr sz="2300">
              <a:solidFill>
                <a:srgbClr val="000000"/>
              </a:solidFill>
              <a:latin typeface="STKaiti"/>
              <a:ea typeface="STKaiti"/>
              <a:cs typeface="STKaiti"/>
              <a:sym typeface="STKaiti"/>
            </a:endParaRPr>
          </a:p>
          <a:p>
            <a:pPr indent="-374650" lvl="0" marL="457200" rtl="0" algn="l">
              <a:lnSpc>
                <a:spcPct val="150000"/>
              </a:lnSpc>
              <a:spcBef>
                <a:spcPts val="0"/>
              </a:spcBef>
              <a:spcAft>
                <a:spcPts val="0"/>
              </a:spcAft>
              <a:buClr>
                <a:srgbClr val="000000"/>
              </a:buClr>
              <a:buSzPts val="2300"/>
              <a:buFont typeface="Arial"/>
              <a:buAutoNum type="arabicPeriod"/>
            </a:pPr>
            <a:r>
              <a:rPr b="1" lang="zh-CN" sz="2300">
                <a:solidFill>
                  <a:srgbClr val="000000"/>
                </a:solidFill>
                <a:latin typeface="STKaiti"/>
                <a:ea typeface="STKaiti"/>
                <a:cs typeface="STKaiti"/>
                <a:sym typeface="STKaiti"/>
              </a:rPr>
              <a:t>“欲私之”：</a:t>
            </a:r>
            <a:r>
              <a:rPr lang="zh-CN" sz="2300">
                <a:solidFill>
                  <a:srgbClr val="000000"/>
                </a:solidFill>
                <a:latin typeface="STKaiti"/>
                <a:ea typeface="STKaiti"/>
                <a:cs typeface="STKaiti"/>
                <a:sym typeface="STKaiti"/>
              </a:rPr>
              <a:t> “私”</a:t>
            </a:r>
            <a:endParaRPr sz="2300">
              <a:solidFill>
                <a:srgbClr val="000000"/>
              </a:solidFill>
              <a:latin typeface="STKaiti"/>
              <a:ea typeface="STKaiti"/>
              <a:cs typeface="STKaiti"/>
              <a:sym typeface="STKaiti"/>
            </a:endParaRPr>
          </a:p>
          <a:p>
            <a:pPr indent="-374650" lvl="0" marL="457200" rtl="0" algn="l">
              <a:lnSpc>
                <a:spcPct val="150000"/>
              </a:lnSpc>
              <a:spcBef>
                <a:spcPts val="0"/>
              </a:spcBef>
              <a:spcAft>
                <a:spcPts val="0"/>
              </a:spcAft>
              <a:buClr>
                <a:srgbClr val="000000"/>
              </a:buClr>
              <a:buSzPts val="2300"/>
              <a:buFont typeface="Arial"/>
              <a:buAutoNum type="arabicPeriod"/>
            </a:pPr>
            <a:r>
              <a:rPr b="1" lang="zh-CN" sz="2300">
                <a:solidFill>
                  <a:srgbClr val="000000"/>
                </a:solidFill>
                <a:latin typeface="STKaiti"/>
                <a:ea typeface="STKaiti"/>
                <a:cs typeface="STKaiti"/>
                <a:sym typeface="STKaiti"/>
              </a:rPr>
              <a:t>“贼悦李有殊色”：</a:t>
            </a:r>
            <a:r>
              <a:rPr lang="zh-CN" sz="2300">
                <a:solidFill>
                  <a:srgbClr val="000000"/>
                </a:solidFill>
                <a:latin typeface="STKaiti"/>
                <a:ea typeface="STKaiti"/>
                <a:cs typeface="STKaiti"/>
                <a:sym typeface="STKaiti"/>
              </a:rPr>
              <a:t> “殊色”</a:t>
            </a:r>
            <a:endParaRPr sz="2300">
              <a:solidFill>
                <a:srgbClr val="000000"/>
              </a:solidFill>
              <a:latin typeface="STKaiti"/>
              <a:ea typeface="STKaiti"/>
              <a:cs typeface="STKaiti"/>
              <a:sym typeface="STKaiti"/>
            </a:endParaRPr>
          </a:p>
          <a:p>
            <a:pPr indent="-374650" lvl="0" marL="457200" rtl="0" algn="l">
              <a:lnSpc>
                <a:spcPct val="150000"/>
              </a:lnSpc>
              <a:spcBef>
                <a:spcPts val="0"/>
              </a:spcBef>
              <a:spcAft>
                <a:spcPts val="0"/>
              </a:spcAft>
              <a:buClr>
                <a:srgbClr val="000000"/>
              </a:buClr>
              <a:buSzPts val="2300"/>
              <a:buFont typeface="Arial"/>
              <a:buAutoNum type="arabicPeriod"/>
            </a:pPr>
            <a:r>
              <a:rPr b="1" lang="zh-CN" sz="2300">
                <a:solidFill>
                  <a:srgbClr val="000000"/>
                </a:solidFill>
                <a:latin typeface="STKaiti"/>
                <a:ea typeface="STKaiti"/>
                <a:cs typeface="STKaiti"/>
                <a:sym typeface="STKaiti"/>
              </a:rPr>
              <a:t>“欲杀其夫而妻之”：</a:t>
            </a:r>
            <a:r>
              <a:rPr lang="zh-CN" sz="2300">
                <a:solidFill>
                  <a:srgbClr val="000000"/>
                </a:solidFill>
                <a:latin typeface="STKaiti"/>
                <a:ea typeface="STKaiti"/>
                <a:cs typeface="STKaiti"/>
                <a:sym typeface="STKaiti"/>
              </a:rPr>
              <a:t> “妻”</a:t>
            </a:r>
            <a:endParaRPr sz="3000">
              <a:latin typeface="STKaiti"/>
              <a:ea typeface="STKaiti"/>
              <a:cs typeface="STKaiti"/>
              <a:sym typeface="STKaiti"/>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155"/>
          <p:cNvSpPr txBox="1"/>
          <p:nvPr>
            <p:ph type="title"/>
          </p:nvPr>
        </p:nvSpPr>
        <p:spPr>
          <a:xfrm>
            <a:off x="164000" y="292850"/>
            <a:ext cx="88332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latin typeface="STKaiti"/>
                <a:ea typeface="STKaiti"/>
                <a:cs typeface="STKaiti"/>
                <a:sym typeface="STKaiti"/>
              </a:rPr>
              <a:t>目标二：读懂字面意思（</a:t>
            </a:r>
            <a:r>
              <a:rPr lang="zh-CN">
                <a:solidFill>
                  <a:srgbClr val="FF0000"/>
                </a:solidFill>
                <a:latin typeface="STKaiti"/>
                <a:ea typeface="STKaiti"/>
                <a:cs typeface="STKaiti"/>
                <a:sym typeface="STKaiti"/>
              </a:rPr>
              <a:t>易误解的字词</a:t>
            </a:r>
            <a:r>
              <a:rPr lang="zh-CN">
                <a:latin typeface="STKaiti"/>
                <a:ea typeface="STKaiti"/>
                <a:cs typeface="STKaiti"/>
                <a:sym typeface="STKaiti"/>
              </a:rPr>
              <a:t>）</a:t>
            </a:r>
            <a:endParaRPr>
              <a:latin typeface="STKaiti"/>
              <a:ea typeface="STKaiti"/>
              <a:cs typeface="STKaiti"/>
              <a:sym typeface="STKaiti"/>
            </a:endParaRPr>
          </a:p>
        </p:txBody>
      </p:sp>
      <p:sp>
        <p:nvSpPr>
          <p:cNvPr id="1398" name="Google Shape;1398;p155"/>
          <p:cNvSpPr txBox="1"/>
          <p:nvPr>
            <p:ph idx="1" type="body"/>
          </p:nvPr>
        </p:nvSpPr>
        <p:spPr>
          <a:xfrm>
            <a:off x="723075" y="1228675"/>
            <a:ext cx="8109300" cy="3340200"/>
          </a:xfrm>
          <a:prstGeom prst="rect">
            <a:avLst/>
          </a:prstGeom>
        </p:spPr>
        <p:txBody>
          <a:bodyPr anchorCtr="0" anchor="t" bIns="91425" lIns="91425" spcFirstLastPara="1" rIns="91425" wrap="square" tIns="91425">
            <a:normAutofit/>
          </a:bodyPr>
          <a:lstStyle/>
          <a:p>
            <a:pPr indent="-355600" lvl="0" marL="457200" rtl="0" algn="l">
              <a:spcBef>
                <a:spcPts val="1200"/>
              </a:spcBef>
              <a:spcAft>
                <a:spcPts val="0"/>
              </a:spcAft>
              <a:buClr>
                <a:srgbClr val="0000FF"/>
              </a:buClr>
              <a:buSzPts val="2000"/>
              <a:buFont typeface="Arial"/>
              <a:buAutoNum type="arabicPeriod"/>
            </a:pPr>
            <a:r>
              <a:rPr b="1" lang="zh-CN" sz="2000">
                <a:solidFill>
                  <a:srgbClr val="0000FF"/>
                </a:solidFill>
                <a:latin typeface="STKaiti"/>
                <a:ea typeface="STKaiti"/>
                <a:cs typeface="STKaiti"/>
                <a:sym typeface="STKaiti"/>
              </a:rPr>
              <a:t>“不脂泽”的用法：</a:t>
            </a:r>
            <a:r>
              <a:rPr lang="zh-CN" sz="2000">
                <a:solidFill>
                  <a:srgbClr val="0000FF"/>
                </a:solidFill>
                <a:latin typeface="STKaiti"/>
                <a:ea typeface="STKaiti"/>
                <a:cs typeface="STKaiti"/>
                <a:sym typeface="STKaiti"/>
              </a:rPr>
              <a:t> 这里“脂”和“泽”都是名词用作动词，指涂抹胭脂和润发油。</a:t>
            </a:r>
            <a:endParaRPr sz="2000">
              <a:solidFill>
                <a:srgbClr val="0000FF"/>
              </a:solidFill>
              <a:latin typeface="STKaiti"/>
              <a:ea typeface="STKaiti"/>
              <a:cs typeface="STKaiti"/>
              <a:sym typeface="STKaiti"/>
            </a:endParaRPr>
          </a:p>
          <a:p>
            <a:pPr indent="-355600" lvl="0" marL="457200" rtl="0" algn="l">
              <a:spcBef>
                <a:spcPts val="0"/>
              </a:spcBef>
              <a:spcAft>
                <a:spcPts val="0"/>
              </a:spcAft>
              <a:buClr>
                <a:srgbClr val="0000FF"/>
              </a:buClr>
              <a:buSzPts val="2000"/>
              <a:buFont typeface="Arial"/>
              <a:buAutoNum type="arabicPeriod"/>
            </a:pPr>
            <a:r>
              <a:rPr b="1" lang="zh-CN" sz="2000">
                <a:solidFill>
                  <a:srgbClr val="0000FF"/>
                </a:solidFill>
                <a:latin typeface="STKaiti"/>
                <a:ea typeface="STKaiti"/>
                <a:cs typeface="STKaiti"/>
                <a:sym typeface="STKaiti"/>
              </a:rPr>
              <a:t>“望之宛若仙人”：</a:t>
            </a:r>
            <a:r>
              <a:rPr lang="zh-CN" sz="2000">
                <a:solidFill>
                  <a:srgbClr val="0000FF"/>
                </a:solidFill>
                <a:latin typeface="STKaiti"/>
                <a:ea typeface="STKaiti"/>
                <a:cs typeface="STKaiti"/>
                <a:sym typeface="STKaiti"/>
              </a:rPr>
              <a:t> “望之”是“看她”的意思，“之”作代词。</a:t>
            </a:r>
            <a:endParaRPr sz="2000">
              <a:solidFill>
                <a:srgbClr val="0000FF"/>
              </a:solidFill>
              <a:latin typeface="STKaiti"/>
              <a:ea typeface="STKaiti"/>
              <a:cs typeface="STKaiti"/>
              <a:sym typeface="STKaiti"/>
            </a:endParaRPr>
          </a:p>
          <a:p>
            <a:pPr indent="-355600" lvl="0" marL="457200" rtl="0" algn="l">
              <a:spcBef>
                <a:spcPts val="0"/>
              </a:spcBef>
              <a:spcAft>
                <a:spcPts val="0"/>
              </a:spcAft>
              <a:buClr>
                <a:srgbClr val="0000FF"/>
              </a:buClr>
              <a:buSzPts val="2000"/>
              <a:buFont typeface="Arial"/>
              <a:buAutoNum type="arabicPeriod"/>
            </a:pPr>
            <a:r>
              <a:rPr b="1" lang="zh-CN" sz="2000">
                <a:solidFill>
                  <a:srgbClr val="0000FF"/>
                </a:solidFill>
                <a:latin typeface="STKaiti"/>
                <a:ea typeface="STKaiti"/>
                <a:cs typeface="STKaiti"/>
                <a:sym typeface="STKaiti"/>
              </a:rPr>
              <a:t>“白金遗其母”：</a:t>
            </a:r>
            <a:r>
              <a:rPr lang="zh-CN" sz="2000">
                <a:solidFill>
                  <a:srgbClr val="0000FF"/>
                </a:solidFill>
                <a:latin typeface="STKaiti"/>
                <a:ea typeface="STKaiti"/>
                <a:cs typeface="STKaiti"/>
                <a:sym typeface="STKaiti"/>
              </a:rPr>
              <a:t> 这里的“遗（wèi）”是赠送的意思，不是丢失。</a:t>
            </a:r>
            <a:endParaRPr sz="2000">
              <a:solidFill>
                <a:srgbClr val="0000FF"/>
              </a:solidFill>
              <a:latin typeface="STKaiti"/>
              <a:ea typeface="STKaiti"/>
              <a:cs typeface="STKaiti"/>
              <a:sym typeface="STKaiti"/>
            </a:endParaRPr>
          </a:p>
          <a:p>
            <a:pPr indent="-355600" lvl="0" marL="457200" rtl="0" algn="l">
              <a:spcBef>
                <a:spcPts val="0"/>
              </a:spcBef>
              <a:spcAft>
                <a:spcPts val="0"/>
              </a:spcAft>
              <a:buClr>
                <a:srgbClr val="0000FF"/>
              </a:buClr>
              <a:buSzPts val="2000"/>
              <a:buFont typeface="Arial"/>
              <a:buAutoNum type="arabicPeriod"/>
            </a:pPr>
            <a:r>
              <a:rPr b="1" lang="zh-CN" sz="2000">
                <a:solidFill>
                  <a:srgbClr val="0000FF"/>
                </a:solidFill>
                <a:latin typeface="STKaiti"/>
                <a:ea typeface="STKaiti"/>
                <a:cs typeface="STKaiti"/>
                <a:sym typeface="STKaiti"/>
              </a:rPr>
              <a:t>“欲私之”：</a:t>
            </a:r>
            <a:r>
              <a:rPr lang="zh-CN" sz="2000">
                <a:solidFill>
                  <a:srgbClr val="0000FF"/>
                </a:solidFill>
                <a:latin typeface="STKaiti"/>
                <a:ea typeface="STKaiti"/>
                <a:cs typeface="STKaiti"/>
                <a:sym typeface="STKaiti"/>
              </a:rPr>
              <a:t> “私”在这里是动词，指私下占有（纳为妾室）。</a:t>
            </a:r>
            <a:endParaRPr sz="2000">
              <a:solidFill>
                <a:srgbClr val="0000FF"/>
              </a:solidFill>
              <a:latin typeface="STKaiti"/>
              <a:ea typeface="STKaiti"/>
              <a:cs typeface="STKaiti"/>
              <a:sym typeface="STKaiti"/>
            </a:endParaRPr>
          </a:p>
          <a:p>
            <a:pPr indent="-355600" lvl="0" marL="457200" rtl="0" algn="l">
              <a:spcBef>
                <a:spcPts val="0"/>
              </a:spcBef>
              <a:spcAft>
                <a:spcPts val="0"/>
              </a:spcAft>
              <a:buClr>
                <a:srgbClr val="0000FF"/>
              </a:buClr>
              <a:buSzPts val="2000"/>
              <a:buFont typeface="Arial"/>
              <a:buAutoNum type="arabicPeriod"/>
            </a:pPr>
            <a:r>
              <a:rPr b="1" lang="zh-CN" sz="2000">
                <a:solidFill>
                  <a:srgbClr val="0000FF"/>
                </a:solidFill>
                <a:latin typeface="STKaiti"/>
                <a:ea typeface="STKaiti"/>
                <a:cs typeface="STKaiti"/>
                <a:sym typeface="STKaiti"/>
              </a:rPr>
              <a:t>“贼悦李有殊色”：</a:t>
            </a:r>
            <a:r>
              <a:rPr lang="zh-CN" sz="2000">
                <a:solidFill>
                  <a:srgbClr val="0000FF"/>
                </a:solidFill>
                <a:latin typeface="STKaiti"/>
                <a:ea typeface="STKaiti"/>
                <a:cs typeface="STKaiti"/>
                <a:sym typeface="STKaiti"/>
              </a:rPr>
              <a:t> “殊色”指绝美的容貌。</a:t>
            </a:r>
            <a:endParaRPr sz="2000">
              <a:solidFill>
                <a:srgbClr val="0000FF"/>
              </a:solidFill>
              <a:latin typeface="STKaiti"/>
              <a:ea typeface="STKaiti"/>
              <a:cs typeface="STKaiti"/>
              <a:sym typeface="STKaiti"/>
            </a:endParaRPr>
          </a:p>
          <a:p>
            <a:pPr indent="-355600" lvl="0" marL="457200" rtl="0" algn="l">
              <a:spcBef>
                <a:spcPts val="0"/>
              </a:spcBef>
              <a:spcAft>
                <a:spcPts val="0"/>
              </a:spcAft>
              <a:buClr>
                <a:srgbClr val="0000FF"/>
              </a:buClr>
              <a:buSzPts val="2000"/>
              <a:buFont typeface="Arial"/>
              <a:buAutoNum type="arabicPeriod"/>
            </a:pPr>
            <a:r>
              <a:rPr b="1" lang="zh-CN" sz="2000">
                <a:solidFill>
                  <a:srgbClr val="0000FF"/>
                </a:solidFill>
                <a:latin typeface="STKaiti"/>
                <a:ea typeface="STKaiti"/>
                <a:cs typeface="STKaiti"/>
                <a:sym typeface="STKaiti"/>
              </a:rPr>
              <a:t>“欲杀其夫而妻之”：</a:t>
            </a:r>
            <a:r>
              <a:rPr lang="zh-CN" sz="2000">
                <a:solidFill>
                  <a:srgbClr val="0000FF"/>
                </a:solidFill>
                <a:latin typeface="STKaiti"/>
                <a:ea typeface="STKaiti"/>
                <a:cs typeface="STKaiti"/>
                <a:sym typeface="STKaiti"/>
              </a:rPr>
              <a:t> “妻”是名词用作动词，以……为妻。</a:t>
            </a:r>
            <a:endParaRPr sz="2700">
              <a:solidFill>
                <a:srgbClr val="0000FF"/>
              </a:solidFill>
              <a:latin typeface="STKaiti"/>
              <a:ea typeface="STKaiti"/>
              <a:cs typeface="STKaiti"/>
              <a:sym typeface="STKaiti"/>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156"/>
          <p:cNvSpPr txBox="1"/>
          <p:nvPr>
            <p:ph type="ctrTitle"/>
          </p:nvPr>
        </p:nvSpPr>
        <p:spPr>
          <a:xfrm>
            <a:off x="700700" y="392150"/>
            <a:ext cx="8131500" cy="2690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zh-CN">
                <a:latin typeface="STKaiti"/>
                <a:ea typeface="STKaiti"/>
                <a:cs typeface="STKaiti"/>
                <a:sym typeface="STKaiti"/>
              </a:rPr>
              <a:t>目标三：读懂</a:t>
            </a:r>
            <a:endParaRPr>
              <a:latin typeface="STKaiti"/>
              <a:ea typeface="STKaiti"/>
              <a:cs typeface="STKaiti"/>
              <a:sym typeface="STKaiti"/>
            </a:endParaRPr>
          </a:p>
          <a:p>
            <a:pPr indent="0" lvl="0" marL="0" rtl="0" algn="l">
              <a:spcBef>
                <a:spcPts val="0"/>
              </a:spcBef>
              <a:spcAft>
                <a:spcPts val="0"/>
              </a:spcAft>
              <a:buNone/>
            </a:pPr>
            <a:r>
              <a:rPr lang="zh-CN">
                <a:latin typeface="STKaiti"/>
                <a:ea typeface="STKaiti"/>
                <a:cs typeface="STKaiti"/>
                <a:sym typeface="STKaiti"/>
              </a:rPr>
              <a:t>——归纳总结</a:t>
            </a:r>
            <a:endParaRPr>
              <a:latin typeface="STKaiti"/>
              <a:ea typeface="STKaiti"/>
              <a:cs typeface="STKaiti"/>
              <a:sym typeface="STKaiti"/>
            </a:endParaRPr>
          </a:p>
        </p:txBody>
      </p:sp>
      <p:sp>
        <p:nvSpPr>
          <p:cNvPr id="1404" name="Google Shape;1404;p156"/>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157"/>
          <p:cNvSpPr txBox="1"/>
          <p:nvPr>
            <p:ph type="title"/>
          </p:nvPr>
        </p:nvSpPr>
        <p:spPr>
          <a:xfrm>
            <a:off x="164000" y="292850"/>
            <a:ext cx="89799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zh-CN" sz="3680">
                <a:latin typeface="STKaiti"/>
                <a:ea typeface="STKaiti"/>
                <a:cs typeface="STKaiti"/>
                <a:sym typeface="STKaiti"/>
              </a:rPr>
              <a:t>目标三：读懂/归纳总结（</a:t>
            </a:r>
            <a:r>
              <a:rPr lang="zh-CN" sz="3680">
                <a:solidFill>
                  <a:srgbClr val="FF0000"/>
                </a:solidFill>
                <a:latin typeface="STKaiti"/>
                <a:ea typeface="STKaiti"/>
                <a:cs typeface="STKaiti"/>
                <a:sym typeface="STKaiti"/>
              </a:rPr>
              <a:t>重复出现的词</a:t>
            </a:r>
            <a:r>
              <a:rPr lang="zh-CN" sz="3680">
                <a:latin typeface="STKaiti"/>
                <a:ea typeface="STKaiti"/>
                <a:cs typeface="STKaiti"/>
                <a:sym typeface="STKaiti"/>
              </a:rPr>
              <a:t>）</a:t>
            </a:r>
            <a:endParaRPr sz="3680">
              <a:latin typeface="STKaiti"/>
              <a:ea typeface="STKaiti"/>
              <a:cs typeface="STKaiti"/>
              <a:sym typeface="STKaiti"/>
            </a:endParaRPr>
          </a:p>
        </p:txBody>
      </p:sp>
      <p:sp>
        <p:nvSpPr>
          <p:cNvPr id="1410" name="Google Shape;1410;p157"/>
          <p:cNvSpPr txBox="1"/>
          <p:nvPr>
            <p:ph idx="1" type="body"/>
          </p:nvPr>
        </p:nvSpPr>
        <p:spPr>
          <a:xfrm>
            <a:off x="723075" y="1228675"/>
            <a:ext cx="8109300" cy="3340200"/>
          </a:xfrm>
          <a:prstGeom prst="rect">
            <a:avLst/>
          </a:prstGeom>
        </p:spPr>
        <p:txBody>
          <a:bodyPr anchorCtr="0" anchor="t" bIns="91425" lIns="91425" spcFirstLastPara="1" rIns="91425" wrap="square" tIns="91425">
            <a:normAutofit/>
          </a:bodyPr>
          <a:lstStyle/>
          <a:p>
            <a:pPr indent="-374650" lvl="0" marL="457200" rtl="0" algn="l">
              <a:lnSpc>
                <a:spcPct val="150000"/>
              </a:lnSpc>
              <a:spcBef>
                <a:spcPts val="1200"/>
              </a:spcBef>
              <a:spcAft>
                <a:spcPts val="0"/>
              </a:spcAft>
              <a:buClr>
                <a:srgbClr val="000000"/>
              </a:buClr>
              <a:buSzPts val="2300"/>
              <a:buFont typeface="Arial"/>
              <a:buAutoNum type="arabicPeriod"/>
            </a:pPr>
            <a:r>
              <a:rPr b="1" lang="zh-CN" sz="2300">
                <a:solidFill>
                  <a:srgbClr val="000000"/>
                </a:solidFill>
                <a:latin typeface="STKaiti"/>
                <a:ea typeface="STKaiti"/>
                <a:cs typeface="STKaiti"/>
                <a:sym typeface="STKaiti"/>
              </a:rPr>
              <a:t>行</a:t>
            </a:r>
            <a:endParaRPr b="1" sz="2300">
              <a:solidFill>
                <a:srgbClr val="000000"/>
              </a:solidFill>
              <a:latin typeface="STKaiti"/>
              <a:ea typeface="STKaiti"/>
              <a:cs typeface="STKaiti"/>
              <a:sym typeface="STKaiti"/>
            </a:endParaRPr>
          </a:p>
          <a:p>
            <a:pPr indent="-374650" lvl="0" marL="457200" rtl="0" algn="l">
              <a:lnSpc>
                <a:spcPct val="150000"/>
              </a:lnSpc>
              <a:spcBef>
                <a:spcPts val="0"/>
              </a:spcBef>
              <a:spcAft>
                <a:spcPts val="0"/>
              </a:spcAft>
              <a:buClr>
                <a:srgbClr val="000000"/>
              </a:buClr>
              <a:buSzPts val="2300"/>
              <a:buFont typeface="STKaiti"/>
              <a:buAutoNum type="arabicPeriod"/>
            </a:pPr>
            <a:r>
              <a:rPr b="1" lang="zh-CN" sz="2300">
                <a:solidFill>
                  <a:srgbClr val="000000"/>
                </a:solidFill>
                <a:latin typeface="STKaiti"/>
                <a:ea typeface="STKaiti"/>
                <a:cs typeface="STKaiti"/>
                <a:sym typeface="STKaiti"/>
              </a:rPr>
              <a:t>之</a:t>
            </a:r>
            <a:endParaRPr b="1" sz="2300">
              <a:solidFill>
                <a:srgbClr val="000000"/>
              </a:solidFill>
              <a:latin typeface="STKaiti"/>
              <a:ea typeface="STKaiti"/>
              <a:cs typeface="STKaiti"/>
              <a:sym typeface="STKaiti"/>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58"/>
          <p:cNvSpPr txBox="1"/>
          <p:nvPr>
            <p:ph type="title"/>
          </p:nvPr>
        </p:nvSpPr>
        <p:spPr>
          <a:xfrm>
            <a:off x="164000" y="292850"/>
            <a:ext cx="89799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zh-CN" sz="3680">
                <a:latin typeface="STKaiti"/>
                <a:ea typeface="STKaiti"/>
                <a:cs typeface="STKaiti"/>
                <a:sym typeface="STKaiti"/>
              </a:rPr>
              <a:t>目标三：读懂/归纳总结（</a:t>
            </a:r>
            <a:r>
              <a:rPr lang="zh-CN" sz="3680">
                <a:solidFill>
                  <a:srgbClr val="FF0000"/>
                </a:solidFill>
                <a:latin typeface="STKaiti"/>
                <a:ea typeface="STKaiti"/>
                <a:cs typeface="STKaiti"/>
                <a:sym typeface="STKaiti"/>
              </a:rPr>
              <a:t>重复出现的词</a:t>
            </a:r>
            <a:r>
              <a:rPr lang="zh-CN" sz="3680">
                <a:latin typeface="STKaiti"/>
                <a:ea typeface="STKaiti"/>
                <a:cs typeface="STKaiti"/>
                <a:sym typeface="STKaiti"/>
              </a:rPr>
              <a:t>）</a:t>
            </a:r>
            <a:endParaRPr sz="3680">
              <a:latin typeface="STKaiti"/>
              <a:ea typeface="STKaiti"/>
              <a:cs typeface="STKaiti"/>
              <a:sym typeface="STKaiti"/>
            </a:endParaRPr>
          </a:p>
        </p:txBody>
      </p:sp>
      <p:sp>
        <p:nvSpPr>
          <p:cNvPr id="1416" name="Google Shape;1416;p158"/>
          <p:cNvSpPr txBox="1"/>
          <p:nvPr>
            <p:ph idx="1" type="body"/>
          </p:nvPr>
        </p:nvSpPr>
        <p:spPr>
          <a:xfrm>
            <a:off x="723075" y="1228675"/>
            <a:ext cx="8109300" cy="37062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zh-CN" sz="1500">
                <a:solidFill>
                  <a:srgbClr val="0000FF"/>
                </a:solidFill>
                <a:latin typeface="STKaiti"/>
                <a:ea typeface="STKaiti"/>
                <a:cs typeface="STKaiti"/>
                <a:sym typeface="STKaiti"/>
              </a:rPr>
              <a:t>行：</a:t>
            </a:r>
            <a:endParaRPr b="1" sz="1500">
              <a:solidFill>
                <a:srgbClr val="0000FF"/>
              </a:solidFill>
              <a:latin typeface="STKaiti"/>
              <a:ea typeface="STKaiti"/>
              <a:cs typeface="STKaiti"/>
              <a:sym typeface="STKaiti"/>
            </a:endParaRPr>
          </a:p>
          <a:p>
            <a:pPr indent="-323850" lvl="0" marL="457200" rtl="0" algn="l">
              <a:spcBef>
                <a:spcPts val="1200"/>
              </a:spcBef>
              <a:spcAft>
                <a:spcPts val="0"/>
              </a:spcAft>
              <a:buClr>
                <a:srgbClr val="0000FF"/>
              </a:buClr>
              <a:buSzPts val="1500"/>
              <a:buFont typeface="Arial"/>
              <a:buChar char="●"/>
            </a:pPr>
            <a:r>
              <a:rPr lang="zh-CN" sz="1500">
                <a:solidFill>
                  <a:srgbClr val="0000FF"/>
                </a:solidFill>
                <a:latin typeface="STKaiti"/>
                <a:ea typeface="STKaiti"/>
                <a:cs typeface="STKaiti"/>
                <a:sym typeface="STKaiti"/>
              </a:rPr>
              <a:t>“筵中无恶少年乃</a:t>
            </a:r>
            <a:r>
              <a:rPr b="1" lang="zh-CN" sz="1500">
                <a:solidFill>
                  <a:srgbClr val="0000FF"/>
                </a:solidFill>
                <a:latin typeface="STKaiti"/>
                <a:ea typeface="STKaiti"/>
                <a:cs typeface="STKaiti"/>
                <a:sym typeface="STKaiti"/>
              </a:rPr>
              <a:t>行</a:t>
            </a:r>
            <a:r>
              <a:rPr lang="zh-CN" sz="1500">
                <a:solidFill>
                  <a:srgbClr val="0000FF"/>
                </a:solidFill>
                <a:latin typeface="STKaiti"/>
                <a:ea typeface="STKaiti"/>
                <a:cs typeface="STKaiti"/>
                <a:sym typeface="STKaiti"/>
              </a:rPr>
              <a:t>”（走、出发）</a:t>
            </a:r>
            <a:endParaRPr sz="1500">
              <a:solidFill>
                <a:srgbClr val="0000FF"/>
              </a:solidFill>
              <a:latin typeface="STKaiti"/>
              <a:ea typeface="STKaiti"/>
              <a:cs typeface="STKaiti"/>
              <a:sym typeface="STKaiti"/>
            </a:endParaRPr>
          </a:p>
          <a:p>
            <a:pPr indent="-323850" lvl="0" marL="457200" rtl="0" algn="l">
              <a:spcBef>
                <a:spcPts val="0"/>
              </a:spcBef>
              <a:spcAft>
                <a:spcPts val="0"/>
              </a:spcAft>
              <a:buClr>
                <a:srgbClr val="0000FF"/>
              </a:buClr>
              <a:buSzPts val="1500"/>
              <a:buFont typeface="Arial"/>
              <a:buChar char="●"/>
            </a:pPr>
            <a:r>
              <a:rPr lang="zh-CN" sz="1500">
                <a:solidFill>
                  <a:srgbClr val="0000FF"/>
                </a:solidFill>
                <a:latin typeface="STKaiti"/>
                <a:ea typeface="STKaiti"/>
                <a:cs typeface="STKaiti"/>
                <a:sym typeface="STKaiti"/>
              </a:rPr>
              <a:t>“人亦熟李</a:t>
            </a:r>
            <a:r>
              <a:rPr b="1" lang="zh-CN" sz="1500">
                <a:solidFill>
                  <a:srgbClr val="0000FF"/>
                </a:solidFill>
                <a:latin typeface="STKaiti"/>
                <a:ea typeface="STKaiti"/>
                <a:cs typeface="STKaiti"/>
                <a:sym typeface="STKaiti"/>
              </a:rPr>
              <a:t>行</a:t>
            </a:r>
            <a:r>
              <a:rPr lang="zh-CN" sz="1500">
                <a:solidFill>
                  <a:srgbClr val="0000FF"/>
                </a:solidFill>
                <a:latin typeface="STKaiti"/>
                <a:ea typeface="STKaiti"/>
                <a:cs typeface="STKaiti"/>
                <a:sym typeface="STKaiti"/>
              </a:rPr>
              <a:t>”（行为、操守）</a:t>
            </a:r>
            <a:endParaRPr sz="1500">
              <a:solidFill>
                <a:srgbClr val="0000FF"/>
              </a:solidFill>
              <a:latin typeface="STKaiti"/>
              <a:ea typeface="STKaiti"/>
              <a:cs typeface="STKaiti"/>
              <a:sym typeface="STKaiti"/>
            </a:endParaRPr>
          </a:p>
          <a:p>
            <a:pPr indent="-323850" lvl="0" marL="457200" rtl="0" algn="l">
              <a:spcBef>
                <a:spcPts val="0"/>
              </a:spcBef>
              <a:spcAft>
                <a:spcPts val="0"/>
              </a:spcAft>
              <a:buClr>
                <a:srgbClr val="0000FF"/>
              </a:buClr>
              <a:buSzPts val="1500"/>
              <a:buFont typeface="Arial"/>
              <a:buChar char="●"/>
            </a:pPr>
            <a:r>
              <a:rPr lang="zh-CN" sz="1500">
                <a:solidFill>
                  <a:srgbClr val="0000FF"/>
                </a:solidFill>
                <a:latin typeface="STKaiti"/>
                <a:ea typeface="STKaiti"/>
                <a:cs typeface="STKaiti"/>
                <a:sym typeface="STKaiti"/>
              </a:rPr>
              <a:t>“狗彘其</a:t>
            </a:r>
            <a:r>
              <a:rPr b="1" lang="zh-CN" sz="1500">
                <a:solidFill>
                  <a:srgbClr val="0000FF"/>
                </a:solidFill>
                <a:latin typeface="STKaiti"/>
                <a:ea typeface="STKaiti"/>
                <a:cs typeface="STKaiti"/>
                <a:sym typeface="STKaiti"/>
              </a:rPr>
              <a:t>行</a:t>
            </a:r>
            <a:r>
              <a:rPr lang="zh-CN" sz="1500">
                <a:solidFill>
                  <a:srgbClr val="0000FF"/>
                </a:solidFill>
                <a:latin typeface="STKaiti"/>
                <a:ea typeface="STKaiti"/>
                <a:cs typeface="STKaiti"/>
                <a:sym typeface="STKaiti"/>
              </a:rPr>
              <a:t>”（行为）</a:t>
            </a:r>
            <a:endParaRPr sz="1500">
              <a:solidFill>
                <a:srgbClr val="0000FF"/>
              </a:solidFill>
              <a:latin typeface="STKaiti"/>
              <a:ea typeface="STKaiti"/>
              <a:cs typeface="STKaiti"/>
              <a:sym typeface="STKaiti"/>
            </a:endParaRPr>
          </a:p>
          <a:p>
            <a:pPr indent="0" lvl="0" marL="0" rtl="0" algn="l">
              <a:spcBef>
                <a:spcPts val="1200"/>
              </a:spcBef>
              <a:spcAft>
                <a:spcPts val="0"/>
              </a:spcAft>
              <a:buNone/>
            </a:pPr>
            <a:r>
              <a:rPr b="1" lang="zh-CN" sz="1500">
                <a:solidFill>
                  <a:srgbClr val="0000FF"/>
                </a:solidFill>
                <a:latin typeface="STKaiti"/>
                <a:ea typeface="STKaiti"/>
                <a:cs typeface="STKaiti"/>
                <a:sym typeface="STKaiti"/>
              </a:rPr>
              <a:t>之：</a:t>
            </a:r>
            <a:endParaRPr b="1" sz="1500">
              <a:solidFill>
                <a:srgbClr val="0000FF"/>
              </a:solidFill>
              <a:latin typeface="STKaiti"/>
              <a:ea typeface="STKaiti"/>
              <a:cs typeface="STKaiti"/>
              <a:sym typeface="STKaiti"/>
            </a:endParaRPr>
          </a:p>
          <a:p>
            <a:pPr indent="-323850" lvl="0" marL="457200" rtl="0" algn="l">
              <a:spcBef>
                <a:spcPts val="1200"/>
              </a:spcBef>
              <a:spcAft>
                <a:spcPts val="0"/>
              </a:spcAft>
              <a:buClr>
                <a:srgbClr val="0000FF"/>
              </a:buClr>
              <a:buSzPts val="1500"/>
              <a:buFont typeface="Arial"/>
              <a:buChar char="●"/>
            </a:pPr>
            <a:r>
              <a:rPr lang="zh-CN" sz="1500">
                <a:solidFill>
                  <a:srgbClr val="0000FF"/>
                </a:solidFill>
                <a:latin typeface="STKaiti"/>
                <a:ea typeface="STKaiti"/>
                <a:cs typeface="STKaiti"/>
                <a:sym typeface="STKaiti"/>
              </a:rPr>
              <a:t>“母教</a:t>
            </a:r>
            <a:r>
              <a:rPr b="1" lang="zh-CN" sz="1500">
                <a:solidFill>
                  <a:srgbClr val="0000FF"/>
                </a:solidFill>
                <a:latin typeface="STKaiti"/>
                <a:ea typeface="STKaiti"/>
                <a:cs typeface="STKaiti"/>
                <a:sym typeface="STKaiti"/>
              </a:rPr>
              <a:t>之</a:t>
            </a:r>
            <a:r>
              <a:rPr lang="zh-CN" sz="1500">
                <a:solidFill>
                  <a:srgbClr val="0000FF"/>
                </a:solidFill>
                <a:latin typeface="STKaiti"/>
                <a:ea typeface="STKaiti"/>
                <a:cs typeface="STKaiti"/>
                <a:sym typeface="STKaiti"/>
              </a:rPr>
              <a:t>歌舞”（代词，指李歌）</a:t>
            </a:r>
            <a:endParaRPr sz="1500">
              <a:solidFill>
                <a:srgbClr val="0000FF"/>
              </a:solidFill>
              <a:latin typeface="STKaiti"/>
              <a:ea typeface="STKaiti"/>
              <a:cs typeface="STKaiti"/>
              <a:sym typeface="STKaiti"/>
            </a:endParaRPr>
          </a:p>
          <a:p>
            <a:pPr indent="-323850" lvl="0" marL="457200" rtl="0" algn="l">
              <a:spcBef>
                <a:spcPts val="0"/>
              </a:spcBef>
              <a:spcAft>
                <a:spcPts val="0"/>
              </a:spcAft>
              <a:buClr>
                <a:srgbClr val="0000FF"/>
              </a:buClr>
              <a:buSzPts val="1500"/>
              <a:buFont typeface="Arial"/>
              <a:buChar char="●"/>
            </a:pPr>
            <a:r>
              <a:rPr lang="zh-CN" sz="1500">
                <a:solidFill>
                  <a:srgbClr val="0000FF"/>
                </a:solidFill>
                <a:latin typeface="STKaiti"/>
                <a:ea typeface="STKaiti"/>
                <a:cs typeface="STKaiti"/>
                <a:sym typeface="STKaiti"/>
              </a:rPr>
              <a:t>“阳从</a:t>
            </a:r>
            <a:r>
              <a:rPr b="1" lang="zh-CN" sz="1500">
                <a:solidFill>
                  <a:srgbClr val="0000FF"/>
                </a:solidFill>
                <a:latin typeface="STKaiti"/>
                <a:ea typeface="STKaiti"/>
                <a:cs typeface="STKaiti"/>
                <a:sym typeface="STKaiti"/>
              </a:rPr>
              <a:t>之</a:t>
            </a:r>
            <a:r>
              <a:rPr lang="zh-CN" sz="1500">
                <a:solidFill>
                  <a:srgbClr val="0000FF"/>
                </a:solidFill>
                <a:latin typeface="STKaiti"/>
                <a:ea typeface="STKaiti"/>
                <a:cs typeface="STKaiti"/>
                <a:sym typeface="STKaiti"/>
              </a:rPr>
              <a:t>”（代词，指李歌的要求）</a:t>
            </a:r>
            <a:endParaRPr sz="1500">
              <a:solidFill>
                <a:srgbClr val="0000FF"/>
              </a:solidFill>
              <a:latin typeface="STKaiti"/>
              <a:ea typeface="STKaiti"/>
              <a:cs typeface="STKaiti"/>
              <a:sym typeface="STKaiti"/>
            </a:endParaRPr>
          </a:p>
          <a:p>
            <a:pPr indent="-323850" lvl="0" marL="457200" rtl="0" algn="l">
              <a:spcBef>
                <a:spcPts val="0"/>
              </a:spcBef>
              <a:spcAft>
                <a:spcPts val="0"/>
              </a:spcAft>
              <a:buClr>
                <a:srgbClr val="0000FF"/>
              </a:buClr>
              <a:buSzPts val="1500"/>
              <a:buFont typeface="Arial"/>
              <a:buChar char="●"/>
            </a:pPr>
            <a:r>
              <a:rPr lang="zh-CN" sz="1500">
                <a:solidFill>
                  <a:srgbClr val="0000FF"/>
                </a:solidFill>
                <a:latin typeface="STKaiti"/>
                <a:ea typeface="STKaiti"/>
                <a:cs typeface="STKaiti"/>
                <a:sym typeface="STKaiti"/>
              </a:rPr>
              <a:t>“望</a:t>
            </a:r>
            <a:r>
              <a:rPr b="1" lang="zh-CN" sz="1500">
                <a:solidFill>
                  <a:srgbClr val="0000FF"/>
                </a:solidFill>
                <a:latin typeface="STKaiti"/>
                <a:ea typeface="STKaiti"/>
                <a:cs typeface="STKaiti"/>
                <a:sym typeface="STKaiti"/>
              </a:rPr>
              <a:t>之</a:t>
            </a:r>
            <a:r>
              <a:rPr lang="zh-CN" sz="1500">
                <a:solidFill>
                  <a:srgbClr val="0000FF"/>
                </a:solidFill>
                <a:latin typeface="STKaiti"/>
                <a:ea typeface="STKaiti"/>
                <a:cs typeface="STKaiti"/>
                <a:sym typeface="STKaiti"/>
              </a:rPr>
              <a:t>宛若仙人”（代词，指她）</a:t>
            </a:r>
            <a:endParaRPr sz="1500">
              <a:solidFill>
                <a:srgbClr val="0000FF"/>
              </a:solidFill>
              <a:latin typeface="STKaiti"/>
              <a:ea typeface="STKaiti"/>
              <a:cs typeface="STKaiti"/>
              <a:sym typeface="STKaiti"/>
            </a:endParaRPr>
          </a:p>
          <a:p>
            <a:pPr indent="-323850" lvl="0" marL="457200" rtl="0" algn="l">
              <a:spcBef>
                <a:spcPts val="0"/>
              </a:spcBef>
              <a:spcAft>
                <a:spcPts val="0"/>
              </a:spcAft>
              <a:buClr>
                <a:srgbClr val="0000FF"/>
              </a:buClr>
              <a:buSzPts val="1500"/>
              <a:buFont typeface="Arial"/>
              <a:buChar char="●"/>
            </a:pPr>
            <a:r>
              <a:rPr lang="zh-CN" sz="1500">
                <a:solidFill>
                  <a:srgbClr val="0000FF"/>
                </a:solidFill>
                <a:latin typeface="STKaiti"/>
                <a:ea typeface="STKaiti"/>
                <a:cs typeface="STKaiti"/>
                <a:sym typeface="STKaiti"/>
              </a:rPr>
              <a:t>“欲私</a:t>
            </a:r>
            <a:r>
              <a:rPr b="1" lang="zh-CN" sz="1500">
                <a:solidFill>
                  <a:srgbClr val="0000FF"/>
                </a:solidFill>
                <a:latin typeface="STKaiti"/>
                <a:ea typeface="STKaiti"/>
                <a:cs typeface="STKaiti"/>
                <a:sym typeface="STKaiti"/>
              </a:rPr>
              <a:t>之</a:t>
            </a:r>
            <a:r>
              <a:rPr lang="zh-CN" sz="1500">
                <a:solidFill>
                  <a:srgbClr val="0000FF"/>
                </a:solidFill>
                <a:latin typeface="STKaiti"/>
                <a:ea typeface="STKaiti"/>
                <a:cs typeface="STKaiti"/>
                <a:sym typeface="STKaiti"/>
              </a:rPr>
              <a:t>”（代词，指她）</a:t>
            </a:r>
            <a:endParaRPr sz="1500">
              <a:solidFill>
                <a:srgbClr val="0000FF"/>
              </a:solidFill>
              <a:latin typeface="STKaiti"/>
              <a:ea typeface="STKaiti"/>
              <a:cs typeface="STKaiti"/>
              <a:sym typeface="STKaiti"/>
            </a:endParaRPr>
          </a:p>
          <a:p>
            <a:pPr indent="-323850" lvl="0" marL="457200" rtl="0" algn="l">
              <a:spcBef>
                <a:spcPts val="0"/>
              </a:spcBef>
              <a:spcAft>
                <a:spcPts val="0"/>
              </a:spcAft>
              <a:buClr>
                <a:srgbClr val="0000FF"/>
              </a:buClr>
              <a:buSzPts val="1500"/>
              <a:buFont typeface="Arial"/>
              <a:buChar char="●"/>
            </a:pPr>
            <a:r>
              <a:rPr lang="zh-CN" sz="1500">
                <a:solidFill>
                  <a:srgbClr val="0000FF"/>
                </a:solidFill>
                <a:latin typeface="STKaiti"/>
                <a:ea typeface="STKaiti"/>
                <a:cs typeface="STKaiti"/>
                <a:sym typeface="STKaiti"/>
              </a:rPr>
              <a:t>“妻</a:t>
            </a:r>
            <a:r>
              <a:rPr b="1" lang="zh-CN" sz="1500">
                <a:solidFill>
                  <a:srgbClr val="0000FF"/>
                </a:solidFill>
                <a:latin typeface="STKaiti"/>
                <a:ea typeface="STKaiti"/>
                <a:cs typeface="STKaiti"/>
                <a:sym typeface="STKaiti"/>
              </a:rPr>
              <a:t>之</a:t>
            </a:r>
            <a:r>
              <a:rPr lang="zh-CN" sz="1500">
                <a:solidFill>
                  <a:srgbClr val="0000FF"/>
                </a:solidFill>
                <a:latin typeface="STKaiti"/>
                <a:ea typeface="STKaiti"/>
                <a:cs typeface="STKaiti"/>
                <a:sym typeface="STKaiti"/>
              </a:rPr>
              <a:t>”（代词，指她）</a:t>
            </a:r>
            <a:endParaRPr sz="1500">
              <a:solidFill>
                <a:srgbClr val="0000FF"/>
              </a:solidFill>
              <a:latin typeface="STKaiti"/>
              <a:ea typeface="STKaiti"/>
              <a:cs typeface="STKaiti"/>
              <a:sym typeface="STKaiti"/>
            </a:endParaRPr>
          </a:p>
          <a:p>
            <a:pPr indent="-323850" lvl="0" marL="457200" rtl="0" algn="l">
              <a:spcBef>
                <a:spcPts val="0"/>
              </a:spcBef>
              <a:spcAft>
                <a:spcPts val="0"/>
              </a:spcAft>
              <a:buClr>
                <a:srgbClr val="0000FF"/>
              </a:buClr>
              <a:buSzPts val="1500"/>
              <a:buFont typeface="Arial"/>
              <a:buChar char="●"/>
            </a:pPr>
            <a:r>
              <a:rPr lang="zh-CN" sz="1500">
                <a:solidFill>
                  <a:srgbClr val="0000FF"/>
                </a:solidFill>
                <a:latin typeface="STKaiti"/>
                <a:ea typeface="STKaiti"/>
                <a:cs typeface="STKaiti"/>
                <a:sym typeface="STKaiti"/>
              </a:rPr>
              <a:t>“杀</a:t>
            </a:r>
            <a:r>
              <a:rPr b="1" lang="zh-CN" sz="1500">
                <a:solidFill>
                  <a:srgbClr val="0000FF"/>
                </a:solidFill>
                <a:latin typeface="STKaiti"/>
                <a:ea typeface="STKaiti"/>
                <a:cs typeface="STKaiti"/>
                <a:sym typeface="STKaiti"/>
              </a:rPr>
              <a:t>之</a:t>
            </a:r>
            <a:r>
              <a:rPr lang="zh-CN" sz="1500">
                <a:solidFill>
                  <a:srgbClr val="0000FF"/>
                </a:solidFill>
                <a:latin typeface="STKaiti"/>
                <a:ea typeface="STKaiti"/>
                <a:cs typeface="STKaiti"/>
                <a:sym typeface="STKaiti"/>
              </a:rPr>
              <a:t>”（代词，指她）</a:t>
            </a:r>
            <a:endParaRPr b="1" sz="2700">
              <a:solidFill>
                <a:srgbClr val="0000FF"/>
              </a:solidFill>
              <a:latin typeface="STKaiti"/>
              <a:ea typeface="STKaiti"/>
              <a:cs typeface="STKaiti"/>
              <a:sym typeface="STKaiti"/>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15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sz="3680">
                <a:latin typeface="STKaiti"/>
                <a:ea typeface="STKaiti"/>
                <a:cs typeface="STKaiti"/>
                <a:sym typeface="STKaiti"/>
              </a:rPr>
              <a:t>目标三：读懂/归纳总结（</a:t>
            </a:r>
            <a:r>
              <a:rPr lang="zh-CN" sz="3680">
                <a:solidFill>
                  <a:srgbClr val="FF0000"/>
                </a:solidFill>
                <a:latin typeface="STKaiti"/>
                <a:ea typeface="STKaiti"/>
                <a:cs typeface="STKaiti"/>
                <a:sym typeface="STKaiti"/>
              </a:rPr>
              <a:t>词类活用</a:t>
            </a:r>
            <a:r>
              <a:rPr lang="zh-CN" sz="3680">
                <a:latin typeface="STKaiti"/>
                <a:ea typeface="STKaiti"/>
                <a:cs typeface="STKaiti"/>
                <a:sym typeface="STKaiti"/>
              </a:rPr>
              <a:t>）</a:t>
            </a:r>
            <a:endParaRPr/>
          </a:p>
        </p:txBody>
      </p:sp>
      <p:sp>
        <p:nvSpPr>
          <p:cNvPr id="1422" name="Google Shape;1422;p159"/>
          <p:cNvSpPr txBox="1"/>
          <p:nvPr>
            <p:ph idx="1" type="body"/>
          </p:nvPr>
        </p:nvSpPr>
        <p:spPr>
          <a:xfrm>
            <a:off x="931800" y="1228675"/>
            <a:ext cx="79005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zh-CN">
                <a:solidFill>
                  <a:srgbClr val="FF0000"/>
                </a:solidFill>
                <a:latin typeface="STKaiti"/>
                <a:ea typeface="STKaiti"/>
                <a:cs typeface="STKaiti"/>
                <a:sym typeface="STKaiti"/>
              </a:rPr>
              <a:t>？词作？词：</a:t>
            </a:r>
            <a:endParaRPr b="1">
              <a:solidFill>
                <a:srgbClr val="FF0000"/>
              </a:solidFill>
              <a:latin typeface="STKaiti"/>
              <a:ea typeface="STKaiti"/>
              <a:cs typeface="STKaiti"/>
              <a:sym typeface="STKaiti"/>
            </a:endParaRPr>
          </a:p>
          <a:p>
            <a:pPr indent="-342900" lvl="0" marL="457200" rtl="0" algn="l">
              <a:spcBef>
                <a:spcPts val="1200"/>
              </a:spcBef>
              <a:spcAft>
                <a:spcPts val="0"/>
              </a:spcAft>
              <a:buClr>
                <a:srgbClr val="000000"/>
              </a:buClr>
              <a:buSzPts val="1800"/>
              <a:buFont typeface="Arial"/>
              <a:buChar char="●"/>
            </a:pPr>
            <a:r>
              <a:rPr lang="zh-CN">
                <a:solidFill>
                  <a:srgbClr val="000000"/>
                </a:solidFill>
                <a:latin typeface="STKaiti"/>
                <a:ea typeface="STKaiti"/>
                <a:cs typeface="STKaiti"/>
                <a:sym typeface="STKaiti"/>
              </a:rPr>
              <a:t>“不</a:t>
            </a:r>
            <a:r>
              <a:rPr b="1" lang="zh-CN">
                <a:solidFill>
                  <a:srgbClr val="000000"/>
                </a:solidFill>
                <a:latin typeface="STKaiti"/>
                <a:ea typeface="STKaiti"/>
                <a:cs typeface="STKaiti"/>
                <a:sym typeface="STKaiti"/>
              </a:rPr>
              <a:t>脂泽</a:t>
            </a:r>
            <a:r>
              <a:rPr lang="zh-CN">
                <a:solidFill>
                  <a:srgbClr val="000000"/>
                </a:solidFill>
                <a:latin typeface="STKaiti"/>
                <a:ea typeface="STKaiti"/>
                <a:cs typeface="STKaiti"/>
                <a:sym typeface="STKaiti"/>
              </a:rPr>
              <a:t>”（涂脂抹粉）</a:t>
            </a:r>
            <a:endParaRPr>
              <a:solidFill>
                <a:srgbClr val="000000"/>
              </a:solidFill>
              <a:latin typeface="STKaiti"/>
              <a:ea typeface="STKaiti"/>
              <a:cs typeface="STKaiti"/>
              <a:sym typeface="STKaiti"/>
            </a:endParaRPr>
          </a:p>
          <a:p>
            <a:pPr indent="-342900" lvl="0" marL="457200" rtl="0" algn="l">
              <a:spcBef>
                <a:spcPts val="0"/>
              </a:spcBef>
              <a:spcAft>
                <a:spcPts val="0"/>
              </a:spcAft>
              <a:buClr>
                <a:srgbClr val="000000"/>
              </a:buClr>
              <a:buSzPts val="1800"/>
              <a:buFont typeface="Arial"/>
              <a:buChar char="●"/>
            </a:pPr>
            <a:r>
              <a:rPr lang="zh-CN">
                <a:solidFill>
                  <a:srgbClr val="000000"/>
                </a:solidFill>
                <a:latin typeface="STKaiti"/>
                <a:ea typeface="STKaiti"/>
                <a:cs typeface="STKaiti"/>
                <a:sym typeface="STKaiti"/>
              </a:rPr>
              <a:t>“不</a:t>
            </a:r>
            <a:r>
              <a:rPr b="1" lang="zh-CN">
                <a:solidFill>
                  <a:srgbClr val="000000"/>
                </a:solidFill>
                <a:latin typeface="STKaiti"/>
                <a:ea typeface="STKaiti"/>
                <a:cs typeface="STKaiti"/>
                <a:sym typeface="STKaiti"/>
              </a:rPr>
              <a:t>荤肉</a:t>
            </a:r>
            <a:r>
              <a:rPr lang="zh-CN">
                <a:solidFill>
                  <a:srgbClr val="000000"/>
                </a:solidFill>
                <a:latin typeface="STKaiti"/>
                <a:ea typeface="STKaiti"/>
                <a:cs typeface="STKaiti"/>
                <a:sym typeface="STKaiti"/>
              </a:rPr>
              <a:t>”（吃荤腥）</a:t>
            </a:r>
            <a:endParaRPr>
              <a:solidFill>
                <a:srgbClr val="000000"/>
              </a:solidFill>
              <a:latin typeface="STKaiti"/>
              <a:ea typeface="STKaiti"/>
              <a:cs typeface="STKaiti"/>
              <a:sym typeface="STKaiti"/>
            </a:endParaRPr>
          </a:p>
          <a:p>
            <a:pPr indent="-342900" lvl="0" marL="457200" rtl="0" algn="l">
              <a:spcBef>
                <a:spcPts val="0"/>
              </a:spcBef>
              <a:spcAft>
                <a:spcPts val="0"/>
              </a:spcAft>
              <a:buClr>
                <a:srgbClr val="000000"/>
              </a:buClr>
              <a:buSzPts val="1800"/>
              <a:buFont typeface="Arial"/>
              <a:buChar char="●"/>
            </a:pPr>
            <a:r>
              <a:rPr lang="zh-CN">
                <a:solidFill>
                  <a:srgbClr val="000000"/>
                </a:solidFill>
                <a:latin typeface="STKaiti"/>
                <a:ea typeface="STKaiti"/>
                <a:cs typeface="STKaiti"/>
                <a:sym typeface="STKaiti"/>
              </a:rPr>
              <a:t>“冠裳其</a:t>
            </a:r>
            <a:r>
              <a:rPr b="1" lang="zh-CN">
                <a:solidFill>
                  <a:srgbClr val="000000"/>
                </a:solidFill>
                <a:latin typeface="STKaiti"/>
                <a:ea typeface="STKaiti"/>
                <a:cs typeface="STKaiti"/>
                <a:sym typeface="STKaiti"/>
              </a:rPr>
              <a:t>形</a:t>
            </a:r>
            <a:r>
              <a:rPr lang="zh-CN">
                <a:solidFill>
                  <a:srgbClr val="000000"/>
                </a:solidFill>
                <a:latin typeface="STKaiti"/>
                <a:ea typeface="STKaiti"/>
                <a:cs typeface="STKaiti"/>
                <a:sym typeface="STKaiti"/>
              </a:rPr>
              <a:t>”（使……呈现……形状/外貌）</a:t>
            </a:r>
            <a:endParaRPr>
              <a:solidFill>
                <a:srgbClr val="000000"/>
              </a:solidFill>
              <a:latin typeface="STKaiti"/>
              <a:ea typeface="STKaiti"/>
              <a:cs typeface="STKaiti"/>
              <a:sym typeface="STKaiti"/>
            </a:endParaRPr>
          </a:p>
          <a:p>
            <a:pPr indent="-342900" lvl="0" marL="457200" rtl="0" algn="l">
              <a:spcBef>
                <a:spcPts val="0"/>
              </a:spcBef>
              <a:spcAft>
                <a:spcPts val="0"/>
              </a:spcAft>
              <a:buClr>
                <a:srgbClr val="000000"/>
              </a:buClr>
              <a:buSzPts val="1800"/>
              <a:buFont typeface="Arial"/>
              <a:buChar char="●"/>
            </a:pPr>
            <a:r>
              <a:rPr lang="zh-CN">
                <a:solidFill>
                  <a:srgbClr val="000000"/>
                </a:solidFill>
                <a:latin typeface="STKaiti"/>
                <a:ea typeface="STKaiti"/>
                <a:cs typeface="STKaiti"/>
                <a:sym typeface="STKaiti"/>
              </a:rPr>
              <a:t>“狗彘其</a:t>
            </a:r>
            <a:r>
              <a:rPr b="1" lang="zh-CN">
                <a:solidFill>
                  <a:srgbClr val="000000"/>
                </a:solidFill>
                <a:latin typeface="STKaiti"/>
                <a:ea typeface="STKaiti"/>
                <a:cs typeface="STKaiti"/>
                <a:sym typeface="STKaiti"/>
              </a:rPr>
              <a:t>行</a:t>
            </a:r>
            <a:r>
              <a:rPr lang="zh-CN">
                <a:solidFill>
                  <a:srgbClr val="000000"/>
                </a:solidFill>
                <a:latin typeface="STKaiti"/>
                <a:ea typeface="STKaiti"/>
                <a:cs typeface="STKaiti"/>
                <a:sym typeface="STKaiti"/>
              </a:rPr>
              <a:t>”（像狗猪一样行动）</a:t>
            </a:r>
            <a:endParaRPr>
              <a:solidFill>
                <a:srgbClr val="000000"/>
              </a:solidFill>
              <a:latin typeface="STKaiti"/>
              <a:ea typeface="STKaiti"/>
              <a:cs typeface="STKaiti"/>
              <a:sym typeface="STKaiti"/>
            </a:endParaRPr>
          </a:p>
          <a:p>
            <a:pPr indent="-342900" lvl="0" marL="457200" rtl="0" algn="l">
              <a:spcBef>
                <a:spcPts val="0"/>
              </a:spcBef>
              <a:spcAft>
                <a:spcPts val="0"/>
              </a:spcAft>
              <a:buClr>
                <a:srgbClr val="000000"/>
              </a:buClr>
              <a:buSzPts val="1800"/>
              <a:buFont typeface="Arial"/>
              <a:buChar char="●"/>
            </a:pPr>
            <a:r>
              <a:rPr lang="zh-CN">
                <a:solidFill>
                  <a:srgbClr val="000000"/>
                </a:solidFill>
                <a:latin typeface="STKaiti"/>
                <a:ea typeface="STKaiti"/>
                <a:cs typeface="STKaiti"/>
                <a:sym typeface="STKaiti"/>
              </a:rPr>
              <a:t>“</a:t>
            </a:r>
            <a:r>
              <a:rPr b="1" lang="zh-CN">
                <a:solidFill>
                  <a:srgbClr val="000000"/>
                </a:solidFill>
                <a:latin typeface="STKaiti"/>
                <a:ea typeface="STKaiti"/>
                <a:cs typeface="STKaiti"/>
                <a:sym typeface="STKaiti"/>
              </a:rPr>
              <a:t>妻</a:t>
            </a:r>
            <a:r>
              <a:rPr lang="zh-CN">
                <a:solidFill>
                  <a:srgbClr val="000000"/>
                </a:solidFill>
                <a:latin typeface="STKaiti"/>
                <a:ea typeface="STKaiti"/>
                <a:cs typeface="STKaiti"/>
                <a:sym typeface="STKaiti"/>
              </a:rPr>
              <a:t>之”（娶……为妻）</a:t>
            </a:r>
            <a:endParaRPr>
              <a:solidFill>
                <a:srgbClr val="000000"/>
              </a:solidFill>
              <a:latin typeface="STKaiti"/>
              <a:ea typeface="STKaiti"/>
              <a:cs typeface="STKaiti"/>
              <a:sym typeface="STKaiti"/>
            </a:endParaRPr>
          </a:p>
          <a:p>
            <a:pPr indent="0" lvl="0" marL="0" rtl="0" algn="l">
              <a:spcBef>
                <a:spcPts val="1200"/>
              </a:spcBef>
              <a:spcAft>
                <a:spcPts val="0"/>
              </a:spcAft>
              <a:buNone/>
            </a:pPr>
            <a:r>
              <a:rPr b="1" lang="zh-CN">
                <a:solidFill>
                  <a:srgbClr val="FF0000"/>
                </a:solidFill>
                <a:latin typeface="STKaiti"/>
                <a:ea typeface="STKaiti"/>
                <a:cs typeface="STKaiti"/>
                <a:sym typeface="STKaiti"/>
              </a:rPr>
              <a:t>？词作？词：</a:t>
            </a:r>
            <a:endParaRPr b="1">
              <a:solidFill>
                <a:srgbClr val="FF0000"/>
              </a:solidFill>
              <a:latin typeface="STKaiti"/>
              <a:ea typeface="STKaiti"/>
              <a:cs typeface="STKaiti"/>
              <a:sym typeface="STKaiti"/>
            </a:endParaRPr>
          </a:p>
          <a:p>
            <a:pPr indent="-342900" lvl="0" marL="457200" rtl="0" algn="l">
              <a:spcBef>
                <a:spcPts val="1200"/>
              </a:spcBef>
              <a:spcAft>
                <a:spcPts val="0"/>
              </a:spcAft>
              <a:buClr>
                <a:srgbClr val="000000"/>
              </a:buClr>
              <a:buSzPts val="1800"/>
              <a:buFont typeface="Arial"/>
              <a:buChar char="●"/>
            </a:pPr>
            <a:r>
              <a:rPr lang="zh-CN">
                <a:solidFill>
                  <a:srgbClr val="000000"/>
                </a:solidFill>
                <a:latin typeface="STKaiti"/>
                <a:ea typeface="STKaiti"/>
                <a:cs typeface="STKaiti"/>
                <a:sym typeface="STKaiti"/>
              </a:rPr>
              <a:t>“愈致其</a:t>
            </a:r>
            <a:r>
              <a:rPr b="1" lang="zh-CN">
                <a:solidFill>
                  <a:srgbClr val="000000"/>
                </a:solidFill>
                <a:latin typeface="STKaiti"/>
                <a:ea typeface="STKaiti"/>
                <a:cs typeface="STKaiti"/>
                <a:sym typeface="STKaiti"/>
              </a:rPr>
              <a:t>妍</a:t>
            </a:r>
            <a:r>
              <a:rPr lang="zh-CN">
                <a:solidFill>
                  <a:srgbClr val="000000"/>
                </a:solidFill>
                <a:latin typeface="STKaiti"/>
                <a:ea typeface="STKaiti"/>
                <a:cs typeface="STKaiti"/>
                <a:sym typeface="STKaiti"/>
              </a:rPr>
              <a:t>”（美丽的外貌）</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16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sz="3680">
                <a:latin typeface="STKaiti"/>
                <a:ea typeface="STKaiti"/>
                <a:cs typeface="STKaiti"/>
                <a:sym typeface="STKaiti"/>
              </a:rPr>
              <a:t>目标三：读懂/归纳总结（</a:t>
            </a:r>
            <a:r>
              <a:rPr lang="zh-CN" sz="3680">
                <a:solidFill>
                  <a:srgbClr val="FF0000"/>
                </a:solidFill>
                <a:latin typeface="STKaiti"/>
                <a:ea typeface="STKaiti"/>
                <a:cs typeface="STKaiti"/>
                <a:sym typeface="STKaiti"/>
              </a:rPr>
              <a:t>词类活用</a:t>
            </a:r>
            <a:r>
              <a:rPr lang="zh-CN" sz="3680">
                <a:latin typeface="STKaiti"/>
                <a:ea typeface="STKaiti"/>
                <a:cs typeface="STKaiti"/>
                <a:sym typeface="STKaiti"/>
              </a:rPr>
              <a:t>）</a:t>
            </a:r>
            <a:endParaRPr/>
          </a:p>
        </p:txBody>
      </p:sp>
      <p:sp>
        <p:nvSpPr>
          <p:cNvPr id="1428" name="Google Shape;1428;p160"/>
          <p:cNvSpPr txBox="1"/>
          <p:nvPr>
            <p:ph idx="1" type="body"/>
          </p:nvPr>
        </p:nvSpPr>
        <p:spPr>
          <a:xfrm>
            <a:off x="931800" y="1228675"/>
            <a:ext cx="79005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zh-CN">
                <a:solidFill>
                  <a:srgbClr val="0000FF"/>
                </a:solidFill>
                <a:latin typeface="STKaiti"/>
                <a:ea typeface="STKaiti"/>
                <a:cs typeface="STKaiti"/>
                <a:sym typeface="STKaiti"/>
              </a:rPr>
              <a:t>名词作动词：</a:t>
            </a:r>
            <a:endParaRPr b="1">
              <a:solidFill>
                <a:srgbClr val="0000FF"/>
              </a:solidFill>
              <a:latin typeface="STKaiti"/>
              <a:ea typeface="STKaiti"/>
              <a:cs typeface="STKaiti"/>
              <a:sym typeface="STKaiti"/>
            </a:endParaRPr>
          </a:p>
          <a:p>
            <a:pPr indent="-342900" lvl="0" marL="457200" rtl="0" algn="l">
              <a:spcBef>
                <a:spcPts val="1200"/>
              </a:spcBef>
              <a:spcAft>
                <a:spcPts val="0"/>
              </a:spcAft>
              <a:buClr>
                <a:srgbClr val="0000FF"/>
              </a:buClr>
              <a:buSzPts val="1800"/>
              <a:buFont typeface="Arial"/>
              <a:buChar char="●"/>
            </a:pPr>
            <a:r>
              <a:rPr lang="zh-CN">
                <a:solidFill>
                  <a:srgbClr val="0000FF"/>
                </a:solidFill>
                <a:latin typeface="STKaiti"/>
                <a:ea typeface="STKaiti"/>
                <a:cs typeface="STKaiti"/>
                <a:sym typeface="STKaiti"/>
              </a:rPr>
              <a:t>“不</a:t>
            </a:r>
            <a:r>
              <a:rPr b="1" lang="zh-CN">
                <a:solidFill>
                  <a:srgbClr val="0000FF"/>
                </a:solidFill>
                <a:latin typeface="STKaiti"/>
                <a:ea typeface="STKaiti"/>
                <a:cs typeface="STKaiti"/>
                <a:sym typeface="STKaiti"/>
              </a:rPr>
              <a:t>脂泽</a:t>
            </a:r>
            <a:r>
              <a:rPr lang="zh-CN">
                <a:solidFill>
                  <a:srgbClr val="0000FF"/>
                </a:solidFill>
                <a:latin typeface="STKaiti"/>
                <a:ea typeface="STKaiti"/>
                <a:cs typeface="STKaiti"/>
                <a:sym typeface="STKaiti"/>
              </a:rPr>
              <a:t>”（涂脂抹粉）</a:t>
            </a:r>
            <a:endParaRPr>
              <a:solidFill>
                <a:srgbClr val="0000FF"/>
              </a:solidFill>
              <a:latin typeface="STKaiti"/>
              <a:ea typeface="STKaiti"/>
              <a:cs typeface="STKaiti"/>
              <a:sym typeface="STKaiti"/>
            </a:endParaRPr>
          </a:p>
          <a:p>
            <a:pPr indent="-342900" lvl="0" marL="457200" rtl="0" algn="l">
              <a:spcBef>
                <a:spcPts val="0"/>
              </a:spcBef>
              <a:spcAft>
                <a:spcPts val="0"/>
              </a:spcAft>
              <a:buClr>
                <a:srgbClr val="0000FF"/>
              </a:buClr>
              <a:buSzPts val="1800"/>
              <a:buFont typeface="Arial"/>
              <a:buChar char="●"/>
            </a:pPr>
            <a:r>
              <a:rPr lang="zh-CN">
                <a:solidFill>
                  <a:srgbClr val="0000FF"/>
                </a:solidFill>
                <a:latin typeface="STKaiti"/>
                <a:ea typeface="STKaiti"/>
                <a:cs typeface="STKaiti"/>
                <a:sym typeface="STKaiti"/>
              </a:rPr>
              <a:t>“不</a:t>
            </a:r>
            <a:r>
              <a:rPr b="1" lang="zh-CN">
                <a:solidFill>
                  <a:srgbClr val="0000FF"/>
                </a:solidFill>
                <a:latin typeface="STKaiti"/>
                <a:ea typeface="STKaiti"/>
                <a:cs typeface="STKaiti"/>
                <a:sym typeface="STKaiti"/>
              </a:rPr>
              <a:t>荤肉</a:t>
            </a:r>
            <a:r>
              <a:rPr lang="zh-CN">
                <a:solidFill>
                  <a:srgbClr val="0000FF"/>
                </a:solidFill>
                <a:latin typeface="STKaiti"/>
                <a:ea typeface="STKaiti"/>
                <a:cs typeface="STKaiti"/>
                <a:sym typeface="STKaiti"/>
              </a:rPr>
              <a:t>”（吃荤腥）</a:t>
            </a:r>
            <a:endParaRPr>
              <a:solidFill>
                <a:srgbClr val="0000FF"/>
              </a:solidFill>
              <a:latin typeface="STKaiti"/>
              <a:ea typeface="STKaiti"/>
              <a:cs typeface="STKaiti"/>
              <a:sym typeface="STKaiti"/>
            </a:endParaRPr>
          </a:p>
          <a:p>
            <a:pPr indent="-342900" lvl="0" marL="457200" rtl="0" algn="l">
              <a:spcBef>
                <a:spcPts val="0"/>
              </a:spcBef>
              <a:spcAft>
                <a:spcPts val="0"/>
              </a:spcAft>
              <a:buClr>
                <a:srgbClr val="0000FF"/>
              </a:buClr>
              <a:buSzPts val="1800"/>
              <a:buFont typeface="Arial"/>
              <a:buChar char="●"/>
            </a:pPr>
            <a:r>
              <a:rPr lang="zh-CN">
                <a:solidFill>
                  <a:srgbClr val="0000FF"/>
                </a:solidFill>
                <a:latin typeface="STKaiti"/>
                <a:ea typeface="STKaiti"/>
                <a:cs typeface="STKaiti"/>
                <a:sym typeface="STKaiti"/>
              </a:rPr>
              <a:t>“冠裳其</a:t>
            </a:r>
            <a:r>
              <a:rPr b="1" lang="zh-CN">
                <a:solidFill>
                  <a:srgbClr val="0000FF"/>
                </a:solidFill>
                <a:latin typeface="STKaiti"/>
                <a:ea typeface="STKaiti"/>
                <a:cs typeface="STKaiti"/>
                <a:sym typeface="STKaiti"/>
              </a:rPr>
              <a:t>形</a:t>
            </a:r>
            <a:r>
              <a:rPr lang="zh-CN">
                <a:solidFill>
                  <a:srgbClr val="0000FF"/>
                </a:solidFill>
                <a:latin typeface="STKaiti"/>
                <a:ea typeface="STKaiti"/>
                <a:cs typeface="STKaiti"/>
                <a:sym typeface="STKaiti"/>
              </a:rPr>
              <a:t>”（使……呈现……形状/外貌）</a:t>
            </a:r>
            <a:endParaRPr>
              <a:solidFill>
                <a:srgbClr val="0000FF"/>
              </a:solidFill>
              <a:latin typeface="STKaiti"/>
              <a:ea typeface="STKaiti"/>
              <a:cs typeface="STKaiti"/>
              <a:sym typeface="STKaiti"/>
            </a:endParaRPr>
          </a:p>
          <a:p>
            <a:pPr indent="-342900" lvl="0" marL="457200" rtl="0" algn="l">
              <a:spcBef>
                <a:spcPts val="0"/>
              </a:spcBef>
              <a:spcAft>
                <a:spcPts val="0"/>
              </a:spcAft>
              <a:buClr>
                <a:srgbClr val="0000FF"/>
              </a:buClr>
              <a:buSzPts val="1800"/>
              <a:buFont typeface="Arial"/>
              <a:buChar char="●"/>
            </a:pPr>
            <a:r>
              <a:rPr lang="zh-CN">
                <a:solidFill>
                  <a:srgbClr val="0000FF"/>
                </a:solidFill>
                <a:latin typeface="STKaiti"/>
                <a:ea typeface="STKaiti"/>
                <a:cs typeface="STKaiti"/>
                <a:sym typeface="STKaiti"/>
              </a:rPr>
              <a:t>“狗彘其</a:t>
            </a:r>
            <a:r>
              <a:rPr b="1" lang="zh-CN">
                <a:solidFill>
                  <a:srgbClr val="0000FF"/>
                </a:solidFill>
                <a:latin typeface="STKaiti"/>
                <a:ea typeface="STKaiti"/>
                <a:cs typeface="STKaiti"/>
                <a:sym typeface="STKaiti"/>
              </a:rPr>
              <a:t>行</a:t>
            </a:r>
            <a:r>
              <a:rPr lang="zh-CN">
                <a:solidFill>
                  <a:srgbClr val="0000FF"/>
                </a:solidFill>
                <a:latin typeface="STKaiti"/>
                <a:ea typeface="STKaiti"/>
                <a:cs typeface="STKaiti"/>
                <a:sym typeface="STKaiti"/>
              </a:rPr>
              <a:t>”（像狗猪一样行动）</a:t>
            </a:r>
            <a:endParaRPr>
              <a:solidFill>
                <a:srgbClr val="0000FF"/>
              </a:solidFill>
              <a:latin typeface="STKaiti"/>
              <a:ea typeface="STKaiti"/>
              <a:cs typeface="STKaiti"/>
              <a:sym typeface="STKaiti"/>
            </a:endParaRPr>
          </a:p>
          <a:p>
            <a:pPr indent="-342900" lvl="0" marL="457200" rtl="0" algn="l">
              <a:spcBef>
                <a:spcPts val="0"/>
              </a:spcBef>
              <a:spcAft>
                <a:spcPts val="0"/>
              </a:spcAft>
              <a:buClr>
                <a:srgbClr val="0000FF"/>
              </a:buClr>
              <a:buSzPts val="1800"/>
              <a:buFont typeface="Arial"/>
              <a:buChar char="●"/>
            </a:pPr>
            <a:r>
              <a:rPr lang="zh-CN">
                <a:solidFill>
                  <a:srgbClr val="0000FF"/>
                </a:solidFill>
                <a:latin typeface="STKaiti"/>
                <a:ea typeface="STKaiti"/>
                <a:cs typeface="STKaiti"/>
                <a:sym typeface="STKaiti"/>
              </a:rPr>
              <a:t>“</a:t>
            </a:r>
            <a:r>
              <a:rPr b="1" lang="zh-CN">
                <a:solidFill>
                  <a:srgbClr val="0000FF"/>
                </a:solidFill>
                <a:latin typeface="STKaiti"/>
                <a:ea typeface="STKaiti"/>
                <a:cs typeface="STKaiti"/>
                <a:sym typeface="STKaiti"/>
              </a:rPr>
              <a:t>妻</a:t>
            </a:r>
            <a:r>
              <a:rPr lang="zh-CN">
                <a:solidFill>
                  <a:srgbClr val="0000FF"/>
                </a:solidFill>
                <a:latin typeface="STKaiti"/>
                <a:ea typeface="STKaiti"/>
                <a:cs typeface="STKaiti"/>
                <a:sym typeface="STKaiti"/>
              </a:rPr>
              <a:t>之”（娶……为妻）</a:t>
            </a:r>
            <a:endParaRPr>
              <a:solidFill>
                <a:srgbClr val="0000FF"/>
              </a:solidFill>
              <a:latin typeface="STKaiti"/>
              <a:ea typeface="STKaiti"/>
              <a:cs typeface="STKaiti"/>
              <a:sym typeface="STKaiti"/>
            </a:endParaRPr>
          </a:p>
          <a:p>
            <a:pPr indent="0" lvl="0" marL="0" rtl="0" algn="l">
              <a:spcBef>
                <a:spcPts val="1200"/>
              </a:spcBef>
              <a:spcAft>
                <a:spcPts val="0"/>
              </a:spcAft>
              <a:buNone/>
            </a:pPr>
            <a:r>
              <a:rPr b="1" lang="zh-CN">
                <a:solidFill>
                  <a:srgbClr val="0000FF"/>
                </a:solidFill>
                <a:latin typeface="STKaiti"/>
                <a:ea typeface="STKaiti"/>
                <a:cs typeface="STKaiti"/>
                <a:sym typeface="STKaiti"/>
              </a:rPr>
              <a:t>形容词作名词：</a:t>
            </a:r>
            <a:endParaRPr b="1">
              <a:solidFill>
                <a:srgbClr val="0000FF"/>
              </a:solidFill>
              <a:latin typeface="STKaiti"/>
              <a:ea typeface="STKaiti"/>
              <a:cs typeface="STKaiti"/>
              <a:sym typeface="STKaiti"/>
            </a:endParaRPr>
          </a:p>
          <a:p>
            <a:pPr indent="-342900" lvl="0" marL="457200" rtl="0" algn="l">
              <a:spcBef>
                <a:spcPts val="1200"/>
              </a:spcBef>
              <a:spcAft>
                <a:spcPts val="0"/>
              </a:spcAft>
              <a:buClr>
                <a:srgbClr val="0000FF"/>
              </a:buClr>
              <a:buSzPts val="1800"/>
              <a:buFont typeface="Arial"/>
              <a:buChar char="●"/>
            </a:pPr>
            <a:r>
              <a:rPr lang="zh-CN">
                <a:solidFill>
                  <a:srgbClr val="0000FF"/>
                </a:solidFill>
                <a:latin typeface="STKaiti"/>
                <a:ea typeface="STKaiti"/>
                <a:cs typeface="STKaiti"/>
                <a:sym typeface="STKaiti"/>
              </a:rPr>
              <a:t>“愈致其</a:t>
            </a:r>
            <a:r>
              <a:rPr b="1" lang="zh-CN">
                <a:solidFill>
                  <a:srgbClr val="0000FF"/>
                </a:solidFill>
                <a:latin typeface="STKaiti"/>
                <a:ea typeface="STKaiti"/>
                <a:cs typeface="STKaiti"/>
                <a:sym typeface="STKaiti"/>
              </a:rPr>
              <a:t>妍</a:t>
            </a:r>
            <a:r>
              <a:rPr lang="zh-CN">
                <a:solidFill>
                  <a:srgbClr val="0000FF"/>
                </a:solidFill>
                <a:latin typeface="STKaiti"/>
                <a:ea typeface="STKaiti"/>
                <a:cs typeface="STKaiti"/>
                <a:sym typeface="STKaiti"/>
              </a:rPr>
              <a:t>”（美丽的外貌）</a:t>
            </a:r>
            <a:endParaRPr>
              <a:solidFill>
                <a:srgbClr val="0000FF"/>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热身活动：</a:t>
            </a:r>
            <a:endParaRPr/>
          </a:p>
        </p:txBody>
      </p:sp>
      <p:sp>
        <p:nvSpPr>
          <p:cNvPr id="1434" name="Google Shape;1434;p161"/>
          <p:cNvSpPr txBox="1"/>
          <p:nvPr>
            <p:ph idx="1" type="body"/>
          </p:nvPr>
        </p:nvSpPr>
        <p:spPr>
          <a:xfrm>
            <a:off x="946700" y="1234075"/>
            <a:ext cx="78855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自己先默读课文。</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CN"/>
              <a:t>等下我们大家一起，轮流分段读。</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CN"/>
              <a:t>游戏规则：</a:t>
            </a:r>
            <a:endParaRPr/>
          </a:p>
          <a:p>
            <a:pPr indent="-342900" lvl="0" marL="457200" rtl="0" algn="l">
              <a:spcBef>
                <a:spcPts val="1200"/>
              </a:spcBef>
              <a:spcAft>
                <a:spcPts val="0"/>
              </a:spcAft>
              <a:buSzPts val="1800"/>
              <a:buChar char="●"/>
            </a:pPr>
            <a:r>
              <a:rPr lang="zh-CN"/>
              <a:t>第一个人读，老师喊停；第二个人读，第一个人喊停；以此类推。</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1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文章类型和结构</a:t>
            </a:r>
            <a:endParaRPr/>
          </a:p>
        </p:txBody>
      </p:sp>
      <p:sp>
        <p:nvSpPr>
          <p:cNvPr id="1440" name="Google Shape;1440;p162"/>
          <p:cNvSpPr txBox="1"/>
          <p:nvPr>
            <p:ph idx="1" type="body"/>
          </p:nvPr>
        </p:nvSpPr>
        <p:spPr>
          <a:xfrm>
            <a:off x="1162875" y="1234075"/>
            <a:ext cx="76695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这是一篇什么类型的文章？</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CN"/>
              <a:t>这篇文章的结构是什么？</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1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节选分析</a:t>
            </a:r>
            <a:endParaRPr/>
          </a:p>
        </p:txBody>
      </p:sp>
      <p:sp>
        <p:nvSpPr>
          <p:cNvPr id="1446" name="Google Shape;1446;p163"/>
          <p:cNvSpPr txBox="1"/>
          <p:nvPr>
            <p:ph idx="1" type="body"/>
          </p:nvPr>
        </p:nvSpPr>
        <p:spPr>
          <a:xfrm>
            <a:off x="1036150" y="1234075"/>
            <a:ext cx="77961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CN"/>
              <a:t>课本第36页，分析这段描写好在哪里。</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164"/>
          <p:cNvSpPr txBox="1"/>
          <p:nvPr>
            <p:ph type="title"/>
          </p:nvPr>
        </p:nvSpPr>
        <p:spPr>
          <a:xfrm>
            <a:off x="311700" y="2886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活动：坐针毡（</a:t>
            </a:r>
            <a:r>
              <a:rPr lang="zh-CN"/>
              <a:t>准备阶段</a:t>
            </a:r>
            <a:r>
              <a:rPr lang="zh-CN"/>
              <a:t>）</a:t>
            </a:r>
            <a:endParaRPr/>
          </a:p>
        </p:txBody>
      </p:sp>
      <p:graphicFrame>
        <p:nvGraphicFramePr>
          <p:cNvPr id="1452" name="Google Shape;1452;p164"/>
          <p:cNvGraphicFramePr/>
          <p:nvPr/>
        </p:nvGraphicFramePr>
        <p:xfrm>
          <a:off x="952500" y="2106950"/>
          <a:ext cx="3000000" cy="3000000"/>
        </p:xfrm>
        <a:graphic>
          <a:graphicData uri="http://schemas.openxmlformats.org/drawingml/2006/table">
            <a:tbl>
              <a:tblPr>
                <a:noFill/>
                <a:tableStyleId>{6EC30E26-9E9A-4D88-8AED-F8757236A545}</a:tableStyleId>
              </a:tblPr>
              <a:tblGrid>
                <a:gridCol w="2413000"/>
                <a:gridCol w="2413000"/>
                <a:gridCol w="2413000"/>
              </a:tblGrid>
              <a:tr h="694525">
                <a:tc>
                  <a:txBody>
                    <a:bodyPr/>
                    <a:lstStyle/>
                    <a:p>
                      <a:pPr indent="0" lvl="0" marL="0" rtl="0" algn="l">
                        <a:spcBef>
                          <a:spcPts val="0"/>
                        </a:spcBef>
                        <a:spcAft>
                          <a:spcPts val="0"/>
                        </a:spcAft>
                        <a:buNone/>
                      </a:pPr>
                      <a:r>
                        <a:rPr lang="zh-CN"/>
                        <a:t>第一个时间点</a:t>
                      </a:r>
                      <a:endParaRPr/>
                    </a:p>
                    <a:p>
                      <a:pPr indent="0" lvl="0" marL="0" rtl="0" algn="l">
                        <a:spcBef>
                          <a:spcPts val="0"/>
                        </a:spcBef>
                        <a:spcAft>
                          <a:spcPts val="0"/>
                        </a:spcAft>
                        <a:buNone/>
                      </a:pPr>
                      <a:r>
                        <a:rPr lang="zh-CN"/>
                        <a:t>（被母亲要求当歌妓，卖艺不卖身）</a:t>
                      </a:r>
                      <a:endParaRPr/>
                    </a:p>
                  </a:txBody>
                  <a:tcPr marT="91425" marB="91425" marR="91425" marL="91425"/>
                </a:tc>
                <a:tc>
                  <a:txBody>
                    <a:bodyPr/>
                    <a:lstStyle/>
                    <a:p>
                      <a:pPr indent="0" lvl="0" marL="0" rtl="0" algn="l">
                        <a:spcBef>
                          <a:spcPts val="0"/>
                        </a:spcBef>
                        <a:spcAft>
                          <a:spcPts val="0"/>
                        </a:spcAft>
                        <a:buNone/>
                      </a:pPr>
                      <a:r>
                        <a:rPr lang="zh-CN">
                          <a:solidFill>
                            <a:schemeClr val="dk2"/>
                          </a:solidFill>
                        </a:rPr>
                        <a:t>第二个时间点</a:t>
                      </a:r>
                      <a:endParaRPr>
                        <a:solidFill>
                          <a:schemeClr val="dk2"/>
                        </a:solidFill>
                      </a:endParaRPr>
                    </a:p>
                    <a:p>
                      <a:pPr indent="0" lvl="0" marL="0" rtl="0" algn="l">
                        <a:spcBef>
                          <a:spcPts val="0"/>
                        </a:spcBef>
                        <a:spcAft>
                          <a:spcPts val="0"/>
                        </a:spcAft>
                        <a:buNone/>
                      </a:pPr>
                      <a:r>
                        <a:rPr lang="zh-CN">
                          <a:solidFill>
                            <a:schemeClr val="dk2"/>
                          </a:solidFill>
                        </a:rPr>
                        <a:t>（怒斥县令之后）</a:t>
                      </a:r>
                      <a:endParaRPr>
                        <a:solidFill>
                          <a:schemeClr val="dk2"/>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zh-CN">
                          <a:solidFill>
                            <a:schemeClr val="dk2"/>
                          </a:solidFill>
                        </a:rPr>
                        <a:t>第三个时间点</a:t>
                      </a:r>
                      <a:endParaRPr>
                        <a:solidFill>
                          <a:schemeClr val="dk2"/>
                        </a:solidFill>
                      </a:endParaRPr>
                    </a:p>
                    <a:p>
                      <a:pPr indent="0" lvl="0" marL="0" rtl="0" algn="l">
                        <a:spcBef>
                          <a:spcPts val="0"/>
                        </a:spcBef>
                        <a:spcAft>
                          <a:spcPts val="0"/>
                        </a:spcAft>
                        <a:buNone/>
                      </a:pPr>
                      <a:r>
                        <a:rPr lang="zh-CN"/>
                        <a:t>（被强盗抓住后）</a:t>
                      </a:r>
                      <a:endParaRPr/>
                    </a:p>
                  </a:txBody>
                  <a:tcPr marT="91425" marB="91425" marR="91425" marL="91425"/>
                </a:tc>
              </a:tr>
              <a:tr h="1796175">
                <a:tc>
                  <a:txBody>
                    <a:bodyPr/>
                    <a:lstStyle/>
                    <a:p>
                      <a:pPr indent="0" lvl="0" marL="0" rtl="0" algn="l">
                        <a:spcBef>
                          <a:spcPts val="0"/>
                        </a:spcBef>
                        <a:spcAft>
                          <a:spcPts val="0"/>
                        </a:spcAft>
                        <a:buNone/>
                      </a:pPr>
                      <a:r>
                        <a:rPr lang="zh-CN"/>
                        <a:t>这个时间点可能被问到的问题 </a:t>
                      </a:r>
                      <a:endParaRPr/>
                    </a:p>
                    <a:p>
                      <a:pPr indent="0" lvl="0" marL="0" rtl="0" algn="l">
                        <a:spcBef>
                          <a:spcPts val="0"/>
                        </a:spcBef>
                        <a:spcAft>
                          <a:spcPts val="0"/>
                        </a:spcAft>
                        <a:buNone/>
                      </a:pPr>
                      <a:r>
                        <a:t/>
                      </a:r>
                      <a:endParaRPr/>
                    </a:p>
                    <a:p>
                      <a:pPr indent="0" lvl="0" marL="0" rtl="0" algn="l">
                        <a:spcBef>
                          <a:spcPts val="0"/>
                        </a:spcBef>
                        <a:spcAft>
                          <a:spcPts val="0"/>
                        </a:spcAft>
                        <a:buNone/>
                      </a:pPr>
                      <a:r>
                        <a:rPr lang="zh-CN">
                          <a:solidFill>
                            <a:srgbClr val="FF0000"/>
                          </a:solidFill>
                        </a:rPr>
                        <a:t>+ 准备好的答案</a:t>
                      </a:r>
                      <a:endParaRPr>
                        <a:solidFill>
                          <a:srgbClr val="FF0000"/>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Clr>
                          <a:schemeClr val="dk2"/>
                        </a:buClr>
                        <a:buSzPts val="1100"/>
                        <a:buFont typeface="Arial"/>
                        <a:buNone/>
                      </a:pPr>
                      <a:r>
                        <a:rPr lang="zh-CN">
                          <a:solidFill>
                            <a:schemeClr val="dk2"/>
                          </a:solidFill>
                        </a:rPr>
                        <a:t>想问李歌的问题，</a:t>
                      </a:r>
                      <a:r>
                        <a:rPr lang="zh-CN">
                          <a:solidFill>
                            <a:srgbClr val="FF0000"/>
                          </a:solidFill>
                        </a:rPr>
                        <a:t>不需要准备答案</a:t>
                      </a:r>
                      <a:endParaRPr>
                        <a:solidFill>
                          <a:srgbClr val="FF0000"/>
                        </a:solidFill>
                      </a:endParaRPr>
                    </a:p>
                    <a:p>
                      <a:pPr indent="0" lvl="0" marL="0" rtl="0" algn="l">
                        <a:spcBef>
                          <a:spcPts val="0"/>
                        </a:spcBef>
                        <a:spcAft>
                          <a:spcPts val="0"/>
                        </a:spcAft>
                        <a:buNone/>
                      </a:pPr>
                      <a:r>
                        <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zh-CN">
                          <a:solidFill>
                            <a:schemeClr val="dk2"/>
                          </a:solidFill>
                        </a:rPr>
                        <a:t>想问李歌的问题，</a:t>
                      </a:r>
                      <a:r>
                        <a:rPr lang="zh-CN">
                          <a:solidFill>
                            <a:srgbClr val="FF0000"/>
                          </a:solidFill>
                        </a:rPr>
                        <a:t>不需要准备答案</a:t>
                      </a:r>
                      <a:endParaRPr>
                        <a:solidFill>
                          <a:srgbClr val="FF0000"/>
                        </a:solidFill>
                      </a:endParaRPr>
                    </a:p>
                    <a:p>
                      <a:pPr indent="0" lvl="0" marL="0" rtl="0" algn="l">
                        <a:spcBef>
                          <a:spcPts val="0"/>
                        </a:spcBef>
                        <a:spcAft>
                          <a:spcPts val="0"/>
                        </a:spcAft>
                        <a:buClr>
                          <a:schemeClr val="dk2"/>
                        </a:buClr>
                        <a:buSzPts val="1100"/>
                        <a:buFont typeface="Arial"/>
                        <a:buNone/>
                      </a:pPr>
                      <a:r>
                        <a:t/>
                      </a:r>
                      <a:endParaRPr>
                        <a:solidFill>
                          <a:srgbClr val="FF0000"/>
                        </a:solidFill>
                      </a:endParaRPr>
                    </a:p>
                    <a:p>
                      <a:pPr indent="0" lvl="0" marL="0" rtl="0" algn="l">
                        <a:spcBef>
                          <a:spcPts val="0"/>
                        </a:spcBef>
                        <a:spcAft>
                          <a:spcPts val="0"/>
                        </a:spcAft>
                        <a:buNone/>
                      </a:pPr>
                      <a:r>
                        <a:t/>
                      </a:r>
                      <a:endParaRPr/>
                    </a:p>
                  </a:txBody>
                  <a:tcPr marT="91425" marB="91425" marR="91425" marL="91425"/>
                </a:tc>
              </a:tr>
            </a:tbl>
          </a:graphicData>
        </a:graphic>
      </p:graphicFrame>
      <p:sp>
        <p:nvSpPr>
          <p:cNvPr id="1453" name="Google Shape;1453;p164"/>
          <p:cNvSpPr txBox="1"/>
          <p:nvPr/>
        </p:nvSpPr>
        <p:spPr>
          <a:xfrm>
            <a:off x="1138200" y="964400"/>
            <a:ext cx="6594600" cy="10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rgbClr val="0000FF"/>
                </a:solidFill>
                <a:latin typeface="Playfair Display"/>
                <a:ea typeface="Playfair Display"/>
                <a:cs typeface="Playfair Display"/>
                <a:sym typeface="Playfair Display"/>
              </a:rPr>
              <a:t>20分钟时间准备；</a:t>
            </a:r>
            <a:endParaRPr sz="1800">
              <a:solidFill>
                <a:srgbClr val="0000FF"/>
              </a:solidFill>
              <a:latin typeface="Playfair Display"/>
              <a:ea typeface="Playfair Display"/>
              <a:cs typeface="Playfair Display"/>
              <a:sym typeface="Playfair Display"/>
            </a:endParaRPr>
          </a:p>
          <a:p>
            <a:pPr indent="0" lvl="0" marL="0" rtl="0" algn="l">
              <a:spcBef>
                <a:spcPts val="0"/>
              </a:spcBef>
              <a:spcAft>
                <a:spcPts val="0"/>
              </a:spcAft>
              <a:buNone/>
            </a:pPr>
            <a:r>
              <a:rPr lang="zh-CN" sz="1800">
                <a:solidFill>
                  <a:srgbClr val="0000FF"/>
                </a:solidFill>
                <a:latin typeface="Playfair Display"/>
                <a:ea typeface="Playfair Display"/>
                <a:cs typeface="Playfair Display"/>
                <a:sym typeface="Playfair Display"/>
              </a:rPr>
              <a:t>多问一些挖掘人物内心活动的问题；避免事实性的问题。</a:t>
            </a:r>
            <a:endParaRPr sz="1800">
              <a:solidFill>
                <a:srgbClr val="0000FF"/>
              </a:solidFill>
              <a:latin typeface="Playfair Display"/>
              <a:ea typeface="Playfair Display"/>
              <a:cs typeface="Playfair Display"/>
              <a:sym typeface="Playfair Display"/>
            </a:endParaRPr>
          </a:p>
          <a:p>
            <a:pPr indent="0" lvl="0" marL="0" rtl="0" algn="l">
              <a:spcBef>
                <a:spcPts val="0"/>
              </a:spcBef>
              <a:spcAft>
                <a:spcPts val="0"/>
              </a:spcAft>
              <a:buNone/>
            </a:pPr>
            <a:r>
              <a:rPr lang="zh-CN" sz="1800">
                <a:solidFill>
                  <a:srgbClr val="0000FF"/>
                </a:solidFill>
                <a:latin typeface="Playfair Display"/>
                <a:ea typeface="Playfair Display"/>
                <a:cs typeface="Playfair Display"/>
                <a:sym typeface="Playfair Display"/>
              </a:rPr>
              <a:t>以第一组的处境为例，需要准备内容如下：</a:t>
            </a:r>
            <a:endParaRPr sz="1800">
              <a:solidFill>
                <a:srgbClr val="0000FF"/>
              </a:solidFill>
              <a:latin typeface="Playfair Display"/>
              <a:ea typeface="Playfair Display"/>
              <a:cs typeface="Playfair Display"/>
              <a:sym typeface="Playfair Display"/>
            </a:endParaRPr>
          </a:p>
        </p:txBody>
      </p:sp>
      <p:pic>
        <p:nvPicPr>
          <p:cNvPr id="1454" name="Google Shape;1454;p164"/>
          <p:cNvPicPr preferRelativeResize="0"/>
          <p:nvPr/>
        </p:nvPicPr>
        <p:blipFill>
          <a:blip r:embed="rId3">
            <a:alphaModFix/>
          </a:blip>
          <a:stretch>
            <a:fillRect/>
          </a:stretch>
        </p:blipFill>
        <p:spPr>
          <a:xfrm>
            <a:off x="7300404" y="0"/>
            <a:ext cx="1843596" cy="20039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1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活动：坐针毡（问答阶段）</a:t>
            </a:r>
            <a:endParaRPr/>
          </a:p>
        </p:txBody>
      </p:sp>
      <p:sp>
        <p:nvSpPr>
          <p:cNvPr id="1460" name="Google Shape;1460;p165"/>
          <p:cNvSpPr txBox="1"/>
          <p:nvPr>
            <p:ph idx="1" type="body"/>
          </p:nvPr>
        </p:nvSpPr>
        <p:spPr>
          <a:xfrm>
            <a:off x="1094725" y="1234075"/>
            <a:ext cx="4995900" cy="32316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lang="zh-CN" sz="1600">
                <a:latin typeface="Arial"/>
                <a:ea typeface="Arial"/>
                <a:cs typeface="Arial"/>
                <a:sym typeface="Arial"/>
              </a:rPr>
              <a:t>第一个时间点：（被母亲要求当歌妓，卖艺不卖身）</a:t>
            </a:r>
            <a:endParaRPr sz="1600">
              <a:latin typeface="Arial"/>
              <a:ea typeface="Arial"/>
              <a:cs typeface="Arial"/>
              <a:sym typeface="Arial"/>
            </a:endParaRPr>
          </a:p>
          <a:p>
            <a:pPr indent="-330200" lvl="0" marL="457200" rtl="0" algn="l">
              <a:lnSpc>
                <a:spcPct val="150000"/>
              </a:lnSpc>
              <a:spcBef>
                <a:spcPts val="0"/>
              </a:spcBef>
              <a:spcAft>
                <a:spcPts val="0"/>
              </a:spcAft>
              <a:buSzPts val="1600"/>
              <a:buFont typeface="Arial"/>
              <a:buChar char="●"/>
            </a:pPr>
            <a:r>
              <a:rPr lang="zh-CN" sz="1600">
                <a:latin typeface="Arial"/>
                <a:ea typeface="Arial"/>
                <a:cs typeface="Arial"/>
                <a:sym typeface="Arial"/>
              </a:rPr>
              <a:t>其他两组对李歌进行提问。</a:t>
            </a:r>
            <a:endParaRPr sz="1600">
              <a:latin typeface="Arial"/>
              <a:ea typeface="Arial"/>
              <a:cs typeface="Arial"/>
              <a:sym typeface="Arial"/>
            </a:endParaRPr>
          </a:p>
          <a:p>
            <a:pPr indent="0" lvl="0" marL="0" rtl="0" algn="l">
              <a:lnSpc>
                <a:spcPct val="150000"/>
              </a:lnSpc>
              <a:spcBef>
                <a:spcPts val="0"/>
              </a:spcBef>
              <a:spcAft>
                <a:spcPts val="0"/>
              </a:spcAft>
              <a:buNone/>
            </a:pPr>
            <a:r>
              <a:t/>
            </a:r>
            <a:endParaRPr sz="1600">
              <a:latin typeface="Arial"/>
              <a:ea typeface="Arial"/>
              <a:cs typeface="Arial"/>
              <a:sym typeface="Arial"/>
            </a:endParaRPr>
          </a:p>
          <a:p>
            <a:pPr indent="0" lvl="0" marL="0" rtl="0" algn="l">
              <a:lnSpc>
                <a:spcPct val="150000"/>
              </a:lnSpc>
              <a:spcBef>
                <a:spcPts val="0"/>
              </a:spcBef>
              <a:spcAft>
                <a:spcPts val="0"/>
              </a:spcAft>
              <a:buNone/>
            </a:pPr>
            <a:r>
              <a:rPr lang="zh-CN" sz="1600">
                <a:latin typeface="Arial"/>
                <a:ea typeface="Arial"/>
                <a:cs typeface="Arial"/>
                <a:sym typeface="Arial"/>
              </a:rPr>
              <a:t>第二个时间点：（怒斥县令之后）</a:t>
            </a:r>
            <a:endParaRPr sz="1600">
              <a:latin typeface="Arial"/>
              <a:ea typeface="Arial"/>
              <a:cs typeface="Arial"/>
              <a:sym typeface="Arial"/>
            </a:endParaRPr>
          </a:p>
          <a:p>
            <a:pPr indent="-330200" lvl="0" marL="457200" rtl="0" algn="l">
              <a:lnSpc>
                <a:spcPct val="150000"/>
              </a:lnSpc>
              <a:spcBef>
                <a:spcPts val="0"/>
              </a:spcBef>
              <a:spcAft>
                <a:spcPts val="0"/>
              </a:spcAft>
              <a:buSzPts val="1600"/>
              <a:buFont typeface="Arial"/>
              <a:buChar char="●"/>
            </a:pPr>
            <a:r>
              <a:rPr lang="zh-CN" sz="1600">
                <a:latin typeface="Arial"/>
                <a:ea typeface="Arial"/>
                <a:cs typeface="Arial"/>
                <a:sym typeface="Arial"/>
              </a:rPr>
              <a:t>其他两组对李歌进行提问。</a:t>
            </a:r>
            <a:endParaRPr sz="1600">
              <a:latin typeface="Arial"/>
              <a:ea typeface="Arial"/>
              <a:cs typeface="Arial"/>
              <a:sym typeface="Arial"/>
            </a:endParaRPr>
          </a:p>
          <a:p>
            <a:pPr indent="0" lvl="0" marL="0" rtl="0" algn="l">
              <a:lnSpc>
                <a:spcPct val="150000"/>
              </a:lnSpc>
              <a:spcBef>
                <a:spcPts val="0"/>
              </a:spcBef>
              <a:spcAft>
                <a:spcPts val="0"/>
              </a:spcAft>
              <a:buNone/>
            </a:pPr>
            <a:r>
              <a:t/>
            </a:r>
            <a:endParaRPr sz="1600">
              <a:latin typeface="Arial"/>
              <a:ea typeface="Arial"/>
              <a:cs typeface="Arial"/>
              <a:sym typeface="Arial"/>
            </a:endParaRPr>
          </a:p>
          <a:p>
            <a:pPr indent="0" lvl="0" marL="0" rtl="0" algn="l">
              <a:lnSpc>
                <a:spcPct val="150000"/>
              </a:lnSpc>
              <a:spcBef>
                <a:spcPts val="0"/>
              </a:spcBef>
              <a:spcAft>
                <a:spcPts val="0"/>
              </a:spcAft>
              <a:buNone/>
            </a:pPr>
            <a:r>
              <a:rPr lang="zh-CN" sz="1600">
                <a:latin typeface="Arial"/>
                <a:ea typeface="Arial"/>
                <a:cs typeface="Arial"/>
                <a:sym typeface="Arial"/>
              </a:rPr>
              <a:t>第三个时间点：（被强盗抓住后）</a:t>
            </a:r>
            <a:endParaRPr sz="1600">
              <a:latin typeface="Arial"/>
              <a:ea typeface="Arial"/>
              <a:cs typeface="Arial"/>
              <a:sym typeface="Arial"/>
            </a:endParaRPr>
          </a:p>
          <a:p>
            <a:pPr indent="-330200" lvl="0" marL="457200" rtl="0" algn="l">
              <a:lnSpc>
                <a:spcPct val="150000"/>
              </a:lnSpc>
              <a:spcBef>
                <a:spcPts val="0"/>
              </a:spcBef>
              <a:spcAft>
                <a:spcPts val="0"/>
              </a:spcAft>
              <a:buSzPts val="1600"/>
              <a:buFont typeface="Arial"/>
              <a:buChar char="●"/>
            </a:pPr>
            <a:r>
              <a:rPr lang="zh-CN" sz="1600">
                <a:latin typeface="Arial"/>
                <a:ea typeface="Arial"/>
                <a:cs typeface="Arial"/>
                <a:sym typeface="Arial"/>
              </a:rPr>
              <a:t>其他两组对李歌进行提问。</a:t>
            </a:r>
            <a:endParaRPr sz="2000"/>
          </a:p>
        </p:txBody>
      </p:sp>
      <p:sp>
        <p:nvSpPr>
          <p:cNvPr id="1461" name="Google Shape;1461;p165"/>
          <p:cNvSpPr txBox="1"/>
          <p:nvPr/>
        </p:nvSpPr>
        <p:spPr>
          <a:xfrm>
            <a:off x="6507575" y="1429375"/>
            <a:ext cx="2232900" cy="2841000"/>
          </a:xfrm>
          <a:prstGeom prst="rect">
            <a:avLst/>
          </a:prstGeom>
          <a:solidFill>
            <a:srgbClr val="FFFF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CN" sz="1800">
                <a:solidFill>
                  <a:schemeClr val="dk2"/>
                </a:solidFill>
                <a:latin typeface="Playfair Display"/>
                <a:ea typeface="Playfair Display"/>
                <a:cs typeface="Playfair Display"/>
                <a:sym typeface="Playfair Display"/>
              </a:rPr>
              <a:t>提醒：</a:t>
            </a:r>
            <a:endParaRPr sz="1800">
              <a:solidFill>
                <a:schemeClr val="dk2"/>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800">
              <a:solidFill>
                <a:schemeClr val="dk2"/>
              </a:solidFill>
              <a:latin typeface="Playfair Display"/>
              <a:ea typeface="Playfair Display"/>
              <a:cs typeface="Playfair Display"/>
              <a:sym typeface="Playfair Display"/>
            </a:endParaRPr>
          </a:p>
          <a:p>
            <a:pPr indent="0" lvl="0" marL="0" rtl="0" algn="l">
              <a:spcBef>
                <a:spcPts val="0"/>
              </a:spcBef>
              <a:spcAft>
                <a:spcPts val="0"/>
              </a:spcAft>
              <a:buNone/>
            </a:pPr>
            <a:r>
              <a:rPr lang="zh-CN" sz="1800">
                <a:solidFill>
                  <a:schemeClr val="dk2"/>
                </a:solidFill>
                <a:latin typeface="Playfair Display"/>
                <a:ea typeface="Playfair Display"/>
                <a:cs typeface="Playfair Display"/>
                <a:sym typeface="Playfair Display"/>
              </a:rPr>
              <a:t>在提问的过程中，不需要局限于准备的问题，以及问题的顺序，注重对话的流畅度，进行顺序的调整，和问题的增减。</a:t>
            </a:r>
            <a:endParaRPr sz="1800">
              <a:solidFill>
                <a:schemeClr val="dk2"/>
              </a:solidFill>
              <a:latin typeface="Playfair Display"/>
              <a:ea typeface="Playfair Display"/>
              <a:cs typeface="Playfair Display"/>
              <a:sym typeface="Playfair Display"/>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1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作业：文章学习小节</a:t>
            </a:r>
            <a:endParaRPr/>
          </a:p>
        </p:txBody>
      </p:sp>
      <p:sp>
        <p:nvSpPr>
          <p:cNvPr id="1467" name="Google Shape;1467;p166"/>
          <p:cNvSpPr txBox="1"/>
          <p:nvPr>
            <p:ph idx="1" type="body"/>
          </p:nvPr>
        </p:nvSpPr>
        <p:spPr>
          <a:xfrm>
            <a:off x="938400" y="1138500"/>
            <a:ext cx="7893900" cy="3700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zh-CN" sz="1300">
                <a:latin typeface="Arial"/>
                <a:ea typeface="Arial"/>
                <a:cs typeface="Arial"/>
                <a:sym typeface="Arial"/>
              </a:rPr>
              <a:t>【作业内容】</a:t>
            </a:r>
            <a:r>
              <a:rPr lang="zh-CN" sz="1300">
                <a:latin typeface="Arial"/>
                <a:ea typeface="Arial"/>
                <a:cs typeface="Arial"/>
                <a:sym typeface="Arial"/>
              </a:rPr>
              <a:t> 根据对《记李歌》的理解，写一段人物分析总结。</a:t>
            </a:r>
            <a:endParaRPr sz="1300">
              <a:latin typeface="Arial"/>
              <a:ea typeface="Arial"/>
              <a:cs typeface="Arial"/>
              <a:sym typeface="Arial"/>
            </a:endParaRPr>
          </a:p>
          <a:p>
            <a:pPr indent="-311150" lvl="0" marL="457200" rtl="0" algn="l">
              <a:spcBef>
                <a:spcPts val="1200"/>
              </a:spcBef>
              <a:spcAft>
                <a:spcPts val="0"/>
              </a:spcAft>
              <a:buSzPts val="1300"/>
              <a:buFont typeface="Arial"/>
              <a:buAutoNum type="arabicPeriod"/>
            </a:pPr>
            <a:r>
              <a:rPr b="1" lang="zh-CN" sz="1300">
                <a:latin typeface="Arial"/>
                <a:ea typeface="Arial"/>
                <a:cs typeface="Arial"/>
                <a:sym typeface="Arial"/>
              </a:rPr>
              <a:t>核心问题</a:t>
            </a:r>
            <a:r>
              <a:rPr lang="zh-CN" sz="1300">
                <a:latin typeface="Arial"/>
                <a:ea typeface="Arial"/>
                <a:cs typeface="Arial"/>
                <a:sym typeface="Arial"/>
              </a:rPr>
              <a:t>：你觉得李歌是一个什么性格的人？她坚信什么样的价值观？</a:t>
            </a:r>
            <a:endParaRPr sz="1300">
              <a:latin typeface="Arial"/>
              <a:ea typeface="Arial"/>
              <a:cs typeface="Arial"/>
              <a:sym typeface="Arial"/>
            </a:endParaRPr>
          </a:p>
          <a:p>
            <a:pPr indent="-311150" lvl="0" marL="457200" rtl="0" algn="l">
              <a:spcBef>
                <a:spcPts val="0"/>
              </a:spcBef>
              <a:spcAft>
                <a:spcPts val="0"/>
              </a:spcAft>
              <a:buSzPts val="1300"/>
              <a:buFont typeface="Arial"/>
              <a:buAutoNum type="arabicPeriod"/>
            </a:pPr>
            <a:r>
              <a:rPr b="1" lang="zh-CN" sz="1300">
                <a:latin typeface="Arial"/>
                <a:ea typeface="Arial"/>
                <a:cs typeface="Arial"/>
                <a:sym typeface="Arial"/>
              </a:rPr>
              <a:t>写作要求</a:t>
            </a:r>
            <a:r>
              <a:rPr lang="zh-CN" sz="1300">
                <a:latin typeface="Arial"/>
                <a:ea typeface="Arial"/>
                <a:cs typeface="Arial"/>
                <a:sym typeface="Arial"/>
              </a:rPr>
              <a:t>：观点需有理有据，必须引用</a:t>
            </a:r>
            <a:r>
              <a:rPr b="1" lang="zh-CN" sz="1300">
                <a:latin typeface="Arial"/>
                <a:ea typeface="Arial"/>
                <a:cs typeface="Arial"/>
                <a:sym typeface="Arial"/>
              </a:rPr>
              <a:t>原文（文言文）</a:t>
            </a:r>
            <a:r>
              <a:rPr lang="zh-CN" sz="1300">
                <a:latin typeface="Arial"/>
                <a:ea typeface="Arial"/>
                <a:cs typeface="Arial"/>
                <a:sym typeface="Arial"/>
              </a:rPr>
              <a:t>作为佐证。</a:t>
            </a:r>
            <a:endParaRPr sz="1300">
              <a:latin typeface="Arial"/>
              <a:ea typeface="Arial"/>
              <a:cs typeface="Arial"/>
              <a:sym typeface="Arial"/>
            </a:endParaRPr>
          </a:p>
          <a:p>
            <a:pPr indent="-311150" lvl="0" marL="457200" rtl="0" algn="l">
              <a:spcBef>
                <a:spcPts val="0"/>
              </a:spcBef>
              <a:spcAft>
                <a:spcPts val="0"/>
              </a:spcAft>
              <a:buSzPts val="1300"/>
              <a:buFont typeface="Arial"/>
              <a:buAutoNum type="arabicPeriod"/>
            </a:pPr>
            <a:r>
              <a:rPr b="1" lang="zh-CN" sz="1300">
                <a:latin typeface="Arial"/>
                <a:ea typeface="Arial"/>
                <a:cs typeface="Arial"/>
                <a:sym typeface="Arial"/>
              </a:rPr>
              <a:t>关于AI</a:t>
            </a:r>
            <a:r>
              <a:rPr lang="zh-CN" sz="1300">
                <a:latin typeface="Arial"/>
                <a:ea typeface="Arial"/>
                <a:cs typeface="Arial"/>
                <a:sym typeface="Arial"/>
              </a:rPr>
              <a:t>：前期资料收集阶段可以使用人工智能或网络检索，但</a:t>
            </a:r>
            <a:r>
              <a:rPr b="1" lang="zh-CN" sz="1300">
                <a:latin typeface="Arial"/>
                <a:ea typeface="Arial"/>
                <a:cs typeface="Arial"/>
                <a:sym typeface="Arial"/>
              </a:rPr>
              <a:t>正文撰写必须独立完成</a:t>
            </a:r>
            <a:r>
              <a:rPr lang="zh-CN" sz="1300">
                <a:latin typeface="Arial"/>
                <a:ea typeface="Arial"/>
                <a:cs typeface="Arial"/>
                <a:sym typeface="Arial"/>
              </a:rPr>
              <a:t>，严禁直接生成作业。</a:t>
            </a:r>
            <a:endParaRPr sz="1300">
              <a:latin typeface="Arial"/>
              <a:ea typeface="Arial"/>
              <a:cs typeface="Arial"/>
              <a:sym typeface="Arial"/>
            </a:endParaRPr>
          </a:p>
          <a:p>
            <a:pPr indent="-311150" lvl="0" marL="457200" rtl="0" algn="l">
              <a:spcBef>
                <a:spcPts val="0"/>
              </a:spcBef>
              <a:spcAft>
                <a:spcPts val="0"/>
              </a:spcAft>
              <a:buSzPts val="1300"/>
              <a:buFont typeface="Arial"/>
              <a:buAutoNum type="arabicPeriod"/>
            </a:pPr>
            <a:r>
              <a:rPr b="1" lang="zh-CN" sz="1300">
                <a:latin typeface="Arial"/>
                <a:ea typeface="Arial"/>
                <a:cs typeface="Arial"/>
                <a:sym typeface="Arial"/>
              </a:rPr>
              <a:t>篇幅</a:t>
            </a:r>
            <a:r>
              <a:rPr lang="zh-CN" sz="1300">
                <a:latin typeface="Arial"/>
                <a:ea typeface="Arial"/>
                <a:cs typeface="Arial"/>
                <a:sym typeface="Arial"/>
              </a:rPr>
              <a:t>：言简意赅，切中要害（建议300字左右）。</a:t>
            </a:r>
            <a:endParaRPr sz="1300">
              <a:latin typeface="Arial"/>
              <a:ea typeface="Arial"/>
              <a:cs typeface="Arial"/>
              <a:sym typeface="Arial"/>
            </a:endParaRPr>
          </a:p>
          <a:p>
            <a:pPr indent="0" lvl="0" marL="0" rtl="0" algn="l">
              <a:spcBef>
                <a:spcPts val="1200"/>
              </a:spcBef>
              <a:spcAft>
                <a:spcPts val="0"/>
              </a:spcAft>
              <a:buNone/>
            </a:pPr>
            <a:r>
              <a:rPr b="1" lang="zh-CN" sz="1300">
                <a:latin typeface="Arial"/>
                <a:ea typeface="Arial"/>
                <a:cs typeface="Arial"/>
                <a:sym typeface="Arial"/>
              </a:rPr>
              <a:t>【提交形式】</a:t>
            </a:r>
            <a:endParaRPr b="1" sz="1300">
              <a:latin typeface="Arial"/>
              <a:ea typeface="Arial"/>
              <a:cs typeface="Arial"/>
              <a:sym typeface="Arial"/>
            </a:endParaRPr>
          </a:p>
          <a:p>
            <a:pPr indent="-311150" lvl="0" marL="457200" rtl="0" algn="l">
              <a:spcBef>
                <a:spcPts val="1200"/>
              </a:spcBef>
              <a:spcAft>
                <a:spcPts val="0"/>
              </a:spcAft>
              <a:buSzPts val="1300"/>
              <a:buFont typeface="Arial"/>
              <a:buChar char="●"/>
            </a:pPr>
            <a:r>
              <a:rPr b="1" lang="zh-CN" sz="1300">
                <a:latin typeface="Arial"/>
                <a:ea typeface="Arial"/>
                <a:cs typeface="Arial"/>
                <a:sym typeface="Arial"/>
              </a:rPr>
              <a:t>形式</a:t>
            </a:r>
            <a:r>
              <a:rPr lang="zh-CN" sz="1300">
                <a:latin typeface="Arial"/>
                <a:ea typeface="Arial"/>
                <a:cs typeface="Arial"/>
                <a:sym typeface="Arial"/>
              </a:rPr>
              <a:t>：手写。</a:t>
            </a:r>
            <a:endParaRPr sz="1300">
              <a:latin typeface="Arial"/>
              <a:ea typeface="Arial"/>
              <a:cs typeface="Arial"/>
              <a:sym typeface="Arial"/>
            </a:endParaRPr>
          </a:p>
          <a:p>
            <a:pPr indent="-311150" lvl="0" marL="457200" rtl="0" algn="l">
              <a:spcBef>
                <a:spcPts val="0"/>
              </a:spcBef>
              <a:spcAft>
                <a:spcPts val="0"/>
              </a:spcAft>
              <a:buSzPts val="1300"/>
              <a:buFont typeface="Arial"/>
              <a:buChar char="●"/>
            </a:pPr>
            <a:r>
              <a:rPr b="1" lang="zh-CN" sz="1300">
                <a:latin typeface="Arial"/>
                <a:ea typeface="Arial"/>
                <a:cs typeface="Arial"/>
                <a:sym typeface="Arial"/>
              </a:rPr>
              <a:t>时间</a:t>
            </a:r>
            <a:r>
              <a:rPr lang="zh-CN" sz="1300">
                <a:latin typeface="Arial"/>
                <a:ea typeface="Arial"/>
                <a:cs typeface="Arial"/>
                <a:sym typeface="Arial"/>
              </a:rPr>
              <a:t>：下周二上交。</a:t>
            </a:r>
            <a:endParaRPr sz="1300">
              <a:latin typeface="Arial"/>
              <a:ea typeface="Arial"/>
              <a:cs typeface="Arial"/>
              <a:sym typeface="Arial"/>
            </a:endParaRPr>
          </a:p>
          <a:p>
            <a:pPr indent="0" lvl="0" marL="0" rtl="0" algn="l">
              <a:spcBef>
                <a:spcPts val="1200"/>
              </a:spcBef>
              <a:spcAft>
                <a:spcPts val="0"/>
              </a:spcAft>
              <a:buNone/>
            </a:pPr>
            <a:r>
              <a:rPr b="1" lang="zh-CN" sz="1300">
                <a:latin typeface="Arial"/>
                <a:ea typeface="Arial"/>
                <a:cs typeface="Arial"/>
                <a:sym typeface="Arial"/>
              </a:rPr>
              <a:t>【检查方式】</a:t>
            </a:r>
            <a:r>
              <a:rPr lang="zh-CN" sz="1300">
                <a:latin typeface="Arial"/>
                <a:ea typeface="Arial"/>
                <a:cs typeface="Arial"/>
                <a:sym typeface="Arial"/>
              </a:rPr>
              <a:t> 课堂随机抽查分享。</a:t>
            </a:r>
            <a:endParaRPr sz="1300">
              <a:latin typeface="Arial"/>
              <a:ea typeface="Arial"/>
              <a:cs typeface="Arial"/>
              <a:sym typeface="Arial"/>
            </a:endParaRPr>
          </a:p>
          <a:p>
            <a:pPr indent="-311150" lvl="0" marL="457200" rtl="0" algn="l">
              <a:spcBef>
                <a:spcPts val="1200"/>
              </a:spcBef>
              <a:spcAft>
                <a:spcPts val="0"/>
              </a:spcAft>
              <a:buSzPts val="1300"/>
              <a:buFont typeface="Arial"/>
              <a:buChar char="●"/>
            </a:pPr>
            <a:r>
              <a:rPr b="1" lang="zh-CN" sz="1300">
                <a:latin typeface="Arial"/>
                <a:ea typeface="Arial"/>
                <a:cs typeface="Arial"/>
                <a:sym typeface="Arial"/>
              </a:rPr>
              <a:t>要求</a:t>
            </a:r>
            <a:r>
              <a:rPr lang="zh-CN" sz="1300">
                <a:latin typeface="Arial"/>
                <a:ea typeface="Arial"/>
                <a:cs typeface="Arial"/>
                <a:sym typeface="Arial"/>
              </a:rPr>
              <a:t>：脱稿分享（不可看自己的总结笔记），但允许翻阅课文原文。不需要背诵全文，重点考察对人物的真实理解</a:t>
            </a:r>
            <a:r>
              <a:rPr lang="zh-CN" sz="1300">
                <a:latin typeface="Arial"/>
                <a:ea typeface="Arial"/>
                <a:cs typeface="Arial"/>
                <a:sym typeface="Arial"/>
              </a:rPr>
              <a:t>。</a:t>
            </a:r>
            <a:endParaRPr sz="2000"/>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167"/>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zh-CN"/>
              <a:t>散文</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1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课前活动：采访同学的英文名的由来</a:t>
            </a:r>
            <a:endParaRPr/>
          </a:p>
        </p:txBody>
      </p:sp>
      <p:sp>
        <p:nvSpPr>
          <p:cNvPr id="1478" name="Google Shape;1478;p168"/>
          <p:cNvSpPr txBox="1"/>
          <p:nvPr>
            <p:ph idx="1" type="body"/>
          </p:nvPr>
        </p:nvSpPr>
        <p:spPr>
          <a:xfrm>
            <a:off x="1277650" y="1234075"/>
            <a:ext cx="37959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请看这张图片，思考你有没有英文名，你的英文名有什么由来。</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CN"/>
              <a:t>课本的第38页，熟悉这些问题，先填写自己的答案，然后采访3个人。</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CN"/>
              <a:t>采访结束后，总结所有回答的相通之处。</a:t>
            </a:r>
            <a:endParaRPr/>
          </a:p>
        </p:txBody>
      </p:sp>
      <p:pic>
        <p:nvPicPr>
          <p:cNvPr id="1479" name="Google Shape;1479;p168"/>
          <p:cNvPicPr preferRelativeResize="0"/>
          <p:nvPr/>
        </p:nvPicPr>
        <p:blipFill rotWithShape="1">
          <a:blip r:embed="rId3">
            <a:alphaModFix/>
          </a:blip>
          <a:srcRect b="0" l="0" r="0" t="4853"/>
          <a:stretch/>
        </p:blipFill>
        <p:spPr>
          <a:xfrm>
            <a:off x="5217575" y="1506026"/>
            <a:ext cx="3847575" cy="2940875"/>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1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课前活动：</a:t>
            </a:r>
            <a:r>
              <a:rPr lang="zh-CN"/>
              <a:t>词汇</a:t>
            </a:r>
            <a:endParaRPr/>
          </a:p>
        </p:txBody>
      </p:sp>
      <p:sp>
        <p:nvSpPr>
          <p:cNvPr id="1485" name="Google Shape;1485;p169"/>
          <p:cNvSpPr txBox="1"/>
          <p:nvPr>
            <p:ph idx="1" type="body"/>
          </p:nvPr>
        </p:nvSpPr>
        <p:spPr>
          <a:xfrm>
            <a:off x="1215925" y="1234075"/>
            <a:ext cx="7616400" cy="3334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zh-CN"/>
              <a:t>课本第44 页。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zh-CN"/>
              <a:t>这些词怎么读？分别是什么意思？</a:t>
            </a:r>
            <a:endParaRPr/>
          </a:p>
          <a:p>
            <a:pPr indent="0" lvl="0" marL="0" rtl="0" algn="l">
              <a:spcBef>
                <a:spcPts val="1200"/>
              </a:spcBef>
              <a:spcAft>
                <a:spcPts val="0"/>
              </a:spcAft>
              <a:buNone/>
            </a:pPr>
            <a:r>
              <a:t/>
            </a:r>
            <a:endParaRPr>
              <a:solidFill>
                <a:srgbClr val="FF0000"/>
              </a:solidFill>
            </a:endParaRPr>
          </a:p>
          <a:p>
            <a:pPr indent="0" lvl="0" marL="0" rtl="0" algn="l">
              <a:spcBef>
                <a:spcPts val="1200"/>
              </a:spcBef>
              <a:spcAft>
                <a:spcPts val="0"/>
              </a:spcAft>
              <a:buNone/>
            </a:pPr>
            <a:r>
              <a:rPr lang="zh-CN">
                <a:solidFill>
                  <a:srgbClr val="FF0000"/>
                </a:solidFill>
              </a:rPr>
              <a:t>柱倾梁塌、门庭冷落、山高水远</a:t>
            </a:r>
            <a:endParaRPr>
              <a:solidFill>
                <a:srgbClr val="FF0000"/>
              </a:solidFill>
            </a:endParaRPr>
          </a:p>
          <a:p>
            <a:pPr indent="0" lvl="0" marL="0" rtl="0" algn="l">
              <a:spcBef>
                <a:spcPts val="1200"/>
              </a:spcBef>
              <a:spcAft>
                <a:spcPts val="0"/>
              </a:spcAft>
              <a:buNone/>
            </a:pPr>
            <a:r>
              <a:rPr lang="zh-CN">
                <a:solidFill>
                  <a:srgbClr val="FF0000"/>
                </a:solidFill>
              </a:rPr>
              <a:t>顺水推舟、络绎不绝、古稀老人</a:t>
            </a:r>
            <a:endParaRPr>
              <a:solidFill>
                <a:srgbClr val="FF0000"/>
              </a:solidFill>
            </a:endParaRPr>
          </a:p>
          <a:p>
            <a:pPr indent="0" lvl="0" marL="0" rtl="0" algn="l">
              <a:spcBef>
                <a:spcPts val="1200"/>
              </a:spcBef>
              <a:spcAft>
                <a:spcPts val="0"/>
              </a:spcAft>
              <a:buNone/>
            </a:pPr>
            <a:r>
              <a:rPr lang="zh-CN">
                <a:solidFill>
                  <a:srgbClr val="FF0000"/>
                </a:solidFill>
              </a:rPr>
              <a:t>精湛、逃遁</a:t>
            </a:r>
            <a:endParaRPr>
              <a:solidFill>
                <a:srgbClr val="FF0000"/>
              </a:solidFill>
            </a:endParaRPr>
          </a:p>
          <a:p>
            <a:pPr indent="0" lvl="0" marL="0" rtl="0" algn="l">
              <a:spcBef>
                <a:spcPts val="1200"/>
              </a:spcBef>
              <a:spcAft>
                <a:spcPts val="1200"/>
              </a:spcAft>
              <a:buNone/>
            </a:pPr>
            <a:r>
              <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170"/>
          <p:cNvSpPr txBox="1"/>
          <p:nvPr>
            <p:ph type="title"/>
          </p:nvPr>
        </p:nvSpPr>
        <p:spPr>
          <a:xfrm>
            <a:off x="311700" y="286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整理：各个年龄在古代的叫法</a:t>
            </a:r>
            <a:endParaRPr/>
          </a:p>
        </p:txBody>
      </p:sp>
      <p:sp>
        <p:nvSpPr>
          <p:cNvPr id="1491" name="Google Shape;1491;p170"/>
          <p:cNvSpPr txBox="1"/>
          <p:nvPr>
            <p:ph idx="1" type="body"/>
          </p:nvPr>
        </p:nvSpPr>
        <p:spPr>
          <a:xfrm>
            <a:off x="1180175" y="960000"/>
            <a:ext cx="7652100" cy="4077900"/>
          </a:xfrm>
          <a:prstGeom prst="rect">
            <a:avLst/>
          </a:prstGeom>
        </p:spPr>
        <p:txBody>
          <a:bodyPr anchorCtr="0" anchor="t" bIns="91425" lIns="91425" spcFirstLastPara="1" rIns="91425" wrap="square" tIns="91425">
            <a:normAutofit fontScale="92500" lnSpcReduction="20000"/>
          </a:bodyPr>
          <a:lstStyle/>
          <a:p>
            <a:pPr indent="0" lvl="0" marL="0" rtl="0" algn="l">
              <a:lnSpc>
                <a:spcPct val="140000"/>
              </a:lnSpc>
              <a:spcBef>
                <a:spcPts val="0"/>
              </a:spcBef>
              <a:spcAft>
                <a:spcPts val="0"/>
              </a:spcAft>
              <a:buClr>
                <a:schemeClr val="dk2"/>
              </a:buClr>
              <a:buSzPct val="73333"/>
              <a:buFont typeface="Arial"/>
              <a:buNone/>
            </a:pPr>
            <a:r>
              <a:rPr lang="zh-CN" sz="1500">
                <a:solidFill>
                  <a:srgbClr val="0A0A0A"/>
                </a:solidFill>
                <a:highlight>
                  <a:srgbClr val="FFFFFF"/>
                </a:highlight>
                <a:latin typeface="Arial"/>
                <a:ea typeface="Arial"/>
                <a:cs typeface="Arial"/>
                <a:sym typeface="Arial"/>
              </a:rPr>
              <a:t>10岁 - 40岁：成长期与立业期</a:t>
            </a:r>
            <a:endParaRPr sz="1500">
              <a:solidFill>
                <a:srgbClr val="0A0A0A"/>
              </a:solidFill>
              <a:highlight>
                <a:srgbClr val="FFFFFF"/>
              </a:highlight>
              <a:latin typeface="Arial"/>
              <a:ea typeface="Arial"/>
              <a:cs typeface="Arial"/>
              <a:sym typeface="Arial"/>
            </a:endParaRPr>
          </a:p>
          <a:p>
            <a:pPr indent="-299085" lvl="0" marL="457200" rtl="0" algn="l">
              <a:lnSpc>
                <a:spcPct val="150000"/>
              </a:lnSpc>
              <a:spcBef>
                <a:spcPts val="900"/>
              </a:spcBef>
              <a:spcAft>
                <a:spcPts val="0"/>
              </a:spcAft>
              <a:buClr>
                <a:srgbClr val="0A0A0A"/>
              </a:buClr>
              <a:buSzPct val="100000"/>
              <a:buFont typeface="Arial"/>
              <a:buChar char="●"/>
            </a:pPr>
            <a:r>
              <a:rPr b="1" lang="zh-CN" sz="1200">
                <a:solidFill>
                  <a:srgbClr val="0A0A0A"/>
                </a:solidFill>
                <a:highlight>
                  <a:srgbClr val="FFFFFF"/>
                </a:highlight>
                <a:latin typeface="Arial"/>
                <a:ea typeface="Arial"/>
                <a:cs typeface="Arial"/>
                <a:sym typeface="Arial"/>
              </a:rPr>
              <a:t>10岁：幼学之年。</a:t>
            </a:r>
            <a:r>
              <a:rPr lang="zh-CN" sz="1200">
                <a:solidFill>
                  <a:srgbClr val="0A0A0A"/>
                </a:solidFill>
                <a:highlight>
                  <a:srgbClr val="FFFFFF"/>
                </a:highlight>
                <a:latin typeface="Arial"/>
                <a:ea typeface="Arial"/>
                <a:cs typeface="Arial"/>
                <a:sym typeface="Arial"/>
              </a:rPr>
              <a:t> 出自《礼记》，指开始进入学校学习的年纪。</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0"/>
              </a:spcBef>
              <a:spcAft>
                <a:spcPts val="0"/>
              </a:spcAft>
              <a:buClr>
                <a:srgbClr val="0A0A0A"/>
              </a:buClr>
              <a:buSzPct val="100000"/>
              <a:buFont typeface="Arial"/>
              <a:buChar char="●"/>
            </a:pPr>
            <a:r>
              <a:rPr b="1" lang="zh-CN" sz="1200">
                <a:solidFill>
                  <a:srgbClr val="0A0A0A"/>
                </a:solidFill>
                <a:highlight>
                  <a:srgbClr val="FFFFFF"/>
                </a:highlight>
                <a:latin typeface="Arial"/>
                <a:ea typeface="Arial"/>
                <a:cs typeface="Arial"/>
                <a:sym typeface="Arial"/>
              </a:rPr>
              <a:t>20岁：弱冠[guàn]。</a:t>
            </a:r>
            <a:r>
              <a:rPr lang="zh-CN" sz="1200">
                <a:solidFill>
                  <a:srgbClr val="0A0A0A"/>
                </a:solidFill>
                <a:highlight>
                  <a:srgbClr val="FFFFFF"/>
                </a:highlight>
                <a:latin typeface="Arial"/>
                <a:ea typeface="Arial"/>
                <a:cs typeface="Arial"/>
                <a:sym typeface="Arial"/>
              </a:rPr>
              <a:t> 出自《礼记》，指男子成年，行冠礼，但体格尚弱。</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0"/>
              </a:spcBef>
              <a:spcAft>
                <a:spcPts val="0"/>
              </a:spcAft>
              <a:buClr>
                <a:srgbClr val="0A0A0A"/>
              </a:buClr>
              <a:buSzPct val="100000"/>
              <a:buFont typeface="Arial"/>
              <a:buChar char="●"/>
            </a:pPr>
            <a:r>
              <a:rPr b="1" lang="zh-CN" sz="1200">
                <a:solidFill>
                  <a:srgbClr val="0A0A0A"/>
                </a:solidFill>
                <a:highlight>
                  <a:srgbClr val="FFFFFF"/>
                </a:highlight>
                <a:latin typeface="Arial"/>
                <a:ea typeface="Arial"/>
                <a:cs typeface="Arial"/>
                <a:sym typeface="Arial"/>
              </a:rPr>
              <a:t>30岁：三十而立。</a:t>
            </a:r>
            <a:r>
              <a:rPr lang="zh-CN" sz="1200">
                <a:solidFill>
                  <a:srgbClr val="0A0A0A"/>
                </a:solidFill>
                <a:highlight>
                  <a:srgbClr val="FFFFFF"/>
                </a:highlight>
                <a:latin typeface="Arial"/>
                <a:ea typeface="Arial"/>
                <a:cs typeface="Arial"/>
                <a:sym typeface="Arial"/>
              </a:rPr>
              <a:t> 意为能自立于世，有坚定的原则和事业。</a:t>
            </a:r>
            <a:endParaRPr sz="1200">
              <a:solidFill>
                <a:srgbClr val="0A0A0A"/>
              </a:solidFill>
              <a:highlight>
                <a:srgbClr val="FFFFFF"/>
              </a:highlight>
              <a:latin typeface="Arial"/>
              <a:ea typeface="Arial"/>
              <a:cs typeface="Arial"/>
              <a:sym typeface="Arial"/>
            </a:endParaRPr>
          </a:p>
          <a:p>
            <a:pPr indent="0" lvl="0" marL="0" rtl="0" algn="l">
              <a:lnSpc>
                <a:spcPct val="140000"/>
              </a:lnSpc>
              <a:spcBef>
                <a:spcPts val="2100"/>
              </a:spcBef>
              <a:spcAft>
                <a:spcPts val="0"/>
              </a:spcAft>
              <a:buClr>
                <a:schemeClr val="dk2"/>
              </a:buClr>
              <a:buSzPct val="73333"/>
              <a:buFont typeface="Arial"/>
              <a:buNone/>
            </a:pPr>
            <a:r>
              <a:rPr lang="zh-CN" sz="1500">
                <a:solidFill>
                  <a:srgbClr val="0A0A0A"/>
                </a:solidFill>
                <a:highlight>
                  <a:srgbClr val="FFFFFF"/>
                </a:highlight>
                <a:latin typeface="Arial"/>
                <a:ea typeface="Arial"/>
                <a:cs typeface="Arial"/>
                <a:sym typeface="Arial"/>
              </a:rPr>
              <a:t>40岁 - 60岁：成熟期与知天命期</a:t>
            </a:r>
            <a:endParaRPr sz="1500">
              <a:solidFill>
                <a:srgbClr val="0A0A0A"/>
              </a:solidFill>
              <a:highlight>
                <a:srgbClr val="FFFFFF"/>
              </a:highlight>
              <a:latin typeface="Arial"/>
              <a:ea typeface="Arial"/>
              <a:cs typeface="Arial"/>
              <a:sym typeface="Arial"/>
            </a:endParaRPr>
          </a:p>
          <a:p>
            <a:pPr indent="-299085" lvl="0" marL="457200" rtl="0" algn="l">
              <a:lnSpc>
                <a:spcPct val="150000"/>
              </a:lnSpc>
              <a:spcBef>
                <a:spcPts val="900"/>
              </a:spcBef>
              <a:spcAft>
                <a:spcPts val="0"/>
              </a:spcAft>
              <a:buClr>
                <a:srgbClr val="0A0A0A"/>
              </a:buClr>
              <a:buSzPct val="100000"/>
              <a:buFont typeface="Arial"/>
              <a:buChar char="●"/>
            </a:pPr>
            <a:r>
              <a:rPr b="1" lang="zh-CN" sz="1200">
                <a:solidFill>
                  <a:srgbClr val="0A0A0A"/>
                </a:solidFill>
                <a:highlight>
                  <a:srgbClr val="FFFFFF"/>
                </a:highlight>
                <a:latin typeface="Arial"/>
                <a:ea typeface="Arial"/>
                <a:cs typeface="Arial"/>
                <a:sym typeface="Arial"/>
              </a:rPr>
              <a:t>40岁：不惑之年。</a:t>
            </a:r>
            <a:r>
              <a:rPr lang="zh-CN" sz="1200">
                <a:solidFill>
                  <a:srgbClr val="0A0A0A"/>
                </a:solidFill>
                <a:highlight>
                  <a:srgbClr val="FFFFFF"/>
                </a:highlight>
                <a:latin typeface="Arial"/>
                <a:ea typeface="Arial"/>
                <a:cs typeface="Arial"/>
                <a:sym typeface="Arial"/>
              </a:rPr>
              <a:t> 遇事能明辨是非，不再感到困惑。</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0"/>
              </a:spcBef>
              <a:spcAft>
                <a:spcPts val="0"/>
              </a:spcAft>
              <a:buClr>
                <a:srgbClr val="0A0A0A"/>
              </a:buClr>
              <a:buSzPct val="100000"/>
              <a:buFont typeface="Arial"/>
              <a:buChar char="●"/>
            </a:pPr>
            <a:r>
              <a:rPr b="1" lang="zh-CN" sz="1200">
                <a:solidFill>
                  <a:srgbClr val="0A0A0A"/>
                </a:solidFill>
                <a:highlight>
                  <a:srgbClr val="FFFFFF"/>
                </a:highlight>
                <a:latin typeface="Arial"/>
                <a:ea typeface="Arial"/>
                <a:cs typeface="Arial"/>
                <a:sym typeface="Arial"/>
              </a:rPr>
              <a:t>50岁：知天命。</a:t>
            </a:r>
            <a:r>
              <a:rPr lang="zh-CN" sz="1200">
                <a:solidFill>
                  <a:srgbClr val="0A0A0A"/>
                </a:solidFill>
                <a:highlight>
                  <a:srgbClr val="FFFFFF"/>
                </a:highlight>
                <a:latin typeface="Arial"/>
                <a:ea typeface="Arial"/>
                <a:cs typeface="Arial"/>
                <a:sym typeface="Arial"/>
              </a:rPr>
              <a:t> 领悟了自然规律与人生使命，知晓努力后的不可强求。</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0"/>
              </a:spcBef>
              <a:spcAft>
                <a:spcPts val="0"/>
              </a:spcAft>
              <a:buClr>
                <a:srgbClr val="0A0A0A"/>
              </a:buClr>
              <a:buSzPct val="100000"/>
              <a:buFont typeface="Arial"/>
              <a:buChar char="●"/>
            </a:pPr>
            <a:r>
              <a:rPr b="1" lang="zh-CN" sz="1200">
                <a:solidFill>
                  <a:srgbClr val="0A0A0A"/>
                </a:solidFill>
                <a:highlight>
                  <a:srgbClr val="FFFFFF"/>
                </a:highlight>
                <a:latin typeface="Arial"/>
                <a:ea typeface="Arial"/>
                <a:cs typeface="Arial"/>
                <a:sym typeface="Arial"/>
              </a:rPr>
              <a:t>60岁：耳顺之年 / 花甲之年。</a:t>
            </a:r>
            <a:r>
              <a:rPr lang="zh-CN" sz="1200">
                <a:solidFill>
                  <a:srgbClr val="0A0A0A"/>
                </a:solidFill>
                <a:highlight>
                  <a:srgbClr val="FFFFFF"/>
                </a:highlight>
                <a:latin typeface="Arial"/>
                <a:ea typeface="Arial"/>
                <a:cs typeface="Arial"/>
                <a:sym typeface="Arial"/>
              </a:rPr>
              <a:t> 能听进不同意见（耳顺）；按干支纪年法，六十年为一轮回（花甲）。</a:t>
            </a:r>
            <a:endParaRPr sz="1200">
              <a:solidFill>
                <a:srgbClr val="0A0A0A"/>
              </a:solidFill>
              <a:highlight>
                <a:srgbClr val="FFFFFF"/>
              </a:highlight>
              <a:latin typeface="Arial"/>
              <a:ea typeface="Arial"/>
              <a:cs typeface="Arial"/>
              <a:sym typeface="Arial"/>
            </a:endParaRPr>
          </a:p>
          <a:p>
            <a:pPr indent="0" lvl="0" marL="0" rtl="0" algn="l">
              <a:lnSpc>
                <a:spcPct val="140000"/>
              </a:lnSpc>
              <a:spcBef>
                <a:spcPts val="2100"/>
              </a:spcBef>
              <a:spcAft>
                <a:spcPts val="0"/>
              </a:spcAft>
              <a:buClr>
                <a:schemeClr val="dk2"/>
              </a:buClr>
              <a:buSzPct val="73333"/>
              <a:buFont typeface="Arial"/>
              <a:buNone/>
            </a:pPr>
            <a:r>
              <a:rPr lang="zh-CN" sz="1500">
                <a:solidFill>
                  <a:srgbClr val="0A0A0A"/>
                </a:solidFill>
                <a:highlight>
                  <a:srgbClr val="FFFFFF"/>
                </a:highlight>
                <a:latin typeface="Arial"/>
                <a:ea typeface="Arial"/>
                <a:cs typeface="Arial"/>
                <a:sym typeface="Arial"/>
              </a:rPr>
              <a:t>70岁 - 100岁：高寿与颐养期</a:t>
            </a:r>
            <a:endParaRPr sz="1500">
              <a:solidFill>
                <a:srgbClr val="0A0A0A"/>
              </a:solidFill>
              <a:highlight>
                <a:srgbClr val="FFFFFF"/>
              </a:highlight>
              <a:latin typeface="Arial"/>
              <a:ea typeface="Arial"/>
              <a:cs typeface="Arial"/>
              <a:sym typeface="Arial"/>
            </a:endParaRPr>
          </a:p>
          <a:p>
            <a:pPr indent="-299085" lvl="0" marL="457200" rtl="0" algn="l">
              <a:lnSpc>
                <a:spcPct val="150000"/>
              </a:lnSpc>
              <a:spcBef>
                <a:spcPts val="900"/>
              </a:spcBef>
              <a:spcAft>
                <a:spcPts val="0"/>
              </a:spcAft>
              <a:buClr>
                <a:srgbClr val="0A0A0A"/>
              </a:buClr>
              <a:buSzPct val="100000"/>
              <a:buFont typeface="Arial"/>
              <a:buChar char="●"/>
            </a:pPr>
            <a:r>
              <a:rPr b="1" lang="zh-CN" sz="1200">
                <a:solidFill>
                  <a:srgbClr val="0A0A0A"/>
                </a:solidFill>
                <a:highlight>
                  <a:srgbClr val="FFFFFF"/>
                </a:highlight>
                <a:latin typeface="Arial"/>
                <a:ea typeface="Arial"/>
                <a:cs typeface="Arial"/>
                <a:sym typeface="Arial"/>
              </a:rPr>
              <a:t>70岁：古稀之年 / 从心之年。</a:t>
            </a:r>
            <a:r>
              <a:rPr lang="zh-CN" sz="1200">
                <a:solidFill>
                  <a:srgbClr val="0A0A0A"/>
                </a:solidFill>
                <a:highlight>
                  <a:srgbClr val="FFFFFF"/>
                </a:highlight>
                <a:latin typeface="Arial"/>
                <a:ea typeface="Arial"/>
                <a:cs typeface="Arial"/>
                <a:sym typeface="Arial"/>
              </a:rPr>
              <a:t> 杜甫云“人生七十古来稀”；孔子则称“从心所欲不逾矩”。</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0"/>
              </a:spcBef>
              <a:spcAft>
                <a:spcPts val="0"/>
              </a:spcAft>
              <a:buClr>
                <a:srgbClr val="0A0A0A"/>
              </a:buClr>
              <a:buSzPct val="100000"/>
              <a:buFont typeface="Arial"/>
              <a:buChar char="●"/>
            </a:pPr>
            <a:r>
              <a:rPr b="1" lang="zh-CN" sz="1200">
                <a:solidFill>
                  <a:srgbClr val="0A0A0A"/>
                </a:solidFill>
                <a:highlight>
                  <a:srgbClr val="FFFFFF"/>
                </a:highlight>
                <a:latin typeface="Arial"/>
                <a:ea typeface="Arial"/>
                <a:cs typeface="Arial"/>
                <a:sym typeface="Arial"/>
              </a:rPr>
              <a:t>80 - 90岁：耄耋[mào dié]之年。</a:t>
            </a:r>
            <a:r>
              <a:rPr lang="zh-CN" sz="1200">
                <a:solidFill>
                  <a:srgbClr val="0A0A0A"/>
                </a:solidFill>
                <a:highlight>
                  <a:srgbClr val="FFFFFF"/>
                </a:highlight>
                <a:latin typeface="Arial"/>
                <a:ea typeface="Arial"/>
                <a:cs typeface="Arial"/>
                <a:sym typeface="Arial"/>
              </a:rPr>
              <a:t> 泛指长寿老人。</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0"/>
              </a:spcBef>
              <a:spcAft>
                <a:spcPts val="0"/>
              </a:spcAft>
              <a:buClr>
                <a:srgbClr val="0A0A0A"/>
              </a:buClr>
              <a:buSzPct val="100000"/>
              <a:buFont typeface="Arial"/>
              <a:buChar char="●"/>
            </a:pPr>
            <a:r>
              <a:rPr b="1" lang="zh-CN" sz="1200">
                <a:solidFill>
                  <a:srgbClr val="0A0A0A"/>
                </a:solidFill>
                <a:highlight>
                  <a:srgbClr val="FFFFFF"/>
                </a:highlight>
                <a:latin typeface="Arial"/>
                <a:ea typeface="Arial"/>
                <a:cs typeface="Arial"/>
                <a:sym typeface="Arial"/>
              </a:rPr>
              <a:t>90岁：鲐[tái]背之年。</a:t>
            </a:r>
            <a:r>
              <a:rPr lang="zh-CN" sz="1200">
                <a:solidFill>
                  <a:srgbClr val="0A0A0A"/>
                </a:solidFill>
                <a:highlight>
                  <a:srgbClr val="FFFFFF"/>
                </a:highlight>
                <a:latin typeface="Arial"/>
                <a:ea typeface="Arial"/>
                <a:cs typeface="Arial"/>
                <a:sym typeface="Arial"/>
              </a:rPr>
              <a:t> 老人背上的斑纹像鲐鱼，是高寿的象征。</a:t>
            </a:r>
            <a:endParaRPr sz="1200">
              <a:solidFill>
                <a:srgbClr val="0A0A0A"/>
              </a:solidFill>
              <a:highlight>
                <a:srgbClr val="FFFFFF"/>
              </a:highlight>
              <a:latin typeface="Arial"/>
              <a:ea typeface="Arial"/>
              <a:cs typeface="Arial"/>
              <a:sym typeface="Arial"/>
            </a:endParaRPr>
          </a:p>
          <a:p>
            <a:pPr indent="-299085" lvl="0" marL="457200" rtl="0" algn="l">
              <a:lnSpc>
                <a:spcPct val="150000"/>
              </a:lnSpc>
              <a:spcBef>
                <a:spcPts val="0"/>
              </a:spcBef>
              <a:spcAft>
                <a:spcPts val="0"/>
              </a:spcAft>
              <a:buClr>
                <a:srgbClr val="0A0A0A"/>
              </a:buClr>
              <a:buSzPct val="100000"/>
              <a:buFont typeface="Arial"/>
              <a:buChar char="●"/>
            </a:pPr>
            <a:r>
              <a:rPr b="1" lang="zh-CN" sz="1200">
                <a:solidFill>
                  <a:srgbClr val="0A0A0A"/>
                </a:solidFill>
                <a:highlight>
                  <a:srgbClr val="FFFFFF"/>
                </a:highlight>
                <a:latin typeface="Arial"/>
                <a:ea typeface="Arial"/>
                <a:cs typeface="Arial"/>
                <a:sym typeface="Arial"/>
              </a:rPr>
              <a:t>100岁：期颐[qī yí]之年。</a:t>
            </a:r>
            <a:r>
              <a:rPr lang="zh-CN" sz="1200">
                <a:solidFill>
                  <a:srgbClr val="0A0A0A"/>
                </a:solidFill>
                <a:highlight>
                  <a:srgbClr val="FFFFFF"/>
                </a:highlight>
                <a:latin typeface="Arial"/>
                <a:ea typeface="Arial"/>
                <a:cs typeface="Arial"/>
                <a:sym typeface="Arial"/>
              </a:rPr>
              <a:t> 出自《礼记》，指由于百岁高龄，需要他人全方位赡养。</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1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细读课文《华语情结》余秋雨</a:t>
            </a:r>
            <a:endParaRPr/>
          </a:p>
        </p:txBody>
      </p:sp>
      <p:sp>
        <p:nvSpPr>
          <p:cNvPr id="1497" name="Google Shape;1497;p171"/>
          <p:cNvSpPr txBox="1"/>
          <p:nvPr>
            <p:ph idx="1" type="body"/>
          </p:nvPr>
        </p:nvSpPr>
        <p:spPr>
          <a:xfrm>
            <a:off x="1380525" y="1234075"/>
            <a:ext cx="74517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划分文章一共有几个阶段。</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CN"/>
              <a:t>每个阶段分别有什么核心的内容和思想？</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1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课前活动：“形散”、“意不散”</a:t>
            </a:r>
            <a:endParaRPr/>
          </a:p>
        </p:txBody>
      </p:sp>
      <p:sp>
        <p:nvSpPr>
          <p:cNvPr id="1503" name="Google Shape;1503;p172"/>
          <p:cNvSpPr txBox="1"/>
          <p:nvPr>
            <p:ph idx="1" type="body"/>
          </p:nvPr>
        </p:nvSpPr>
        <p:spPr>
          <a:xfrm>
            <a:off x="1215050" y="1234075"/>
            <a:ext cx="76173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回顾课文的内容，说一说《华语情结》这篇散文里分了几个片段？</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CN"/>
              <a:t>核心的思想是什么？怎么做到了“形散意不散”？</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1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09" name="Google Shape;1509;p173"/>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10" name="Google Shape;1510;p173" title="Screenshot 2026-01-29 at 1.21.45 PM.png"/>
          <p:cNvPicPr preferRelativeResize="0"/>
          <p:nvPr/>
        </p:nvPicPr>
        <p:blipFill>
          <a:blip r:embed="rId3">
            <a:alphaModFix/>
          </a:blip>
          <a:stretch>
            <a:fillRect/>
          </a:stretch>
        </p:blipFill>
        <p:spPr>
          <a:xfrm>
            <a:off x="1206225" y="1130398"/>
            <a:ext cx="7227126" cy="3334801"/>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4" name="Shape 1514"/>
        <p:cNvGrpSpPr/>
        <p:nvPr/>
      </p:nvGrpSpPr>
      <p:grpSpPr>
        <a:xfrm>
          <a:off x="0" y="0"/>
          <a:ext cx="0" cy="0"/>
          <a:chOff x="0" y="0"/>
          <a:chExt cx="0" cy="0"/>
        </a:xfrm>
      </p:grpSpPr>
      <p:sp>
        <p:nvSpPr>
          <p:cNvPr id="1515" name="Google Shape;1515;p1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文本细读</a:t>
            </a:r>
            <a:endParaRPr/>
          </a:p>
        </p:txBody>
      </p:sp>
      <p:sp>
        <p:nvSpPr>
          <p:cNvPr id="1516" name="Google Shape;1516;p174"/>
          <p:cNvSpPr txBox="1"/>
          <p:nvPr>
            <p:ph idx="1" type="body"/>
          </p:nvPr>
        </p:nvSpPr>
        <p:spPr>
          <a:xfrm>
            <a:off x="1259450" y="1234075"/>
            <a:ext cx="75729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根据课文的几个片段，分成对应的小组。</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CN"/>
              <a:t>分组细读文本，找出每部分里最精彩的用词和句子，并给其他组的同学分享为什么精彩，对全文核心思想做出了什么贡献？</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1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散文分析的思路</a:t>
            </a:r>
            <a:endParaRPr/>
          </a:p>
        </p:txBody>
      </p:sp>
      <p:sp>
        <p:nvSpPr>
          <p:cNvPr id="1522" name="Google Shape;1522;p175"/>
          <p:cNvSpPr txBox="1"/>
          <p:nvPr>
            <p:ph idx="1" type="body"/>
          </p:nvPr>
        </p:nvSpPr>
        <p:spPr>
          <a:xfrm>
            <a:off x="1508525" y="1234075"/>
            <a:ext cx="7323900" cy="3334800"/>
          </a:xfrm>
          <a:prstGeom prst="rect">
            <a:avLst/>
          </a:prstGeom>
        </p:spPr>
        <p:txBody>
          <a:bodyPr anchorCtr="0" anchor="t" bIns="91425" lIns="91425" spcFirstLastPara="1" rIns="91425" wrap="square" tIns="91425">
            <a:normAutofit lnSpcReduction="20000"/>
          </a:bodyPr>
          <a:lstStyle/>
          <a:p>
            <a:pPr indent="-342900" lvl="0" marL="457200" rtl="0" algn="l">
              <a:lnSpc>
                <a:spcPct val="150000"/>
              </a:lnSpc>
              <a:spcBef>
                <a:spcPts val="0"/>
              </a:spcBef>
              <a:spcAft>
                <a:spcPts val="0"/>
              </a:spcAft>
              <a:buSzPts val="1800"/>
              <a:buAutoNum type="arabicPeriod"/>
            </a:pPr>
            <a:r>
              <a:rPr lang="zh-CN"/>
              <a:t>总体介绍这篇散文形如何散。（散）</a:t>
            </a:r>
            <a:endParaRPr/>
          </a:p>
          <a:p>
            <a:pPr indent="-342900" lvl="0" marL="457200" rtl="0" algn="l">
              <a:lnSpc>
                <a:spcPct val="150000"/>
              </a:lnSpc>
              <a:spcBef>
                <a:spcPts val="0"/>
              </a:spcBef>
              <a:spcAft>
                <a:spcPts val="0"/>
              </a:spcAft>
              <a:buSzPts val="1800"/>
              <a:buAutoNum type="arabicPeriod"/>
            </a:pPr>
            <a:r>
              <a:rPr lang="zh-CN"/>
              <a:t>分开分析每个片段，取用词、写作方式的精华，有理有据地解释。</a:t>
            </a:r>
            <a:endParaRPr/>
          </a:p>
          <a:p>
            <a:pPr indent="-317500" lvl="1" marL="914400" rtl="0" algn="l">
              <a:lnSpc>
                <a:spcPct val="150000"/>
              </a:lnSpc>
              <a:spcBef>
                <a:spcPts val="0"/>
              </a:spcBef>
              <a:spcAft>
                <a:spcPts val="0"/>
              </a:spcAft>
              <a:buSzPts val="1400"/>
              <a:buAutoNum type="arabicPeriod"/>
            </a:pPr>
            <a:r>
              <a:rPr lang="zh-CN"/>
              <a:t>第一个片段  [本文为例，采访片段]</a:t>
            </a:r>
            <a:endParaRPr/>
          </a:p>
          <a:p>
            <a:pPr indent="-317500" lvl="1" marL="914400" rtl="0" algn="l">
              <a:lnSpc>
                <a:spcPct val="150000"/>
              </a:lnSpc>
              <a:spcBef>
                <a:spcPts val="0"/>
              </a:spcBef>
              <a:spcAft>
                <a:spcPts val="0"/>
              </a:spcAft>
              <a:buSzPts val="1400"/>
              <a:buAutoNum type="arabicPeriod"/>
            </a:pPr>
            <a:r>
              <a:rPr lang="zh-CN"/>
              <a:t>第二个片段</a:t>
            </a:r>
            <a:r>
              <a:rPr lang="zh-CN"/>
              <a:t>  [本文为例，话剧片段]</a:t>
            </a:r>
            <a:endParaRPr/>
          </a:p>
          <a:p>
            <a:pPr indent="-317500" lvl="1" marL="914400" rtl="0" algn="l">
              <a:lnSpc>
                <a:spcPct val="150000"/>
              </a:lnSpc>
              <a:spcBef>
                <a:spcPts val="0"/>
              </a:spcBef>
              <a:spcAft>
                <a:spcPts val="0"/>
              </a:spcAft>
              <a:buSzPts val="1400"/>
              <a:buAutoNum type="arabicPeriod"/>
            </a:pPr>
            <a:r>
              <a:rPr lang="zh-CN"/>
              <a:t>第三个片段 </a:t>
            </a:r>
            <a:r>
              <a:rPr lang="zh-CN"/>
              <a:t> [本文为例，发型师片段]</a:t>
            </a:r>
            <a:endParaRPr/>
          </a:p>
          <a:p>
            <a:pPr indent="-317500" lvl="1" marL="914400" rtl="0" algn="l">
              <a:lnSpc>
                <a:spcPct val="150000"/>
              </a:lnSpc>
              <a:spcBef>
                <a:spcPts val="0"/>
              </a:spcBef>
              <a:spcAft>
                <a:spcPts val="0"/>
              </a:spcAft>
              <a:buSzPts val="1400"/>
              <a:buAutoNum type="arabicPeriod"/>
            </a:pPr>
            <a:r>
              <a:rPr lang="zh-CN"/>
              <a:t>第四个片段 </a:t>
            </a:r>
            <a:r>
              <a:rPr lang="zh-CN"/>
              <a:t> [本文为例，牛车水片段]</a:t>
            </a:r>
            <a:endParaRPr/>
          </a:p>
          <a:p>
            <a:pPr indent="-342900" lvl="0" marL="457200" rtl="0" algn="l">
              <a:lnSpc>
                <a:spcPct val="150000"/>
              </a:lnSpc>
              <a:spcBef>
                <a:spcPts val="0"/>
              </a:spcBef>
              <a:spcAft>
                <a:spcPts val="0"/>
              </a:spcAft>
              <a:buSzPts val="1800"/>
              <a:buAutoNum type="arabicPeriod"/>
            </a:pPr>
            <a:r>
              <a:rPr lang="zh-CN"/>
              <a:t>总结散落片段之间的关系。（聚）</a:t>
            </a:r>
            <a:endParaRPr/>
          </a:p>
          <a:p>
            <a:pPr indent="0" lvl="0" marL="0" rtl="0" algn="l">
              <a:lnSpc>
                <a:spcPct val="150000"/>
              </a:lnSpc>
              <a:spcBef>
                <a:spcPts val="1200"/>
              </a:spcBef>
              <a:spcAft>
                <a:spcPts val="1200"/>
              </a:spcAft>
              <a:buNone/>
            </a:pPr>
            <a:r>
              <a:rPr lang="zh-CN"/>
              <a:t>字数不限，但是要避免无效语言，预计需要大概600字才能把分析写完整。</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1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作业：写《华语情结》的散文分析</a:t>
            </a:r>
            <a:endParaRPr/>
          </a:p>
        </p:txBody>
      </p:sp>
      <p:sp>
        <p:nvSpPr>
          <p:cNvPr id="1528" name="Google Shape;1528;p176"/>
          <p:cNvSpPr txBox="1"/>
          <p:nvPr>
            <p:ph idx="1" type="body"/>
          </p:nvPr>
        </p:nvSpPr>
        <p:spPr>
          <a:xfrm>
            <a:off x="781525" y="1234075"/>
            <a:ext cx="8050800" cy="3334800"/>
          </a:xfrm>
          <a:prstGeom prst="rect">
            <a:avLst/>
          </a:prstGeom>
        </p:spPr>
        <p:txBody>
          <a:bodyPr anchorCtr="0" anchor="t" bIns="91425" lIns="91425" spcFirstLastPara="1" rIns="91425" wrap="square" tIns="91425">
            <a:normAutofit fontScale="85000" lnSpcReduction="20000"/>
          </a:bodyPr>
          <a:lstStyle/>
          <a:p>
            <a:pPr indent="0" lvl="0" marL="0" rtl="0" algn="l">
              <a:lnSpc>
                <a:spcPct val="150000"/>
              </a:lnSpc>
              <a:spcBef>
                <a:spcPts val="0"/>
              </a:spcBef>
              <a:spcAft>
                <a:spcPts val="0"/>
              </a:spcAft>
              <a:buNone/>
            </a:pPr>
            <a:r>
              <a:rPr lang="zh-CN"/>
              <a:t>按照课上讲过的散文分析思路，写一篇散文分析文章。</a:t>
            </a:r>
            <a:r>
              <a:rPr lang="zh-CN"/>
              <a:t>字数不限，但是要避免无效语言，预计需要大概600字才能把分析写完整。</a:t>
            </a:r>
            <a:endParaRPr/>
          </a:p>
          <a:p>
            <a:pPr indent="-325755" lvl="0" marL="457200" rtl="0" algn="l">
              <a:lnSpc>
                <a:spcPct val="150000"/>
              </a:lnSpc>
              <a:spcBef>
                <a:spcPts val="1200"/>
              </a:spcBef>
              <a:spcAft>
                <a:spcPts val="0"/>
              </a:spcAft>
              <a:buSzPct val="100000"/>
              <a:buAutoNum type="arabicPeriod"/>
            </a:pPr>
            <a:r>
              <a:rPr lang="zh-CN"/>
              <a:t>总体介绍这篇散文形如何散。（散）</a:t>
            </a:r>
            <a:endParaRPr/>
          </a:p>
          <a:p>
            <a:pPr indent="-325755" lvl="0" marL="457200" rtl="0" algn="l">
              <a:lnSpc>
                <a:spcPct val="150000"/>
              </a:lnSpc>
              <a:spcBef>
                <a:spcPts val="0"/>
              </a:spcBef>
              <a:spcAft>
                <a:spcPts val="0"/>
              </a:spcAft>
              <a:buSzPct val="100000"/>
              <a:buAutoNum type="arabicPeriod"/>
            </a:pPr>
            <a:r>
              <a:rPr lang="zh-CN"/>
              <a:t>分开分析每个片段，取用词、写作方式的精华，有理有据地解释。</a:t>
            </a:r>
            <a:endParaRPr/>
          </a:p>
          <a:p>
            <a:pPr indent="-304165" lvl="1" marL="914400" rtl="0" algn="l">
              <a:lnSpc>
                <a:spcPct val="150000"/>
              </a:lnSpc>
              <a:spcBef>
                <a:spcPts val="0"/>
              </a:spcBef>
              <a:spcAft>
                <a:spcPts val="0"/>
              </a:spcAft>
              <a:buSzPct val="100000"/>
              <a:buAutoNum type="arabicPeriod"/>
            </a:pPr>
            <a:r>
              <a:rPr lang="zh-CN"/>
              <a:t>第一个片段  [本文为例，采访片段]</a:t>
            </a:r>
            <a:endParaRPr/>
          </a:p>
          <a:p>
            <a:pPr indent="-304165" lvl="1" marL="914400" rtl="0" algn="l">
              <a:lnSpc>
                <a:spcPct val="150000"/>
              </a:lnSpc>
              <a:spcBef>
                <a:spcPts val="0"/>
              </a:spcBef>
              <a:spcAft>
                <a:spcPts val="0"/>
              </a:spcAft>
              <a:buSzPct val="100000"/>
              <a:buAutoNum type="arabicPeriod"/>
            </a:pPr>
            <a:r>
              <a:rPr lang="zh-CN"/>
              <a:t>第二个片段  [本文为例，话剧片段]</a:t>
            </a:r>
            <a:endParaRPr/>
          </a:p>
          <a:p>
            <a:pPr indent="-304165" lvl="1" marL="914400" rtl="0" algn="l">
              <a:lnSpc>
                <a:spcPct val="150000"/>
              </a:lnSpc>
              <a:spcBef>
                <a:spcPts val="0"/>
              </a:spcBef>
              <a:spcAft>
                <a:spcPts val="0"/>
              </a:spcAft>
              <a:buSzPct val="100000"/>
              <a:buAutoNum type="arabicPeriod"/>
            </a:pPr>
            <a:r>
              <a:rPr lang="zh-CN"/>
              <a:t>第三个片段  [本文为例，发型师片段]</a:t>
            </a:r>
            <a:endParaRPr/>
          </a:p>
          <a:p>
            <a:pPr indent="-304165" lvl="1" marL="914400" rtl="0" algn="l">
              <a:lnSpc>
                <a:spcPct val="150000"/>
              </a:lnSpc>
              <a:spcBef>
                <a:spcPts val="0"/>
              </a:spcBef>
              <a:spcAft>
                <a:spcPts val="0"/>
              </a:spcAft>
              <a:buSzPct val="100000"/>
              <a:buAutoNum type="arabicPeriod"/>
            </a:pPr>
            <a:r>
              <a:rPr lang="zh-CN"/>
              <a:t>第四个片段  [本文为例，牛车水片段]</a:t>
            </a:r>
            <a:endParaRPr/>
          </a:p>
          <a:p>
            <a:pPr indent="-325755" lvl="0" marL="457200" rtl="0" algn="l">
              <a:lnSpc>
                <a:spcPct val="150000"/>
              </a:lnSpc>
              <a:spcBef>
                <a:spcPts val="0"/>
              </a:spcBef>
              <a:spcAft>
                <a:spcPts val="0"/>
              </a:spcAft>
              <a:buSzPct val="100000"/>
              <a:buAutoNum type="arabicPeriod"/>
            </a:pPr>
            <a:r>
              <a:rPr lang="zh-CN"/>
              <a:t>总结散落片段之间的关系。（聚）</a:t>
            </a:r>
            <a:endParaRPr/>
          </a:p>
          <a:p>
            <a:pPr indent="0" lvl="0" marL="0" rtl="0" algn="l">
              <a:lnSpc>
                <a:spcPct val="150000"/>
              </a:lnSpc>
              <a:spcBef>
                <a:spcPts val="1200"/>
              </a:spcBef>
              <a:spcAft>
                <a:spcPts val="1200"/>
              </a:spcAft>
              <a:buNone/>
            </a:pPr>
            <a:r>
              <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1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简体字与繁体字</a:t>
            </a:r>
            <a:endParaRPr/>
          </a:p>
        </p:txBody>
      </p:sp>
      <p:pic>
        <p:nvPicPr>
          <p:cNvPr id="1534" name="Google Shape;1534;p177"/>
          <p:cNvPicPr preferRelativeResize="0"/>
          <p:nvPr/>
        </p:nvPicPr>
        <p:blipFill>
          <a:blip r:embed="rId3">
            <a:alphaModFix/>
          </a:blip>
          <a:stretch>
            <a:fillRect/>
          </a:stretch>
        </p:blipFill>
        <p:spPr>
          <a:xfrm>
            <a:off x="4222350" y="61824"/>
            <a:ext cx="4921640" cy="4892850"/>
          </a:xfrm>
          <a:prstGeom prst="rect">
            <a:avLst/>
          </a:prstGeom>
          <a:noFill/>
          <a:ln>
            <a:noFill/>
          </a:ln>
        </p:spPr>
      </p:pic>
      <p:pic>
        <p:nvPicPr>
          <p:cNvPr id="1535" name="Google Shape;1535;p177"/>
          <p:cNvPicPr preferRelativeResize="0"/>
          <p:nvPr/>
        </p:nvPicPr>
        <p:blipFill>
          <a:blip r:embed="rId4">
            <a:alphaModFix/>
          </a:blip>
          <a:stretch>
            <a:fillRect/>
          </a:stretch>
        </p:blipFill>
        <p:spPr>
          <a:xfrm>
            <a:off x="127000" y="1343025"/>
            <a:ext cx="3810000" cy="2457450"/>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sp>
        <p:nvSpPr>
          <p:cNvPr id="1540" name="Google Shape;1540;p1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辩论活动：辩题——保留繁体字</a:t>
            </a:r>
            <a:endParaRPr/>
          </a:p>
        </p:txBody>
      </p:sp>
      <p:sp>
        <p:nvSpPr>
          <p:cNvPr id="1541" name="Google Shape;1541;p178"/>
          <p:cNvSpPr txBox="1"/>
          <p:nvPr>
            <p:ph idx="1" type="body"/>
          </p:nvPr>
        </p:nvSpPr>
        <p:spPr>
          <a:xfrm>
            <a:off x="1118150" y="1234075"/>
            <a:ext cx="66765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latin typeface="STKaiti"/>
                <a:ea typeface="STKaiti"/>
                <a:cs typeface="STKaiti"/>
                <a:sym typeface="STKaiti"/>
              </a:rPr>
              <a:t>在全球化的今天，文化交流频繁，由此产生的身份认同与语言焦虑问题日益明显，尤其在香港，人们对繁体字和简体字所承载的不同文化也多有争论。</a:t>
            </a:r>
            <a:endParaRPr>
              <a:latin typeface="STKaiti"/>
              <a:ea typeface="STKaiti"/>
              <a:cs typeface="STKaiti"/>
              <a:sym typeface="STKaiti"/>
            </a:endParaRPr>
          </a:p>
          <a:p>
            <a:pPr indent="0" lvl="0" marL="0" rtl="0" algn="l">
              <a:spcBef>
                <a:spcPts val="1200"/>
              </a:spcBef>
              <a:spcAft>
                <a:spcPts val="0"/>
              </a:spcAft>
              <a:buNone/>
            </a:pPr>
            <a:r>
              <a:rPr lang="zh-CN">
                <a:latin typeface="STKaiti"/>
                <a:ea typeface="STKaiti"/>
                <a:cs typeface="STKaiti"/>
                <a:sym typeface="STKaiti"/>
              </a:rPr>
              <a:t>有些人认为应该坚持使用繁体字，因为它是中国传统文化，尤其是香港本土文化的载体，“爱”不可无“心”；</a:t>
            </a:r>
            <a:endParaRPr>
              <a:latin typeface="STKaiti"/>
              <a:ea typeface="STKaiti"/>
              <a:cs typeface="STKaiti"/>
              <a:sym typeface="STKaiti"/>
            </a:endParaRPr>
          </a:p>
          <a:p>
            <a:pPr indent="0" lvl="0" marL="0" rtl="0" algn="l">
              <a:spcBef>
                <a:spcPts val="1200"/>
              </a:spcBef>
              <a:spcAft>
                <a:spcPts val="0"/>
              </a:spcAft>
              <a:buNone/>
            </a:pPr>
            <a:r>
              <a:rPr lang="zh-CN">
                <a:latin typeface="STKaiti"/>
                <a:ea typeface="STKaiti"/>
                <a:cs typeface="STKaiti"/>
                <a:sym typeface="STKaiti"/>
              </a:rPr>
              <a:t>有人认为应该删繁就简，简体字是顺应文化传播潮流的正确举措，也是香港融入祖国的重要途径，和合才能大同。</a:t>
            </a:r>
            <a:endParaRPr>
              <a:latin typeface="STKaiti"/>
              <a:ea typeface="STKaiti"/>
              <a:cs typeface="STKaiti"/>
              <a:sym typeface="STKaiti"/>
            </a:endParaRPr>
          </a:p>
          <a:p>
            <a:pPr indent="0" lvl="0" marL="0" rtl="0" algn="l">
              <a:spcBef>
                <a:spcPts val="1200"/>
              </a:spcBef>
              <a:spcAft>
                <a:spcPts val="1200"/>
              </a:spcAft>
              <a:buNone/>
            </a:pPr>
            <a:r>
              <a:rPr lang="zh-CN">
                <a:latin typeface="STKaiti"/>
                <a:ea typeface="STKaiti"/>
                <a:cs typeface="STKaiti"/>
                <a:sym typeface="STKaiti"/>
              </a:rPr>
              <a:t>你赞同哪一个观点？</a:t>
            </a:r>
            <a:endParaRPr sz="1100">
              <a:solidFill>
                <a:srgbClr val="000000"/>
              </a:solidFill>
              <a:latin typeface="Arial"/>
              <a:ea typeface="Arial"/>
              <a:cs typeface="Arial"/>
              <a:sym typeface="Arial"/>
            </a:endParaRPr>
          </a:p>
        </p:txBody>
      </p:sp>
      <p:pic>
        <p:nvPicPr>
          <p:cNvPr id="1542" name="Google Shape;1542;p178"/>
          <p:cNvPicPr preferRelativeResize="0"/>
          <p:nvPr/>
        </p:nvPicPr>
        <p:blipFill rotWithShape="1">
          <a:blip r:embed="rId3">
            <a:alphaModFix/>
          </a:blip>
          <a:srcRect b="12671" l="15873" r="11113" t="0"/>
          <a:stretch/>
        </p:blipFill>
        <p:spPr>
          <a:xfrm>
            <a:off x="7040575" y="0"/>
            <a:ext cx="1825625" cy="1234075"/>
          </a:xfrm>
          <a:prstGeom prst="rect">
            <a:avLst/>
          </a:prstGeom>
          <a:noFill/>
          <a:ln>
            <a:noFill/>
          </a:ln>
        </p:spPr>
      </p:pic>
      <p:pic>
        <p:nvPicPr>
          <p:cNvPr id="1543" name="Google Shape;1543;p178"/>
          <p:cNvPicPr preferRelativeResize="0"/>
          <p:nvPr/>
        </p:nvPicPr>
        <p:blipFill>
          <a:blip r:embed="rId4">
            <a:alphaModFix/>
          </a:blip>
          <a:stretch>
            <a:fillRect/>
          </a:stretch>
        </p:blipFill>
        <p:spPr>
          <a:xfrm>
            <a:off x="6453200" y="3715275"/>
            <a:ext cx="2690800" cy="1428225"/>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sp>
        <p:nvSpPr>
          <p:cNvPr id="1548" name="Google Shape;1548;p1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分组情况</a:t>
            </a:r>
            <a:endParaRPr/>
          </a:p>
        </p:txBody>
      </p:sp>
      <p:sp>
        <p:nvSpPr>
          <p:cNvPr id="1549" name="Google Shape;1549;p179"/>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第一组：保留繁体字 (正方)</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CN"/>
              <a:t>第二组：推广简体字 (反方)</a:t>
            </a:r>
            <a:endParaRPr/>
          </a:p>
        </p:txBody>
      </p:sp>
      <p:pic>
        <p:nvPicPr>
          <p:cNvPr id="1550" name="Google Shape;1550;p179" title="Screenshot 2026-02-02 at 12.51.45 PM.png"/>
          <p:cNvPicPr preferRelativeResize="0"/>
          <p:nvPr/>
        </p:nvPicPr>
        <p:blipFill>
          <a:blip r:embed="rId3">
            <a:alphaModFix/>
          </a:blip>
          <a:stretch>
            <a:fillRect/>
          </a:stretch>
        </p:blipFill>
        <p:spPr>
          <a:xfrm>
            <a:off x="4907796" y="0"/>
            <a:ext cx="423620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