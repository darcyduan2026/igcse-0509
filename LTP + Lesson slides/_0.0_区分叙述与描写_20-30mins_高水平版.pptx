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25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建议时间：1分钟。不要先给完整定义，只强调今天会遇到“混合句”和有争议的答案。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建议时间：1分钟。成功标准：学生能用“推进/展开/混合”解释，而不是只说“有动作、有形容词”。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建议时间：3分钟。先独立判断，再和旁边同学比较最有争议的一句。不要急着给“唯一答案”。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建议时间：2分钟。重点纠正常见误区：动作≠一定是叙述；有形容词≠一定是描写。第1、5句允许学生提出不同判断，只要能说明功能。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建议时间：6分钟。先独立3分钟，再两人比较2分钟，最后全班1分钟。重点观察学生是否把“动作句”全部当叙述。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建议时间：2分钟。可让学生先说“为什么作者要在59分停下来”，再揭示最后一句总结。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建议时间：7分钟。独立2分钟，小组3分钟，全班2分钟。A通常最接近纯叙述；B最接近纯描写；D是最明显混合；C也可讨论为叙述为主。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建议时间：2分钟。强调“连续谱”概念，让学生接受一部分句子可同时承担两个功能。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建议时间：6分钟。学生先在B中标“快/慢”，再回答最后问题。目标是理解描写必须选择重点，而不是越多越好。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建议时间：2分钟。用“选择性慢镜头”概括。提醒：描写不是把所有动作都拆细，而是把最有价值的瞬间展开。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建议时间：5分钟。学生独立写。老师巡视时只问两个问题：你选择慢下来的瞬间是哪一秒？为什么是这一秒？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建议时间：2分钟，可选页。时间不够可跳过。让学生先指出“慢”的位置再展示底部三块总结。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建议时间：3分钟。参考：第2题“混合”为最合适答案——“伸手去拿”推进动作，“冰冷/缩了一下”把触觉和反应放大。可收走作为形成性证据。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465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39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IGCSE 0509 中文第一语言｜叙述 × 描写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叙述 × 描写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0299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谁在控制“速度”？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0"/>
            <a:ext cx="4617720" cy="1417320"/>
          </a:xfrm>
          <a:prstGeom prst="roundRect">
            <a:avLst>
              <a:gd name="adj" fmla="val 3871"/>
            </a:avLst>
          </a:prstGeom>
          <a:solidFill>
            <a:srgbClr val="FFF0D3"/>
          </a:solidFill>
          <a:ln w="12700">
            <a:solidFill>
              <a:srgbClr val="F0C47A"/>
            </a:solidFill>
            <a:prstDash val="solid"/>
          </a:ln>
          <a:effectLst>
            <a:outerShdw blurRad="12700" dist="50800" dir="2700000" algn="bl" rotWithShape="0">
              <a:srgbClr val="B8B0A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▶ 叙述｜快进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3444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推进事件 · 让时间往前走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09160" y="3392424"/>
            <a:ext cx="530352" cy="384048"/>
          </a:xfrm>
          <a:prstGeom prst="chevron">
            <a:avLst/>
          </a:prstGeom>
          <a:solidFill>
            <a:srgbClr val="E78A18"/>
          </a:solidFill>
          <a:ln w="12700">
            <a:solidFill>
              <a:srgbClr val="E78A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2926080"/>
            <a:ext cx="4617720" cy="1417320"/>
          </a:xfrm>
          <a:prstGeom prst="roundRect">
            <a:avLst>
              <a:gd name="adj" fmla="val 3871"/>
            </a:avLst>
          </a:prstGeom>
          <a:solidFill>
            <a:srgbClr val="DDF5F0"/>
          </a:solidFill>
          <a:ln w="12700">
            <a:solidFill>
              <a:srgbClr val="8FD6CE"/>
            </a:solidFill>
            <a:prstDash val="solid"/>
          </a:ln>
          <a:effectLst>
            <a:outerShdw blurRad="12700" dist="50800" dir="2700000" algn="bl" rotWithShape="0">
              <a:srgbClr val="B8B0A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0" y="3246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🔎 描写｜慢镜头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58000" y="3703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聚焦瞬间 · 让读者停下来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89204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今天不做“找形容词”的简单题。我们要判断：作者在这一刻到底想让读者做什么？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今天只练一件事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从“会辨认”升级到“会控制文章节奏”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074920" cy="3474720"/>
          </a:xfrm>
          <a:prstGeom prst="roundRect">
            <a:avLst>
              <a:gd name="adj" fmla="val 1579"/>
            </a:avLst>
          </a:prstGeom>
          <a:solidFill>
            <a:srgbClr val="FFFCF6"/>
          </a:solidFill>
          <a:ln w="12700">
            <a:solidFill>
              <a:srgbClr val="D6D0C3"/>
            </a:solidFill>
            <a:prstDash val="solid"/>
          </a:ln>
          <a:effectLst>
            <a:outerShdw blurRad="12700" dist="50800" dir="2700000" algn="bl" rotWithShape="0">
              <a:srgbClr val="B8B0A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755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学习目标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51560" y="2286000"/>
            <a:ext cx="310896" cy="310896"/>
          </a:xfrm>
          <a:prstGeom prst="ellipse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0428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90472" y="2276856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判断一句话主要在推进事件，还是展开一个瞬间。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2999232"/>
            <a:ext cx="310896" cy="310896"/>
          </a:xfrm>
          <a:prstGeom prst="ellipse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01752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90472" y="2990088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识别“叙述＋描写”同时存在的混合句。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1560" y="3712464"/>
            <a:ext cx="310896" cy="310896"/>
          </a:xfrm>
          <a:prstGeom prst="ellipse">
            <a:avLst/>
          </a:prstGeom>
          <a:solidFill>
            <a:srgbClr val="138F86"/>
          </a:solidFill>
          <a:ln w="12700">
            <a:solidFill>
              <a:srgbClr val="138F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73075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90472" y="3703320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在自己的作文里决定：哪里快，哪里慢。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5074920" cy="3474720"/>
          </a:xfrm>
          <a:prstGeom prst="roundRect">
            <a:avLst>
              <a:gd name="adj" fmla="val 1579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  <a:effectLst>
            <a:outerShdw blurRad="12700" dist="50800" dir="2700000" algn="bl" rotWithShape="0">
              <a:srgbClr val="B8B0A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E7F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今天的大问题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9400" y="2395728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作者什么时候应该“快”？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什么时候必须“慢下来”？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629400" y="4069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7F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最后你要能把一段“流水账”改成有节奏的文字。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Starter｜这些句子真的能“一刀切”吗？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3分钟｜每句旁边写：叙 / 描 / 混（混合）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10607040" cy="621792"/>
          </a:xfrm>
          <a:prstGeom prst="roundRect">
            <a:avLst>
              <a:gd name="adj" fmla="val 8824"/>
            </a:avLst>
          </a:prstGeom>
          <a:solidFill>
            <a:srgbClr val="FFFCF6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591056"/>
            <a:ext cx="310896" cy="310896"/>
          </a:xfrm>
          <a:prstGeom prst="ellipse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0934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90472" y="15544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他低下头，把揉皱的试卷塞进书包最里面。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87000" y="1554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____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286000"/>
            <a:ext cx="10607040" cy="621792"/>
          </a:xfrm>
          <a:prstGeom prst="roundRect">
            <a:avLst>
              <a:gd name="adj" fmla="val 8824"/>
            </a:avLst>
          </a:prstGeom>
          <a:solidFill>
            <a:srgbClr val="FBF9F3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2432304"/>
            <a:ext cx="310896" cy="310896"/>
          </a:xfrm>
          <a:prstGeom prst="ellipse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45059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90472" y="2395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我等了十分钟，他终于来了。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87000" y="23957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____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" y="3127248"/>
            <a:ext cx="10607040" cy="621792"/>
          </a:xfrm>
          <a:prstGeom prst="roundRect">
            <a:avLst>
              <a:gd name="adj" fmla="val 8824"/>
            </a:avLst>
          </a:prstGeom>
          <a:solidFill>
            <a:srgbClr val="FFFCF6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3273552"/>
            <a:ext cx="310896" cy="310896"/>
          </a:xfrm>
          <a:prstGeom prst="ellipse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2918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90472" y="323697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她走到门口，手已经碰到门把，却忽然停了下来。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87000" y="32369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____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7240" y="3968496"/>
            <a:ext cx="10607040" cy="621792"/>
          </a:xfrm>
          <a:prstGeom prst="roundRect">
            <a:avLst>
              <a:gd name="adj" fmla="val 8824"/>
            </a:avLst>
          </a:prstGeom>
          <a:solidFill>
            <a:srgbClr val="FBF9F3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114800"/>
            <a:ext cx="310896" cy="310896"/>
          </a:xfrm>
          <a:prstGeom prst="ellipse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1330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90472" y="407822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风越来越大，我们只好提前结束比赛。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87000" y="407822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____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" y="4809744"/>
            <a:ext cx="10607040" cy="621792"/>
          </a:xfrm>
          <a:prstGeom prst="roundRect">
            <a:avLst>
              <a:gd name="adj" fmla="val 8824"/>
            </a:avLst>
          </a:prstGeom>
          <a:solidFill>
            <a:srgbClr val="FFFCF6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" y="4956048"/>
            <a:ext cx="310896" cy="310896"/>
          </a:xfrm>
          <a:prstGeom prst="ellipse">
            <a:avLst/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9743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90472" y="4919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他笑了笑，嘴角扬起来，可眼睛始终没有看我。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87000" y="49194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____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560320" y="5788152"/>
            <a:ext cx="7040880" cy="310896"/>
          </a:xfrm>
          <a:prstGeom prst="roundRect">
            <a:avLst>
              <a:gd name="adj" fmla="val 23529"/>
            </a:avLst>
          </a:prstGeom>
          <a:solidFill>
            <a:srgbClr val="FFF0D3"/>
          </a:solidFill>
          <a:ln w="12700">
            <a:solidFill>
              <a:srgbClr val="FFF0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58018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加一问：选出你最不确定的一句，写下你的理由。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核对｜判断的关键不是“有什么词”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答案不是只看动作、形容词，而是看句子在文章里承担什么功能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6400800" cy="4389120"/>
          </a:xfrm>
          <a:prstGeom prst="roundRect">
            <a:avLst>
              <a:gd name="adj" fmla="val 1250"/>
            </a:avLst>
          </a:prstGeom>
          <a:solidFill>
            <a:srgbClr val="FFFCF6"/>
          </a:solidFill>
          <a:ln w="12700">
            <a:solidFill>
              <a:srgbClr val="D6D0C3"/>
            </a:solidFill>
            <a:prstDash val="solid"/>
          </a:ln>
          <a:effectLst>
            <a:outerShdw blurRad="12700" dist="50800" dir="2700000" algn="bl" rotWithShape="0">
              <a:srgbClr val="B8B0A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7922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81328" y="171907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DF5F0"/>
          </a:solidFill>
          <a:ln w="12700">
            <a:solidFill>
              <a:srgbClr val="DDF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1328" y="17327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描写为主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7465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动作被放大，用细节表现情绪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51560" y="2532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481328" y="245973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0D3"/>
          </a:solidFill>
          <a:ln w="12700">
            <a:solidFill>
              <a:srgbClr val="FFF0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24734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叙述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487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概括十分钟，直接推进到“他来了”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51560" y="32735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81328" y="320040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AE6F6"/>
          </a:solidFill>
          <a:ln w="12700">
            <a:solidFill>
              <a:srgbClr val="EAE6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32141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75A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混合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32278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先推进到门口，再把“停住”放大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51560" y="40142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481328" y="3941064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0D3"/>
          </a:solidFill>
          <a:ln w="12700">
            <a:solidFill>
              <a:srgbClr val="FFF0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81328" y="39547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叙述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9684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原因→结果，快速交代事件变化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5156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481328" y="468172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DF5F0"/>
          </a:solidFill>
          <a:ln w="12700">
            <a:solidFill>
              <a:srgbClr val="DDF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81328" y="46954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描写为主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47091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聚焦表情与视线，让读者观察人物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543800" y="1417320"/>
            <a:ext cx="3840480" cy="4389120"/>
          </a:xfrm>
          <a:prstGeom prst="roundRect">
            <a:avLst>
              <a:gd name="adj" fmla="val 1429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  <a:effectLst>
            <a:outerShdw blurRad="12700" dist="50800" dir="2700000" algn="bl" rotWithShape="0">
              <a:srgbClr val="B8B0A4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82128" y="17922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真正的判断标准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882128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C56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叙述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82128" y="28529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作者在概括、推进、跨过时间。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82128" y="3675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E1D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描写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882128" y="4041648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作者在展开、聚焦、让一个瞬间停下来。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82128" y="504748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CE8F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有些句子可以“混合”——合理解释比标签更重要。</a:t>
            </a:r>
            <a:endParaRPr lang="en-US" sz="13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活动一｜作者在哪里把时间“按慢”了？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6分钟｜在完整段落中标：叙述＝直线；描写＝波浪线；混合句＝旁写 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78181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  <a:effectLst>
            <a:outerShdw blurRad="12700" dist="50800" dir="2700000" algn="bl" rotWithShape="0">
              <a:srgbClr val="B8B0A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755648"/>
            <a:ext cx="722376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铃声响了，我拿着试卷走回座位。</a:t>
            </a:r>
            <a:endParaRPr lang="en-US" sz="1850" dirty="0"/>
          </a:p>
          <a:p>
            <a:pPr marL="0" indent="0">
              <a:buNone/>
            </a:pP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59。</a:t>
            </a:r>
            <a:endParaRPr lang="en-US" sz="1850" dirty="0"/>
          </a:p>
          <a:p>
            <a:pPr marL="0" indent="0">
              <a:buNone/>
            </a:pP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红色的数字挤在右上角，旁边拖着一道长长的横线。我盯着那个数字看了几秒，把试卷迅速翻了过去。身后的同学探过头：“多少？”我没有回答，只低下头，把试卷折了一下，又折了一下，塞进抽屉最里面。</a:t>
            </a:r>
            <a:endParaRPr lang="en-US" sz="1850" dirty="0"/>
          </a:p>
          <a:p>
            <a:pPr marL="0" indent="0">
              <a:buNone/>
            </a:pP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下课铃响起后，我收拾好东西，一个人离开了教室。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8823960" y="1389888"/>
            <a:ext cx="2651760" cy="4526280"/>
          </a:xfrm>
          <a:prstGeom prst="roundRect">
            <a:avLst>
              <a:gd name="adj" fmla="val 2069"/>
            </a:avLst>
          </a:prstGeom>
          <a:solidFill>
            <a:srgbClr val="FFF8EA"/>
          </a:solidFill>
          <a:ln w="12700">
            <a:solidFill>
              <a:srgbClr val="E9CE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0" y="17647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做完标注后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098280" y="2331720"/>
            <a:ext cx="310896" cy="310896"/>
          </a:xfrm>
          <a:prstGeom prst="ellipse">
            <a:avLst/>
          </a:prstGeom>
          <a:solidFill>
            <a:srgbClr val="E78A18"/>
          </a:solidFill>
          <a:ln w="12700">
            <a:solidFill>
              <a:srgbClr val="E78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98280" y="235000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37192" y="2322576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圈出作者最“慢”的一句。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98280" y="3246120"/>
            <a:ext cx="310896" cy="310896"/>
          </a:xfrm>
          <a:prstGeom prst="ellipse">
            <a:avLst/>
          </a:prstGeom>
          <a:solidFill>
            <a:srgbClr val="E78A18"/>
          </a:solidFill>
          <a:ln w="12700">
            <a:solidFill>
              <a:srgbClr val="E78A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326440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537192" y="3236976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在旁边写：为什么这里值得慢下来？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98280" y="4370832"/>
            <a:ext cx="310896" cy="310896"/>
          </a:xfrm>
          <a:prstGeom prst="ellipse">
            <a:avLst/>
          </a:prstGeom>
          <a:solidFill>
            <a:srgbClr val="E78A18"/>
          </a:solidFill>
          <a:ln w="12700">
            <a:solidFill>
              <a:srgbClr val="E78A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438912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37192" y="4361688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画一条速度线：快 → 慢 → 快？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活动一核对｜叙述控制时间，描写控制注意力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不是每一句都要争出唯一标签；关键是看作者把读者的注意力放在哪里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4813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故事速度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74520" y="1682496"/>
            <a:ext cx="8778240" cy="0"/>
          </a:xfrm>
          <a:prstGeom prst="line">
            <a:avLst/>
          </a:prstGeom>
          <a:noFill/>
          <a:ln w="25400">
            <a:solidFill>
              <a:srgbClr val="B0AA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499616"/>
            <a:ext cx="365760" cy="365760"/>
          </a:xfrm>
          <a:prstGeom prst="ellipse">
            <a:avLst/>
          </a:prstGeom>
          <a:solidFill>
            <a:srgbClr val="E78A18"/>
          </a:solidFill>
          <a:ln w="12700">
            <a:solidFill>
              <a:srgbClr val="E78A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1426464"/>
            <a:ext cx="512064" cy="512064"/>
          </a:xfrm>
          <a:prstGeom prst="ellipse">
            <a:avLst/>
          </a:prstGeom>
          <a:solidFill>
            <a:srgbClr val="138F86"/>
          </a:solidFill>
          <a:ln w="12700">
            <a:solidFill>
              <a:srgbClr val="138F8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1499616"/>
            <a:ext cx="365760" cy="365760"/>
          </a:xfrm>
          <a:prstGeom prst="ellipse">
            <a:avLst/>
          </a:prstGeom>
          <a:solidFill>
            <a:srgbClr val="E78A18"/>
          </a:solidFill>
          <a:ln w="12700">
            <a:solidFill>
              <a:srgbClr val="E78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1938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1984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慢：59分这一刻被放大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95560" y="1938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快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542032"/>
            <a:ext cx="3291840" cy="2514600"/>
          </a:xfrm>
          <a:prstGeom prst="roundRect">
            <a:avLst>
              <a:gd name="adj" fmla="val 2182"/>
            </a:avLst>
          </a:prstGeom>
          <a:solidFill>
            <a:srgbClr val="FFF0D3"/>
          </a:solidFill>
          <a:ln w="12700">
            <a:solidFill>
              <a:srgbClr val="EBC2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81635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推进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97280" y="331012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铃声响 → 回座位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一句话跨过一段时间。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443984" y="2542032"/>
            <a:ext cx="3291840" cy="2514600"/>
          </a:xfrm>
          <a:prstGeom prst="roundRect">
            <a:avLst>
              <a:gd name="adj" fmla="val 2182"/>
            </a:avLst>
          </a:prstGeom>
          <a:solidFill>
            <a:srgbClr val="DDF5F0"/>
          </a:solidFill>
          <a:ln w="12700">
            <a:solidFill>
              <a:srgbClr val="8FD7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281635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聚焦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18304" y="331012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数字、视线、折试卷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作者让几秒钟变得很长。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065008" y="2542032"/>
            <a:ext cx="3291840" cy="2514600"/>
          </a:xfrm>
          <a:prstGeom prst="roundRect">
            <a:avLst>
              <a:gd name="adj" fmla="val 2182"/>
            </a:avLst>
          </a:prstGeom>
          <a:solidFill>
            <a:srgbClr val="FFF0D3"/>
          </a:solidFill>
          <a:ln w="12700">
            <a:solidFill>
              <a:srgbClr val="EBC2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281635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推进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39328" y="331012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下课 → 收拾 → 离开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故事再次往前走。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103120" y="5468112"/>
            <a:ext cx="7955280" cy="310896"/>
          </a:xfrm>
          <a:prstGeom prst="roundRect">
            <a:avLst>
              <a:gd name="adj" fmla="val 23529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54818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一句话带走：叙述决定“发生到哪里”；描写决定“读者看哪里”。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活动二｜灰色地带：同一个情绪，四种写法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7分钟｜不要只贴标签，要解释“作者在做什么”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FFCF6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5506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687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61848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她哭了。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FFCF6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65506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687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78040" y="161848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她眼圈红了，却一直仰着头。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83464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FFCF6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07238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861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303580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她哭了很久，后来才离开。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283464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7F4FF"/>
          </a:solidFill>
          <a:ln w="12700">
            <a:solidFill>
              <a:srgbClr val="C5BD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07238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0861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8040" y="303580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她转过身，用袖口迅速擦了一下眼角，然后继续收拾书包。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4407408"/>
            <a:ext cx="10561320" cy="1234440"/>
          </a:xfrm>
          <a:prstGeom prst="roundRect">
            <a:avLst>
              <a:gd name="adj" fmla="val 4444"/>
            </a:avLst>
          </a:prstGeom>
          <a:solidFill>
            <a:srgbClr val="FFF8EA"/>
          </a:solidFill>
          <a:ln w="12700">
            <a:solidFill>
              <a:srgbClr val="E9CE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6817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你的任务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148840" y="4617720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 找出最接近“纯叙述”的一句。　② 找出最接近“纯描写”的一句。　③ 哪一句最明显是“混合”？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148840" y="504748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4534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要求：圈出你判断的证据，并用“它在推进…… / 它在展开……”解释。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活动二核对｜动作 ≠ 叙述；形容词 ≠ 描写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把句子放到“推进事件 ↔ 展开瞬间”的连续线上，会比二选一更准确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更偏叙述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1268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更偏描写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1993392"/>
            <a:ext cx="10241280" cy="0"/>
          </a:xfrm>
          <a:prstGeom prst="line">
            <a:avLst/>
          </a:prstGeom>
          <a:noFill/>
          <a:ln w="30480">
            <a:solidFill>
              <a:srgbClr val="AFA99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417320" y="1773936"/>
            <a:ext cx="457200" cy="457200"/>
          </a:xfrm>
          <a:prstGeom prst="ellipse">
            <a:avLst/>
          </a:prstGeom>
          <a:solidFill>
            <a:srgbClr val="E78A18"/>
          </a:solidFill>
          <a:ln w="12700">
            <a:solidFill>
              <a:srgbClr val="E78A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865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概括发生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0440" y="1773936"/>
            <a:ext cx="457200" cy="457200"/>
          </a:xfrm>
          <a:prstGeom prst="ellipse">
            <a:avLst/>
          </a:prstGeom>
          <a:solidFill>
            <a:srgbClr val="C79D51"/>
          </a:solidFill>
          <a:ln w="12700">
            <a:solidFill>
              <a:srgbClr val="C79D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865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9D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叙述为主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1773936"/>
            <a:ext cx="457200" cy="457200"/>
          </a:xfrm>
          <a:prstGeom prst="ellipse">
            <a:avLst/>
          </a:prstGeom>
          <a:solidFill>
            <a:srgbClr val="675A99"/>
          </a:solidFill>
          <a:ln w="12700">
            <a:solidFill>
              <a:srgbClr val="675A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65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75A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明显混合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72600" y="1773936"/>
            <a:ext cx="457200" cy="457200"/>
          </a:xfrm>
          <a:prstGeom prst="ellipse">
            <a:avLst/>
          </a:prstGeom>
          <a:solidFill>
            <a:srgbClr val="138F86"/>
          </a:solidFill>
          <a:ln w="12700">
            <a:solidFill>
              <a:srgbClr val="138F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1865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0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展开瞬间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2880360"/>
            <a:ext cx="4983480" cy="2148840"/>
          </a:xfrm>
          <a:prstGeom prst="roundRect">
            <a:avLst>
              <a:gd name="adj" fmla="val 2553"/>
            </a:avLst>
          </a:prstGeom>
          <a:solidFill>
            <a:srgbClr val="FFFCF6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182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4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别再用这两个“假规则”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367588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✗ 有动作，所以一定是叙述。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✗ 有形容词，所以一定是描写。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09360" y="2880360"/>
            <a:ext cx="4983480" cy="2148840"/>
          </a:xfrm>
          <a:prstGeom prst="roundRect">
            <a:avLst>
              <a:gd name="adj" fmla="val 2553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3182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FE3E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换成这一个问题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29400" y="367588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这一句是在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“跨过时间”，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还是在“停住观察”？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活动三｜同一场比赛：哪里该快？哪里该慢？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6分钟｜这一次不是“找描写”，而是判断作者的选择是否有效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657600" cy="4526280"/>
          </a:xfrm>
          <a:prstGeom prst="roundRect">
            <a:avLst>
              <a:gd name="adj" fmla="val 1500"/>
            </a:avLst>
          </a:prstGeom>
          <a:solidFill>
            <a:srgbClr val="FFF8EA"/>
          </a:solidFill>
          <a:ln w="12700">
            <a:solidFill>
              <a:srgbClr val="E8C9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642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版本 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176272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比赛开始了。我跑得很快，后来超过了两个人。最后我冲过终点，非常累，但也很开心。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4846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 信息都有，但时间几乎一直在“快进”。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617720" y="1353312"/>
            <a:ext cx="69037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D2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1184" y="16642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版本 B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01184" y="2176272"/>
            <a:ext cx="62636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枪声一响，人群猛地向前涌去。前一圈我一直跟着大队跑。第二圈以后，我的呼吸越来越短，前面那个蓝色背心离我只剩几步。我盯着他的后背，咬住牙，一点一点追上去。最后五十米，周围的声音像突然被关掉了，只剩自己的喘息和鞋底砸在跑道上的声音。终点线越来越近……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4919472" y="5010912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FFF0D3"/>
          </a:solidFill>
          <a:ln w="12700">
            <a:solidFill>
              <a:srgbClr val="FFF0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50246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圈：应该快速带过的部分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0" y="5010912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DDF5F0"/>
          </a:solidFill>
          <a:ln w="12700">
            <a:solidFill>
              <a:srgbClr val="DDF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50246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框：最值得“慢下来”的一刻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60167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534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最后讨论：如果800米每100米都这样详细写，会不会更好？为什么？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活动三核对｜好描写不是“越多越好”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真正成熟的写作，是有意识地控制镜头速度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15727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快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0" y="15727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195560" y="15727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快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63040" y="2057400"/>
            <a:ext cx="3749040" cy="594360"/>
          </a:xfrm>
          <a:prstGeom prst="chevron">
            <a:avLst/>
          </a:prstGeom>
          <a:solidFill>
            <a:srgbClr val="F0B45B"/>
          </a:solidFill>
          <a:ln w="12700">
            <a:solidFill>
              <a:srgbClr val="F0B4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938528"/>
            <a:ext cx="2880360" cy="841248"/>
          </a:xfrm>
          <a:prstGeom prst="chevron">
            <a:avLst/>
          </a:prstGeom>
          <a:solidFill>
            <a:srgbClr val="65C9BE"/>
          </a:solidFill>
          <a:ln w="12700">
            <a:solidFill>
              <a:srgbClr val="65C9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6600" y="2057400"/>
            <a:ext cx="3611880" cy="594360"/>
          </a:xfrm>
          <a:prstGeom prst="chevron">
            <a:avLst/>
          </a:prstGeom>
          <a:solidFill>
            <a:srgbClr val="F0B45B"/>
          </a:solidFill>
          <a:ln w="12700">
            <a:solidFill>
              <a:srgbClr val="F0B4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起跑 / 前一圈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47488" y="2221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追上对手 / 最后50米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8388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冲线 / 结束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3246120"/>
            <a:ext cx="3154680" cy="1965960"/>
          </a:xfrm>
          <a:prstGeom prst="roundRect">
            <a:avLst>
              <a:gd name="adj" fmla="val 2791"/>
            </a:avLst>
          </a:prstGeom>
          <a:solidFill>
            <a:srgbClr val="FFFCF6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5478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值得慢下来的地方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0416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重要转折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情绪高点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能体现人物 / 氛围的关键瞬间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26280" y="3246120"/>
            <a:ext cx="3154680" cy="1965960"/>
          </a:xfrm>
          <a:prstGeom prst="roundRect">
            <a:avLst>
              <a:gd name="adj" fmla="val 2791"/>
            </a:avLst>
          </a:prstGeom>
          <a:solidFill>
            <a:srgbClr val="FFFCF6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54787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适合快进的地方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0600" y="40416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过渡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重复过程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对主题没有特别价值的步骤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92440" y="3246120"/>
            <a:ext cx="3154680" cy="1965960"/>
          </a:xfrm>
          <a:prstGeom prst="roundRect">
            <a:avLst>
              <a:gd name="adj" fmla="val 2791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54787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FE3E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成熟写作者会问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411480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“这一秒，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值得读者停下来吗？”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迁移挑战｜把“流水账”改成有节奏的段落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5分钟｜不准增加新情节，只能重新控制“快”和“慢”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353312"/>
            <a:ext cx="10469880" cy="1143000"/>
          </a:xfrm>
          <a:prstGeom prst="roundRect">
            <a:avLst>
              <a:gd name="adj" fmla="val 4800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67335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我迟到了。我跑到教室门口。老师和同学都看着我。我走进去坐下。课继续上。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改写要求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3429000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BF9F3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3630168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E78A18"/>
          </a:solidFill>
          <a:ln w="12700">
            <a:solidFill>
              <a:srgbClr val="E78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36438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09928" y="35753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保留至少 2 句“叙述”，让事情继续往前。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63640" y="3429000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BF9F3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3630168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38F86"/>
          </a:solidFill>
          <a:ln w="12700">
            <a:solidFill>
              <a:srgbClr val="138F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36438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13448" y="35753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只选 1 个瞬间放慢，用 2–3 句描写展开。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60120" y="4389120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BF9F3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4712" y="4590288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675A99"/>
          </a:solidFill>
          <a:ln w="12700">
            <a:solidFill>
              <a:srgbClr val="675A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46040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09928" y="453542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至少加入 1 个动作细节或感官细节。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263640" y="4389120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BF9F3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4590288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46040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13448" y="453542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写完以后，在自己的句子旁标：叙 / 描 / 混。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2880360" y="5623560"/>
            <a:ext cx="6400800" cy="310896"/>
          </a:xfrm>
          <a:prstGeom prst="roundRect">
            <a:avLst>
              <a:gd name="adj" fmla="val 23529"/>
            </a:avLst>
          </a:prstGeom>
          <a:solidFill>
            <a:srgbClr val="DDF5F0"/>
          </a:solidFill>
          <a:ln w="12700">
            <a:solidFill>
              <a:srgbClr val="DDF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56372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目标不是“写得更多”，而是“让重要的一刻更清楚”。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一个可能的版本｜先看“节奏”，不要抄句子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2分钟｜找出：哪里快？哪里慢？哪一句是混合？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104698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  <a:effectLst>
            <a:outerShdw blurRad="12700" dist="50800" dir="2700000" algn="bl" rotWithShape="0">
              <a:srgbClr val="B8B0A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1847088"/>
            <a:ext cx="9692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一路跑上三楼，赶到教室门口。门刚被我推开，几十双眼睛同时转了过来。老师手里的粉笔停在半空，我能听见自己急促的喘气声。我的手还抓着门把，掌心全是汗。我低着头走到座位上坐下。老师转回黑板，课继续上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4983480"/>
            <a:ext cx="3154680" cy="868680"/>
          </a:xfrm>
          <a:prstGeom prst="roundRect">
            <a:avLst>
              <a:gd name="adj" fmla="val 6316"/>
            </a:avLst>
          </a:prstGeom>
          <a:solidFill>
            <a:srgbClr val="FFF0D3"/>
          </a:solidFill>
          <a:ln w="12700">
            <a:solidFill>
              <a:srgbClr val="ECCB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524865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8A1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快：跑上三楼 / 走到座位 / 课继续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4983480"/>
            <a:ext cx="3154680" cy="868680"/>
          </a:xfrm>
          <a:prstGeom prst="roundRect">
            <a:avLst>
              <a:gd name="adj" fmla="val 6316"/>
            </a:avLst>
          </a:prstGeom>
          <a:solidFill>
            <a:srgbClr val="DDF5F0"/>
          </a:solidFill>
          <a:ln w="12700">
            <a:solidFill>
              <a:srgbClr val="94D9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524865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慢：推开门后，被全班看见的几秒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4983480"/>
            <a:ext cx="3154680" cy="868680"/>
          </a:xfrm>
          <a:prstGeom prst="roundRect">
            <a:avLst>
              <a:gd name="adj" fmla="val 6316"/>
            </a:avLst>
          </a:prstGeom>
          <a:solidFill>
            <a:srgbClr val="F1EDF9"/>
          </a:solidFill>
          <a:ln w="12700">
            <a:solidFill>
              <a:srgbClr val="CBC1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518464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75A99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混合：“门刚被推开”既推进又开启特写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Ticket｜你现在会“控制速度”了吗？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4124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47C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3分钟｜独立完成，不讨论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61320" cy="1143000"/>
          </a:xfrm>
          <a:prstGeom prst="roundRect">
            <a:avLst>
              <a:gd name="adj" fmla="val 4800"/>
            </a:avLst>
          </a:prstGeom>
          <a:solidFill>
            <a:srgbClr val="FFFCF6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00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664208"/>
            <a:ext cx="9006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用 15 个字以内说明：叙述和描写最重要的区别是什么？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600200" y="2157984"/>
            <a:ext cx="8412480" cy="0"/>
          </a:xfrm>
          <a:prstGeom prst="line">
            <a:avLst/>
          </a:prstGeom>
          <a:noFill/>
          <a:ln w="12700">
            <a:solidFill>
              <a:srgbClr val="A9A4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743200"/>
            <a:ext cx="10561320" cy="1417320"/>
          </a:xfrm>
          <a:prstGeom prst="roundRect">
            <a:avLst>
              <a:gd name="adj" fmla="val 3871"/>
            </a:avLst>
          </a:prstGeom>
          <a:solidFill>
            <a:srgbClr val="FFFCF6"/>
          </a:solidFill>
          <a:ln w="12700">
            <a:solidFill>
              <a:srgbClr val="D6D0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054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B5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971800"/>
            <a:ext cx="9006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F2A3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“我伸手去拿门把，手指碰到冰冷的金属时却缩了一下。”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600200" y="350215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B4534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叙 / 描 / 混？　理由：________________________________________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10561320" cy="1234440"/>
          </a:xfrm>
          <a:prstGeom prst="roundRect">
            <a:avLst>
              <a:gd name="adj" fmla="val 4444"/>
            </a:avLst>
          </a:prstGeom>
          <a:solidFill>
            <a:srgbClr val="183B56"/>
          </a:solidFill>
          <a:ln w="12700">
            <a:solidFill>
              <a:srgbClr val="183B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700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BD7E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46634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下一篇作文，我最应该在哪一种时刻“慢下来”？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4709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8F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________________________________________________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9253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38F8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带走一句：好的写作者不是一直描写，而是知道什么时候值得让读者停下来。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B6B0A4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Kait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Kait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1029</Words>
  <Application>Microsoft Macintosh PowerPoint</Application>
  <PresentationFormat>Widescreen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STKaiti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叙述与描写：谁在控制“速度”？</dc:title>
  <dc:subject>IGCSE 0509 中文第一语言：叙述与描写</dc:subject>
  <dc:creator>OpenAI</dc:creator>
  <cp:lastModifiedBy>Darcy Duan</cp:lastModifiedBy>
  <cp:revision>1</cp:revision>
  <dcterms:created xsi:type="dcterms:W3CDTF">2026-09-30T09:40:02Z</dcterms:created>
  <dcterms:modified xsi:type="dcterms:W3CDTF">2026-09-30T09:54:44Z</dcterms:modified>
</cp:coreProperties>
</file>