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4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【教师使用】本课件依据用户提供的教材P24–29截图与既定三课时教学方案制作。封面使用可编辑的“现象—争议—真问题”学习路径，不使用装饰性拟物图标。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建议时间：3分钟。快速说明三课学习路径，不展开考试说明。强调每课都有一个可留存的学习成果，便于后续Y11复习。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建议时间：1分钟。章节封面。不要先解释作者立场，让学生保留对“文化入侵”的直觉判断。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建议时间：2分钟。成功标准口头说明即可：能准确概括；能解释结构；能用文本证据。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建议时间：5分钟。1分钟独立选择，2分钟同桌解释，2分钟全班快速采样。不要评价哪个立场“正确”，只追问“你依据什么判断？”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建议时间：5分钟。与P26【活动一】结合。只处理真正影响阅读与语气判断的词，不做完整词典课。追问“恶俗 / 圣殿”是否只是客观描述。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建议时间：12分钟。先独立6分钟，再同桌3分钟，再全班3分钟。预期：个人经历建立“理想故宫—现实故宫”的反差，并自然引出星巴克争议。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建议时间：5分钟。此页用于全班回收结构。关键不是记时间点，而是看“期待—反差—争议”的铺垫作用。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建议时间：8分钟。预期概括：作者认为重点不只是“西方品牌进入故宫/文化入侵”，而是故宫管理机构如何定位场所、规划商业设施、营造整体文化形象。允许学生表述不同，只要能回到文本。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建议时间：5分钟。用于帮助学生从事件层面转向作者论证层面。可让学生先在mini-whiteboard写完整句，再抽2–3人分享。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建议时间：15分钟。8分钟小组填写，5分钟展示，2分钟教师回收。不要接受只写“作者不喜欢星巴克”的表层答案。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建议时间：10分钟（立场修正5分钟 + Exit 5分钟）。若时间不足，保留Exit Ticket。收集后快速查看学生是否仍把文章理解成“作者反对外国品牌”。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作业说明。P26题目以教材原文为准。教师下一课可选2–3份匿名答案作为“观点—证据—解释”诊断材料。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建议时间：1分钟。提醒学生第二课不再重讲内容，而是研究“作者怎么让观点站得住”。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建议时间：2分钟。强调“识别术语”不是终点，0509更重要的是解释作用和评价效果。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建议时间：5分钟。预期配对A–1、B–2、C–3。真正重点是追问“证据和观点之间还缺什么？”引出推理。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建议时间：8分钟。用一个课文例子快速示范：观点“场所经营应符合定位”→证据“商场类比”→推理“整体形象会影响受众对场所的感受”。随后提醒：类比也可能有边界。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建议时间：14分钟。小组8分钟，快速汇报6分钟。P28的“比喻、引用、归纳、演绎”等只在学生确实找到文本依据时讨论，不强行贴标签。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建议时间：6分钟。让学生明确：类比可帮助理解“整体规划 / 定位”，但不能自动证明文化遗产应完全按商业场所逻辑管理。培养“有效但有限”的评价语言。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建议时间：6分钟。让学生区分“表达效果”和“论证充分性”。可链接P29【活动二】时事评论文特点：鲜明、尖锐、设问/反问、逻辑等。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建议时间：10分钟。先个人2分钟，三人讨论5分钟，全班3分钟。教师可以接受“论证基本合理但需要更多证据”这类有条件判断。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建议时间：15分钟。学生独立写12分钟，最后3分钟自行检查。较强学生必须加入一句“然而，这一论证的局限在于……”。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建议时间：5分钟（可选）。若时间不足，此页可直接作为学生自检。坚持“具体反馈”，不接受只写“good / more detail”。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建议时间：3分钟Exit。作业P29以教材原题为准。下课前提醒：第三课将把“评价别人论证”迁移到“自己组织论证”。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建议时间：1分钟。第三课目标是“把讨论变成写作素材”。避免重新讲一遍课文。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建议时间：2分钟。成功标准：能提出至少两个不同角度；能完成清晰写作计划；主体段有观点—论据—分析。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建议时间：5分钟。光谱不是投票，而是让学生意识到观点可以有条件。追问“什么情况下会改变立场？”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建议时间：8分钟。这里不是给固定“模板”，而是让学生理解任务差异。强调：讨论文可以有最终判断，但必须真正处理不同方面。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建议时间：7分钟。角色不是为了表演，而是为了生成真正不同的论点。要求每个角色至少贡献“一个利益诉求 + 一个担忧”。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建议时间：12分钟。小组8分钟，2–3组各1分钟汇报。教师把学生提出的“条件”写在板上，这些条件会直接成为讨论文材料。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建议时间：10分钟。学生独立完成写作计划。教师巡回时优先检查“两个分论点是否重复”“反方段是否只是摆设”。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建议时间：5分钟。此页不提供完整范文，避免学生复制。让学生把“较弱段落”口头补出一层分析。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建议时间：17分钟。较弱学生允许先写“主体段”而不是硬完成所有内容；较强学生在主体段加入反方或条件限制。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建议时间：8分钟（同伴反馈 + Exit）。作业题目来自P29。教师可要求学生交写作计划、初稿、反馈和修订稿，形成作品档案。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单元收束，建议2分钟。把三份学生产出收入学习档案，下一篇议论/评论文本可直接调用。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教师使用页，不必投影给学生。内容来自用户提供教材P24–26与既定教学方案。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教师使用页，不必投影给学生。P28论证术语较多，课堂只聚焦文中真正能找到的例子。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教师使用页，不必投影给学生。第三课核心是“生成可写材料 + 组织逻辑”，不是再讲一轮议论文定义。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教师总览，可用于录入Chalk。每课按60分钟设计，时间仅供参考，具体按班级阅读速度调整。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B4AE"/>
          </a:solidFill>
          <a:ln w="12700">
            <a:solidFill>
              <a:srgbClr val="B8B4A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" y="1669694"/>
            <a:ext cx="1856232" cy="504749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778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0684" y="1685468"/>
            <a:ext cx="185623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现象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37106" y="2158670"/>
            <a:ext cx="58338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0684" y="2721254"/>
            <a:ext cx="1856232" cy="504749"/>
          </a:xfrm>
          <a:prstGeom prst="roundRect">
            <a:avLst>
              <a:gd name="adj" fmla="val 14493"/>
            </a:avLst>
          </a:prstGeom>
          <a:solidFill>
            <a:srgbClr val="DCEDE9">
              <a:alpha val="95000"/>
            </a:srgbClr>
          </a:solidFill>
          <a:ln w="1778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0684" y="2737028"/>
            <a:ext cx="185623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争议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37106" y="3210230"/>
            <a:ext cx="58338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00684" y="3772814"/>
            <a:ext cx="1856232" cy="504749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778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0684" y="3788588"/>
            <a:ext cx="185623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411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 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议论 / 思想批判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187452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《文化入侵故宫星巴克的伪问题》</a:t>
            </a:r>
            <a:endParaRPr lang="en-US" sz="3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梁文道｜3课时教学课件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3977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文本理解 → 论证分析 → 批判性思考与写作迁移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800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教材：P24–29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单元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三节课，我们要完成一条完整的学习链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2880360" cy="2926080"/>
          </a:xfrm>
          <a:prstGeom prst="roundRect">
            <a:avLst>
              <a:gd name="adj" fmla="val 4444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48840"/>
            <a:ext cx="438912" cy="438912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第一课｜读懂作者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880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从“星巴克争议”进入文本，找出作者真正要批评的问题。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4251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学习成果：中心论点图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1920240"/>
            <a:ext cx="2880360" cy="2926080"/>
          </a:xfrm>
          <a:prstGeom prst="roundRect">
            <a:avLst>
              <a:gd name="adj" fmla="val 444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148840"/>
            <a:ext cx="438912" cy="43891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第二课｜拆解论证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2880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识别观点、证据与推理，评价论证是否充分。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4251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学习成果：PEEL分析段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35240" y="1920240"/>
            <a:ext cx="2880360" cy="2926080"/>
          </a:xfrm>
          <a:prstGeom prst="roundRect">
            <a:avLst>
              <a:gd name="adj" fmla="val 4444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148840"/>
            <a:ext cx="438912" cy="43891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084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第三课｜成为作者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891272" y="2880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从多角度讨论文化与商业，迁移到议论文 / 讨论文写作。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891272" y="4251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学习成果：写作计划 + 主体段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39312" y="3383280"/>
            <a:ext cx="402336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14032" y="3383280"/>
            <a:ext cx="402336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960120" y="54406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最终目标：不只“知道作者说什么”，而是能判断“他如何证明”，再独立组织自己的观点。</a:t>
            </a:r>
            <a:endParaRPr lang="en-US" sz="2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6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争议背后的真正问题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EAF5F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理解中心论点｜追踪论证思路｜回到文本证据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961120" y="1501445"/>
            <a:ext cx="1920240" cy="53401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7780">
            <a:solidFill>
              <a:srgbClr val="D7EBE7">
                <a:alpha val="7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518133"/>
            <a:ext cx="192024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现象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19488" y="2018767"/>
            <a:ext cx="6035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BE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0" y="2613965"/>
            <a:ext cx="1920240" cy="534010"/>
          </a:xfrm>
          <a:prstGeom prst="roundRect">
            <a:avLst>
              <a:gd name="adj" fmla="val 13699"/>
            </a:avLst>
          </a:prstGeom>
          <a:solidFill>
            <a:srgbClr val="DCEDE9">
              <a:alpha val="95000"/>
            </a:srgbClr>
          </a:solidFill>
          <a:ln w="17780">
            <a:solidFill>
              <a:srgbClr val="D7EBE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0" y="2630653"/>
            <a:ext cx="192024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争议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19488" y="3131287"/>
            <a:ext cx="6035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BE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61120" y="3726485"/>
            <a:ext cx="1920240" cy="53401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7780">
            <a:solidFill>
              <a:srgbClr val="D7EBE7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3743173"/>
            <a:ext cx="192024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真问题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6949440" cy="1417320"/>
          </a:xfrm>
          <a:prstGeom prst="roundRect">
            <a:avLst>
              <a:gd name="adj" fmla="val 9032"/>
            </a:avLst>
          </a:prstGeom>
          <a:solidFill>
            <a:srgbClr val="3E7D76"/>
          </a:solidFill>
          <a:ln w="12700">
            <a:solidFill>
              <a:srgbClr val="3E7D7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251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DF1E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7091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当我们批评一种文化现象时，我们究竟在批评什么？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今天要带走的三件事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21408"/>
            <a:ext cx="420624" cy="420624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039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概括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7510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用自己的话说清作者的中心论点。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3136392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383280"/>
            <a:ext cx="420624" cy="420624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64208" y="3300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追踪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23697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解释第1–4段如何铺垫，第5–8段如何转向深层问题。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" y="4398264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645152"/>
            <a:ext cx="420624" cy="420624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64208" y="4562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证明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4988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引用至少两处文本细节支持自己的判断。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21240" y="5806440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E2EFEC"/>
          </a:solidFill>
          <a:ln w="12700">
            <a:solidFill>
              <a:srgbClr val="E2EF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1240" y="5806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60分钟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Starter｜故宫里可以开国际连锁咖啡店吗？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假设你是文化遗产场所的管理委员会成员：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景区准备引入一家国际连锁咖啡店。你的第一反应是什么？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892040" cy="914400"/>
          </a:xfrm>
          <a:prstGeom prst="roundRect">
            <a:avLst>
              <a:gd name="adj" fmla="val 14000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3182112"/>
            <a:ext cx="402336" cy="402336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90472" y="30998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游客需要便利服务。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8920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3182112"/>
            <a:ext cx="402336" cy="402336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30998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反对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可能破坏历史文化氛围。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4206240"/>
            <a:ext cx="48920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416552"/>
            <a:ext cx="402336" cy="402336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90472" y="4334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有条件支持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054095" y="4334256"/>
            <a:ext cx="2519853" cy="7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取决于位置、设计和经营方式。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72200" y="4206240"/>
            <a:ext cx="48920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4416552"/>
            <a:ext cx="402336" cy="402336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36792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4334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暂不决定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90688" y="4334256"/>
            <a:ext cx="255351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还需要更多信息。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先独立选择 → 与同桌分享理由 → 暂时不争“标准答案”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阅读前｜先扫清影响理解与语气的词语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 P24–26。先根据上下文猜，再核对意思。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错愕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2423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468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奢华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423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2468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肃穆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611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恶俗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005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3566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611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摇摇欲坠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005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3566160"/>
            <a:ext cx="3108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3611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圣殿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005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用一个近义词 / 画面感解释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讨论：这些词语中，哪些明显带有作者的态度？</a:t>
            </a:r>
            <a:endParaRPr lang="en-US" sz="2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分层阅读①｜第1–4段：作者怎样把争议“带进来”？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74650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任务：P24–25 第1–4段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独立阅读并在书上做三种标记：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347472" cy="347472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88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期待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作者第一次走进故宫前，期待看到什么？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14400" y="3630168"/>
            <a:ext cx="347472" cy="347472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△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反差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哪些现实景象让作者失望？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14400" y="4379976"/>
            <a:ext cx="347472" cy="347472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2885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争议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42428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十几年后，什么事件把问题推到公众面前？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086600" y="2240280"/>
            <a:ext cx="4023360" cy="2651760"/>
          </a:xfrm>
          <a:prstGeom prst="roundRect">
            <a:avLst>
              <a:gd name="adj" fmla="val 4828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读完后，与同桌完成一句话：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3154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作者先写自己的参观经历，是为了__________，然后才引出__________。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回到文本：必须指出具体细节。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把第1–4段压缩成一条“反差线”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05840" y="3200400"/>
            <a:ext cx="10058400" cy="0"/>
          </a:xfrm>
          <a:prstGeom prst="line">
            <a:avLst/>
          </a:prstGeom>
          <a:noFill/>
          <a:ln w="38100">
            <a:solidFill>
              <a:srgbClr val="2F6F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25880" y="2944368"/>
            <a:ext cx="502920" cy="502920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第一次走进故宫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世界级文化遗产的期待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0" y="2944368"/>
            <a:ext cx="502920" cy="502920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眼前现实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703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商业化、仿古、杂乱带来的失望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2944368"/>
            <a:ext cx="502920" cy="502920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十几年后再访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703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整体环境仍未明显改变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2944368"/>
            <a:ext cx="502920" cy="502920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星巴克争议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703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公众把焦点放在“文化入侵”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28800" y="5120640"/>
            <a:ext cx="85496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65960" y="5230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思考：如果删掉前面的个人参观经历，作者后面的批评会有什么不同？</a:t>
            </a:r>
            <a:endParaRPr lang="en-US" sz="2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分层阅读②｜第5–8段：作者把问题重新定义成什么？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74650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任务：P25 第5–8段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边读边完成下面的“不是……而是……”：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0424160" cy="1554480"/>
          </a:xfrm>
          <a:prstGeom prst="roundRect">
            <a:avLst>
              <a:gd name="adj" fmla="val 8235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246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作者认为，故宫星巴克事件真正的问题 </a:t>
            </a:r>
            <a:r>
              <a:rPr lang="en-US" sz="27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</a:t>
            </a:r>
            <a:r>
              <a:rPr lang="en-US" sz="2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 ____________，
</a:t>
            </a:r>
            <a:r>
              <a:rPr lang="en-US" sz="27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而是</a:t>
            </a:r>
            <a:r>
              <a:rPr lang="en-US" sz="2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 ______________________________________________。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提示：重点看第5、7、8段。作者把讨论焦点从“品牌国籍”移向了什么？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从“表面争议”走向“深层问题”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487168"/>
            <a:ext cx="1865376" cy="292608"/>
          </a:xfrm>
          <a:prstGeom prst="roundRect">
            <a:avLst>
              <a:gd name="adj" fmla="val 37500"/>
            </a:avLst>
          </a:prstGeom>
          <a:solidFill>
            <a:srgbClr val="CDE5E1"/>
          </a:solidFill>
          <a:ln w="12700">
            <a:solidFill>
              <a:srgbClr val="CDE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4871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表面现象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星巴克进入故宫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072384" y="3200400"/>
            <a:ext cx="329184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02152" y="224028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8184" y="2487168"/>
            <a:ext cx="1865376" cy="292608"/>
          </a:xfrm>
          <a:prstGeom prst="roundRect">
            <a:avLst>
              <a:gd name="adj" fmla="val 37500"/>
            </a:avLst>
          </a:prstGeom>
          <a:solidFill>
            <a:srgbClr val="E7E2DB"/>
          </a:solidFill>
          <a:ln w="12700">
            <a:solidFill>
              <a:srgbClr val="E7E2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58184" y="24871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公众争议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“文化入侵？”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934456" y="3200400"/>
            <a:ext cx="329184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224028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2487168"/>
            <a:ext cx="1865376" cy="292608"/>
          </a:xfrm>
          <a:prstGeom prst="roundRect">
            <a:avLst>
              <a:gd name="adj" fmla="val 37500"/>
            </a:avLst>
          </a:prstGeom>
          <a:solidFill>
            <a:srgbClr val="CDE5E1"/>
          </a:solidFill>
          <a:ln w="12700">
            <a:solidFill>
              <a:srgbClr val="CDE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0256" y="24871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作者转向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管理责任与整体形象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796528" y="3200400"/>
            <a:ext cx="329184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26296" y="224028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82328" y="2487168"/>
            <a:ext cx="1865376" cy="292608"/>
          </a:xfrm>
          <a:prstGeom prst="roundRect">
            <a:avLst>
              <a:gd name="adj" fmla="val 37500"/>
            </a:avLst>
          </a:prstGeom>
          <a:solidFill>
            <a:srgbClr val="E7E2DB"/>
          </a:solidFill>
          <a:ln w="12700">
            <a:solidFill>
              <a:srgbClr val="E7E2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82328" y="24871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根本追问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54896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故宫究竟想成为怎样的场所？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把作者的批评写成一个完整句：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“与其只争论________，不如进一步审视________。”</a:t>
            </a:r>
            <a:endParaRPr lang="en-US" sz="2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小组任务｜问题诊断：我们到底在争论什么？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49808" y="17556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四人一组。每一行都必须写出至少一处文本依据。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789920" cy="34290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问题层次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你们的判断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文本依据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① 表面现象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星巴克为什么引起争议？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② 作者判断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为什么说“文化入侵”可能是伪问题？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③ 深层原因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作者把责任主要指向哪里？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④ 解决方向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按作者思路，首先应该明确什么？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051560" y="5989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展示规则：发言时必须说“我们的判断是……因为第__段写到……”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回到起点｜你的立场改变了吗？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你可以改变，也可以坚持原判断；关键是说明“为什么”。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66751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起初我认为……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401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阅读之后，我发现……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因此，我现在认为……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18120" y="2148839"/>
            <a:ext cx="3474720" cy="3520417"/>
          </a:xfrm>
          <a:prstGeom prst="roundRect">
            <a:avLst>
              <a:gd name="adj" fmla="val 4058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2423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971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1. 真正的问题不是____，而是____。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2. 第____段的____能证明这一点。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3. 我认为作者的观点____，因为____。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6692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可选：若时间不足，跳过口头“立场修正”，直接完成 Exit Ticket。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Homework｜从“理解”迈向“分析”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P26【活动二】第4、6、7题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042416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选择其中一道题，写 100–150 字。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必须包含：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49300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明确判断　② 至少一处文本依据　③ 对依据的解释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062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不要只复述课文。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作品档案：保留本节 Exit Ticket + 作业，后面会用于比较你的分析能力变化。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45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作者如何说服读者？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F6EEE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 × 证据 × 推理｜论证方法｜批判性评价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549640" y="2331720"/>
            <a:ext cx="749808" cy="749808"/>
          </a:xfrm>
          <a:prstGeom prst="ellipse">
            <a:avLst/>
          </a:prstGeom>
          <a:solidFill>
            <a:srgbClr val="E6D7CB"/>
          </a:solidFill>
          <a:ln w="12700">
            <a:solidFill>
              <a:srgbClr val="E6D7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4964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32461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F5F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54312" y="2697480"/>
            <a:ext cx="365760" cy="0"/>
          </a:xfrm>
          <a:prstGeom prst="line">
            <a:avLst/>
          </a:prstGeom>
          <a:noFill/>
          <a:ln w="25400">
            <a:solidFill>
              <a:srgbClr val="E6D7C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29800" y="2331720"/>
            <a:ext cx="749808" cy="749808"/>
          </a:xfrm>
          <a:prstGeom prst="ellipse">
            <a:avLst/>
          </a:prstGeom>
          <a:solidFill>
            <a:srgbClr val="E6D7CB"/>
          </a:solidFill>
          <a:ln w="12700">
            <a:solidFill>
              <a:srgbClr val="E6D7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2980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32461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F5F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634472" y="2697480"/>
            <a:ext cx="365760" cy="0"/>
          </a:xfrm>
          <a:prstGeom prst="line">
            <a:avLst/>
          </a:prstGeom>
          <a:noFill/>
          <a:ln w="25400">
            <a:solidFill>
              <a:srgbClr val="E6D7C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109960" y="2331720"/>
            <a:ext cx="749808" cy="749808"/>
          </a:xfrm>
          <a:prstGeom prst="ellipse">
            <a:avLst/>
          </a:prstGeom>
          <a:solidFill>
            <a:srgbClr val="E6D7CB"/>
          </a:solidFill>
          <a:ln w="12700">
            <a:solidFill>
              <a:srgbClr val="E6D7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0996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32461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F5F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7132320" cy="1353312"/>
          </a:xfrm>
          <a:prstGeom prst="roundRect">
            <a:avLst>
              <a:gd name="adj" fmla="val 9459"/>
            </a:avLst>
          </a:prstGeom>
          <a:solidFill>
            <a:srgbClr val="806552"/>
          </a:solidFill>
          <a:ln w="12700">
            <a:solidFill>
              <a:srgbClr val="80655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1E6D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709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“有例子”就等于“有说服力”吗？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今天要带走的三件事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21408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039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识别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7510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从课文中找出主要论证 / 表达技巧。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3136392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383280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64208" y="3300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23697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说明具体例子如何支持作者的观点。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" y="4398264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645152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64208" y="4562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评价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4988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判断论据是否相关、合理、充分，并指出可能的局限。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Starter｜观点与证据，能配得上吗？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5564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两人合作：先配对，再说出“为什么这条证据能支持这个观点”。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3474720" cy="384048"/>
          </a:xfrm>
          <a:prstGeom prst="roundRect">
            <a:avLst>
              <a:gd name="adj" fmla="val 28571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238658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4480560" cy="384048"/>
          </a:xfrm>
          <a:prstGeom prst="roundRect">
            <a:avLst>
              <a:gd name="adj" fmla="val 28571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386584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4251960" cy="658368"/>
          </a:xfrm>
          <a:prstGeom prst="roundRect">
            <a:avLst>
              <a:gd name="adj" fmla="val 1944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017520"/>
            <a:ext cx="347472" cy="34747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07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文化场所需要考虑整体形象。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4251960" cy="658368"/>
          </a:xfrm>
          <a:prstGeom prst="roundRect">
            <a:avLst>
              <a:gd name="adj" fmla="val 1944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886200"/>
            <a:ext cx="347472" cy="34747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776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商业经营应符合场所定位。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4251960" cy="658368"/>
          </a:xfrm>
          <a:prstGeom prst="roundRect">
            <a:avLst>
              <a:gd name="adj" fmla="val 1944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754880"/>
            <a:ext cx="347472" cy="34747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6451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故宫需要先明确自身定位。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46520" y="2880360"/>
            <a:ext cx="46634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017520"/>
            <a:ext cx="347472" cy="347472"/>
          </a:xfrm>
          <a:prstGeom prst="ellipse">
            <a:avLst/>
          </a:prstGeom>
          <a:solidFill>
            <a:srgbClr val="BFA894"/>
          </a:solidFill>
          <a:ln w="12700">
            <a:solidFill>
              <a:srgbClr val="BFA8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2907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作者描述故宫内商业设施与整体环境。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46520" y="3749040"/>
            <a:ext cx="46634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886200"/>
            <a:ext cx="347472" cy="347472"/>
          </a:xfrm>
          <a:prstGeom prst="ellipse">
            <a:avLst/>
          </a:prstGeom>
          <a:solidFill>
            <a:srgbClr val="BFA894"/>
          </a:solidFill>
          <a:ln w="12700">
            <a:solidFill>
              <a:srgbClr val="BFA8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3776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作者用“商场选择商店”作类比。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46520" y="4617720"/>
            <a:ext cx="46634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4754880"/>
            <a:ext cx="347472" cy="347472"/>
          </a:xfrm>
          <a:prstGeom prst="ellipse">
            <a:avLst/>
          </a:prstGeom>
          <a:solidFill>
            <a:srgbClr val="BFA894"/>
          </a:solidFill>
          <a:ln w="12700">
            <a:solidFill>
              <a:srgbClr val="BFA8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4645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作者连续追问故宫究竟是什么性质的场所。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574243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追问：有了例子，观点就一定成立吗？</a:t>
            </a:r>
            <a:endParaRPr lang="en-US" sz="2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一个有说服力的论证，至少需要三层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20240" y="2057400"/>
            <a:ext cx="658368" cy="658368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07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 Claim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7673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我想让读者相信什么？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548640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2057400"/>
            <a:ext cx="658368" cy="658368"/>
          </a:xfrm>
          <a:prstGeom prst="ellipse">
            <a:avLst/>
          </a:prstGeom>
          <a:solidFill>
            <a:srgbClr val="9B806C"/>
          </a:solidFill>
          <a:ln w="12700">
            <a:solidFill>
              <a:srgbClr val="9B80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07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B806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 Evidence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4617720" y="352044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3EDE8"/>
          </a:solidFill>
          <a:ln w="12700">
            <a:solidFill>
              <a:srgbClr val="F3EDE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7673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我拿什么支持它？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743200"/>
            <a:ext cx="548640" cy="0"/>
          </a:xfrm>
          <a:prstGeom prst="line">
            <a:avLst/>
          </a:prstGeom>
          <a:noFill/>
          <a:ln w="25400">
            <a:solidFill>
              <a:srgbClr val="6F6B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2057400"/>
            <a:ext cx="658368" cy="658368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907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8914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推理 Reasoning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8275320" y="352044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2E9D9"/>
          </a:solidFill>
          <a:ln w="12700">
            <a:solidFill>
              <a:srgbClr val="F2E9D9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37673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为什么这条证据能够证明这个观点？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965960" y="5349240"/>
            <a:ext cx="827532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48840" y="546811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今天的重点：不只找“作者用了什么方法”，还要解释“这一步推理是否站得住”。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小组任务｜“论证侦探”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 P28。只填写文中确实存在的技巧，不要为了填满表格而硬凑。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697480"/>
            <a:ext cx="438912" cy="43891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51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举例论证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32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作者用了哪些具体情景 / 例子？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697480"/>
            <a:ext cx="438912" cy="43891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551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类比论证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32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为什么把故宫与商场经营比较？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776472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4050792"/>
            <a:ext cx="438912" cy="43891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04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对比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理想中的故宫与现实形成什么反差？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09360" y="3776472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4050792"/>
            <a:ext cx="438912" cy="438912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9044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反问 / 讽刺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作者怎样利用语气影响读者？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77240" y="5285232"/>
            <a:ext cx="10652760" cy="658368"/>
          </a:xfrm>
          <a:prstGeom prst="roundRect">
            <a:avLst>
              <a:gd name="adj" fmla="val 19444"/>
            </a:avLst>
          </a:prstGeom>
          <a:solidFill>
            <a:srgbClr val="F3EFEA"/>
          </a:solidFill>
          <a:ln w="12700">
            <a:solidFill>
              <a:srgbClr val="F3EFE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54132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每组必须回答 4 件事：①例子　②想证明什么　③为什么有效　④哪里值得商榷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6108192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注意：反问、讽刺更偏“表达技巧”；不要和举例、类比简单混成同一类。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精读｜“商场”这个类比，为什么有用？又有什么边界？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892040" cy="2971800"/>
          </a:xfrm>
          <a:prstGeom prst="roundRect">
            <a:avLst>
              <a:gd name="adj" fmla="val 4308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类比对象 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商场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5661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选择怎样的商店，会影响商场的定位、形象与顾客体验。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489204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类比对象 B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故宫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5661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商业设施的选择与安排，也会影响文化场所呈现出的整体形象。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9280" y="3456432"/>
            <a:ext cx="731520" cy="0"/>
          </a:xfrm>
          <a:prstGeom prst="line">
            <a:avLst/>
          </a:prstGeom>
          <a:noFill/>
          <a:ln w="38100">
            <a:solidFill>
              <a:srgbClr val="745A4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60120" y="53492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批判性追问：商场与文化遗产场所毕竟不同。这个类比可以说明什么？又不能证明什么？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精读｜对比、反问与讽刺：语气也在“推动”观点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对比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26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期待中的“世界级文化遗产”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vs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现实中的杂乱商业景象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4041648"/>
            <a:ext cx="2606040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960120" y="4251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制造落差，让读者感到问题不仅是单个商店。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53128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反问 / 设问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926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连续追问：故宫究竟是什么性质的场所？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64608" y="4041648"/>
            <a:ext cx="2606040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4773168" y="4251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迫使读者跟随作者重新定义问题。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66176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94776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讽刺 / 尖锐措辞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586216" y="2926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使用明显带态度的词语评价眼前景象。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77656" y="4041648"/>
            <a:ext cx="2606040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8586216" y="4251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增强冲击力，但也可能让论述更情绪化。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7150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一句话原则：语言“有力量” ≠ 论证“自动充分”。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批判性阅读｜作者的论证“够不够”？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从下面三个观点中选一个。不要急着说“同意 / 不同意”，先检查论证。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2461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514600"/>
            <a:ext cx="365760" cy="36576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231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文化场所需要考虑整体形象。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3246120" cy="804672"/>
          </a:xfrm>
          <a:prstGeom prst="roundRect">
            <a:avLst>
              <a:gd name="adj" fmla="val 15909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2514600"/>
            <a:ext cx="365760" cy="36576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172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4231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商业设施应符合场所定位。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0" y="2331720"/>
            <a:ext cx="32461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5048" y="2514600"/>
            <a:ext cx="365760" cy="36576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504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4231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故宫要先明确自身定位，再安排商业与服务。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51560" y="3703320"/>
            <a:ext cx="320040" cy="32004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3931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作者用了什么证据？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051560" y="4251960"/>
            <a:ext cx="320040" cy="32004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18795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证据与观点之间有什么逻辑联系？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51560" y="4800600"/>
            <a:ext cx="320040" cy="320040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73659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有没有其他解释？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051560" y="5349240"/>
            <a:ext cx="320040" cy="320040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28523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还需要什么信息，论证才更充分？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6035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批判性阅读 ≠ 故意反对作者；它是在检查“观点—证据—推理”之间的关系。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独立写作｜把“识别方法”升级成真正的分析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选择一种论证 / 表达技巧，完成 120–150 字分析段落。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6949440" cy="307238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P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5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Point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作者使用了什么方法？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E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5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Evidence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具体文本依据是什么？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E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5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Explanation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这如何支持观点 / 影响读者？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L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5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Link / Limit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如何连接中心思想？有何局限？（挑战）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2331720"/>
            <a:ext cx="3154680" cy="342900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避免空话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339328" y="3246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✗ “用了举例论证，使文章更有说服力。”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343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 说清楚：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什么例子 → 证明什么 → 为什么有效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同伴反馈｜只检查三件最重要的事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12848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103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证据准确吗？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02996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能指出具体段落 / 具体内容，而不是泛泛复述。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136392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383280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分析真的发生了吗？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2004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解释“为什么有效”，而不是只写“有说服力”。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306824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4553712"/>
            <a:ext cx="420624" cy="420624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4439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观点和中心思想连上了吗？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37083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段落最后回到作者真正要讨论的问题。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57400" y="5669280"/>
            <a:ext cx="8046720" cy="502920"/>
          </a:xfrm>
          <a:prstGeom prst="roundRect">
            <a:avLst>
              <a:gd name="adj" fmla="val 25455"/>
            </a:avLst>
          </a:prstGeom>
          <a:solidFill>
            <a:srgbClr val="F3EFEA"/>
          </a:solidFill>
          <a:ln w="12700">
            <a:solidFill>
              <a:srgbClr val="F3EFE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40280" y="5742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反馈句式：“你已经清楚说明了____；下一步可以进一步解释____。”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 + Homework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212080" cy="3474720"/>
          </a:xfrm>
          <a:prstGeom prst="roundRect">
            <a:avLst>
              <a:gd name="adj" fmla="val 3684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762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1. 作者运用了________，通过________，说明了________。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2. 这一论证 / 表达的局限在于________。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498348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176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697480"/>
            <a:ext cx="4206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完成教材 P29【活动二】。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再选择一个你认为值得商榷的观点，写 150–200 字：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作者观点是什么？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他如何证明？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论证是否充分？为什么？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A55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502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从批判性阅读到独立写作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FBEDE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多角度讨论｜议论文 vs 讨论文｜写作迁移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732520" y="1508760"/>
            <a:ext cx="2514600" cy="804672"/>
          </a:xfrm>
          <a:prstGeom prst="roundRect">
            <a:avLst>
              <a:gd name="adj" fmla="val 15909"/>
            </a:avLst>
          </a:prstGeom>
          <a:solidFill>
            <a:srgbClr val="B9654E"/>
          </a:solidFill>
          <a:ln w="12700">
            <a:solidFill>
              <a:srgbClr val="B9654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42832" y="16184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46920" y="161848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FBEDE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我怎么看？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32520" y="2587752"/>
            <a:ext cx="2514600" cy="804672"/>
          </a:xfrm>
          <a:prstGeom prst="roundRect">
            <a:avLst>
              <a:gd name="adj" fmla="val 15909"/>
            </a:avLst>
          </a:prstGeom>
          <a:solidFill>
            <a:srgbClr val="B9654E"/>
          </a:solidFill>
          <a:ln w="12700">
            <a:solidFill>
              <a:srgbClr val="B9654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42832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论据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26974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FBEDE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凭什么？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32520" y="3666744"/>
            <a:ext cx="2514600" cy="804672"/>
          </a:xfrm>
          <a:prstGeom prst="roundRect">
            <a:avLst>
              <a:gd name="adj" fmla="val 15909"/>
            </a:avLst>
          </a:prstGeom>
          <a:solidFill>
            <a:srgbClr val="B9654E"/>
          </a:solidFill>
          <a:ln w="12700">
            <a:solidFill>
              <a:srgbClr val="B9654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42832" y="377647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回应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FBEDE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如何处理异议？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4069080"/>
            <a:ext cx="7132320" cy="1353312"/>
          </a:xfrm>
          <a:prstGeom prst="roundRect">
            <a:avLst>
              <a:gd name="adj" fmla="val 9459"/>
            </a:avLst>
          </a:prstGeom>
          <a:solidFill>
            <a:srgbClr val="AF6A54"/>
          </a:solidFill>
          <a:ln w="12700">
            <a:solidFill>
              <a:srgbClr val="AF6A5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7E6D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09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文化保护与商业发展，一定互相排斥吗？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今天要带走的三件事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21408"/>
            <a:ext cx="420624" cy="420624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039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区分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7510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说清议论文与讨论文的写作目的和组织方式。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3136392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383280"/>
            <a:ext cx="420624" cy="420624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64208" y="3300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发展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23697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从不同角色 / 利益角度提出合理观点与例子。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" y="4398264"/>
            <a:ext cx="10561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645152"/>
            <a:ext cx="420624" cy="420624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64208" y="4562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4988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把讨论材料整理成写作计划和一个有分析的主体段。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Starter｜立场光谱：文化价值应该优先于商业利益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先独立选择你现在的位置，再写一条理由。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3291840"/>
            <a:ext cx="9601200" cy="0"/>
          </a:xfrm>
          <a:prstGeom prst="line">
            <a:avLst/>
          </a:prstGeom>
          <a:noFill/>
          <a:ln w="50800">
            <a:solidFill>
              <a:srgbClr val="47454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6424" y="3118104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6424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完全同意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83864" y="3118104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3864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比较同意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07024" y="3118104"/>
            <a:ext cx="347472" cy="347472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7024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914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视情况而定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84464" y="3118104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4464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比较不同意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707624" y="3118104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07624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955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完全不同意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965960" y="4800600"/>
            <a:ext cx="8229600" cy="777240"/>
          </a:xfrm>
          <a:prstGeom prst="roundRect">
            <a:avLst>
              <a:gd name="adj" fmla="val 16471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0280" y="4983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Pair talk：找出对方观点中“你能同意的一部分”，再指出一个你想追问的条件。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议论文 vs 讨论文｜同一个主题，不同的写作任务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744200" cy="3447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议论文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讨论文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核心任务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建立并论证明确立场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分析问题的不同方面，再形成合理判断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主体组织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分论点 + 论据 + 分析 + 回应异议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不同角度 / 利益 / 条件 + 比较分析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写作重点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立场清晰，论证持续发展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分析全面，但不是“什么都不决定”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结论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强化中心论点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综合比较后给出有根据的判断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5440680"/>
            <a:ext cx="51663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55412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议论文： “我们应该尊重文化的多样性。”你同意吗？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17920" y="5440680"/>
            <a:ext cx="4983480" cy="621792"/>
          </a:xfrm>
          <a:prstGeom prst="roundRect">
            <a:avLst>
              <a:gd name="adj" fmla="val 20588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55412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讨论文：历史文化场所引入商业设施，有哪些好处与问题？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小组任务｜同一个决定，四种角色会看到什么？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情境：某文化遗产场所计划引入商业服务。每人先从一个角色思考。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5074920" cy="1143000"/>
          </a:xfrm>
          <a:prstGeom prst="roundRect">
            <a:avLst>
              <a:gd name="adj" fmla="val 11200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651760"/>
            <a:ext cx="475488" cy="475488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23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管理者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054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如何维护文化价值与整体形象？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50749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2651760"/>
            <a:ext cx="475488" cy="475488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523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游客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054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怎样兼顾便利、舒适与参观体验？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822192"/>
            <a:ext cx="50749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4096512"/>
            <a:ext cx="475488" cy="475488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968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经营者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95020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怎样提供服务并维持合理经营？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63640" y="3822192"/>
            <a:ext cx="5074920" cy="1143000"/>
          </a:xfrm>
          <a:prstGeom prst="roundRect">
            <a:avLst>
              <a:gd name="adj" fmla="val 11200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4096512"/>
            <a:ext cx="475488" cy="475488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4808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968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文化研究者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787384" y="3950208"/>
            <a:ext cx="2414016" cy="816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怎样保留历史特色并避免过度商业化？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7424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 2 分钟 → 组内轮流 1 分钟 → 找出“冲突点”和“可以兼顾的部分”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把讨论变成“可写”的内容｜制定三条经营原则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小组共同制定 3 条原则。每条必须包含：建议 → 理由 → 可能效果。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40280"/>
          <a:ext cx="10789920" cy="317296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原则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我们的建议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为什么？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可能效果 / 风险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1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2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3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可考虑：位置｜建筑外观｜商品内容｜游客需求｜文化教育功能｜品牌选择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从口头讨论到文章｜先整理，再下笔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以教材 P29 议论文题为例：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7007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“我们应该尊重文化的多样性。”你同意吗？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2560320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4871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743200" y="2450592"/>
            <a:ext cx="80010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505456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界定问题 + 明确立场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3218688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1455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主体①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743200" y="3108960"/>
            <a:ext cx="80010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3163824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第一个分论点 + 具体例子 + 分析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877056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38039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主体②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743200" y="3767328"/>
            <a:ext cx="80010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3822192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第二个分论点 + 具体例子 + 分析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1560" y="4535424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572768" y="44622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主体③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2743200" y="4425696"/>
            <a:ext cx="8001000" cy="475488"/>
          </a:xfrm>
          <a:prstGeom prst="roundRect">
            <a:avLst>
              <a:gd name="adj" fmla="val 26923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800" y="448056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考虑不同观点 / 条件 + 回应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1560" y="5193792"/>
            <a:ext cx="347472" cy="347472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193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72768" y="51206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结尾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2743200" y="5084064"/>
            <a:ext cx="80010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5138928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综合判断，不只是重复开头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59893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写作计划只写关键词：先看逻辑，不要把整篇文章提前写进表格。</a:t>
            </a:r>
            <a:endParaRPr lang="en-US" sz="1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主体段不是“举例就结束”｜要把分析写出来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074920" cy="3337560"/>
          </a:xfrm>
          <a:prstGeom prst="roundRect">
            <a:avLst>
              <a:gd name="adj" fmla="val 3836"/>
            </a:avLst>
          </a:prstGeom>
          <a:solidFill>
            <a:srgbClr val="F3ECE8"/>
          </a:solidFill>
          <a:ln w="12700">
            <a:solidFill>
              <a:srgbClr val="F3ECE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240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较弱的段落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9260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“不同文化应该互相尊重。比如很多城市都有来自不同国家的餐厅，所以文化多样性很重要。”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问题：有例子，但“为什么”没有展开。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074920" cy="3337560"/>
          </a:xfrm>
          <a:prstGeom prst="roundRect">
            <a:avLst>
              <a:gd name="adj" fmla="val 3836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240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更强的写法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 → 例子 → 解释影响 → 回到题目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490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追问自己：这个例子到底证明了什么？它与“尊重 / 多样性 / 全球化”的关系是什么？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65099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写作时，可以借鉴梁文道的比较、反问等技巧，但不要用尖锐语气替代逻辑。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独立写作｜现在写：开头 + 一个完整主体段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653796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课堂任务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完成写作计划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写出开头段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写出一个完整主体段（观点—论据—分析）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709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时间建议：17分钟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26680" y="187452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2176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交稿前 4 检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65008" y="2880360"/>
            <a:ext cx="274320" cy="274320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500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807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 / 任务清楚吗？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65008" y="3410712"/>
            <a:ext cx="274320" cy="274320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例子具体吗？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65008" y="3941064"/>
            <a:ext cx="274320" cy="274320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500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8679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有没有解释“为什么”？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065008" y="4471416"/>
            <a:ext cx="274320" cy="274320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3982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段尾有没有回到题目？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第三课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 + Homework｜把本单元真正写成一篇文章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4206240" cy="3520440"/>
          </a:xfrm>
          <a:prstGeom prst="roundRect">
            <a:avLst>
              <a:gd name="adj" fmla="val 3636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43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1. 我的中心论点是________。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2. 我准备使用的一个具体论据是________。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3. 我下一步最需要发展的方面是________。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303520" y="1874519"/>
            <a:ext cx="5989320" cy="3893981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2148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HOMEWORK｜400–600 字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6974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二选一：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154680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议论文：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“我们应该尊重文化的多样性。”你同意吗？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4251960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讨论文：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“传统文化受到全球化的冲击是我们不可避免的问题。”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524097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题目②按教材 P29 要求组织内容。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单元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三节课结束后，你应该留下三份“证据”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3310128" cy="2971800"/>
          </a:xfrm>
          <a:prstGeom prst="roundRect">
            <a:avLst>
              <a:gd name="adj" fmla="val 4308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240280"/>
            <a:ext cx="457200" cy="457200"/>
          </a:xfrm>
          <a:prstGeom prst="ellipse">
            <a:avLst/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76272"/>
            <a:ext cx="2430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中心论点 / 结构图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27248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我能准确读懂作者真正要讨论的问题。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498848" y="1965960"/>
            <a:ext cx="3310128" cy="2971800"/>
          </a:xfrm>
          <a:prstGeom prst="roundRect">
            <a:avLst>
              <a:gd name="adj" fmla="val 4308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2240280"/>
            <a:ext cx="457200" cy="457200"/>
          </a:xfrm>
          <a:prstGeom prst="ellipse">
            <a:avLst/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744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76088" y="2176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PEEL 论证分析段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3127248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我能解释作者如何用证据和技巧支持观点。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66176" y="1965960"/>
            <a:ext cx="3310128" cy="2971800"/>
          </a:xfrm>
          <a:prstGeom prst="roundRect">
            <a:avLst>
              <a:gd name="adj" fmla="val 4308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94776" y="2240280"/>
            <a:ext cx="457200" cy="457200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947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43416" y="2176272"/>
            <a:ext cx="2417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写作计划 + 主体段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586216" y="3127248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我能把多角度思考转化成自己的论证。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阅读：别人如何提出观点？　→　分析：别人如何证明观点？　→　创作：我如何表达并证明自己的观点？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6F68"/>
          </a:solidFill>
          <a:ln w="12700">
            <a:solidFill>
              <a:srgbClr val="2F6F6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1｜预期答案与时间调整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672084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核心理解（参考）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51760"/>
            <a:ext cx="6355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作者并非只在反对“外国品牌进入故宫”，而是借争议质疑管理机构对场所定位、商业安排与整体文化形象的规划。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第1–4段通过个人经历、期待与现实反差引出争议；第5–8段把焦点转向管理责任和“故宫究竟是什么”的根本问题。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166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常见误区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5138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把中心论点概括成“作者反对星巴克 / 反对西方文化”。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3474720" cy="4389120"/>
          </a:xfrm>
          <a:prstGeom prst="roundRect">
            <a:avLst>
              <a:gd name="adj" fmla="val 3684"/>
            </a:avLst>
          </a:prstGeom>
          <a:solidFill>
            <a:srgbClr val="E2EFEC"/>
          </a:solidFill>
          <a:ln w="12700">
            <a:solidFill>
              <a:srgbClr val="E2EFE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F6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时间不足时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7889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优先保留：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分层阅读②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问题诊断表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Exit Ticket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可压缩：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词语活动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口头立场修正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5623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教材依据：P24–26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745A48"/>
          </a:solidFill>
          <a:ln w="12700">
            <a:solidFill>
              <a:srgbClr val="745A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2｜预期答案与课堂提醒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67665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可识别的重点技巧（参考）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06040"/>
            <a:ext cx="5989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举例：个人参观经历、故宫内商业景象等。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类比：用商场经营说明“场所定位—商业选择—整体形象”的关系。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对比：理想中的文化遗产与现实观感形成落差。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设问 / 反问：连续追问故宫的定位，推动读者重新思考。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尖锐 / 讽刺性措辞：增强评论文的冲击力。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349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75C5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提醒：不要把所有语言技巧都叫“论证方法”。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63840" y="1783080"/>
            <a:ext cx="3429000" cy="4434840"/>
          </a:xfrm>
          <a:prstGeom prst="roundRect">
            <a:avLst>
              <a:gd name="adj" fmla="val 3733"/>
            </a:avLst>
          </a:prstGeom>
          <a:solidFill>
            <a:srgbClr val="EFE7E0"/>
          </a:solidFill>
          <a:ln w="12700">
            <a:solidFill>
              <a:srgbClr val="EFE7E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21031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45A4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评价语言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432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推荐学生使用：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“这一方法能够……，因为……”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“不过，它只能说明……，不能自动证明……”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“若要更充分，还需要……”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5669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教材依据：P28–29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Lesson 3｜写作迁移与差异化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516636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支持型支架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先提供“立场—理由—例子—分析”四格计划。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只要求先完成一个高质量主体段。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允许使用课堂角色卡中产生的观点。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挑战型任务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074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加入反方观点与回应；在结论中做“有条件的判断”，避免绝对化。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029200" cy="4389120"/>
          </a:xfrm>
          <a:prstGeom prst="roundRect">
            <a:avLst>
              <a:gd name="adj" fmla="val 2917"/>
            </a:avLst>
          </a:prstGeom>
          <a:solidFill>
            <a:srgbClr val="F4E5DF"/>
          </a:solidFill>
          <a:ln w="12700">
            <a:solidFill>
              <a:srgbClr val="F4E5D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55E4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作业检查重点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83680" y="2788920"/>
            <a:ext cx="265176" cy="265176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78892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272491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是否真正回应题目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3319272"/>
            <a:ext cx="265176" cy="265176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33192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325526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两个主体分论点是否重复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0" y="3849624"/>
            <a:ext cx="265176" cy="265176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8496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378561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论据后有没有分析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0" y="4379976"/>
            <a:ext cx="265176" cy="265176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379976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431596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是否处理不同观点 / 条件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583680" y="4910328"/>
            <a:ext cx="265176" cy="265176"/>
          </a:xfrm>
          <a:prstGeom prst="ellipse">
            <a:avLst/>
          </a:prstGeom>
          <a:solidFill>
            <a:srgbClr val="A55E47"/>
          </a:solidFill>
          <a:ln w="12700">
            <a:solidFill>
              <a:srgbClr val="A55E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91032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484632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结论是否有综合而非重复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5715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教材依据：P27、P29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256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F6B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课文3｜议论 / 思想批判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>
                <a:solidFill>
                  <a:srgbClr val="2C2B2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三课时快速时间表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1672" cy="0"/>
          </a:xfrm>
          <a:prstGeom prst="line">
            <a:avLst/>
          </a:prstGeom>
          <a:noFill/>
          <a:ln w="12700">
            <a:solidFill>
              <a:srgbClr val="D8D2C9"/>
            </a:solidFill>
            <a:prstDash val="solid"/>
            <a:headEnd type="none"/>
            <a:tailEnd type="none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89920" cy="30906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课时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核心活动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建议时间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时间不足时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L1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情境导入 → 分层阅读 → 问题诊断 → Exit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 + 5 + 25 + 15 + 10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压缩词语；取消口头立场修正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L2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配对 → CER → 论证侦探 → 评价 → PEEL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 + 8 + 14 + 10 + 18 + 5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同伴反馈改自检；缩短精读汇报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L3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5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光谱 → 文体比较 → 角色讨论 → 写作计划 → 写作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 + 8 + 19 + 10 + 17 + 1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C2B29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角色汇报减少；Exit改课后提交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325880" y="5577840"/>
            <a:ext cx="95097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54480" y="56692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7454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原则：优先保留“回到文本证据”和“独立写作产出”；最先删的是重复汇报与装饰性活动。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AA49C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2685</Words>
  <Application>Microsoft Macintosh PowerPoint</Application>
  <PresentationFormat>Widescreen</PresentationFormat>
  <Paragraphs>701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STKaiti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课文3｜议论 / 思想批判：文化入侵故宫星巴克的伪问题</dc:title>
  <dc:subject>IGCSE 0509 中文第一语言：梁文道《文化入侵故宫星巴克的伪问题》三课时</dc:subject>
  <dc:creator>OpenAI</dc:creator>
  <cp:lastModifiedBy>Darcy Duan</cp:lastModifiedBy>
  <cp:revision>3</cp:revision>
  <dcterms:created xsi:type="dcterms:W3CDTF">2026-09-27T08:57:42Z</dcterms:created>
  <dcterms:modified xsi:type="dcterms:W3CDTF">2026-09-27T09:14:48Z</dcterms:modified>
</cp:coreProperties>
</file>