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4873d19cb4ef2" /><Relationship Type="http://schemas.openxmlformats.org/officeDocument/2006/relationships/extended-properties" Target="/docProps/app.xml" Id="Rd189e5be483944cf" /><Relationship Type="http://schemas.openxmlformats.org/officeDocument/2006/relationships/officeDocument" Target="/ppt/presentation.xml" Id="Ra2327be3da67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bdc7bec4040d5"/>
  </p:sldMasterIdLst>
  <p:notesMasterIdLst>
    <p:notesMasterId xmlns:r="http://schemas.openxmlformats.org/officeDocument/2006/relationships" r:id="R66b4fb89df3848ed"/>
  </p:notesMasterIdLst>
  <p:sldIdLst>
    <p:sldId xmlns:r="http://schemas.openxmlformats.org/officeDocument/2006/relationships" id="256" r:id="Ra740ce70acc64fe7"/>
    <p:sldId xmlns:r="http://schemas.openxmlformats.org/officeDocument/2006/relationships" id="257" r:id="Rca003ab81c554474"/>
    <p:sldId xmlns:r="http://schemas.openxmlformats.org/officeDocument/2006/relationships" id="258" r:id="Rc2c83c8f9cfa49af"/>
    <p:sldId xmlns:r="http://schemas.openxmlformats.org/officeDocument/2006/relationships" id="259" r:id="R52e308cad4ca4837"/>
    <p:sldId xmlns:r="http://schemas.openxmlformats.org/officeDocument/2006/relationships" id="260" r:id="Rbbc3646bee504bc4"/>
    <p:sldId xmlns:r="http://schemas.openxmlformats.org/officeDocument/2006/relationships" id="261" r:id="Rb9c853cde40149dd"/>
    <p:sldId xmlns:r="http://schemas.openxmlformats.org/officeDocument/2006/relationships" id="262" r:id="R0f5aa89eb17d4e9f"/>
    <p:sldId xmlns:r="http://schemas.openxmlformats.org/officeDocument/2006/relationships" id="263" r:id="R4b2baa15530e4243"/>
    <p:sldId xmlns:r="http://schemas.openxmlformats.org/officeDocument/2006/relationships" id="264" r:id="R6420bcf310ac432d"/>
    <p:sldId xmlns:r="http://schemas.openxmlformats.org/officeDocument/2006/relationships" id="265" r:id="R374c355115d44430"/>
    <p:sldId xmlns:r="http://schemas.openxmlformats.org/officeDocument/2006/relationships" id="266" r:id="Rfe193a1781b64b29"/>
    <p:sldId xmlns:r="http://schemas.openxmlformats.org/officeDocument/2006/relationships" id="267" r:id="R5e67da32dc72404a"/>
    <p:sldId xmlns:r="http://schemas.openxmlformats.org/officeDocument/2006/relationships" id="268" r:id="Rcf16e47366b1480a"/>
    <p:sldId xmlns:r="http://schemas.openxmlformats.org/officeDocument/2006/relationships" id="269" r:id="Rc3369160b2894da5"/>
    <p:sldId xmlns:r="http://schemas.openxmlformats.org/officeDocument/2006/relationships" id="270" r:id="R36be0327589049f1"/>
    <p:sldId xmlns:r="http://schemas.openxmlformats.org/officeDocument/2006/relationships" id="271" r:id="Rab807fca124840ff"/>
    <p:sldId xmlns:r="http://schemas.openxmlformats.org/officeDocument/2006/relationships" id="272" r:id="R2e9243d333b34ebd"/>
    <p:sldId xmlns:r="http://schemas.openxmlformats.org/officeDocument/2006/relationships" id="273" r:id="R1d8fed0cbd2a4834"/>
    <p:sldId xmlns:r="http://schemas.openxmlformats.org/officeDocument/2006/relationships" id="274" r:id="R2fbb72d348904227"/>
    <p:sldId xmlns:r="http://schemas.openxmlformats.org/officeDocument/2006/relationships" id="275" r:id="Re5e51281a86949d1"/>
    <p:sldId xmlns:r="http://schemas.openxmlformats.org/officeDocument/2006/relationships" id="276" r:id="R75c511a66dc64346"/>
    <p:sldId xmlns:r="http://schemas.openxmlformats.org/officeDocument/2006/relationships" id="277" r:id="R584e53bf8f3e47df"/>
    <p:sldId xmlns:r="http://schemas.openxmlformats.org/officeDocument/2006/relationships" id="278" r:id="R7a3c8285d5014093"/>
    <p:sldId xmlns:r="http://schemas.openxmlformats.org/officeDocument/2006/relationships" id="279" r:id="R30afb91ae3b74e09"/>
    <p:sldId xmlns:r="http://schemas.openxmlformats.org/officeDocument/2006/relationships" id="280" r:id="R954171bd443b41d0"/>
    <p:sldId xmlns:r="http://schemas.openxmlformats.org/officeDocument/2006/relationships" id="281" r:id="Recd69a4cb6f441a7"/>
    <p:sldId xmlns:r="http://schemas.openxmlformats.org/officeDocument/2006/relationships" id="282" r:id="R985f0efeb5244560"/>
    <p:sldId xmlns:r="http://schemas.openxmlformats.org/officeDocument/2006/relationships" id="283" r:id="Rcfaf1a0aaefd46f1"/>
    <p:sldId xmlns:r="http://schemas.openxmlformats.org/officeDocument/2006/relationships" id="284" r:id="Rb98defc677454bfa"/>
    <p:sldId xmlns:r="http://schemas.openxmlformats.org/officeDocument/2006/relationships" id="285" r:id="R3f6aaf8e26a64aa0"/>
    <p:sldId xmlns:r="http://schemas.openxmlformats.org/officeDocument/2006/relationships" id="286" r:id="R95830b58c69d4420"/>
    <p:sldId xmlns:r="http://schemas.openxmlformats.org/officeDocument/2006/relationships" id="287" r:id="Rf61d6f9c833243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dd42f525346a2" /><Relationship Type="http://schemas.openxmlformats.org/officeDocument/2006/relationships/slideMaster" Target="/ppt/slideMasters/slideMaster1.xml" Id="Rcd7bdc7bec4040d5" /><Relationship Type="http://schemas.openxmlformats.org/officeDocument/2006/relationships/notesMaster" Target="/ppt/notesMasters/notesMaster1.xml" Id="R66b4fb89df3848ed" /><Relationship Type="http://schemas.openxmlformats.org/officeDocument/2006/relationships/presProps" Target="/ppt/presProps.xml" Id="Ra0dad3942d2740be" /><Relationship Type="http://schemas.openxmlformats.org/officeDocument/2006/relationships/tableStyles" Target="/ppt/tableStyles.xml" Id="R136cb740014c473a" /><Relationship Type="http://schemas.openxmlformats.org/officeDocument/2006/relationships/slide" Target="/ppt/slides/slide1.xml" Id="Ra740ce70acc64fe7" /><Relationship Type="http://schemas.openxmlformats.org/officeDocument/2006/relationships/slide" Target="/ppt/slides/slide2.xml" Id="Rca003ab81c554474" /><Relationship Type="http://schemas.openxmlformats.org/officeDocument/2006/relationships/slide" Target="/ppt/slides/slide3.xml" Id="Rc2c83c8f9cfa49af" /><Relationship Type="http://schemas.openxmlformats.org/officeDocument/2006/relationships/slide" Target="/ppt/slides/slide4.xml" Id="R52e308cad4ca4837" /><Relationship Type="http://schemas.openxmlformats.org/officeDocument/2006/relationships/slide" Target="/ppt/slides/slide5.xml" Id="Rbbc3646bee504bc4" /><Relationship Type="http://schemas.openxmlformats.org/officeDocument/2006/relationships/slide" Target="/ppt/slides/slide6.xml" Id="Rb9c853cde40149dd" /><Relationship Type="http://schemas.openxmlformats.org/officeDocument/2006/relationships/slide" Target="/ppt/slides/slide7.xml" Id="R0f5aa89eb17d4e9f" /><Relationship Type="http://schemas.openxmlformats.org/officeDocument/2006/relationships/slide" Target="/ppt/slides/slide8.xml" Id="R4b2baa15530e4243" /><Relationship Type="http://schemas.openxmlformats.org/officeDocument/2006/relationships/slide" Target="/ppt/slides/slide9.xml" Id="R6420bcf310ac432d" /><Relationship Type="http://schemas.openxmlformats.org/officeDocument/2006/relationships/slide" Target="/ppt/slides/slide10.xml" Id="R374c355115d44430" /><Relationship Type="http://schemas.openxmlformats.org/officeDocument/2006/relationships/slide" Target="/ppt/slides/slide11.xml" Id="Rfe193a1781b64b29" /><Relationship Type="http://schemas.openxmlformats.org/officeDocument/2006/relationships/slide" Target="/ppt/slides/slide12.xml" Id="R5e67da32dc72404a" /><Relationship Type="http://schemas.openxmlformats.org/officeDocument/2006/relationships/slide" Target="/ppt/slides/slide13.xml" Id="Rcf16e47366b1480a" /><Relationship Type="http://schemas.openxmlformats.org/officeDocument/2006/relationships/slide" Target="/ppt/slides/slide14.xml" Id="Rc3369160b2894da5" /><Relationship Type="http://schemas.openxmlformats.org/officeDocument/2006/relationships/slide" Target="/ppt/slides/slide15.xml" Id="R36be0327589049f1" /><Relationship Type="http://schemas.openxmlformats.org/officeDocument/2006/relationships/slide" Target="/ppt/slides/slide16.xml" Id="Rab807fca124840ff" /><Relationship Type="http://schemas.openxmlformats.org/officeDocument/2006/relationships/slide" Target="/ppt/slides/slide17.xml" Id="R2e9243d333b34ebd" /><Relationship Type="http://schemas.openxmlformats.org/officeDocument/2006/relationships/slide" Target="/ppt/slides/slide18.xml" Id="R1d8fed0cbd2a4834" /><Relationship Type="http://schemas.openxmlformats.org/officeDocument/2006/relationships/slide" Target="/ppt/slides/slide19.xml" Id="R2fbb72d348904227" /><Relationship Type="http://schemas.openxmlformats.org/officeDocument/2006/relationships/slide" Target="/ppt/slides/slide20.xml" Id="Re5e51281a86949d1" /><Relationship Type="http://schemas.openxmlformats.org/officeDocument/2006/relationships/slide" Target="/ppt/slides/slide21.xml" Id="R75c511a66dc64346" /><Relationship Type="http://schemas.openxmlformats.org/officeDocument/2006/relationships/slide" Target="/ppt/slides/slide22.xml" Id="R584e53bf8f3e47df" /><Relationship Type="http://schemas.openxmlformats.org/officeDocument/2006/relationships/slide" Target="/ppt/slides/slide23.xml" Id="R7a3c8285d5014093" /><Relationship Type="http://schemas.openxmlformats.org/officeDocument/2006/relationships/slide" Target="/ppt/slides/slide24.xml" Id="R30afb91ae3b74e09" /><Relationship Type="http://schemas.openxmlformats.org/officeDocument/2006/relationships/slide" Target="/ppt/slides/slide25.xml" Id="R954171bd443b41d0" /><Relationship Type="http://schemas.openxmlformats.org/officeDocument/2006/relationships/slide" Target="/ppt/slides/slide26.xml" Id="Recd69a4cb6f441a7" /><Relationship Type="http://schemas.openxmlformats.org/officeDocument/2006/relationships/slide" Target="/ppt/slides/slide27.xml" Id="R985f0efeb5244560" /><Relationship Type="http://schemas.openxmlformats.org/officeDocument/2006/relationships/slide" Target="/ppt/slides/slide28.xml" Id="Rcfaf1a0aaefd46f1" /><Relationship Type="http://schemas.openxmlformats.org/officeDocument/2006/relationships/slide" Target="/ppt/slides/slide29.xml" Id="Rb98defc677454bfa" /><Relationship Type="http://schemas.openxmlformats.org/officeDocument/2006/relationships/slide" Target="/ppt/slides/slide30.xml" Id="R3f6aaf8e26a64aa0" /><Relationship Type="http://schemas.openxmlformats.org/officeDocument/2006/relationships/slide" Target="/ppt/slides/slide31.xml" Id="R95830b58c69d4420" /><Relationship Type="http://schemas.openxmlformats.org/officeDocument/2006/relationships/slide" Target="/ppt/slides/slide32.xml" Id="Rf61d6f9c8332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5327326ec6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19f7a651f4a46" /><Relationship Type="http://schemas.openxmlformats.org/officeDocument/2006/relationships/notesMaster" Target="/ppt/notesMasters/notesMaster1.xml" Id="Rf2016a7a3942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f88d9ea8d8421a" /><Relationship Type="http://schemas.openxmlformats.org/officeDocument/2006/relationships/notesMaster" Target="/ppt/notesMasters/notesMaster1.xml" Id="R1561bf0136c248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ffa3f8f8041d9" /><Relationship Type="http://schemas.openxmlformats.org/officeDocument/2006/relationships/notesMaster" Target="/ppt/notesMasters/notesMaster1.xml" Id="Rd20a8a25423644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c9c24c36dd4e01" /><Relationship Type="http://schemas.openxmlformats.org/officeDocument/2006/relationships/notesMaster" Target="/ppt/notesMasters/notesMaster1.xml" Id="Rb206e50bc7cf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98ec702efe4775" /><Relationship Type="http://schemas.openxmlformats.org/officeDocument/2006/relationships/notesMaster" Target="/ppt/notesMasters/notesMaster1.xml" Id="Re7d7042aaae74c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5d6bcb4c7b4054" /><Relationship Type="http://schemas.openxmlformats.org/officeDocument/2006/relationships/notesMaster" Target="/ppt/notesMasters/notesMaster1.xml" Id="R227a70bd06ac4a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3f2eb1bf014c6b" /><Relationship Type="http://schemas.openxmlformats.org/officeDocument/2006/relationships/notesMaster" Target="/ppt/notesMasters/notesMaster1.xml" Id="Rc381e21607f542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37016e60284cf8" /><Relationship Type="http://schemas.openxmlformats.org/officeDocument/2006/relationships/notesMaster" Target="/ppt/notesMasters/notesMaster1.xml" Id="R2315caf6ae1c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db19ebc10d45a3" /><Relationship Type="http://schemas.openxmlformats.org/officeDocument/2006/relationships/notesMaster" Target="/ppt/notesMasters/notesMaster1.xml" Id="R784f37ca43014c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8c01748db042f3" /><Relationship Type="http://schemas.openxmlformats.org/officeDocument/2006/relationships/notesMaster" Target="/ppt/notesMasters/notesMaster1.xml" Id="R03898052660348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0970923d8a42a4" /><Relationship Type="http://schemas.openxmlformats.org/officeDocument/2006/relationships/notesMaster" Target="/ppt/notesMasters/notesMaster1.xml" Id="R38bb311bad7d45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376c7d8c504ae2" /><Relationship Type="http://schemas.openxmlformats.org/officeDocument/2006/relationships/notesMaster" Target="/ppt/notesMasters/notesMaster1.xml" Id="R0af13143648e4f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b6a1a645834e4f" /><Relationship Type="http://schemas.openxmlformats.org/officeDocument/2006/relationships/notesMaster" Target="/ppt/notesMasters/notesMaster1.xml" Id="Re4d75ae9a1374b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b81c80bb564329" /><Relationship Type="http://schemas.openxmlformats.org/officeDocument/2006/relationships/notesMaster" Target="/ppt/notesMasters/notesMaster1.xml" Id="R387c5db0217f47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0bc55037804264" /><Relationship Type="http://schemas.openxmlformats.org/officeDocument/2006/relationships/notesMaster" Target="/ppt/notesMasters/notesMaster1.xml" Id="R992eacb01ce24d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d75f8ed9fa460c" /><Relationship Type="http://schemas.openxmlformats.org/officeDocument/2006/relationships/notesMaster" Target="/ppt/notesMasters/notesMaster1.xml" Id="R30a7a6dabe1248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1130336f794837" /><Relationship Type="http://schemas.openxmlformats.org/officeDocument/2006/relationships/notesMaster" Target="/ppt/notesMasters/notesMaster1.xml" Id="R0c2806a8c8d147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0be74c54414c40" /><Relationship Type="http://schemas.openxmlformats.org/officeDocument/2006/relationships/notesMaster" Target="/ppt/notesMasters/notesMaster1.xml" Id="R2f47815ad5684e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7afb911e8c4134" /><Relationship Type="http://schemas.openxmlformats.org/officeDocument/2006/relationships/notesMaster" Target="/ppt/notesMasters/notesMaster1.xml" Id="R7f8061ec4d1246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05aa9b6c06472d" /><Relationship Type="http://schemas.openxmlformats.org/officeDocument/2006/relationships/notesMaster" Target="/ppt/notesMasters/notesMaster1.xml" Id="R63c836c6a65641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c65902bc834c35" /><Relationship Type="http://schemas.openxmlformats.org/officeDocument/2006/relationships/notesMaster" Target="/ppt/notesMasters/notesMaster1.xml" Id="R44047a7216ac42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94e7a3ad3c47f4" /><Relationship Type="http://schemas.openxmlformats.org/officeDocument/2006/relationships/notesMaster" Target="/ppt/notesMasters/notesMaster1.xml" Id="R7981a2eaab874e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ffee31ef2a4200" /><Relationship Type="http://schemas.openxmlformats.org/officeDocument/2006/relationships/notesMaster" Target="/ppt/notesMasters/notesMaster1.xml" Id="R28922d09905f46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820c6bd60224b37" /><Relationship Type="http://schemas.openxmlformats.org/officeDocument/2006/relationships/notesMaster" Target="/ppt/notesMasters/notesMaster1.xml" Id="Ra0869ca2062e43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87b70c0e934c8e" /><Relationship Type="http://schemas.openxmlformats.org/officeDocument/2006/relationships/notesMaster" Target="/ppt/notesMasters/notesMaster1.xml" Id="Rcdeb1fcfb0a045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7505243a72d47ca" /><Relationship Type="http://schemas.openxmlformats.org/officeDocument/2006/relationships/notesMaster" Target="/ppt/notesMasters/notesMaster1.xml" Id="R409f17b32ecf40e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1b5fcf2ae34afa" /><Relationship Type="http://schemas.openxmlformats.org/officeDocument/2006/relationships/notesMaster" Target="/ppt/notesMasters/notesMaster1.xml" Id="R4916a7f9b3da44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ef65ce029846c9" /><Relationship Type="http://schemas.openxmlformats.org/officeDocument/2006/relationships/notesMaster" Target="/ppt/notesMasters/notesMaster1.xml" Id="Rff824171bee644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3c81f7a465f47e0" /><Relationship Type="http://schemas.openxmlformats.org/officeDocument/2006/relationships/notesMaster" Target="/ppt/notesMasters/notesMaster1.xml" Id="Rb98f86f3c46543d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928bca07184db3" /><Relationship Type="http://schemas.openxmlformats.org/officeDocument/2006/relationships/notesMaster" Target="/ppt/notesMasters/notesMaster1.xml" Id="R18d30a185c1042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d262e7e959a4392" /><Relationship Type="http://schemas.openxmlformats.org/officeDocument/2006/relationships/notesMaster" Target="/ppt/notesMasters/notesMaster1.xml" Id="R7767716fca114ad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dd3d4313ddf4852" /><Relationship Type="http://schemas.openxmlformats.org/officeDocument/2006/relationships/notesMaster" Target="/ppt/notesMasters/notesMaster1.xml" Id="Rced0c126cc14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开场。请学生先看插图中的物件，再回答：什么东西能让人想起自己的家人、语言或地方？不要求学生分享私密经历。</a:t>
            </a:r>
          </a:p>
          <a:p xmlns:a="http://schemas.openxmlformats.org/drawingml/2006/main">
            <a:r>
              <a:t>插图为原创 AI 插图，只用作课堂引入。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用本页说明学期产出。逐项阅读即可，不需要讲评分细则。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让学生安静书写 2 分钟。可选一题作答，保留到单元末回看。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用学生熟悉的节日、语言或家庭习惯示范。提醒学生：同一文化背景的人不一定有相同经验。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课导入。先不解释人物身份。请学生看画面，写下两项可以观察到的事实和一项不能从画面确定的事。</a:t>
            </a:r>
          </a:p>
          <a:p xmlns:a="http://schemas.openxmlformats.org/drawingml/2006/main">
            <a:r>
              <a:t>插图为原创 AI 插图，不代表文本人物的真实肖像。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课。请各组先阅读指定段落，再在课本标出一个称呼和一处关系细节。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教师先示范一个不涉及标准答案的例子。学生随后从课本挑选另一个细节完成同样的三步。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课。先投票，再阅读课文。讨论时不评价人物“好不好”，只解释她为什么这样做。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替换为一张横向风景照片。图片只作情境，不承担文本证据。建议把照片裁切成左侧留出空白。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让每组任选一项细节完成三层解释。课堂只接受有课文依据的推断。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课。先让学生以小组将事件排成时间线，然后回到标题。不要先给出作者意图。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课。投影后先给 8 分钟构思，再写开头。学生可改写自己的经验，也可从提供的虚构情境出发。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交换段落。每位学生只写两条反馈，并圈出相应句子。避免“很好”“多一点细节”等泛泛评价。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用《假黎婆》一小段或陌生现代文。先让学生标出题目动词，再独立完成其中一题。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本节以教材《新加坡多种族政策》的两则短文为材料组。先让学生看到：这是一项指导写作练习，不是分别概括两篇短文。插图只作课堂情境。</a:t>
            </a:r>
          </a:p>
          <a:p xmlns:a="http://schemas.openxmlformats.org/drawingml/2006/main">
            <a:r>
              <a:t>材料依据：用户提供的教材页面截图。</a:t>
            </a:r>
          </a:p>
          <a:p xmlns:a="http://schemas.openxmlformats.org/drawingml/2006/main">
            <a:r>
              <a:t>教学重点：用 ①A1、①B1 等标注，将材料信息归入题目的三个要点。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以用户确认的最终写作要求为准：1. 说明政策的原因；2. 介绍政策内容；3. 评价政策意义。课堂起点是把这三个问题说清楚，避免自行增加第四项讨论任务。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沿用学生已掌握的 1.1、1.2、1.3 编号法，不改用新的来源代码。学生在两篇材料中都以同一套编号标注，先判断信息属于原因、内容还是意义。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原因段建议使用 1.1 至 1.3 中两项或三项信息。教师示范：先说多元社会的现实，再说明政策需要回应的平等、接触和融入需要。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内容段按四类归纳。学生可选择最能代表不同层面的安排，不必为了凑字数逐句罗列。课外活动、假日和国民服役均属于政策内容的例子。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意义段要避免重复“政策有什么”。学生应把安排转化为结果：平等、接触、理解、共同认同和融入。可先圈 3.1 至 3.5，再选取其中三项展开。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本页回应课堂活动的取舍。若教师要让学生谈不同群体的经验，只宜作为 3 分钟导入，用来理解“接触机会”和“融入”的必要性；不把活动发展为独立的社会议题讨论。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限时写作前，学生用本页计划三个主体段。批改时先检查三项任务是否完成，再看材料选择、改写和表达。字数与评分可沿用课程既有要求。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本课为独立议论文阅读。先让学生从标题说出他们预测的争议，再读课文验证标题是否等于作者真正的立场。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将此处替换成一张具有对比感的横向照片。投影后先让学生写下“我以为问题在于……”。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把课文分为四段阅读。每组负责一部分，分享时只用一句“作者在这里想让读者看到……”。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在学生读完全文后使用。让学生先完成左右两栏，再结合第 5 至 8 段修订自己的答案。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让学生各找一处论点和一项对应证据。若认为推理不足，也要说明缺少什么信息。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课本列有多种论证法。本页只保留最适合本篇的四种，便于学生真正找得到例子。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先让每位学生写下个人立场，再组成四人小组。要求学生至少引用课文一个例子，也可以保留条件式立场。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提示学生先选立场与文体。不要要求全班得出同一个结论。可作为 30 分钟计划练习或卷二作文准备。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本页用于期末回顾。请学生将原稿、反馈和修订稿放在一起，以便下一学期继续使用。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教师页，可不投影。检查教材页码、课时安排和校内任务字数。插图位置均可替换，图片只用于导入或场景感，不承担阅读证据。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53b5476f04a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8446c60b114a74" /><Relationship Type="http://schemas.openxmlformats.org/officeDocument/2006/relationships/slideLayout" Target="/ppt/slideLayouts/slideLayout1.xml" Id="R6fbc14c6ccc5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c14c6ccc5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630eed5874942" /><Relationship Type="http://schemas.openxmlformats.org/officeDocument/2006/relationships/image" Target="/ppt/media/image.png" Id="Rd29574b9378e4fe8" /><Relationship Type="http://schemas.openxmlformats.org/officeDocument/2006/relationships/notesSlide" Target="/ppt/notesSlides/notesSlide1.xml" Id="R8b0e16deded946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5dc5427f04e8c" /><Relationship Type="http://schemas.openxmlformats.org/officeDocument/2006/relationships/notesSlide" Target="/ppt/notesSlides/notesSlide2.xml" Id="Rcf5b5f6997f0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000db782d402e" /><Relationship Type="http://schemas.openxmlformats.org/officeDocument/2006/relationships/notesSlide" Target="/ppt/notesSlides/notesSlide3.xml" Id="Rcb752d5c5f3a41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497443b2e45bd" /><Relationship Type="http://schemas.openxmlformats.org/officeDocument/2006/relationships/notesSlide" Target="/ppt/notesSlides/notesSlide4.xml" Id="R876ec322c4424f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6e49e509b4ac2" /><Relationship Type="http://schemas.openxmlformats.org/officeDocument/2006/relationships/image" Target="/ppt/media/image2.png" Id="R780f18ec098b4d0b" /><Relationship Type="http://schemas.openxmlformats.org/officeDocument/2006/relationships/notesSlide" Target="/ppt/notesSlides/notesSlide5.xml" Id="Rebe5da8a1fb447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396e936a14282" /><Relationship Type="http://schemas.openxmlformats.org/officeDocument/2006/relationships/notesSlide" Target="/ppt/notesSlides/notesSlide6.xml" Id="R84c00c11207c43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0060404df491e" /><Relationship Type="http://schemas.openxmlformats.org/officeDocument/2006/relationships/notesSlide" Target="/ppt/notesSlides/notesSlide7.xml" Id="R61ec7eb8a2ff4e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9e1b687214a3a" /><Relationship Type="http://schemas.openxmlformats.org/officeDocument/2006/relationships/notesSlide" Target="/ppt/notesSlides/notesSlide8.xml" Id="R4c44e8c486c948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516af01224132" /><Relationship Type="http://schemas.openxmlformats.org/officeDocument/2006/relationships/notesSlide" Target="/ppt/notesSlides/notesSlide9.xml" Id="R7b651e98048f40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36fbf0de441d6" /><Relationship Type="http://schemas.openxmlformats.org/officeDocument/2006/relationships/notesSlide" Target="/ppt/notesSlides/notesSlide10.xml" Id="Rd4e262dad3714c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acf6b28f64afc" /><Relationship Type="http://schemas.openxmlformats.org/officeDocument/2006/relationships/notesSlide" Target="/ppt/notesSlides/notesSlide11.xml" Id="R9db40e037f5240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502e220c94f60" /><Relationship Type="http://schemas.openxmlformats.org/officeDocument/2006/relationships/notesSlide" Target="/ppt/notesSlides/notesSlide12.xml" Id="R4e286d09bbb24f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9436eec0840cc" /><Relationship Type="http://schemas.openxmlformats.org/officeDocument/2006/relationships/notesSlide" Target="/ppt/notesSlides/notesSlide13.xml" Id="Racfdb93d9b3748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76bd8ab5142e0" /><Relationship Type="http://schemas.openxmlformats.org/officeDocument/2006/relationships/notesSlide" Target="/ppt/notesSlides/notesSlide14.xml" Id="R5ca6545602ba42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0dd6fb70d4d5a" /><Relationship Type="http://schemas.openxmlformats.org/officeDocument/2006/relationships/image" Target="/ppt/media/image3.png" Id="R8485c97fadc84cf1" /><Relationship Type="http://schemas.openxmlformats.org/officeDocument/2006/relationships/notesSlide" Target="/ppt/notesSlides/notesSlide15.xml" Id="R1689540a7b6d4b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44039feb2475e" /><Relationship Type="http://schemas.openxmlformats.org/officeDocument/2006/relationships/notesSlide" Target="/ppt/notesSlides/notesSlide16.xml" Id="R1134257325e341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cc9c4bcd749c3" /><Relationship Type="http://schemas.openxmlformats.org/officeDocument/2006/relationships/notesSlide" Target="/ppt/notesSlides/notesSlide17.xml" Id="Re5639bdbc8f746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bf19b3f5c452a" /><Relationship Type="http://schemas.openxmlformats.org/officeDocument/2006/relationships/notesSlide" Target="/ppt/notesSlides/notesSlide18.xml" Id="R2c388c82a9b042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eefc3920a4be2" /><Relationship Type="http://schemas.openxmlformats.org/officeDocument/2006/relationships/notesSlide" Target="/ppt/notesSlides/notesSlide19.xml" Id="R4254bdf58bde41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f8eaab14c4379" /><Relationship Type="http://schemas.openxmlformats.org/officeDocument/2006/relationships/notesSlide" Target="/ppt/notesSlides/notesSlide20.xml" Id="R7b1af32ef95b47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88daae0b54fd1" /><Relationship Type="http://schemas.openxmlformats.org/officeDocument/2006/relationships/notesSlide" Target="/ppt/notesSlides/notesSlide21.xml" Id="Ra692ae305d5548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2417ff0f14e4d" /><Relationship Type="http://schemas.openxmlformats.org/officeDocument/2006/relationships/notesSlide" Target="/ppt/notesSlides/notesSlide22.xml" Id="R4c530517c52248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8cd5213e44019" /><Relationship Type="http://schemas.openxmlformats.org/officeDocument/2006/relationships/notesSlide" Target="/ppt/notesSlides/notesSlide23.xml" Id="Raf5e15f3086f44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d5c56a8a24e36" /><Relationship Type="http://schemas.openxmlformats.org/officeDocument/2006/relationships/notesSlide" Target="/ppt/notesSlides/notesSlide24.xml" Id="R6d56fb8966c64f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d34d6a8884f62" /><Relationship Type="http://schemas.openxmlformats.org/officeDocument/2006/relationships/notesSlide" Target="/ppt/notesSlides/notesSlide25.xml" Id="Rfaa225e7847e4e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0c3ba8f1242c5" /><Relationship Type="http://schemas.openxmlformats.org/officeDocument/2006/relationships/notesSlide" Target="/ppt/notesSlides/notesSlide26.xml" Id="Rd303859f702745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c9e19a1f4f2c" /><Relationship Type="http://schemas.openxmlformats.org/officeDocument/2006/relationships/notesSlide" Target="/ppt/notesSlides/notesSlide27.xml" Id="R3401c3db47b14f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052fd40c74c0a" /><Relationship Type="http://schemas.openxmlformats.org/officeDocument/2006/relationships/notesSlide" Target="/ppt/notesSlides/notesSlide28.xml" Id="Rfaf17ead785e4c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f07f0b6b4612" /><Relationship Type="http://schemas.openxmlformats.org/officeDocument/2006/relationships/notesSlide" Target="/ppt/notesSlides/notesSlide29.xml" Id="R5d166089117347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de49cbfbc418d" /><Relationship Type="http://schemas.openxmlformats.org/officeDocument/2006/relationships/notesSlide" Target="/ppt/notesSlides/notesSlide30.xml" Id="R498c764e2be640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b1f7efc74ec5" /><Relationship Type="http://schemas.openxmlformats.org/officeDocument/2006/relationships/notesSlide" Target="/ppt/notesSlides/notesSlide31.xml" Id="R26b745be0f00427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574c263974ef4" /><Relationship Type="http://schemas.openxmlformats.org/officeDocument/2006/relationships/notesSlide" Target="/ppt/notesSlides/notesSlide32.xml" Id="R8c80bc04da5745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574b9378e4f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6FC6-AC73-47C3-8925-B214CF9F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DCF9-C03A-47AE-9E8F-DC8B73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IGCSE 0509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中文第一语言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170D-BAC9-471B-AD7B-13FFF30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第一单元</a:t>
            </a:r>
          </a:p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46876-FEE9-4323-88A3-B048121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Y10 第一个学期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9F32-BC8C-4047-BBC0-E0C518B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指导写作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</p:spTree>
    <p:extLst>
      <p:ext uri="{BB962C8B-B14F-4D97-AF65-F5344CB8AC3E}">
        <p14:creationId xmlns:p14="http://schemas.microsoft.com/office/powerpoint/2010/main" val="21132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2EDC-8E0B-4F9A-89DD-B3050E8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B1035-820B-40FC-AA2E-D547FE9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本单元的学习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C7F34-4D59-4A53-921F-5609FEF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课文学习要留下可以看见的阅读与写作证据。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41BD-9DB4-4ED0-87E1-1F110CC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C863-7E07-4F67-9120-5E8B82F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8359-0E77-4B2D-998D-61C46F1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从细节推断人物、立场和表达效果。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2CBB-4AFC-40C1-BBAC-478C62B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29A-3466-48B0-97BF-CA01DCE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EC96A-8BEA-4EBE-A9DF-4581872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814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把两篇材料放在同一问题下，选择真正有用的信息。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7200B-A5FA-4E8E-909B-79382173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70EA-FA6F-49E1-9A25-69580A3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2F39-9F09-4E8F-80AD-08DB917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让具体细节、清楚组织和恰当语气服务题目。</a:t>
            </a:r>
          </a:p>
        </p:txBody>
      </p:sp>
    </p:spTree>
    <p:extLst>
      <p:ext uri="{BB962C8B-B14F-4D97-AF65-F5344CB8AC3E}">
        <p14:creationId xmlns:p14="http://schemas.microsoft.com/office/powerpoint/2010/main" val="1134930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888A-82C4-48D1-8160-996D5A0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F227-5B28-403B-84D6-4459D45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6B00-7135-4411-AFD3-B39ABA7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先观察，再解释；先理解差异，再提出判断。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0C93-FA8E-4308-AD8B-0B6EFC5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6DAF9-C8C7-469A-A8C1-A77DD48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一个人如何认识自己？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5277-0E28-43FB-A3AA-54FD7A1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谁给一个人命名？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87BC-994E-48CF-8067-50EE422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语言、记忆和地方怎样影响归属感？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12D89-6C7D-4578-81A1-24E5874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F0B25-7304-40D1-B331-FAF67BA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写下一个初步回答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F33C-2891-4713-A978-0065F50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9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先写一个具体观察，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再写你的判断。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037C-0C76-46C7-B330-7633746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9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40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D399-3A99-410D-9552-F8E2406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8C70-DFB3-4C80-9D48-44D689C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从现象走向意义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A2EC-7F6B-47E1-8543-1CE90CB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文化分析不是给人贴标签，而是寻找行为背后的经验和价值。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3AE4-C282-40B5-9BED-037F931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2D39-7698-4B7B-9237-3B9CCFB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看见什么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578A-6F09-4E9D-974D-A02FF46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一顿年夜饭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一种称呼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一首熟悉的歌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A91-8CE3-4140-8FAA-E0D59BC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D844-41AA-41A1-A202-3A2AFD7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怎样做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8695-1CC4-4211-89EB-CE46AE6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在什么时间做？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和谁一起做？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什么反复出现？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3B9B4-F137-40C2-A13C-9AE052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7FB64-3DB3-4E8D-9859-5BB4696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意味着什么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197B7-3886-4EF7-9F33-6C73B2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5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关系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记忆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5315-ACBA-46B0-909E-843E9AA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好答案会说明：哪一个文本细节支持我的解释？</a:t>
            </a:r>
          </a:p>
        </p:txBody>
      </p:sp>
    </p:spTree>
    <p:extLst>
      <p:ext uri="{BB962C8B-B14F-4D97-AF65-F5344CB8AC3E}">
        <p14:creationId xmlns:p14="http://schemas.microsoft.com/office/powerpoint/2010/main" val="50653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f18ec098b4d0b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8B0C-0735-44BD-A4F3-A786A03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3FC4-6A7F-4B94-9F0D-EC07969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185D2-C9E7-4CA1-A85A-1C0A09A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A2AD-3FF1-41F6-9D71-5D8427F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人物、称呼、记忆与归属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6A94-A387-46E3-989A-FF04B67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44875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0E6F-F4F8-4968-B515-496FA0E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3F077-B6EF-445F-A6A3-D08EFF2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谁在命名她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5FC2-552A-46C1-8962-022F972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别人给的称呼与“我”认识的人，可能并不相同。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2A5F-0505-4C0B-B14C-48FD8AA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1186-124F-42FF-909F-B0BF535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别人看到的她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DBD8-C7BC-43FF-B613-C5924D0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外貌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住处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83A28-8F2A-4265-939A-A083376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3A86F-624F-4FDC-8016-F4D2AD2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“我”认识的她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45F54-A54E-4A1F-AB1B-56D3885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A17E-8795-4693-9D72-43ACA9E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说一说：我们目前认为她是一个怎样的人？哪一处细节支持这个判断？</a:t>
            </a:r>
          </a:p>
        </p:txBody>
      </p:sp>
    </p:spTree>
    <p:extLst>
      <p:ext uri="{BB962C8B-B14F-4D97-AF65-F5344CB8AC3E}">
        <p14:creationId xmlns:p14="http://schemas.microsoft.com/office/powerpoint/2010/main" val="748557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0898-518B-43C2-A60E-EAFD568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D4D8-9614-4506-AB4B-F42F435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从细节到推断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842B-9116-4973-A5E1-D0C2ABE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把“她很……”改成能够被同学核对的解释。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1277E-6680-418A-AE4F-2388491D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72B81-649A-4199-8E68-919B64C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文本写了什么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B598-196C-455C-800B-E543318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动作、语气、物件或称呼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1A9E5-15F4-47A6-8386-3207D0D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F46B-FA72-4778-96A5-EB0B661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我怎样理解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97E43-24AF-4A07-B35C-2C2E82B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这个细节可能暗示……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0D03F-44EF-44EC-ADC2-2843EA0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BBD8-82B4-4168-98B1-3109057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为什么这样理解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4AE0-3BBE-46F5-B11F-928F3C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0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联系上下文，说明理由。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B5B6-F81F-45D5-BDFE-91B3869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答题句：作者写“……”。这个细节显示……，因为……。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42211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CF04-33EC-4310-AC69-72006E2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EBB7-E53F-4651-8CC2-AA0E2D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一包盐，一斗米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5824-0ABA-4E27-B030-EEECF37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人物的选择常常透露处境、原则与关系。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F40D6-A019-4525-828D-86DFBD9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AB86-25E3-43DB-BA70-8FEC7BD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如果是你，会怎样处理？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28A38-6229-46D8-BC96-C327A48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03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收下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拒绝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留下部分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另想办法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FF17-EB46-460D-86E9-352384C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A4C9-B88D-4188-A0F7-7485992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读完后改写你的选择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8113F-0018-4CA1-9258-A278631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她的行动回应了什么处境？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她的语气怎样帮助读者理解？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哪一个词或动作最能支持你的说法？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179E-5116-4B8A-B063-8AF4A12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buNone/>
              <a:def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可以有不同解释，但每一种解释都要回到文本。</a:t>
            </a:r>
          </a:p>
        </p:txBody>
      </p:sp>
    </p:spTree>
    <p:extLst>
      <p:ext uri="{BB962C8B-B14F-4D97-AF65-F5344CB8AC3E}">
        <p14:creationId xmlns:p14="http://schemas.microsoft.com/office/powerpoint/2010/main" val="1810590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26B7E-75AA-4FFE-9720-1D1B875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6D91-EC56-4FF1-AD06-B57C0FC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山路上的歌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AEC1-B93E-4C34-93BB-A89FF69D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场景的变化，怎样让读者看见奶奶与“我”的不同感受？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C382-4812-4896-8CDE-58A3C26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72A7F-CE80-4274-841B-92629F4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DF1A-CED9-44B3-8FB1-B05DF08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6A3D-9AC3-4C82-87F3-7541B9C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A9361-319A-4ABD-826D-53C6B60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2099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雾气中的山路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或树林里的人影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避免使用人物肖像替代课文人物。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6BB9-1C72-4633-9428-C5AD81D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奶奶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D2153-8CAC-49F5-AD2A-30D6401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3C626-D9CF-43A8-B5A9-86B1275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“我”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0931-3FDF-476A-99FB-3895263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</p:spTree>
    <p:extLst>
      <p:ext uri="{BB962C8B-B14F-4D97-AF65-F5344CB8AC3E}">
        <p14:creationId xmlns:p14="http://schemas.microsoft.com/office/powerpoint/2010/main" val="1305551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A165D-ABCA-492A-99E6-B884B83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03BC-12A2-4A7F-96F8-B58E0F8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看得见的细节，看不见的经历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84B-5518-47FC-A48A-FDD223A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用文化冰山帮助解释山路、歌声、语言和服饰。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46CA-1C86-416E-8518-BFAA211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70F7-78BC-4C42-BAD4-640AAF4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课文细节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EBE0-53B9-441F-BA93-D165621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1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走山路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唱歌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使用的语言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穿着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54967-1267-4ABA-AB1A-2FC18BA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A5C9-A0F4-4489-9B73-B3A489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经验与习惯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A18D-E1BC-4A49-9BF0-2F8DD51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哪些生活经验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让这个行为显得自然？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AFF9-EAC5-46AE-9BC3-DFBD6C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A936-2BDB-4B86-95A6-24B629D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可以推断的意义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88F8-EBC1-4CBB-BEBE-B4AEC4E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6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归属、记忆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被忽略的自我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D946-A909-422B-A94F-0C6BB7F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提醒：推断不是猜测。每一步都要带着课文细节。</a:t>
            </a:r>
          </a:p>
        </p:txBody>
      </p:sp>
    </p:spTree>
    <p:extLst>
      <p:ext uri="{BB962C8B-B14F-4D97-AF65-F5344CB8AC3E}">
        <p14:creationId xmlns:p14="http://schemas.microsoft.com/office/powerpoint/2010/main" val="1207164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5022-0CF7-4110-9B74-13C7AA3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1936-C2EB-418C-A724-0E0543D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标题与结构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F6BA-1116-457D-BF6C-ED2054C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“假黎婆”这个标题，保留了谁的眼光？又改变了什么？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87BA-12D8-4FE9-A13A-5EF5272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4858-3D31-4C2C-A916-731C83F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时间线拼图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5132-AB53-4C00-82E0-DB22264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童年相处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上山唱歌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离家求学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再见弟弟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扫墓回忆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4161-9A7B-4E4E-903A-6815F8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2EA1-0822-4228-BE26-B81058B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标题再读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B78A-7801-4EB4-8968-41CB83F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如果题目叫《我的奶奶》，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文章会少掉什么？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称呼怎样呈现社会的眼光？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“我”的理解怎样变化？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22281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D2BC-C013-49C5-B773-15F9717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BC31E-99EE-4D6F-9727-F4D5CC0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描写：一个瞬间，看见一个人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75EC-64A4-4152-8E14-72B0C10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把“文化”放进人物、物件、动作和环境，不写成口号。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47D0-A4CD-48AB-9F1F-FD709F4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9FEC-DE1C-4D98-B93C-305E487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2567-075B-44F0-9E61-5C69F14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谁在做什么？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F99E-79A8-4E01-B299-4CAF8D4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一个物件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0355-0889-45DC-B343-6B13DC4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什么东西留下记忆？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69286-717B-4637-BC07-883B6B2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4930-C21C-401A-AB7D-1C0AB89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0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时间、声音和光线怎样变化？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19DE-33B0-4754-AEE8-E083A9C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C567-0685-4EFC-9529-05F280E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任务：描写一位熟悉的人在一个具体场景中的样子，让读者从细节发现这个人与一种生活文化的联系。</a:t>
            </a:r>
          </a:p>
        </p:txBody>
      </p:sp>
    </p:spTree>
    <p:extLst>
      <p:ext uri="{BB962C8B-B14F-4D97-AF65-F5344CB8AC3E}">
        <p14:creationId xmlns:p14="http://schemas.microsoft.com/office/powerpoint/2010/main" val="42710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04C9-38AA-4357-9EFB-DEA2BF6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C10A-49C9-4AA9-944C-0F30DA1C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描写的同伴反馈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49BB-9178-4F3A-BE9C-390B94A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反馈要告诉作者：哪一处有效，下一步应该改哪里。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24BE-C6D8-4969-B4E6-C351FBD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DE70E-C495-43CE-AD9B-0C633D0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我看见了……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B430-CC13-41A2-B976-193B3CB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45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“……”这一个细节让我看见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人物、场景或关系。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C4EC-B617-483D-86DD-1AF8081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9B970-6E49-4AA8-A53D-D3C31BB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我还想看见……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D0FF-7C8B-49B0-B613-02860F5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如果补上“……”，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读者会更理解……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6FA1E-2443-4B7F-AA84-34F8CF0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最后检查：删掉“文化”二字后，文章中的人物和场景仍然成立吗？</a:t>
            </a:r>
          </a:p>
        </p:txBody>
      </p:sp>
    </p:spTree>
    <p:extLst>
      <p:ext uri="{BB962C8B-B14F-4D97-AF65-F5344CB8AC3E}">
        <p14:creationId xmlns:p14="http://schemas.microsoft.com/office/powerpoint/2010/main" val="17804373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6259F-33C5-4481-BCD5-A6777CB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019A-7514-4D0F-9051-11E7124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阅读短答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317E3-7687-403D-BF64-3E8A641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语言理解题通常要求理解、推断或分析表达效果。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E78C8-8E9D-4B67-B277-BEE85DE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9B1A-E8AD-4E5F-B799-3281D55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A832-104B-404C-914F-BDA123B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发生了什么？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人物怎样反应？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A43D3-B94D-470C-8E67-B24C87C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083E-AB3A-4EF8-8CAF-70E676F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这句话暗示什么？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哪一个细节支持？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E891-B66E-4D66-A8B2-72ABA7C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7458-7749-44D7-BDA2-26D4401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作者怎样写？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这给读者什么感受？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468DF-7CBF-4A6C-8BC5-B60F1B04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效果题的答案要有两部分：语言特征 + 对读者理解的影响。</a:t>
            </a:r>
          </a:p>
        </p:txBody>
      </p:sp>
    </p:spTree>
    <p:extLst>
      <p:ext uri="{BB962C8B-B14F-4D97-AF65-F5344CB8AC3E}">
        <p14:creationId xmlns:p14="http://schemas.microsoft.com/office/powerpoint/2010/main" val="511071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5c97fadc84cf1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DD27-14E6-4B9A-88F4-279D8E2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7DD8-A2D9-45AF-86AC-96E30B2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7BCD-B231-4B0B-9913-3733A6A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新加坡多种族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政策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D714-CD37-4673-B268-6E242EA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指导写作：原因、内容与意义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1C6E-E6EB-477F-AA5B-05E3BB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围绕三个写作要求整理两则短文。</a:t>
            </a:r>
          </a:p>
        </p:txBody>
      </p:sp>
    </p:spTree>
    <p:extLst>
      <p:ext uri="{BB962C8B-B14F-4D97-AF65-F5344CB8AC3E}">
        <p14:creationId xmlns:p14="http://schemas.microsoft.com/office/powerpoint/2010/main" val="1562088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4B9B6-8730-4B3B-829F-AB1E25D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17FF-97B5-4EF3-9142-19CF35D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两则短文，一个题目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109C-8266-4097-A289-A212409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短文一介绍政策设计；短文二呈现促进交流的社会实践。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A3FD6-7A25-4BF1-BF6C-96AC3CC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C52E-20CD-4EF1-A045-A56DC0B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短文一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8826-3E49-4D4A-B0E3-08CDBEF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政策与制度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CMIO 模式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语言、住房、融入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83A7-77A8-4141-B279-9D921D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7C33-56F7-4B48-917F-07F4CFF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短文二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AAE75-79AD-4898-8E4F-C1988C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66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社会实践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跨族群活动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公共假日、国民服役、种族和谐日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CD178-F208-410F-9132-41899FF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先问：每一则短文在回答同一个问题时，能提供什么不同帮助？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A9DB3-95FF-4A8D-AC02-DC40EE1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87DD3-BCA4-41AB-BE77-F41B63B3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CD4B4-14F8-4E03-8E0E-296BC53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指导写作：从材料到有针对性的文章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1BA06-6970-421D-B61D-7E3514F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两篇材料服务同一问题；答案必须回答题目指定的三个要点。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87377-C40C-4121-A602-B89CD26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6191C-B00F-4BF8-B941-816E9753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ECBC2-0391-42D5-8E2D-17DED841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9826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99826C"/>
                </a:solidFill>
                <a:latin typeface="STKaiti"/>
                <a:ea typeface="STKaiti"/>
                <a:cs typeface="STKaiti"/>
              </a:rPr>
              <a:t>材料输入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5F934-1B36-4D98-9499-A685EEF4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政策、制度与融入安排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54BE2-B627-4676-B953-5743D10C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CMIO、双语、居住配额、</a:t>
            </a:r>
          </a:p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融入与归化倡导员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02BD7-285C-4CE9-BEB5-48F3C25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32B33-2D1C-41B0-86AE-BD294792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学校、社区与共同经历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1096A-24F3-47AC-9195-21F9126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8AC73-D55A-406C-8944-9E4B6E9A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文章产出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D8E3B-68C8-4E86-9800-B099A7FF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向指定读者写一篇</a:t>
            </a:r>
          </a:p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论证／讨论性回应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163B4-DE51-4D4B-BE92-F90388E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答全三个要点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使用两篇材料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250–350 字，以自己的话表达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EB841-8FF0-465B-B417-4AE681B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编号帮助你覆盖题目；它不是文章的最终结构。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671D7-A8F3-45D2-92B3-3C47135B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1F3A5F-638A-455A-B5E8-6883F825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EC8E0-0C35-4F30-A6B3-3D56435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写作任务：原因、内容、意义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6D949-FDDB-4442-B83E-5D9CE8D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整篇文章只回答这三个方面，段落按题目要求组织。 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BFBF6-D93F-443D-83BE-6DA5771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4491C-4A9E-4118-B2E6-B3B901C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2AD035-0D70-4753-A9C4-A47C8B8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根据短文一和短文二，介绍新加坡多种族模式政策。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D01DF-097D-476E-822A-A542DD7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C29C9-830F-4989-A8EB-50F7A5F7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57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第一方面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2131E2-F1B4-4BF5-9777-59127512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1477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说明实施这项政策的原因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CA2732-7A4E-4EF7-B553-F3F0C3C1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为什么需要这项政策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E67F13-9ED4-4F76-8EE2-0926787E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1945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E0EE85-477A-4696-97CB-462EB5ED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57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第二方面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67244-CAA1-43C8-B313-674BA22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1477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介绍这项政策的主要内容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CE74FA-C5AB-4A2C-B58D-FF0664B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政府和社会怎样做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98FD42-A3DE-4102-ABF5-CAAFE9BA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77BCDD-5FEC-4E24-8489-476D178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57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第三方面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577440-4090-46F0-89C5-8D148FF6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1477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评价这项政策的意义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DE851C-6277-484C-8729-F0E9D42A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它带来什么结果与影响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36FB0F-7962-4880-9334-033A352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先分清三个问题，再在原文中编号。</a:t>
            </a:r>
          </a:p>
        </p:txBody>
      </p:sp>
    </p:spTree>
    <p:extLst>
      <p:ext uri="{BB962C8B-B14F-4D97-AF65-F5344CB8AC3E}">
        <p14:creationId xmlns:p14="http://schemas.microsoft.com/office/powerpoint/2010/main" val="1359772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8D005-9BBD-41C2-B083-2ABAC7C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36CC-5214-467F-9F64-25B1A3C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第一遍阅读：给信息分类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21D7-2FF1-4178-9216-1499459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不急着写答案，先分清事实、想法和意见。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65F7-EF1E-47E1-A7A0-D7340AD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E9D5-6312-4F55-9299-20CB925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事实信息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5817E-DEF6-4F6F-B456-57CADE8C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可核对的政策、做法、时间或活动。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C4EB-83DF-4B76-B7DA-D344767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想法信息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76101-D014-473C-9CE7-278820C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作者怎样解释一项做法的意义。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4C86-551B-4E30-BD7E-D3D42D4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意见信息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120E-701D-4C5D-A01C-41385BB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作者或材料希望读者接受的判断。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5C25-974C-404F-9D24-CC32004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DD840-6360-4529-866D-B0FA505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写在页边：这条信息将来可以回答题目中的哪一个要求？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0FD4A-22F1-4490-950C-AC59E4D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27C5C-7164-46B6-B5B4-DF1E23B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F55D2-C662-4B8E-BC84-589EEA67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先拆题：三个要点就是三项写作任务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B32C9-A1BE-4C52-9AA6-9E4A337B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先圈身份、读者、目的，再给每一个内容要求编号。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D351D-40A7-43B1-94F3-B93B8BA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C5FC9-C428-4206-817B-32519D3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43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2FE20-A3A0-443C-BAC0-408489A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336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校报正在讨论：多元社会如何形成真正的归属感？请根据两则短文，给同学写一篇文章。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C93A7-EA54-4470-A51F-A09C1E17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AD44E-C067-403E-9276-4BC1DAA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9522E-65B4-45EA-992E-54C8003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说明政府怎样维护不同族群的平等地位与文化特点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777BD2-ACA1-4EB0-B30A-D0B15ED0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64CA01-32A5-4EC3-BE39-B09E5A7D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BAE5-4C51-4080-9FF2-BFBC8CD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说明学校、社区等怎样创造跨族群交流的机会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E13CB-D3F5-4190-9DB5-0E1260A0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2BE669-82C3-45E6-B869-BAF81051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70325-D845-4456-8BD6-1CF0B981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结合两则短文，评价制度安排和日常互动怎样共同促进认同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4934A-0C99-462B-A9DA-51D358C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20B1B-D3B7-4B42-AF3F-C4F870EB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0A0E0-D077-47C4-BD27-740398B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证据编号：1.1、2.1、3.1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E12A58-A543-468C-B4CB-31EC12D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第一个数字对应写作方面；小数点后的数字记录同一方面下的证据。 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AA459F-84C1-4944-8FDD-23462F1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23595E-91FA-4F05-BAA2-7784AD8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349E23-FE62-40CF-8B3A-701F6BA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1.1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4E670A-6125-4BEA-B820-33ECC12B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05025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回答第一方面：为什么需要政策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E1883-506F-4AD1-B734-0155C791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24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原因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8F4194-D0A4-4F6D-8FB8-65D531C4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E86A0E-0F21-4FDE-A270-9D899A27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2.1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308863-B725-46AA-BB93-A2BD205C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0375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回答第二方面：政策具体怎样做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BC096A-CAFD-42A1-883F-A7AA77F0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19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内容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2B36B6-6034-436D-93EE-3BB69F80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9E74A3-C78C-41C9-9DAE-169A419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3.1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7C669E-7A36-4C85-B38A-F4DA1D9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95725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回答第三方面：政策带来什么影响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08EDEA-AD11-433D-9F74-4245263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147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意义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01F580-C84C-4FD7-B526-73A02A9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C01198-959D-4DF0-8D12-9EBB063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例：在短文二看到“学校安排跨族群课外活动”，先问它是政策内容还是政策意义，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再分别标为 2.4 或 3.2。</a:t>
            </a:r>
          </a:p>
        </p:txBody>
      </p:sp>
    </p:spTree>
    <p:extLst>
      <p:ext uri="{BB962C8B-B14F-4D97-AF65-F5344CB8AC3E}">
        <p14:creationId xmlns:p14="http://schemas.microsoft.com/office/powerpoint/2010/main" val="1656147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022A6-5454-4D91-90AD-54ED648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ED9ED-7FAF-4292-87C9-6136CB2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从材料到问题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47E5-31AA-44C9-A4E8-DE571BA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政策怎样回应身份认同、接触机会和融入社会的需要？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25DD-198B-407E-87BC-F8223C0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E4D8-434A-4A49-B6A7-820D951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家庭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DB22-4E49-4E09-B143-5C01282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希望保留什么？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担心什么？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C3EA-A5B6-4A66-83E7-B9FE2F4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C4E47-7B9E-476E-80A0-C9A086E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怎样创造交流机会？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哪一种活动最有用？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4C5B-0DDC-4FFE-9EEF-DF6EEA3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社区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943B-7210-40B9-A47E-D58CAA1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什么让人愿意参与？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谁可能被遗漏？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0EAC-3366-4289-9A0F-C10440F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新移民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510FF-06A7-4D15-A4D2-35ED760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最需要哪一种支持？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D0856-1A18-4671-B239-943A5AA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每一组只能用短文一、二中的两项信息，提出一项具体建议。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6AC93-E035-4144-9078-5EA715C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E79F3-CAFA-4D71-BB38-57D562D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AB5A0-1987-4DA7-9CDE-6901D4A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证据编号法：每个标签都说明“答什么、来自哪里”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6C09B-FA83-44B3-9441-EBDC2F6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格式：题目要点＋材料来源＋该要点下的序号。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09DD1-EB42-4907-9D6D-3DD197F0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84C55-8995-4E93-9450-555D987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322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 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56852-B985-4FF4-920F-00D2350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  对应题目的第一个要点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4D83F-3585-4F93-A332-09F5721F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A  来自短文一；B 来自短文二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37C05-1449-452E-AFF1-3CE8FA58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1  同一要点下的第一项可用信息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849D5-3A4C-440E-AA3D-4507BA2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FAFC1-E69F-4B14-A77E-DAB115A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在原文边上这样标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B01975-3882-42A8-A03E-B3DE7E95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42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①A1  CMIO：不同族群享有平等地位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①A2  双语教育保留母语与族群语言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②B1  跨族群课外活动创造交流机会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0115F-187E-4179-89E2-2E892110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86275"/>
            <a:ext cx="166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不要抄整句。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圈关键词，再写“它说明什么”。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D8457-D925-490E-AE60-0FBD5ECA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7F816-E968-4902-8C95-FD5D1FDB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2B068D-22F3-4765-B1A8-4BCC7AC5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第一方面：为什么需要多种族模式政策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53038-5101-4D99-A9C6-9091837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原因要回答社会面对的需要，不是罗列政策本身。 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626D2-ACD1-49F1-A380-600E688A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FDC62C-F61C-4AF1-A29E-78DE17F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D7B5B3-EC0E-41DA-A192-DB70085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1.1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E11C0E-0F69-431F-BD29-717597A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6692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不同族群在语言、文化和宗教方面保有各自特点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B7F4B-B8B6-4855-8B27-AD6E16A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66925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6D5DE0-8BE2-47CC-8E26-D050218A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45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需要维护多元社会中的平等与尊重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983AE-63D9-422C-9043-8764D8A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7B59D2-F6C0-433A-B48B-F226621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1.2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044863-2E7B-4DA3-A1B3-F376EAA2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不同种族的学生需要互动和交流的机会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54B661-27A1-42EA-A274-21A0DCEC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14675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847EAF-040B-499E-82DE-3D66DF2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需要避免群体之间缺少接触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D049E9-A235-4860-91BE-E1688DD1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1CD499-22DD-4BF7-ADD7-1CF8855C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1.3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98C3E-50F8-47C8-BD4F-4FBC3FA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6242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新移民需要融入新加坡社会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064E31-3588-4B65-9FC9-E0C28AE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62425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EAAD3F-8052-4ABB-8AA3-FF4FEBB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需要帮助新成员建立归属感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731CF1-F701-4FB5-BF5E-0AB15996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写作时把“材料事实”解释成“政策为什么有必要”。</a:t>
            </a:r>
          </a:p>
        </p:txBody>
      </p:sp>
    </p:spTree>
    <p:extLst>
      <p:ext uri="{BB962C8B-B14F-4D97-AF65-F5344CB8AC3E}">
        <p14:creationId xmlns:p14="http://schemas.microsoft.com/office/powerpoint/2010/main" val="702837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7FA6-4B02-42CA-9CE4-D18DD16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0E07-F057-47F2-B1C5-A3D6C18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28D59-7E83-4EED-8522-4D6AC85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先分别找信息，再判断共通与差异。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8261-793F-43E5-A1C6-3655193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graphicFrame>
        <p:nvGraphicFramePr>
          <p:cNvPr id="65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材料问题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短文一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短文二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政策或做法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回应的问题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我怎样使用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1FDBB-D3D3-4412-B5C6-1D77CBBE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你的每一格都要能够回到原文。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BD2DD-CEF0-400C-AFC6-A043BFE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AF720-8E84-4AB7-8077-4A4D095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6236F-6316-4E6C-841E-01A018E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 A：政策怎样为认同提供基础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F1A24-B217-43E2-897C-106ECC9A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先把短文一的材料放进最合适的题目要点，不求每一句都编号。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0B44E-DC51-4384-B3B0-0C571825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C1C02-C9C2-4C30-89E8-97C7B0B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24D8E-1939-4BC1-8A69-CAED60FE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AA12B-1397-4A15-8840-CFDDBD7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6EED0-1DD5-4866-B898-B526A20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75F16-A499-4BD0-962F-53393555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FE3CB-E6EB-46D1-A046-610E812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BB06B-1A9B-4918-9D7A-1A139327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CMIO 模式让华人、马来人、印度人与其他族群享有平等地位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99458-127F-44BB-B569-BA6DFE9A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维护平等地位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66A1A-59AF-4E58-8606-A9F19D5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2B764-7AFD-4580-A9E7-7884DCB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AFEAD-F056-41AE-A059-A4F99B43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双语教育中的母语学习保留各族群的语言特点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87C6A-5705-46FE-86AA-9531EDC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保留文化特点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4CC6E-B440-46A1-B1AF-6AF35961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49A7E-7E86-4988-8FE8-26D9D880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F3BAA-BCC1-473D-9CC2-51A35F1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种族配额制与公共场所让不同族群有接触机会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E4E15-4523-4B47-8247-10116934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创造交流条件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D8899-DFB6-47D9-85BE-9ED7DD4E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0C9E1-3E6D-41C3-9D60-88C7A1E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A22A3-5632-4A65-A79A-DB958A5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融入与归化倡导员协助新移民参与社区生活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E2065E-5C99-4AB5-B3CC-E11BC268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帮助融入社会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A3C27F-5280-4163-9EB9-2304549B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学生核对：我标的不是“有趣的信息”，而是能直接回应题目的一点。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794AFD-4F05-426A-B8FB-54A186B9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9A51AB-836F-492E-854C-F26B95C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D0B01F-CA0B-4208-88B1-0F715DBF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第二方面：政策包括哪些安排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6A60B4-4A2E-4A7C-8516-B417B09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介绍内容时按类别归纳，不把每一个例子平铺直叙。 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885E69-7511-4172-9BEE-20C2DCF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17837D-D2DB-45D3-A16A-A6F15AA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E5A127-C0B1-4821-9770-EC0E965E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7C2D18-3A6A-49EC-A342-47A479D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政策类别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2A0AD0-BB4A-414A-9EE2-3C9EC23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材料中的具体安排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AFAC63-77BA-4CA5-B843-BDBFECB8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991EF5-1008-421F-99C2-B64C6CFE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2.1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16A9FE-C457-4389-9B0D-9D7A787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812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身份与语言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CA758B-0929-4A2D-9BC8-8384368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CMIO 模式、双语教育与母语学习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D4B1B5-07E8-447E-9A91-D974C5F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043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79FC33-CDBC-4732-B631-6D6DDA45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2.2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A0DD42-31D2-4AC9-A217-F0D011D0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居住与接触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67DE7A-617A-498E-A90A-033446BA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种族配额制、公共场所提供交往机会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3AAF7E-2E46-4779-852F-FC0DDA11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043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5A11C8-DF16-48C9-8128-370B7C9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2.3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D79316-884B-48A3-A375-BD23C11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29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融入支持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530A1A-753C-429A-A69F-F929EC5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融入与归化倡导员协助新移民参与社区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3534D4-F89E-4C6A-B1F5-B34A00A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043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03BE19-DFF8-4064-8C75-BACB0E6C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2.4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A290AB-2A45-46B7-872F-21210D4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529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共同参与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A10630-E1B8-4DBD-9FCE-63436DFB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1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跨族群课外活动、公共假日、文化节日与国民服役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7DCE53-5892-4965-AE65-7D6E7A8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“课外活动”在这里是 2.4 的一个政策内容，不单独成为第四个写作方向。</a:t>
            </a:r>
          </a:p>
        </p:txBody>
      </p:sp>
    </p:spTree>
    <p:extLst>
      <p:ext uri="{BB962C8B-B14F-4D97-AF65-F5344CB8AC3E}">
        <p14:creationId xmlns:p14="http://schemas.microsoft.com/office/powerpoint/2010/main" val="108280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D528-B740-46B6-905C-86B97B6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A530-188E-423D-845E-107001B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BC691-2CCC-45E3-90F4-364C223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以学生代表身份，为“多元文化周”开幕活动写一篇发言。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83AF-220A-494B-9E74-5E398B4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92A1D-C142-44CE-815E-7423882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你的读者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44F4-2269-4A2E-BF97-F465F5A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4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同学、家长和社区成员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7311-1F6B-4238-8D06-648E7A6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D6447-AABD-4650-92F4-5383B10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说明一项成效、一项挑战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并提出一项有根据的建议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52D25-A6E8-4320-B311-54B1238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材料要求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800A-0D7F-497F-B988-C71C497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874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两则短文都要发挥作用。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用自己的话表达。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2C6F3-0D2F-46FC-8458-3083212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637D-3F7E-46D4-9AE7-CBBCEA4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1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交稿前问自己：我的每一段都在回答任务吗？我有没有把材料改写成自己的表达？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7252B-01C6-468B-8286-474AC18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DA7A4-025C-4695-99F1-DBAB729A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68E99-6476-433C-AB09-FA6D1379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 B：共同经历怎样把“接触”变成理解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3D2EE-DDD8-4C6F-876B-056A3B6B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短文二主要帮助回答第②与第③点。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CB2AA-81B4-400F-AD93-3DBEAE7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017B2-0AD6-4BFD-B987-9170673D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5B593-75E9-46E8-93A3-F5BB3AA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8D4B1-687D-4690-A849-94C87ECC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12A3F-942D-4772-A2EC-76CDA677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AE85B-481D-4F37-A01E-F33089DF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8D7B4-7DFB-4B5D-8407-47AF08E3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F6F69-0B2D-4CEA-BAA6-13445F2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跨越种族的课外活动让学生一起参与、消磨课余时间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65379-15B2-43B6-9ABC-0919B899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学校中的交流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5E16D4-CF03-42E9-8B42-62A39CB7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F5FD1-47A8-4566-BA33-462856E4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E5DB1-6830-449C-80FB-B3804857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种族和谐日、校园庆祝与社区文化周让居民共同参与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3EF63-A003-4835-8D41-4525789D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社区中的交流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68856-ECD0-4F67-ABC3-797087E7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B6478-24B2-4E78-853C-35AAE7F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D5A698-1CF1-4E33-9D6C-D01B4D71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国民服役让不同背景的人共同维护国家安全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A7040-1D3C-487B-8528-3EA03F42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D14102-9B7F-47A5-B974-325DA48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429AA-E10D-41F3-8537-C8AA5313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③B1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F1076-FF10-434D-95A2-B7D3BDD3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共同经历使人学习相互理解与尊重，体会社会多元性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36669A-FA26-4B1A-B881-475EE906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认同如何形成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1EEBB6-9C46-4D83-B5D7-9DD95C2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一个信息先归入最主要的要点；写作时可以在另一段把它用于联结。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8267CC-D33C-4530-83C0-A406A4EB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5B8CD-8FCC-47FD-AD54-ED08293C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8E46BC-A0CA-4753-BE75-B7D5AD81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第三方面：怎样评价政策的意义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DF2B35-1E86-4673-B0BE-3CD9ED3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评价要写出政策产生的影响，并用材料说明影响怎样出现。 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E7B550-2BD4-4117-AA1F-02E9D78C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BD159F-8C9D-432D-A5C0-05B115CC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F82FE7-7C1C-402A-902E-0E106451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3.1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11587D-69E0-4F40-9047-905205B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335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不同族群获得平等地位，同时保留语言、文化和宗教特点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9CAEC0-EE90-4E73-81BB-308C9393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526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维护多元社会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BBA213-0B13-4362-8919-88D7356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058C39-129B-4A39-AACA-9A6E56D5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3.2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2E152D-1CFA-4AD7-8115-71223667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527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居住、学校和社区中的接触机会增加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B6AB01-5097-48E5-8DAC-5A283216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促进族群交流与融合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2872F2-745B-4BB7-A4A1-9B5925D2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BEDFE6-1D99-43DE-BE8D-70A7CD6E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3.3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134A07-DFBD-441B-9AD9-758051A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718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共同学习、庆祝节日和参与国民服役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322448-77B0-4FEE-B4A6-AD48AD8E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908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形成新加坡人的共同认同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F01B00-FCAD-405D-AA9A-0F1BDFE6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442663-C53B-4B98-B6C5-CE198D32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3.4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62A46A-F435-4B98-94F1-F8EA4256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909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人们学习相互理解与尊重，认识社会的多元性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DAA008-49E8-4A84-8467-6EC57BE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增强社会凝聚力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7AA7F3-C7F3-4592-9EB8-6E9E34CA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9887E1-9749-4DF4-9CDF-EA3C91E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3.5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6E2436-459B-497A-AC24-38997CA6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100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新移民参与社区并融入社会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378506-AAA0-4347-90A7-172014CF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291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扩大归属感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19A0A1-2483-4605-BA87-9681135C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评价句：这项安排的意义在于……，因为它让……</a:t>
            </a:r>
          </a:p>
        </p:txBody>
      </p:sp>
    </p:spTree>
    <p:extLst>
      <p:ext uri="{BB962C8B-B14F-4D97-AF65-F5344CB8AC3E}">
        <p14:creationId xmlns:p14="http://schemas.microsoft.com/office/powerpoint/2010/main" val="5381845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445D-3253-4723-AE26-22F93DE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FFDD-A68B-4F7D-879B-383888C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写前计划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49D-0A19-4852-B177-0BC6B28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写之前决定每一则材料在答案中的工作。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0688-E48D-41DD-856E-9ED08DB7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7C6D-A7D3-4C44-8634-0817931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4562-E465-44E9-9850-582280A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身份、受众、我要回应的问题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9C1E-D8C1-4620-95DF-ACA98EE2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第一段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5239-7660-4951-9040-5304F33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一项有用的做法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来自哪则材料？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D9AFD-F667-42FA-B533-5B38C34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第二段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45A3-88B1-430E-AD59-8193EA3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一个需要面对的问题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如何回应？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905A8-E999-44CE-B805-8BEC3D5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C6FAA-0863-4525-82F8-9FB14E4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460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具体建议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465F-F525-4D6A-8750-9B6DDA9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不要为每一则短文各写一段。围绕问题组织信息，才能真正整合材料。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830FC-2B24-4688-8457-34FA0866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87DF3-243C-4A06-BEF7-ED4E004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0CE5A-CAB6-4DF0-A861-F6EE424E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第三个要点：把两篇材料放进同一个判断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EB96B-EDA7-46A6-B608-46C04B3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整合不是“短文一说……短文二说……”，而是说明两者怎样共同回答问题。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564F7-90DE-43D3-9E3B-F2BF589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CA786-DFFE-4180-88FB-3D5F0C3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0F755-A68C-4BD9-B33F-3C524F6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短文一提供条件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555E7-016A-4908-91E6-9FDC803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平等地位、文化空间、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接触机会与融入安排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DAB9D-8E6D-44F4-B81F-33EE76B3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E75B9-9D3B-4049-939D-69861601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短文二呈现过程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65CED-1B24-4D35-9A1B-7E342BDE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一起学习、参与活动、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承担共同责任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93491-94A1-41F8-A527-C0BCC83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137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3232E-1FED-4FE9-AE5D-DE06E28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6975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共同</a:t>
            </a:r>
          </a:p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认同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5EE56-1145-4A13-BE4D-F590BC63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A2E5E-5A18-4A03-82BB-10E59A7D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把编号改写成判断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906396-157E-4FC0-A1A0-CCDF3CD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制度安排让不同群体有平等地位和相遇的机会；学校、社区与国民服役中的共同经历，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则把“有机会接触”转化为理解、尊重与较稳定的归属感。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71C66-8B79-4C45-8C9F-9BAFD30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D74607-E917-49A0-A070-799FE8A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AC76D-372B-45D5-BA39-9D9B2B41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课外活动在文章中的位置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60CB1-2027-4542-B5D6-8B5664D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同一例子可以同时帮助介绍内容和评价意义，但它不构成第四个写作要求。 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4AF77-A570-4040-83C9-2093CF7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9D5A85-FA85-48D7-B998-B572247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5339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092F89-6553-4EFC-8E80-4E16E055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28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作为政策内容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055594-827A-4127-98F6-811467A5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527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2.4  学校安排跨族群课外活动，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让不同种族的学生一起参与。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4C8E2-9BF0-4759-9A09-5FF5DF17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52625"/>
            <a:ext cx="45339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D9BFBD-FC3A-4D2A-A3FE-6F125F99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28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作为政策意义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2383BA-A295-403F-B456-8EC44BA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527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3.2／3.3  共同活动提供交流机会，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帮助学生建立理解与共同认同。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1C6B10-CB2A-41F8-BA54-CA92E84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13D0B3-1B87-4623-B32D-05AB071F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课堂上可以用它帮助理解“为什么需要接触机会”，但不必另行讨论各族群的优势、挑战和诉求。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所有讨论最后都回到 1、2、3 三个写作要求。</a:t>
            </a:r>
          </a:p>
        </p:txBody>
      </p:sp>
    </p:spTree>
    <p:extLst>
      <p:ext uri="{BB962C8B-B14F-4D97-AF65-F5344CB8AC3E}">
        <p14:creationId xmlns:p14="http://schemas.microsoft.com/office/powerpoint/2010/main" val="1289300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283D-779F-425D-A35E-0455EAC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121B5-D1DB-48E3-A0A5-A67670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37CD-F64D-4F92-9146-20C021E3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批改时看材料怎样被使用，而不只看材料出现了几次。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4990-4634-4E1A-90A6-BC5D2C4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8B81-0486-44D0-B5AD-C756941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9C40-4718-4DE6-9D0C-013E955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我选的信息是否服务题目？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5C7E-CE5F-4CDE-BCED-A0F7726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9C5A-5E55-4804-8E21-1413C58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两则材料是否在同一回答中发生关系？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FA485-19A6-451A-A2ED-DDE3B29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3150D-446B-4815-89F9-5F6CD72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我是否用自己的语言表达材料？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5F2B-38DB-4EC7-8AAE-7DE41A9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语体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B5D3F-C9D4-430E-8F98-B10AA99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19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19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读者能听出我是向谁说话吗？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23F7-B7AF-4B67-83A1-50C7CBA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一个优点：__________     下一次我先做到：__________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F0A5E-23AD-4345-999E-6D567316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15A8B-BDD6-4DDE-93B6-EE747400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2D21D-E6EC-4DDF-8079-A16FD6C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从编号到限时写作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83D2B-E1A4-47A6-86C4-C45945F5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按题目要点组织文章；提交前分别检查“内容”与“表达”。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C6AE0-DE95-4F10-A980-BD291786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8EFE7-9E41-4156-BD4C-C457274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AE7C9-7BB4-4080-B23B-8248347E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B5A2F-72C0-4246-8D96-CE24056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说明议题与对象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0E85E-BA01-46A6-9C01-780780EF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452C9-23DD-4BE4-99EA-DEEEA9A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A1F74-6779-4E90-BF45-3235E0F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选①A1、①A2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FEEF4-A495-413E-8962-4F3E3C6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FF77E-0C1E-44F6-A57A-E39450D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A5C59-8B54-4C74-AC1E-7FFE4099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整合②A、②B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7F502-A072-4AF5-9AC7-31EE60A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958A27-CC5E-44DA-9041-754086D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BC016-BF6C-4420-A197-482D9A7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约90字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作出整合判断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A1DE1D-A8EA-4155-A150-AA270B8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2E0F8-5476-4BDD-82CC-B603580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9BCCA0-4218-4E7E-967C-5688F0C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回应核心问题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BD0D5C-7EF7-4542-8F9A-DE3B0CD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B2AA8-0E46-46C4-B775-0D549D76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内容 15 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673886-C00A-4717-BC39-BF159BB7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三个要点都回应了吗？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两则短文都发挥作用了吗？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我的判断能回到材料吗？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7FA245-E98B-49EB-9085-6E35E27D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972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7B7AB-FAC6-4A60-B4EB-85FC55A2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写作 10 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C547A8-9623-4763-8839-BE8F966C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语气适合校报读者吗？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我用自己的话组织了吗？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250–350 字，字词与标点准确吗？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DC7DF6-6BE1-4729-91B6-C2D24A09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反馈只留一个内容目标和一个写作目标，例如：③段要真正整合两篇材料。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52AF87-1BE9-4007-8776-7F0C306F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3C9D3D-3DE4-4346-8188-102ED1A8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E710BF-14D7-4A7F-A4BA-C6AA202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写前计划与交稿检查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4E3807-8C0C-4040-B9CE-9A84EAC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一段处理一个方面，让读者清楚看见“原因、内容、意义”。 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7C947C-8D2D-4FB4-9FFA-53C821BD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EF5020-65C5-4D3A-8AC7-52F5F8A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C121BD-6CA7-4748-87E7-DD4A26F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C7D8B-FD04-4236-A4AC-E4D6935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点出多种族社会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B5FA7-7825-4345-A0ED-77F743FB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E13F18-2E5B-408D-B79A-3DDBBBC5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第一段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9E2B47-7644-47FE-8804-A269CAAC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03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原因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选 1.1、1.2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BAE094-71EA-4461-B6D4-CB0AB8E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AC6963-B0C9-487A-82EA-D6096722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第二段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18EC07-D130-485A-8F64-9BD85218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03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内容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按 2.1–2.4 分类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FA2272-A279-415D-BEC8-5FBB0C6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1C3CCA-4F8C-490F-BE6B-4CDFCEE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第三段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88D12E-BE83-46C6-AA55-70D2E23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03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意义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用 3.1–3.5 评价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B8601F-0024-46F6-8980-6D97C2E3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71410F-F2AB-4AB6-B106-07B93ABD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A145A0-A7B3-495D-8E39-7C7D969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032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回扣政策价值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DAFD48-D426-4839-AA8D-537B8F8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0439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FC687E-ABE5-4376-BD69-663B69C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三项检查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752537-5744-4E70-B28B-0D2B470D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828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第一段解释的是“为什么”，没有提前罗列措施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第二段按类别介绍政策内容，不写成材料流水账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第三段写出政策带来的影响，并回到材料说明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6BF97E-BD2E-4146-AE93-5D6ED150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再检查：两篇短文都用到吗？是否用自己的话？字数、字词与标点准确吗？</a:t>
            </a:r>
          </a:p>
        </p:txBody>
      </p:sp>
    </p:spTree>
    <p:extLst>
      <p:ext uri="{BB962C8B-B14F-4D97-AF65-F5344CB8AC3E}">
        <p14:creationId xmlns:p14="http://schemas.microsoft.com/office/powerpoint/2010/main" val="944169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1C37-CE46-42B9-A400-4DF6728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9198-81B0-4617-9A9D-21BE410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5050C-32A1-446E-932A-239824C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文化入侵故宫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星巴克的伪问题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1E62-299D-44DB-94EC-D9A2928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议论文阅读、论证与评价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27D1-E614-4065-8879-62A04EC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8477834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68F5-594A-45C0-BB29-CF23992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14C6-0601-4325-B7EA-8BAF287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争议的表面与核心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D97F-17E0-44D0-8243-82DB5AE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一间星巴克进驻故宫，为什么会引起“文化入侵”的讨论？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48537-8963-4F15-A217-D00E6C6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7F6DD-654A-4520-9F71-505C5E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ACDD-FDCD-4141-8EBE-2538323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8C90-8551-4901-81CA-85FDD47C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270D-B399-479A-A99E-32D5FF4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4480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故宫外景与现代咖啡店招牌的对照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选择版权清晰、没有人物特写的图片。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7869-39F6-4E26-A522-D5797BC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81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标题中的问题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4C15-6213-471C-A76C-5C60028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“星巴克在故宫”</a:t>
            </a:r>
          </a:p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是不是文化入侵？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B1F-C3A9-453C-9E7D-DB7636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5"/>
          </a:bodyPr>
          <a:lstStyle xmlns:a="http://schemas.openxmlformats.org/drawingml/2006/main"/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阅读后再问：</a:t>
            </a:r>
          </a:p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作者认为真正需要讨论的是什么？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20334426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040F1-3E61-4DE3-AD32-BA1DC7B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2ECDC-D36A-4A71-91A0-9AB62CD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9EC4-1187-4D7D-B5C7-33523F8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先追踪作者的思路，再评价他的结论。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3928-F628-458A-B5C9-021AB4C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52A16-E6B3-433B-9179-858A7C8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1 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954-85B1-417B-B667-191A2B1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初进故宫的错愕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760D-586F-4B5A-B471-258FD05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3 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DEBBA-C3BA-4EA1-9883-2CE25C6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什么让作者“又难堪又心痛”？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539F-081F-4842-9D25-B6D1249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4 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B8FC8-C2D4-4A71-95AF-26B3A90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5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公众争论了什么？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7E4C-C0BF-4923-A345-4EE5FC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5 至 8 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AFE5C-11AC-4810-BDFB-D1C96FA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作者把焦点放在哪里？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A1B3-29C4-453A-A7ED-1C0E705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小组汇报句：这一部分的事实是……；作者的判断是……。</a:t>
            </a:r>
          </a:p>
        </p:txBody>
      </p:sp>
    </p:spTree>
    <p:extLst>
      <p:ext uri="{BB962C8B-B14F-4D97-AF65-F5344CB8AC3E}">
        <p14:creationId xmlns:p14="http://schemas.microsoft.com/office/powerpoint/2010/main" val="1714844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0E848-69B2-4BD3-8482-33A404D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5AA53-3924-4BF6-ACAE-D99946A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把问题读清楚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014C-49C9-4E48-829F-BA72E2C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“伪问题”不是否认争议，而是把注意力从口号转向场地管理与文化形象。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5560-40FF-4E58-B439-3D422BA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E438-9DD6-4248-AE35-F5641D4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公众最容易争论的事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0CD2-412D-46FF-9C0E-A46CB37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1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星巴克该不该离开故宫？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C369-67B9-4AA2-BFB8-6B66FD0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F510-2095-42BA-AD5D-1D92BF2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作者真正追问的事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2DA8-C27F-481D-8923-536C4A4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41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故宫要留下怎样的整体形象？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管理者怎样安排空间、商店与游客体验？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0150-898B-4FC1-996E-F41D5BE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回答必须同时写出“表面争议”和“作者的核心问题”。</a:t>
            </a:r>
          </a:p>
        </p:txBody>
      </p:sp>
    </p:spTree>
    <p:extLst>
      <p:ext uri="{BB962C8B-B14F-4D97-AF65-F5344CB8AC3E}">
        <p14:creationId xmlns:p14="http://schemas.microsoft.com/office/powerpoint/2010/main" val="10256493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FAE2B-7B74-4D35-B8B4-84F6F2F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B83CE-6119-416E-AE64-D66C6B5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论点、证据、推理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5F79-4390-4BF3-9F77-4C8D3E5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评价议论文时，先看作者怎样把读者带到结论。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4A7E-9C42-42C2-9043-18BAB90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74CC5-6EEA-4B23-BAF2-7F93276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论点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035D-B4C4-4129-A881-1D620C8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63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作者希望读者接受什么？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2BFF-435B-4F1E-A79F-360F120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FF79-500D-4DFB-AD88-D04EE12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1803-399D-4D22-A56E-B52725B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他举了什么事例、对比或现象？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9CD7-56FB-4936-ADE6-1D9B5E3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1F8CF-918D-486D-9688-F55B50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90D06-E9E7-46D4-93F1-797BA1E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1937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证据怎样支持结论？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2367-7E18-4501-977E-B098FA2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评价句：这个事例能说明……，但还不能完全说明……，因为……。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13565913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5A7EC-AF52-4635-B234-2194442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CAB1-A1D5-4095-8EA1-E6F6A94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论证手法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A0468-ED03-48C2-AC72-7424B1D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作者怎样安排事例、对比和提问，来增强自己的立场？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FD6C-5E6D-4DD0-BB01-150C25B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手法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课文中可找的地方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可能的作用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举例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故宫中的具体景象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让问题可见、可感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对比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不同场地与不同商业安排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突出场地定位的差异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反问或追问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作者连续提出的问题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推动读者重新思考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类比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以其他地点说明管理逻辑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让抽象判断更容易理解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09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7ECC2-CCF5-4DD4-92A0-01C5C10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F5BC-2BC1-42FB-984D-9084C67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小组讨论：文化空间与商业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1F25-27C3-40F1-87C4-8AF4179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传统文化景点应该完全拒绝商业活动吗？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B974E-CC54-4818-94FC-F3A3BC1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CC32-A6DC-45E2-B7A5-3507F9B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可以完全拒绝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D2E44-9973-478D-93B8-6170EB0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重点保护神圣性与整体形象。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DDC6-263C-4EF8-A6FA-9752236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可以有条件允许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5508-243D-44B1-B955-21944C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看场地定位、品牌选择和空间设计。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B3B9D-536F-4F66-AF87-920623A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还需要更多资料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188D4-17E5-42BC-88D6-37976B7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7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先了解管理目标、游客需求与当地居民看法。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7482-613B-4CA0-A949-6830E25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讨论规则：不同意观点，可以；忽略证据，不可以。</a:t>
            </a:r>
          </a:p>
        </p:txBody>
      </p:sp>
    </p:spTree>
    <p:extLst>
      <p:ext uri="{BB962C8B-B14F-4D97-AF65-F5344CB8AC3E}">
        <p14:creationId xmlns:p14="http://schemas.microsoft.com/office/powerpoint/2010/main" val="14829082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048DF-075A-4C3B-98CA-91CCB23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245D-CF26-4ED7-A73A-8B74DD5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从议论文到自己的写作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EC26-4CDA-41AB-8A4A-AFF672F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把一篇时事评论的阅读方法，迁移到自己的论证或讨论文。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5279A-8287-473B-8E90-FCDF810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0B23-5BF5-4C7C-A21E-8ACD408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题目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1DDE-F581-4602-97BE-3E61405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36"/>
          </a:bodyPr>
          <a:lstStyle xmlns:a="http://schemas.openxmlformats.org/drawingml/2006/main"/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传统文化受到全球化影响，是难以避免的问题。</a:t>
            </a:r>
          </a:p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我们应该怎样保护传统文化？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D9781-3957-47F1-9098-433C5CA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DFE8-086A-4839-9673-13E6C2C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我的文体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5891-EEA7-42B1-AA52-DE43532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议论 / 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0EFC-6374-4107-BA3B-079E900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7F74-AF0C-4F6D-9B58-3A9F07B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E288-85D5-4822-8605-14D300A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我要用的例子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F2D1C-6D45-48EA-8A10-75B7FF2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405509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A9BA-4A95-49EE-BAC0-DB72B05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A846D-A2F4-4F92-88B4-A156253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本学期的作品档案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E23-B8C6-41D6-B767-6487BF6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每一次完成后，只记录一个稳定优势和一个下一步目标。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E5C2-9401-4CAF-B0F0-0F2560D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3C7F-9E75-4D11-99E9-35C0237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阅读证据表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0AB1-E948-4E2D-A219-2787DE6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我能用哪一处细节支持推断？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8DF7-A45F-479A-9F6B-2F20066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指导写作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3567-54DF-4B68-8E0B-AA15AC5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我怎样分清原因、内容和意义？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9449-78A9-432B-8E67-AFA08C2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描写或议论文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66B45-75DF-4D5B-96A6-DCD856C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我下一次优先改善什么？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EAFF-F8C2-40F5-88AD-F1EFD62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2C533-B525-40D5-AC53-8D8CB00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下一步目标句：下一次写作前，我先……。</a:t>
            </a:r>
          </a:p>
        </p:txBody>
      </p:sp>
    </p:spTree>
    <p:extLst>
      <p:ext uri="{BB962C8B-B14F-4D97-AF65-F5344CB8AC3E}">
        <p14:creationId xmlns:p14="http://schemas.microsoft.com/office/powerpoint/2010/main" val="7974769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581BB-AD03-483D-9147-6631125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E2005-5DE6-4B6B-8C8C-67B6A16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教师使用提示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4211-48A8-4156-AA94-27C766F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这套投影片按课文与技能重新排序，教材文本仍以学校版本为准。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84C1-B71F-40BE-AF06-2518FF0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E994-894B-4EC3-A955-408F164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使用顺序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81ABF-ED52-4124-8BAD-A3D005F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指导写作：新加坡多种族政策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EC233-5096-4D06-9B83-1BFF0DF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578E-90C9-462A-80CC-1B42D69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课堂原则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ED7E-83AD-45F2-B898-EFD0C59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先独立思考，再讨论。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答案必须回到材料。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反馈只给一个优点和一个下一步。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5EF15-EC90-44C4-BB6B-932EBA5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中文文字均设为 STKaiti（楷体）。</a:t>
            </a:r>
          </a:p>
        </p:txBody>
      </p:sp>
    </p:spTree>
    <p:extLst>
      <p:ext uri="{BB962C8B-B14F-4D97-AF65-F5344CB8AC3E}">
        <p14:creationId xmlns:p14="http://schemas.microsoft.com/office/powerpoint/2010/main" val="153403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2026-09-24T06:06:41.8170000Z</dcterms:created>
  <dcterms:modified xsi:type="dcterms:W3CDTF">2026-09-24T06:06:41.8170000Z</dcterms:modified>
</coreProperties>
</file>