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单元五课时，每节45分钟。第1–2课文言逐段精读，第3课人物与冲突，第4课表达技巧，第5课作者立场及现代评价。学生可见页面只展示课堂任务；课时安排理由、答案及教师提示在Notes。文本依据：宋濂《宋学士文集》卷十《记李歌》，核对来源https://www.shidianguji.com/book/SBCK258/chapter/SBCK258_131 与台湾国家图书馆明版《宋学士文集》https://ming.ncl.edu.tw/viewer?viewer=203 。不同来源母/毋、邪/耶、撑柱/撑拄异文；本课采用上一轮整理所用课堂简体文本。由于本次未有教材扫描和页码，未引用教材具体练习页码，也不虚构教材第X页。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本课45分：导入4、学习目标2、身份断句4、初译8、精讲与知识12、情境与边界8、迁移4、出口3。必要时调整：减少汇报而不牺牲逐句释义。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核查标准：译文准确，能够用“与母约”“母惧，阳从之”说明关系；对判断句和代词有一条新句迁移。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不公布标准答案。两种解释都可能部分成立，但“配偶/为倡”可以支持对职业和婚配身份的担忧；学生需区分文本明确与推断。引入传统社会女子受家庭生计和行业地位约束的语境，不做超出原文的臆测。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原文对应：李歌为霸州人，母一枝梅为倡；14岁母教歌舞；李艴然反问。艴然fú rán=生气变色；倡=古代歌妓。判断句“李歌者，霸州人”“其母……倡也”。本页学生先定位事实，不做整体高尚评价。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母告以衣食所仰：母亲以衣食依赖此业的现实告诉李歌（“之”省略）；不得已主语可指母亲或李歌情境，现代标点有版本差异，不宜过度断言。媪ǎo对老年女性称呼此处指母亲；不脂泽=不施脂粉；不荤肉=不食肉；则可尔=这样我才答应；有死而已=只有一死。请避免说“不吃荤肉证明宗教信仰”，原文未明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译文中的“宁愿死”是通顺意译，“有死而已”更直译为只有一死罢了；要让学生意识到“条件—后果”结构。不要将“媪”硬译作“老太婆”导致人物语气偏移。学生用双色笔修改自己译文。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阳”=表面上、假装；反义“阴”常表暗中。母惧说明是怕李歌寻死；从=顺从，之=此前要求。理解母亲现实压力与女儿选择的冲突，不要将母亲粗暴归为坏人。可问“能否仅凭本句推断母亲后来背信？”，不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答案：为=做/成为；教之的之=她（李歌），从之的之=李歌的要求；告以的以=把/用（衣食所仰的缘由告诉）。不要把所有“之”统译成“的”。课末再做非原文迁移。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区分需识记与需理解：必须掌握“者……也”式判断、艴然、阳、之的具体指代。先给学生观察时间，再展示解释。不要把所有句末也都简单归为判断。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迁移出处：《史记·廉颇蔺相如列传》；译文：廉颇是赵国的优秀将领。者提示主语/判断的主位，也表判断语气；不必僵化地教“者和也必须同时出现”。不是《记李歌》原句，学生页标记课外原句。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建议3分钟书面检测：准确：“母亲害怕，表面上答应了她（的条件）”；判断句；不能证明真心赞成，因为“阳”只表示表面顺从。回收可判断是否需要下一节前复习。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第二课目标：精读故事剩余叙事，处理“遗wèi”“私”“乃”“而”“为……所……”及“妻”词类活用；回顾第1课。45分钟，总体安排3+10+14+8+6+4。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提取练习，避免同样题目简单重复。人有招之者：有人邀请李歌，之=李歌；“者”指邀请她的人。最好先学生自行答，再教师简短公布。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释义：自是=从此；缟衣素裳=白色素净衣裙；拂掠翠鬟=稍梳理秀丽发髻；然=但是；姿容如玉雪=容貌像玉和雪般洁净；宛若仙人=仿佛仙人；愈致其妍=反而更加美丽。比喻不仅颂美，铺垫她朴素而坚守的形象；不宜直接推断她内心一定轻视所有化妆女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亦熟李行=人们也熟悉李歌的品行；亵语=轻薄言辞；加焉=施加于她；歌道家游仙辞数阕=唱几首神仙游历题材的歌曲；俨容默坐=神情庄重、静静坐着；他日或再招必拒不往=日后再邀也坚决不去。这里用长期规律建立可信度，前后呼应“询筵”“觇”“拂袖径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句释义：筵=宴席，恶少年=行为不端者，乃=才，复遣人觇chān之=又派人察看；狎xiá=轻薄调戏，辄=就/总是，拂袖径出=立即甩袖径直离开，弗少留=一点也不停留。第二段全貌“缟衣素裳”“游仙辞数阕”“俨容默坐”可快速回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遗读wèi，赠送；白金古代指银子；县令送给李歌母亲而欲私李歌，私之=与李歌私通；“之”指李歌，不是她母亲。教材版本可能标点为“以白金遗其母。欲私之。”理解不变。不可翻译成“遗失银子”。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化首=教化风俗的带头者，县令理应为榜样。纵=即使/纵然，而=却，忍坏之=竟忍心败坏社会风尚，冠裳=着官服，狗彘=猪狗，比喻卑劣行为；乃=才是（强调判断）；岂……耶=难道……吗。直译需保留反问和斥责语气，不要用“她有男权意识”等现代术语给人物做未经验证的心理归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重复产生威慑与情绪爆发，增强现场紧张；先……而后……表示动作先后承接；“惊走”体现县令的反应，更衬托李歌的态度。提醒“持刀”“杀汝”是文本暴力威胁，文学分析不代表对现实暴力的鼓励。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句：当时监州听说李歌品德高尚；他有儿子正读书，被举荐为秀才；聘娶李歌为其子之妻；李歌仍是未曾与人有性关系的女子。这里“处子”与后文作者赞扬相关，学生需理解语境，不应要求认同贞洁等于人格价值的现代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诟gòu=责骂；即=就；宁=宁可；决=绝对；并=一并。原文没有描述详尽战斗或杀戮细节；李歌抱住丈夫并坚持拒绝贼人，贼人愤怒，将夫妇一并杀害。禁止美化现实自伤行为，文学上可讨论她在胁迫下以生命作抵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俱=一起、都；为贼所执=被贼人抓获，主语是夫妇；贼悦李有殊色=贼人因李歌有过人的容貌而心生觊觎；妻之=娶她为妻，“妻”名词用作动词，“之”指李歌。“而”表承接。区分“妻之”不是“做她的妻子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末句“倡犹能有是哉”的价值预设，第5课再深入。译文：我宁愿死，绝不顺从你/投身为贼；贼人大怒，将他们一起杀死。倡=歌妓；犹=尚且、竟然；是=这样的品行；哉=感叹；可慨=令人感慨。人物的拒绝是事实，而读者是否同意作者的评价属于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“遗”须标读音wèi，勿误读yí。“乃”第1课乃行=才，第三段乃真贼=才是；两个用法请比较。句中“尔”为句末语气助词，与汝（你）需区分。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提醒：“妻之”名词作动词，没有必要强贴意动标签；“为贼所执”施事者和受事者正确对应；“倡犹能有是哉” 的犹隐含阶层性预期。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答：乃行=才去；乃真贼=才是/竟是；私之之=李歌；为贼所执中为引出被动。可补对比“为倡=做/成为”。这是同一虚词语义功能因句式而变的核心。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出处《史记·项羽本纪》（《鸿门宴》）；“不这样的话，你们这些人都将被俘虏！”“为所虏”省略施事者，表示被俘，若属=你们这些人，且=将要。标注课外原句，不要冒充《记李歌》原文。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建议3分钟。答案：县令把银子送给李歌母亲，打算与李歌私通；乃行=才，乃真贼=才是/竟是；被动，“夫妇”是受事者。以结果诊断是否进入第3课人物分析。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第三课45分钟。先快速回顾语义（约3分钟），再冲突图、动机限制、证据排序与分析。避免“找3个形容词”式低认知活动。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这些是对故事的简要概括，不是逐字原文，教师口头说明。故事顺序依据宋濂《记李歌》。答哪两处最关键允许不同：设下原则、反抗县令、逃难杀身等；理由必须连接人物命运。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四种压力性质不同：母亲=生计和家庭职业安排；客人=轻薄风险；县令=官员滥权、诱惑与骚扰；贼人=绑架暴力。学生逐条用原文填证据，纠正把所有角色视为同一种“反派”的简单归类。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均可部分成立：强硬态度“有死而已”近乎决裂；有条件的“与母约”“则可尔”又表现谈判与策略。学生须找两边证据，不能只贴“叛逆”或“孝顺”。情境含自杀威胁，教学中不应浪漫化自伤，重点是语言的极端性与环境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对比突出行为随威胁性质升级：回避→强烈威慑→宁死抵抗，体现人物行动与情境互动。可问是否都是“自主选择”或“不得不如此”，容许混合解释。不要赞扬持刀或自伤作为当代现实问题的解决办法。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教学重点证据边界。可以支持她有强烈反抗意图和警戒，难证毫无恐惧，无法肯定她的完整制度信任判断。请学生指出弱论点欠缺什么原文证据，不是仅答“对/错”。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不是只选最戏剧化情节；可从长期坚持、即时反抗、价值底线组合证据。评价证据须讨论强度，比如“与母约”能证明策略与条件，但未必证明一切都出于主动。优秀学生可对不同读法做反证。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母亲不是单纯坏人，其为衣食所迫且害怕女儿受损，监州闻贤聘妇可表现社会认可，但这不等于他全面理解李歌。县令拥有公共教化职责却越界，因此冲突有道德和权力双重维度。注意不能直接断言监州有名望或安排婚姻的所有动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先让学生读浅层段，然后推断“深入回答”增加了哪些环节，最后揭示右文（同页不能逐步动画，建议先遮右屏幕）。深入例句没有过度说“她反对整套父权制度”，因为证据不足。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建议3分钟。评价是否能区分事实与推断，观点可多元；可例：“辄拂袖径出”是事实，“她在维护自己的边界”是解释。下课收一条修订后的主张。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第四课45分钟。重点文学分析：动词选择、直引语与重复、反问、前后反差、叙事节奏。必有浅深回答对比与文本删改实验。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先明确右为教师改写，不是原文。原文的“辄”“拂袖”“径出”“弗少留”层叠迅疾、态度明确，改写仅概述行为。学生分析单位是词语与效果，而非“原文更高级”。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分析：连续短语形成动作密集与决断，重在她面对轻薄行为的迅速划界。高阶任务：为什么不是“先劝告，再离开”？原文没有说服过程，呈现拒绝不给协商余地。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社会身份与行动德行不一致，反差强化批判：县令本为教化风俗的表率却图私通，李歌身份低却言行显示坚守原则。追问作者是否完全推翻等级观念？最终“倡犹能有是哉”仍含预设，连接第5课。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从“不能做风化首却坏之”到“乃真贼”再到“岂官人”：责备→道德定性→公开剥夺道德身份。反问不是在真正问对方答案，而是表达更强烈的谴责。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左为原文、右为教师删改，不伪装原文。重复营造逼人紧张与情绪强度；还可谈是否有言语威慑下隐藏的紧张，不宜武断断言她完全无惧。引语包括暴力威胁，课堂只分析表达，不鼓励现实模仿。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中县令冲突给出长段直接引语，突显人物自我表达与激烈态度；成婚幸福生活几乎略写，遇贼结局急促推进；这属于文本取舍，而非“事实不重要”。学生可推断作者最重视伦理抉择和气节，仍需以篇幅证据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首尾都是身份标记“倡”，但结尾“犹能”预设身份低微者也能守节。可同时解释首尾呼应加强人物赞美与体现等级判断，两种解读引向第5课。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时安排约45分钟，写作9min，非官方0509字数。评价不能仅“动作描写塑造勇敢”，至少解释词句如何表现决断及读者的感知。有不同解读可支持，但必须有原句。弱学生用第3课示范架构；强学生加“替换或删改后会失去什么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互评只找可操作修改，避免简单“多写”。用“当读者看到/听到___，会___，因此___”推动真实效果分析。回收修订段落作为本节学生证据。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4min，检查词汇语气+文学效果+叙述安排。答案不唯一，但需完整呈现“语言→效果”。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第五课45分钟，批判性阅读。要求尊重历史语境，不把作者简单妖魔化，也不能将作品中低身份/贞节观念视为超历史真理。最后课后整合议论。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结尾既有真实赞叹，也揭示身份预设。支持赞美的文本有坚决抗拒县令/贼人；质疑源自“倡犹”，语用上“甚至/尚且”依赖出人意料之预设。不能将“作者故意反讽整个贞洁观念”当确定结论。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推荐进行证据编码：事实F、推断I、作者评价A、现代评价M。举例：她与母约=F，她在保护自主选择=I，倡犹能有是哉=A，拒绝受辱与贞洁守护能否拆开评价=M。注意不要把现代主张强行当历史人物的自我认知。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两种都可部分成立。注意第一段母教歌舞与“有配偶”未必完全等同现代自由职业权；最后拒绝贼人又包括对丈夫的守护。超越“守节=只为丈夫”“自由=完全摆脱传统”二择一。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历史语境分析，不是确定的社会史完整陈述。对贞洁的看重从“李尚处子也”及末段“倡犹”可见；对女性身体自主的现代重读是一种合理读者立场。避免将抵抗的死亡描写成唯一值得尊敬结局；安全且尊重现实处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删除实验以揭示语言隐含的身份预设。不能认为“修改后就一定更好”；原文身份反差使赞美更具叙事张力，也可能再生产等级观念。允许评价双面性。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教师可先隐去后二行让学生重写第一行再公开；高阶反驳不是否定作者一切，而是限定“倡犹”的社会前提并承认其赞美立场和文学价值。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孟子原句：富贵不能使他迷惑，贫贱不能使他改变志向，威武不能使他屈服；富贵/贫贱/威武为条件，淫/移/屈表示动摇。比较李歌对权势与武力的反抗，但注意“富贵不能淫”含义不等同现代性的淫词义。源文来自《孟子·滕文公下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不是IGCSE官方字数。建议的评价任务：李歌是否只应被理解为“贞烈”？鼓励双重评价。对不同立场不分优劣，只看原文依据、逻辑与对对方强理由的回应。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本单元纸面学习档案保存：第1课修订译文、第2课语法迁移、第3课证据排序、第4课文学分析段、第5课批判评价段。指出学生起点与进步即可，无须封面上写教师质量检测要求。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4min。检验字义、隐含预设、反思性迁移：正确解释犹/是/哉；区分人做的事情与读者对伦理的评价；方法须具体如先抓主语，再对照虚词与语境，而非“认真学习”。建议归档。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A75E"/>
          </a:solidFill>
          <a:ln w="12700">
            <a:solidFill>
              <a:srgbClr val="DCA7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" y="667512"/>
            <a:ext cx="1901952" cy="109728"/>
          </a:xfrm>
          <a:prstGeom prst="rect">
            <a:avLst/>
          </a:prstGeom>
          <a:solidFill>
            <a:srgbClr val="DCA75E"/>
          </a:solidFill>
          <a:ln w="12700">
            <a:solidFill>
              <a:srgbClr val="DCA7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9966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E8D4A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第一单元  /  文言传记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58952" y="1938528"/>
            <a:ext cx="97383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记 李 歌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41248" y="3438144"/>
            <a:ext cx="9619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D3DEE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从一位女子的选择，读懂文字背后的时代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59536" y="4590288"/>
            <a:ext cx="10277856" cy="0"/>
          </a:xfrm>
          <a:prstGeom prst="line">
            <a:avLst/>
          </a:prstGeom>
          <a:noFill/>
          <a:ln w="38100">
            <a:solidFill>
              <a:srgbClr val="DCA7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873752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F2E2C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  ·  五课时阅读与思辨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326880" y="1252728"/>
            <a:ext cx="1362456" cy="3099816"/>
          </a:xfrm>
          <a:prstGeom prst="roundRect">
            <a:avLst>
              <a:gd name="adj" fmla="val 10738"/>
            </a:avLst>
          </a:prstGeom>
          <a:solidFill>
            <a:srgbClr val="263E43"/>
          </a:solidFill>
          <a:ln w="13335">
            <a:solidFill>
              <a:srgbClr val="DCA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2912" y="1499616"/>
            <a:ext cx="8595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DBA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8DBA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·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8DBA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勇气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8DBA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·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8DBA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评价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3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585216"/>
            <a:ext cx="1161288" cy="7315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3DFC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  /  言语与选择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6384" y="1892808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她为什么说“不”？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859536" y="3310128"/>
            <a:ext cx="9784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1DBB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读懂选择背后的语言与限制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10195560" cy="0"/>
          </a:xfrm>
          <a:prstGeom prst="line">
            <a:avLst/>
          </a:prstGeom>
          <a:noFill/>
          <a:ln w="38100">
            <a:solidFill>
              <a:srgbClr val="1E5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96519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1F3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今天的成果：文言释义＋第一段的证据解释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77824" y="60716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DBD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 ·  IGCSE 0509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0" y="604418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1160" y="1051560"/>
            <a:ext cx="2212848" cy="2212848"/>
          </a:xfrm>
          <a:prstGeom prst="ellipse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82912" y="1344168"/>
            <a:ext cx="1609344" cy="1609344"/>
          </a:xfrm>
          <a:prstGeom prst="ellipse">
            <a:avLst/>
          </a:prstGeom>
          <a:solidFill>
            <a:srgbClr val="113A35"/>
          </a:solidFill>
          <a:ln w="12700">
            <a:solidFill>
              <a:srgbClr val="113A3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517904"/>
            <a:ext cx="1042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自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学习目标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今天你要读懂哪三件事？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343204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01952"/>
            <a:ext cx="82296" cy="29718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130552"/>
            <a:ext cx="298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读通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60904"/>
            <a:ext cx="29291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解释“倡、艴然、媪、阳”等词，准确复述母女对话。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83024" y="1901952"/>
            <a:ext cx="343204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3024" y="1901952"/>
            <a:ext cx="82296" cy="29718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9912" y="2130552"/>
            <a:ext cx="298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找证据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9912" y="2660904"/>
            <a:ext cx="29291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从对话中分辨李歌的要求、威胁与妥协。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16240" y="1901952"/>
            <a:ext cx="343204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6240" y="1901952"/>
            <a:ext cx="82296" cy="29718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3128" y="2130552"/>
            <a:ext cx="298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能迁移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63128" y="2660904"/>
            <a:ext cx="29291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独立辨认判断句和“之／以”的作用。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58952" y="5550408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605272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完成后：一份改正过的译文＋一条有证据的推断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开场思考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一个14岁女孩，能决定什么？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83664"/>
            <a:ext cx="10689336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83664"/>
            <a:ext cx="109728" cy="1207008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48256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“人皆有配偶，我可独为倡耶？”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948672" y="1664208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916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429000"/>
            <a:ext cx="5248656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29000"/>
            <a:ext cx="82296" cy="1709928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65760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A｜自主选择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187952"/>
            <a:ext cx="47457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她最在意的是：不想继承母亲的职业。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429000"/>
            <a:ext cx="5248656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429000"/>
            <a:ext cx="82296" cy="1709928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65760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B｜现实压力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187952"/>
            <a:ext cx="47457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她最在意的是：不愿让别人安排自己的人生。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49824"/>
            <a:ext cx="10680192" cy="740664"/>
          </a:xfrm>
          <a:prstGeom prst="rect">
            <a:avLst/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32120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  ·  先选A或B，独立写理由，再同桌质疑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43016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写下：依据哪两个字或词推断？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初读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读第一段：先给句子分层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92224"/>
            <a:ext cx="10689336" cy="2039112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92224"/>
            <a:ext cx="109728" cy="203911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56816"/>
            <a:ext cx="100584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李歌者，霸州人。其母一枝梅，倡也。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年十四，母教之歌舞。李艴然曰：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“人皆有配偶，我可独为倡耶？”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948672" y="1572768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0020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3986784"/>
            <a:ext cx="530352" cy="530352"/>
          </a:xfrm>
          <a:prstGeom prst="ellipse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736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09928" y="3959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谁？李歌和母亲分别是什么身份？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2688" y="4791456"/>
            <a:ext cx="530352" cy="530352"/>
          </a:xfrm>
          <a:prstGeom prst="ellipse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783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09928" y="476402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何时？发生了什么事？李歌怎样反应？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58952" y="5513832"/>
            <a:ext cx="10680192" cy="740664"/>
          </a:xfrm>
          <a:prstGeom prst="rect">
            <a:avLst/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596128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  ·  圈画称谓、时间词与表示情绪的词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0120" y="5907024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写下：写出三条不带评价的人物事实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逐句精读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译读实验：谁在说？谁在决定？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64792"/>
            <a:ext cx="1068933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64792"/>
            <a:ext cx="109728" cy="196596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29384"/>
            <a:ext cx="10058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母告以衣食所仰，不得已。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与母约曰：“媪能宽我，不脂泽，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不荤肉，则可尔；否则有死而已！”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948672" y="1545336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7276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959352"/>
            <a:ext cx="5248656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959352"/>
            <a:ext cx="82296" cy="1316736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187952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第一步｜独立解释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71830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“告以衣食所仰”是谁告诉谁？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“媪”指谁？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“则可尔”是什么条件？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959352"/>
            <a:ext cx="5248656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959352"/>
            <a:ext cx="82296" cy="1316736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187952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第二步｜同桌核对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71830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李歌提出了哪些要求？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她为何以“死”作最后界限？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指出文中没有说出的动机。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77256"/>
            <a:ext cx="10680192" cy="740664"/>
          </a:xfrm>
          <a:prstGeom prst="rect">
            <a:avLst/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955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6分钟  ·  先译原句，再交换标注省略成分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7044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写下：写下“如果……就……；否则……”的完整译文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译读反馈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参考译文：对照你的修订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883664"/>
            <a:ext cx="5248656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83664"/>
            <a:ext cx="82296" cy="2852928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11226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42616"/>
            <a:ext cx="474573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“媪能宽我，不脂泽，不荤肉，则可尔；否则有死而已！”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99632" y="1883664"/>
            <a:ext cx="5248656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883664"/>
            <a:ext cx="82296" cy="2852928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1226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参考译法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2642616"/>
            <a:ext cx="474573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“如果您允许我不涂脂抹粉、不吃荤肉，我才答应；否则，我宁愿死。”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77240" y="5010912"/>
            <a:ext cx="10588752" cy="530352"/>
          </a:xfrm>
          <a:prstGeom prst="rect">
            <a:avLst/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5093208"/>
            <a:ext cx="10076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检查：是否译出“能”“则”“否则”的条件关系？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细读与推断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一句“阳从之”，透露了什么？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28800"/>
            <a:ext cx="1068933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28800"/>
            <a:ext cx="109728" cy="109728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93392"/>
            <a:ext cx="10058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母惧，阳从之。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948672" y="1609344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367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246120"/>
            <a:ext cx="5248656" cy="1545336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246120"/>
            <a:ext cx="82296" cy="1545336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47472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005072"/>
            <a:ext cx="47457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母亲内心真正接受了李歌的要求。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246120"/>
            <a:ext cx="5248656" cy="1545336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246120"/>
            <a:ext cx="82296" cy="1545336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47472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解释二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005072"/>
            <a:ext cx="47457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母亲因恐惧而暂时表面答应，内心未必认同。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31536"/>
            <a:ext cx="10680192" cy="740664"/>
          </a:xfrm>
          <a:prstGeom prst="rect">
            <a:avLst/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138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  ·  比较两种解释，给“阳”标注语境义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2472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写下：哪一种更有证据？另一种有什么不足？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比较发现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一词多义：这里的“为”和“之”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37944"/>
            <a:ext cx="5537606" cy="53035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97380"/>
            <a:ext cx="5334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2162" y="1837944"/>
            <a:ext cx="5109667" cy="53035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2746" y="1897380"/>
            <a:ext cx="49066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68296"/>
            <a:ext cx="5537606" cy="6940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32304"/>
            <a:ext cx="527060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“我可独为倡耶？”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322162" y="2368296"/>
            <a:ext cx="5109667" cy="6940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8466" y="2432304"/>
            <a:ext cx="484266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“为”在此作什么解释？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58952" y="3086100"/>
            <a:ext cx="5537606" cy="694030"/>
          </a:xfrm>
          <a:prstGeom prst="roundRect">
            <a:avLst>
              <a:gd name="adj" fmla="val 329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150108"/>
            <a:ext cx="527060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“母教之歌舞”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322162" y="3086100"/>
            <a:ext cx="5109667" cy="694030"/>
          </a:xfrm>
          <a:prstGeom prst="roundRect">
            <a:avLst>
              <a:gd name="adj" fmla="val 329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8466" y="3150108"/>
            <a:ext cx="484266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“之”指谁？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58952" y="3803904"/>
            <a:ext cx="5537606" cy="6940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867912"/>
            <a:ext cx="527060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“母惧，阳从之”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322162" y="3803904"/>
            <a:ext cx="5109667" cy="69403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8466" y="3867912"/>
            <a:ext cx="484266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“之”指什么？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58952" y="4521708"/>
            <a:ext cx="5537606" cy="694030"/>
          </a:xfrm>
          <a:prstGeom prst="roundRect">
            <a:avLst>
              <a:gd name="adj" fmla="val 329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585716"/>
            <a:ext cx="527060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“母告以衣食所仰”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322162" y="4521708"/>
            <a:ext cx="5109667" cy="694030"/>
          </a:xfrm>
          <a:prstGeom prst="roundRect">
            <a:avLst>
              <a:gd name="adj" fmla="val 329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8466" y="4585716"/>
            <a:ext cx="484266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“以”引出什么内容？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758952" y="5742432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797296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先逐句解释“谁”“什么”，再给虚词下结论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文言知识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本课重点文言知识｜第一组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0512"/>
            <a:ext cx="4467758" cy="53035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69948"/>
            <a:ext cx="4264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52314" y="1810512"/>
            <a:ext cx="6179515" cy="53035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2898" y="1869948"/>
            <a:ext cx="59765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引导学生发现的知识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40864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04872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“李歌者，霸州人”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52314" y="2340864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8618" y="2404872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判断句：用“……者，……”交代身份。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8952" y="3145536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209544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“其母一枝梅，倡也”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52314" y="3145536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8618" y="3209544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“也”帮助表示判断；“倡”指歌妓。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8952" y="3950208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014216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“李艴然曰”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52314" y="3950208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8618" y="4014216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“艴然”读 fú rán，表示生气变了脸色。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" y="4754880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818888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“母惧，阳从之”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252314" y="4754880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8618" y="4818888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“阳”指表面上；“之”指她提出的要求。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58952" y="5769864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先遮住解释复述一遍，再回到原句检验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新句实践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迁移：你真的会判断句了吗？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9656"/>
            <a:ext cx="10689336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19656"/>
            <a:ext cx="109728" cy="105156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8424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“廉颇者，赵之良将也。”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948672" y="1600200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276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课外原句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" y="327355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请把句子拆成 3 个部分，并解释每部分的作用：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758952" y="3877056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15384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廉颇者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200144" y="4489704"/>
            <a:ext cx="265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383024" y="3877056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E8F3EE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2752" y="4215384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赵之良将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824216" y="4489704"/>
            <a:ext cx="265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007096" y="3877056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6824" y="4215384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也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58952" y="5696712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751576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在作业本写出译文，并说出与“李歌者，霸州人”的相同点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   ·   言语与选择  /  出口检测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Ticket｜第一课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" y="1773936"/>
            <a:ext cx="10552176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84832"/>
            <a:ext cx="484632" cy="484632"/>
          </a:xfrm>
          <a:prstGeom prst="ellipse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214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3936" y="20665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翻译：“母惧，阳从之。”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15568" y="2999232"/>
            <a:ext cx="484632" cy="484632"/>
          </a:xfrm>
          <a:prstGeom prst="ellipse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73936" y="29809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说出“其母一枝梅，倡也”的句式特点。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15568" y="3913632"/>
            <a:ext cx="484632" cy="484632"/>
          </a:xfrm>
          <a:prstGeom prst="ellipse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502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73936" y="38953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“阳从之”能证明母亲赞成她吗？写一条依据。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952" y="5660136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8F3EE"/>
          </a:solidFill>
          <a:ln w="12700">
            <a:solidFill>
              <a:srgbClr val="E8F3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71500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3A3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离开前：独立写完，再检查原句依据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585216"/>
            <a:ext cx="1161288" cy="731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3DFC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  /  危机与抗争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6384" y="1892808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当权力越过底线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859536" y="3310128"/>
            <a:ext cx="9784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1DBB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读懂县令、逃难与结局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10195560" cy="0"/>
          </a:xfrm>
          <a:prstGeom prst="line">
            <a:avLst/>
          </a:prstGeom>
          <a:noFill/>
          <a:ln w="38100">
            <a:solidFill>
              <a:srgbClr val="365F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96519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1F3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今天的成果：全文译读＋活用／被动句辨析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77824" y="60716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DBD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 ·  IGCSE 0509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0" y="604418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1160" y="1051560"/>
            <a:ext cx="2212848" cy="2212848"/>
          </a:xfrm>
          <a:prstGeom prst="ellipse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82912" y="1344168"/>
            <a:ext cx="1609344" cy="1609344"/>
          </a:xfrm>
          <a:prstGeom prst="ellipse">
            <a:avLst/>
          </a:prstGeom>
          <a:solidFill>
            <a:srgbClr val="1B3558"/>
          </a:solidFill>
          <a:ln w="12700">
            <a:solidFill>
              <a:srgbClr val="1B355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517904"/>
            <a:ext cx="1042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守</a:t>
            </a:r>
            <a:endParaRPr lang="en-US" sz="5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延迟提取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三道回忆题，不翻课本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28800"/>
            <a:ext cx="5430622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88236"/>
            <a:ext cx="5227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看到原句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5177" y="1828800"/>
            <a:ext cx="5216652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5761" y="1888236"/>
            <a:ext cx="5013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你要立即说出什么？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59152"/>
            <a:ext cx="5430622" cy="911962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23160"/>
            <a:ext cx="516361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“我可独为倡耶？”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215177" y="2359152"/>
            <a:ext cx="5216652" cy="911962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1481" y="2423160"/>
            <a:ext cx="494964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这里“为”的意思是？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58952" y="3294888"/>
            <a:ext cx="5430622" cy="911962"/>
          </a:xfrm>
          <a:prstGeom prst="roundRect">
            <a:avLst>
              <a:gd name="adj" fmla="val 250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358896"/>
            <a:ext cx="516361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“母惧，阳从之”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215177" y="3294888"/>
            <a:ext cx="5216652" cy="911962"/>
          </a:xfrm>
          <a:prstGeom prst="roundRect">
            <a:avLst>
              <a:gd name="adj" fmla="val 250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1481" y="3358896"/>
            <a:ext cx="494964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“阳”和“之”分别指什么？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758952" y="4230624"/>
            <a:ext cx="5430622" cy="911962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294632"/>
            <a:ext cx="516361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“人有招之者”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6215177" y="4230624"/>
            <a:ext cx="5216652" cy="911962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1481" y="4294632"/>
            <a:ext cx="4949647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“之”指谁？“者”指谁？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758952" y="5504688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586984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3分钟  ·  独立写下，不看笔记；核对后用不同颜色补充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0120" y="5897880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写下：至少改正1处旧知识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第二段精读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她为何坚持朴素装扮？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92224"/>
            <a:ext cx="10689336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92224"/>
            <a:ext cx="109728" cy="1664208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56816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自是缟衣素裳，唯拂掠翠鬟，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然姿容如玉雪，望之宛若仙人，愈致其妍。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9948672" y="1572768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0020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22192"/>
            <a:ext cx="5248656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822192"/>
            <a:ext cx="82296" cy="1517904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050792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字词疏通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581144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缟 / 素 / 翠鬟</a:t>
            </a:r>
            <a:endParaRPr lang="en-US" sz="2500" dirty="0"/>
          </a:p>
          <a:p>
            <a:pPr algn="l" indent="0" marL="0">
              <a:buNone/>
            </a:pPr>
            <a:r>
              <a:rPr lang="en-US" sz="25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然 / 宛若 / 妍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6199632" y="3822192"/>
            <a:ext cx="5248656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822192"/>
            <a:ext cx="82296" cy="1517904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50792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写法发现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581144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作者为何用“玉雪”和“仙人”形容她？外貌与选择有何联系？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58952" y="5431536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138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  ·  逐句解释六个词，再给比喻找作用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2472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写下：“朴素打扮”是否使她失去美貌？证据是什么？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第二段精读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客人知道她的底线吗？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73936"/>
            <a:ext cx="10689336" cy="1837944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73936"/>
            <a:ext cx="109728" cy="1837944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38528"/>
            <a:ext cx="100584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人亦熟李行，不敢以亵语加焉。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李至，歌道家游仙辞数阕，俨容默坐。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他日或再招，必拒不往。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948672" y="1554480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81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13048"/>
            <a:ext cx="5248656" cy="1408176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813048"/>
            <a:ext cx="82296" cy="140817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041648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解释原文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572000"/>
            <a:ext cx="4745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熟李行 / 亵语 / 阕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俨容 / 他日 / 拒不往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199632" y="3813048"/>
            <a:ext cx="5248656" cy="1408176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813048"/>
            <a:ext cx="82296" cy="140817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41648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解释人物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572000"/>
            <a:ext cx="4745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她靠外貌、技巧还是持久行为建立边界？请找到两处证据。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58952" y="5440680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22976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  ·  先独立翻译，再同桌说明人物行为之间的联系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33872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写下：画出“平日习惯→他人反应”的一条证据链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第二段精读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宴席前后：她在维护什么？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46504"/>
            <a:ext cx="1068933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46504"/>
            <a:ext cx="109728" cy="196596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11096"/>
            <a:ext cx="10058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人有招之者，李必询筵中无恶少年乃行。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未行，复遣人觇之。……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或有狎之者，辄拂袖径出，弗少留。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948672" y="1527048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5448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977640"/>
            <a:ext cx="5248656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977640"/>
            <a:ext cx="82296" cy="1161288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20624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前往之前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736592"/>
            <a:ext cx="4745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“询”“觇”表现了怎样的谨慎？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199632" y="3977640"/>
            <a:ext cx="5248656" cy="1161288"/>
          </a:xfrm>
          <a:prstGeom prst="roundRect">
            <a:avLst>
              <a:gd name="adj" fmla="val 9449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977640"/>
            <a:ext cx="82296" cy="1161288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20624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受到冒犯时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736592"/>
            <a:ext cx="4745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“辄”“径”“弗少留”突出了怎样的行动方式？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58952" y="5440680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22976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6分钟  ·  先标动词，再分别译出动作发生的条件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33872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写下：选择一个字解释它为何比一般表达更有力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第三段精读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县令送银子：句中谁是接受者？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83664"/>
            <a:ext cx="10689336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83664"/>
            <a:ext cx="109728" cy="1060704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48256"/>
            <a:ext cx="10058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益津县令年颇少，以白金遗其母，欲私之。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9948672" y="1664208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9164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" y="3374136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12464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以白金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200144" y="3986784"/>
            <a:ext cx="265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383024" y="3374136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EAF0FA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2752" y="3712464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遗其母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824216" y="3986784"/>
            <a:ext cx="265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007096" y="3374136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6824" y="3712464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欲私之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78408" y="5010912"/>
            <a:ext cx="10195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三个问题：银子给了谁？“遗”读什么？“之”又指谁？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第三段精读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一句斥责，揭出两副面孔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55648"/>
            <a:ext cx="106893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55648"/>
            <a:ext cx="109728" cy="201168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20240"/>
            <a:ext cx="10058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“吾闻县令为风化首，汝纵不能而忍坏之耶？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今冠裳其形而狗彘其行，乃真贼尔！岂官人耶？”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948672" y="1536192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6362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4014216"/>
            <a:ext cx="5248656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014216"/>
            <a:ext cx="82296" cy="1261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242816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外在身份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77316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“冠裳其形”——外表像一名官员。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4014216"/>
            <a:ext cx="5248656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4014216"/>
            <a:ext cx="82296" cy="1261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242816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实际品行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77316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“狗彘其行”——言行被比作猪狗。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77256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955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7分钟  ·  独立试译，圈出反问、转折与判断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7044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写下：解释“为”“而”“乃”“岂”的作用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语言与态度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她在这里真正威胁了谁？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28800"/>
            <a:ext cx="1068933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28800"/>
            <a:ext cx="109728" cy="150876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93392"/>
            <a:ext cx="10058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“汝即来，汝即来！</a:t>
            </a:r>
            <a:endParaRPr lang="en-US" sz="3300" dirty="0"/>
          </a:p>
          <a:p>
            <a:pPr algn="l" indent="0" marL="0">
              <a:buNone/>
            </a:pPr>
            <a:r>
              <a:rPr lang="en-US" sz="3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吾先杀汝而后自杀尔！”令惊走。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948672" y="1609344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367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49624"/>
            <a:ext cx="5248656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849624"/>
            <a:ext cx="82296" cy="131673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0782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重复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608576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“汝即来”为什么连续说两次？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849624"/>
            <a:ext cx="5248656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849624"/>
            <a:ext cx="82296" cy="131673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782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次序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608576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“先杀汝而后自杀”中“而”连接什么？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669280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724144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先观察语言的形式，再回答它制造了怎样的紧张感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第四段精读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婚姻过渡：一句话里有几层信息？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0512"/>
            <a:ext cx="1068933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10512"/>
            <a:ext cx="109728" cy="159105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75104"/>
            <a:ext cx="100584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时监州闻其贤，有子方读书，举秀才，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聘为之妇，李尚处子也。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9948672" y="1591056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1848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657600"/>
            <a:ext cx="524865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57600"/>
            <a:ext cx="82296" cy="1572768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88620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谁被举荐？谁娶了谁？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416552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“有子方读书，举秀才”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“聘为之妇”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圈出省略的主语。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657600"/>
            <a:ext cx="524865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657600"/>
            <a:ext cx="82296" cy="1572768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88620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为何特别交代“处子”？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416552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“李尚处子也”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原文陈述什么？为何作者认为值得写？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68112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0408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  ·  先补出省略主语，再准确译出“方”“举”“之”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61304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写下：比较事实信息和作者可能的重视角度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第四段精读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临死前的抗争，谁在叙述？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73936"/>
            <a:ext cx="10689336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73936"/>
            <a:ext cx="109728" cy="185623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38528"/>
            <a:ext cx="100584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李抱其夫诟曰：“汝欲杀吾夫，即先杀我。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我宁死，决不从汝作贼也！”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贼怒，并杀之。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948672" y="1554480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81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49624"/>
            <a:ext cx="5248656" cy="1408176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849624"/>
            <a:ext cx="82296" cy="140817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0782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逐句理解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608576"/>
            <a:ext cx="4745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诟 / 即 / 宁 / 决 / 并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选两个实词说明语气。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849624"/>
            <a:ext cx="5248656" cy="1408176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849624"/>
            <a:ext cx="82296" cy="140817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782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细读判断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608576"/>
            <a:ext cx="4745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从“抱其夫”到“决不从”，她的立场怎样通过动作和话语得到呈现？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8952" y="5468112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0408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  ·  先逐句译清，再提出一种人物解读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61304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写下：引用“动作+语言”两种证据，不美化死亡本身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第四段精读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灾难后的两句，决定结局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9656"/>
            <a:ext cx="10689336" cy="1499616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19656"/>
            <a:ext cx="109728" cy="149961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84248"/>
            <a:ext cx="10058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夫妇逃难，俱为贼所执。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贼悦李有殊色，欲杀其夫而妻之。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9948672" y="1600200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276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49624"/>
            <a:ext cx="5248656" cy="1380744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849624"/>
            <a:ext cx="82296" cy="1380744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0782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找句式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608576"/>
            <a:ext cx="4745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“为……所……”里谁被谁抓住？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849624"/>
            <a:ext cx="5248656" cy="1380744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849624"/>
            <a:ext cx="82296" cy="1380744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782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找活用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608576"/>
            <a:ext cx="4745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“妻”原来是什么词？在这里做什么动作？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04104"/>
            <a:ext cx="10680192" cy="740664"/>
          </a:xfrm>
          <a:prstGeom prst="rect">
            <a:avLst/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486400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7分钟  ·  先画出施事者和受事者，再解释“妻之”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797296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写下：写出“被动”和“名词作动词”的依据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第四段精读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结局与作者感叹：哪些是事实？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0512"/>
            <a:ext cx="10689336" cy="2075688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10512"/>
            <a:ext cx="109728" cy="2075688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75104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“吾宁死，决不从汝作贼也！”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贼怒，并杀之。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“吁！倡犹能有是哉！可慨也。”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9948672" y="1591056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1848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" y="4142232"/>
            <a:ext cx="5323637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20166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文本事实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08192" y="4142232"/>
            <a:ext cx="5323637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420166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作者判断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8952" y="4672584"/>
            <a:ext cx="5323637" cy="383134"/>
          </a:xfrm>
          <a:prstGeom prst="roundRect">
            <a:avLst>
              <a:gd name="adj" fmla="val 596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4736592"/>
            <a:ext cx="50566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“并杀之”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08192" y="4672584"/>
            <a:ext cx="5323637" cy="383134"/>
          </a:xfrm>
          <a:prstGeom prst="roundRect">
            <a:avLst>
              <a:gd name="adj" fmla="val 596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4736592"/>
            <a:ext cx="50566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“倡犹能有是哉”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8952" y="5079492"/>
            <a:ext cx="5323637" cy="383134"/>
          </a:xfrm>
          <a:prstGeom prst="roundRect">
            <a:avLst>
              <a:gd name="adj" fmla="val 596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5143500"/>
            <a:ext cx="50566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描述发生的事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08192" y="5079492"/>
            <a:ext cx="5323637" cy="383134"/>
          </a:xfrm>
          <a:prstGeom prst="roundRect">
            <a:avLst>
              <a:gd name="adj" fmla="val 596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5143500"/>
            <a:ext cx="505663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表达怎样的惊讶与赞叹？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文言知识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重点文言知识｜词义与虚词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0512"/>
            <a:ext cx="4467758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69948"/>
            <a:ext cx="4264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52314" y="1810512"/>
            <a:ext cx="6179515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2898" y="1869948"/>
            <a:ext cx="59765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引导学生发现的知识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40864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04872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“以白金遗其母”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52314" y="2340864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8618" y="2404872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遗读 wèi，意为赠送；白金指银子。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8952" y="3145536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209544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“吾闻县令为风化首”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52314" y="3145536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8618" y="3209544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为表示作为、担任；风化指道德教化。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8952" y="3950208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014216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“乃真贼尔”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52314" y="3950208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8618" y="4014216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乃强调判断，意为才是、竟是。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" y="4754880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818888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“吾先杀汝而后自杀尔”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252314" y="4754880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8618" y="4818888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而连接先后两个动作，表示承接。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58952" y="5769864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先遮住解释复述一遍，再回到原句检验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文言知识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重点文言知识｜句式与活用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0512"/>
            <a:ext cx="4467758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69948"/>
            <a:ext cx="42647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52314" y="1810512"/>
            <a:ext cx="6179515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2898" y="1869948"/>
            <a:ext cx="59765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引导学生发现的知识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40864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04872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“俱为贼所执”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52314" y="2340864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8618" y="2404872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为……所……是被动：两人都被贼人抓住。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8952" y="3145536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209544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“欲杀其夫而妻之”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52314" y="3145536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8618" y="3209544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妻原为名词，此处作动词：娶她为妻。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8952" y="3950208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014216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“倡犹能有是哉”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52314" y="3950208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8618" y="4014216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犹=尚且；是=这样；哉表达感叹。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" y="4754880"/>
            <a:ext cx="4467758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818888"/>
            <a:ext cx="4200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“汝纵不能而忍坏之耶”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252314" y="4754880"/>
            <a:ext cx="6179515" cy="780898"/>
          </a:xfrm>
          <a:prstGeom prst="roundRect">
            <a:avLst>
              <a:gd name="adj" fmla="val 29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8618" y="4818888"/>
            <a:ext cx="5912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纵=即使；而=却；耶加强反问。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58952" y="5769864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82472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先遮住解释复述一遍，再回到原句检验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文言比较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一词多用：同一个字，不同语境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37944"/>
            <a:ext cx="4895698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97380"/>
            <a:ext cx="46927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80253" y="1837944"/>
            <a:ext cx="5751576" cy="5303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0837" y="1897380"/>
            <a:ext cx="55485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这个词在此怎么解释？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68296"/>
            <a:ext cx="4895698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32304"/>
            <a:ext cx="462869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“乃行”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5680253" y="2368296"/>
            <a:ext cx="5751576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6557" y="2432304"/>
            <a:ext cx="5484571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乃 = ______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58952" y="3054096"/>
            <a:ext cx="4895698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118104"/>
            <a:ext cx="462869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“乃真贼尔”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5680253" y="3054096"/>
            <a:ext cx="5751576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6557" y="3118104"/>
            <a:ext cx="5484571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乃 = ______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758952" y="3739896"/>
            <a:ext cx="4895698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803904"/>
            <a:ext cx="462869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“欲私之”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5680253" y="3739896"/>
            <a:ext cx="5751576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6557" y="3803904"/>
            <a:ext cx="5484571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之 = ______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758952" y="4425696"/>
            <a:ext cx="4895698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489704"/>
            <a:ext cx="462869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“俱为贼所执”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5680253" y="4425696"/>
            <a:ext cx="5751576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26557" y="4489704"/>
            <a:ext cx="5484571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 = ______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758952" y="5733288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788152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别直接背词条：先替换成现代汉语，再看整句是否通顺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新句实践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迁移：没有注释，还能读懂吗？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56232"/>
            <a:ext cx="10689336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56232"/>
            <a:ext cx="109728" cy="105156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2082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“不者，若属皆且为所虏！”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948672" y="1636776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6420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课外原句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282696"/>
            <a:ext cx="524865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282696"/>
            <a:ext cx="82296" cy="159105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511296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步骤一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041648"/>
            <a:ext cx="4745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找出被动标志。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谁将被谁俘虏？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282696"/>
            <a:ext cx="524865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282696"/>
            <a:ext cx="82296" cy="1591056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511296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步骤二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041648"/>
            <a:ext cx="4745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“皆”表示什么？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这句话的威胁语气来自哪里？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715000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769864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将“为……所……”的规律迁移到从未讲解过的句子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   ·   危机与抗争  /  出口检测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Ticket｜第二课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" y="1773936"/>
            <a:ext cx="10552176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84832"/>
            <a:ext cx="484632" cy="484632"/>
          </a:xfrm>
          <a:prstGeom prst="ellipse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214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3936" y="20665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翻译：“以白金遗其母，欲私之。”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15568" y="2999232"/>
            <a:ext cx="484632" cy="484632"/>
          </a:xfrm>
          <a:prstGeom prst="ellipse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73936" y="29809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分别解释“乃行”和“乃真贼尔”中的“乃”。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15568" y="3913632"/>
            <a:ext cx="484632" cy="484632"/>
          </a:xfrm>
          <a:prstGeom prst="ellipse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502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73936" y="38953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指出“俱为贼所执”的句式，说明受事者。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952" y="5660136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71500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55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离开前：独立写完，再检查原句依据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693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585216"/>
            <a:ext cx="1161288" cy="731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3DFC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  /  人物与冲突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6384" y="1892808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她的选择，谁在施压？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859536" y="3310128"/>
            <a:ext cx="9784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1DBB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从人物关系进入真实的冲突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10195560" cy="0"/>
          </a:xfrm>
          <a:prstGeom prst="line">
            <a:avLst/>
          </a:prstGeom>
          <a:noFill/>
          <a:ln w="38100">
            <a:solidFill>
              <a:srgbClr val="D66F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96519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1F3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今天的成果：冲突图＋证据排序＋人物评价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77824" y="60716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DBD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 ·  IGCSE 0509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0" y="604418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1160" y="1051560"/>
            <a:ext cx="2212848" cy="2212848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82912" y="1344168"/>
            <a:ext cx="1609344" cy="1609344"/>
          </a:xfrm>
          <a:prstGeom prst="ellipse">
            <a:avLst/>
          </a:prstGeom>
          <a:solidFill>
            <a:srgbClr val="693F30"/>
          </a:solidFill>
          <a:ln w="12700">
            <a:solidFill>
              <a:srgbClr val="693F3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517904"/>
            <a:ext cx="1042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</a:t>
            </a:r>
            <a:endParaRPr lang="en-US" sz="5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复习检索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先在心里重建故事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97864" y="3227832"/>
            <a:ext cx="9957816" cy="0"/>
          </a:xfrm>
          <a:prstGeom prst="line">
            <a:avLst/>
          </a:prstGeom>
          <a:noFill/>
          <a:ln w="50800">
            <a:solidFill>
              <a:srgbClr val="D66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3054096"/>
            <a:ext cx="356616" cy="356616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84448"/>
            <a:ext cx="17099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母教歌舞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026664" y="3054096"/>
            <a:ext cx="356616" cy="356616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2359152"/>
            <a:ext cx="17099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设下界限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10912" y="3054096"/>
            <a:ext cx="356616" cy="356616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3584448"/>
            <a:ext cx="17099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拒绝轻薄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95160" y="3054096"/>
            <a:ext cx="356616" cy="356616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2359152"/>
            <a:ext cx="17099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怒斥县令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79408" y="3054096"/>
            <a:ext cx="356616" cy="356616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3584448"/>
            <a:ext cx="17099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夫妇遇贼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963656" y="3054096"/>
            <a:ext cx="356616" cy="356616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87000" y="2359152"/>
            <a:ext cx="17099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不屈被杀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18105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不翻课文，写出你认为最关键的两个转折点。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758952" y="5431536"/>
            <a:ext cx="10680192" cy="740664"/>
          </a:xfrm>
          <a:prstGeom prst="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5138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  ·  先各自列两点，再同桌比较排序依据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60120" y="582472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写下：每点补一句原文，不可只写情节概要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关系结构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冲突不只一条：画出压力关系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48072" y="2057400"/>
            <a:ext cx="1828800" cy="1828800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2587752"/>
            <a:ext cx="111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</a:t>
            </a:r>
            <a:endParaRPr lang="en-US" sz="3500" dirty="0"/>
          </a:p>
        </p:txBody>
      </p:sp>
      <p:sp>
        <p:nvSpPr>
          <p:cNvPr id="11" name="Shape 9"/>
          <p:cNvSpPr/>
          <p:nvPr/>
        </p:nvSpPr>
        <p:spPr>
          <a:xfrm>
            <a:off x="1426464" y="2295144"/>
            <a:ext cx="204825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1912" y="238658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母亲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生计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8695944" y="2295144"/>
            <a:ext cx="204825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1392" y="238658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宴会中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的客人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1417320" y="4343400"/>
            <a:ext cx="204825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4434840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县令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权势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641080" y="4343400"/>
            <a:ext cx="204825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4434840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贼人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武力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3474720" y="2743200"/>
            <a:ext cx="1600200" cy="82296"/>
          </a:xfrm>
          <a:prstGeom prst="line">
            <a:avLst/>
          </a:prstGeom>
          <a:noFill/>
          <a:ln w="25400">
            <a:solidFill>
              <a:srgbClr val="D66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0024" y="2825496"/>
            <a:ext cx="1609344" cy="-82296"/>
          </a:xfrm>
          <a:prstGeom prst="line">
            <a:avLst/>
          </a:prstGeom>
          <a:noFill/>
          <a:ln w="25400">
            <a:solidFill>
              <a:srgbClr val="D66F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6704" y="4663440"/>
            <a:ext cx="1929384" cy="-868680"/>
          </a:xfrm>
          <a:prstGeom prst="line">
            <a:avLst/>
          </a:prstGeom>
          <a:noFill/>
          <a:ln w="25400">
            <a:solidFill>
              <a:srgbClr val="D66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3794760"/>
            <a:ext cx="1892808" cy="896112"/>
          </a:xfrm>
          <a:prstGeom prst="line">
            <a:avLst/>
          </a:prstGeom>
          <a:noFill/>
          <a:ln w="25400">
            <a:solidFill>
              <a:srgbClr val="D66F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54406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四种力量为什么都不能简单等同？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解释竞争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对母亲：这是决裂，还是谈判？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28800"/>
            <a:ext cx="106893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28800"/>
            <a:ext cx="109728" cy="13716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93392"/>
            <a:ext cx="10058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“母告以衣食所仰……与母约曰……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母惧，阳从之。”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9948672" y="1609344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367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456432"/>
            <a:ext cx="52486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56432"/>
            <a:ext cx="82296" cy="173736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685032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解读甲｜决裂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215384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李歌坚持自己的意愿，甚至说“有死而已”。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456432"/>
            <a:ext cx="524865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456432"/>
            <a:ext cx="82296" cy="1737360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685032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解读乙｜谈判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215384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李歌没有立即离家，而是提出可接受的条件。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49824"/>
            <a:ext cx="10680192" cy="740664"/>
          </a:xfrm>
          <a:prstGeom prst="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32120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7分钟  ·  选最有力读法，找支持与削弱它的证据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43016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写下：写出“虽然……但……”的修订观点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情境比较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为何同是拒绝，方式却不同？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56232"/>
            <a:ext cx="2435047" cy="5303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15668"/>
            <a:ext cx="22320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场景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19602" y="1856232"/>
            <a:ext cx="4253789" cy="5303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0186" y="1915668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她如何行动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994" y="1856232"/>
            <a:ext cx="3932834" cy="5303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99578" y="1915668"/>
            <a:ext cx="37298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对方掌握什么力量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952" y="2386584"/>
            <a:ext cx="2435047" cy="908914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450592"/>
            <a:ext cx="216804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面对宴会客人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219602" y="2386584"/>
            <a:ext cx="4253789" cy="908914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5906" y="2450592"/>
            <a:ext cx="3986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“辄拂袖径出”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498994" y="2386584"/>
            <a:ext cx="3932834" cy="908914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5298" y="2450592"/>
            <a:ext cx="366583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社会接触与经济资源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58952" y="3319272"/>
            <a:ext cx="2435047" cy="908914"/>
          </a:xfrm>
          <a:prstGeom prst="roundRect">
            <a:avLst>
              <a:gd name="adj" fmla="val 2515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383280"/>
            <a:ext cx="216804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面对县令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19602" y="3319272"/>
            <a:ext cx="4253789" cy="908914"/>
          </a:xfrm>
          <a:prstGeom prst="roundRect">
            <a:avLst>
              <a:gd name="adj" fmla="val 2515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5906" y="3383280"/>
            <a:ext cx="3986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“李持刀入户”＋激烈斥责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498994" y="3319272"/>
            <a:ext cx="3932834" cy="908914"/>
          </a:xfrm>
          <a:prstGeom prst="roundRect">
            <a:avLst>
              <a:gd name="adj" fmla="val 2515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5298" y="3383280"/>
            <a:ext cx="366583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官职与地方权力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58952" y="4251960"/>
            <a:ext cx="2435047" cy="908914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4315968"/>
            <a:ext cx="216804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面对贼人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219602" y="4251960"/>
            <a:ext cx="4253789" cy="908914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5906" y="4315968"/>
            <a:ext cx="3986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“抱其夫诟曰”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7498994" y="4251960"/>
            <a:ext cx="3932834" cy="908914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5298" y="4315968"/>
            <a:ext cx="366583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直接的武力和生死威胁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758952" y="5449824"/>
            <a:ext cx="10680192" cy="740664"/>
          </a:xfrm>
          <a:prstGeom prst="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532120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6分钟  ·  三种回应中，哪些反映情境差异？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60120" y="5843016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写下：用两处文本细节证明不宜统一理解成“性格强”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证据力度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一句动作，能推断出多少？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64792"/>
            <a:ext cx="10689336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64792"/>
            <a:ext cx="109728" cy="105156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2938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“李持刀入户，以巨木撑柱。”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9948672" y="1545336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7276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" y="3282696"/>
            <a:ext cx="5323637" cy="5303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421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推断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08192" y="3282696"/>
            <a:ext cx="5323637" cy="5303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33421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证据是否足够？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8952" y="3813048"/>
            <a:ext cx="5323637" cy="509626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877056"/>
            <a:ext cx="5056632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她打算阻止县令接近。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108192" y="3813048"/>
            <a:ext cx="5323637" cy="509626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3877056"/>
            <a:ext cx="5056632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较有支持——有防御性行动。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58952" y="4346448"/>
            <a:ext cx="5323637" cy="509626"/>
          </a:xfrm>
          <a:prstGeom prst="roundRect">
            <a:avLst>
              <a:gd name="adj" fmla="val 4486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4410456"/>
            <a:ext cx="5056632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她毫不恐惧。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108192" y="4346448"/>
            <a:ext cx="5323637" cy="509626"/>
          </a:xfrm>
          <a:prstGeom prst="roundRect">
            <a:avLst>
              <a:gd name="adj" fmla="val 4486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4410456"/>
            <a:ext cx="5056632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证据不足——勇敢不等于不害怕。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58952" y="4879848"/>
            <a:ext cx="5323637" cy="509626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4943856"/>
            <a:ext cx="5056632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她不相信当地官府会保护她。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108192" y="4879848"/>
            <a:ext cx="5323637" cy="509626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4943856"/>
            <a:ext cx="5056632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可以讨论，但原文未直接交代。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58952" y="5669280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724144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推断要分层：直接可见／合理推断／需要额外证据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证据排序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如果只保留三处证据，你选哪三处？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01368"/>
            <a:ext cx="5858561" cy="5303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60804"/>
            <a:ext cx="56555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候选原句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643116" y="1801368"/>
            <a:ext cx="4788713" cy="5303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3700" y="1860804"/>
            <a:ext cx="4585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可以支持怎样的人物解读？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31720"/>
            <a:ext cx="5858561" cy="629107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395728"/>
            <a:ext cx="559155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“与母约曰”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643116" y="2331720"/>
            <a:ext cx="4788713" cy="629107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9420" y="2395728"/>
            <a:ext cx="4521708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58952" y="2984602"/>
            <a:ext cx="5858561" cy="629107"/>
          </a:xfrm>
          <a:prstGeom prst="roundRect">
            <a:avLst>
              <a:gd name="adj" fmla="val 363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048610"/>
            <a:ext cx="559155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“必询筵中无恶少年乃行”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643116" y="2984602"/>
            <a:ext cx="4788713" cy="629107"/>
          </a:xfrm>
          <a:prstGeom prst="roundRect">
            <a:avLst>
              <a:gd name="adj" fmla="val 363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9420" y="3048610"/>
            <a:ext cx="4521708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58952" y="3637483"/>
            <a:ext cx="5858561" cy="629107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701491"/>
            <a:ext cx="559155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“辄拂袖径出”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643116" y="3637483"/>
            <a:ext cx="4788713" cy="629107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9420" y="3701491"/>
            <a:ext cx="4521708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58952" y="4290365"/>
            <a:ext cx="5858561" cy="629107"/>
          </a:xfrm>
          <a:prstGeom prst="roundRect">
            <a:avLst>
              <a:gd name="adj" fmla="val 363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354373"/>
            <a:ext cx="559155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“乃真贼尔”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643116" y="4290365"/>
            <a:ext cx="4788713" cy="629107"/>
          </a:xfrm>
          <a:prstGeom prst="roundRect">
            <a:avLst>
              <a:gd name="adj" fmla="val 3634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9420" y="4354373"/>
            <a:ext cx="4521708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58952" y="4943246"/>
            <a:ext cx="5858561" cy="629107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5007254"/>
            <a:ext cx="559155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“我宁死，决不从汝作贼也”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6643116" y="4943246"/>
            <a:ext cx="4788713" cy="629107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9420" y="5007254"/>
            <a:ext cx="4521708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758952" y="5733288"/>
            <a:ext cx="10680192" cy="740664"/>
          </a:xfrm>
          <a:prstGeom prst="rect">
            <a:avLst/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815584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8分钟  ·  从5条选最有力的3条，按解释力度排序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60120" y="6126480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写下：每条写“细节→心理或立场→局限”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比较分析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谁是人物？谁是推动情节的力量？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856232"/>
            <a:ext cx="3432048" cy="3502152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56232"/>
            <a:ext cx="82296" cy="350215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084832"/>
            <a:ext cx="298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母亲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15184"/>
            <a:ext cx="292912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担心衣食生计；对女儿要求“阳从之”。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她的处境可以被理解吗？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83024" y="1856232"/>
            <a:ext cx="3432048" cy="3502152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3024" y="1856232"/>
            <a:ext cx="82296" cy="3502152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9912" y="2084832"/>
            <a:ext cx="298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县令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9912" y="2615184"/>
            <a:ext cx="292912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送银图私通；被斥责为“真贼”。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权力如何使侵犯更严重？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16240" y="1856232"/>
            <a:ext cx="3432048" cy="3502152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6240" y="1856232"/>
            <a:ext cx="82296" cy="350215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3128" y="2084832"/>
            <a:ext cx="298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监州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63128" y="2615184"/>
            <a:ext cx="292912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听说贤德后为子求婚。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他知道李歌哪些品质？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58952" y="5696712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751576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把人物“做了什么”和“我们怎样解释他”分开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分析示范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一个完整的人物分析段，长什么样？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911096"/>
            <a:ext cx="5248656" cy="330098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11096"/>
            <a:ext cx="82296" cy="3300984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139696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浅层回答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70048"/>
            <a:ext cx="47457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李歌很勇敢。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因为她敢骂县令，说明她有勇气。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99632" y="1911096"/>
            <a:ext cx="5248656" cy="330098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911096"/>
            <a:ext cx="82296" cy="3300984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39696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深入回答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2670048"/>
            <a:ext cx="47457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李歌以“风化首”指出县令应有的职责，再用“冠裳其形而狗彘其行”揭穿其言行反差。她的反抗不只是个人愤怒，也把官职与道德责任对立起来。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58952" y="5733288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788152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指出多了哪一步：语言细节 → 张力 → 人物与社会意义</a:t>
            </a:r>
            <a:endParaRPr lang="en-US" sz="1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   ·   人物与冲突  /  出口检测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Ticket｜第三课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" y="1773936"/>
            <a:ext cx="10552176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84832"/>
            <a:ext cx="484632" cy="484632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214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3936" y="20665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哪一次反抗最能体现李歌的选择？引用原文。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15568" y="2999232"/>
            <a:ext cx="484632" cy="484632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73936" y="29809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提出一种不同解释，并解释它的局限。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15568" y="3913632"/>
            <a:ext cx="484632" cy="484632"/>
          </a:xfrm>
          <a:prstGeom prst="ellipse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502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73936" y="38953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将“行为事实”和“你对动机的推断”分别写出。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952" y="5660136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2700">
            <a:solidFill>
              <a:srgbClr val="FFF1E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71500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3F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离开前：独立写完，再检查原句依据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B2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585216"/>
            <a:ext cx="1161288" cy="731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3DFC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  /  文学表达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6384" y="1892808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文字怎样写出反抗？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859536" y="3310128"/>
            <a:ext cx="9784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1DBB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从语言、反差与叙述节奏入手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10195560" cy="0"/>
          </a:xfrm>
          <a:prstGeom prst="line">
            <a:avLst/>
          </a:prstGeom>
          <a:noFill/>
          <a:ln w="38100">
            <a:solidFill>
              <a:srgbClr val="6553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96519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1F3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今天的成果：删改实验＋文学鉴赏段落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77824" y="60716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DBD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 ·  IGCSE 0509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0" y="604418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1160" y="1051560"/>
            <a:ext cx="2212848" cy="2212848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82912" y="1344168"/>
            <a:ext cx="1609344" cy="1609344"/>
          </a:xfrm>
          <a:prstGeom prst="ellipse">
            <a:avLst/>
          </a:prstGeom>
          <a:solidFill>
            <a:srgbClr val="3B2C57"/>
          </a:solidFill>
          <a:ln w="12700">
            <a:solidFill>
              <a:srgbClr val="3B2C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517904"/>
            <a:ext cx="1042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言</a:t>
            </a:r>
            <a:endParaRPr lang="en-US" sz="5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改写实验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同一行为，哪一种写法更有力？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892808"/>
            <a:ext cx="5248656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92808"/>
            <a:ext cx="82296" cy="2578608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121408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51760"/>
            <a:ext cx="47457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“或有狎之者，辄拂袖径出，弗少留。”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99632" y="1892808"/>
            <a:ext cx="5248656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892808"/>
            <a:ext cx="82296" cy="2578608"/>
          </a:xfrm>
          <a:prstGeom prst="rect">
            <a:avLst/>
          </a:prstGeom>
          <a:solidFill>
            <a:srgbClr val="365F96"/>
          </a:solidFill>
          <a:ln w="12700">
            <a:solidFill>
              <a:srgbClr val="365F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21408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F9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改写句（非原文）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2651760"/>
            <a:ext cx="47457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“如果有人冒犯她，李歌便离开。”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2688" y="4544568"/>
            <a:ext cx="530352" cy="53035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6314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09928" y="451713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哪一个动词或副词最有画面？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2688" y="5257800"/>
            <a:ext cx="530352" cy="53035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3446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09928" y="5230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改写减少了哪些情绪或节奏？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动作描写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四个字连起来，人物就动起来了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37944"/>
            <a:ext cx="10689336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37944"/>
            <a:ext cx="109728" cy="1152144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02536"/>
            <a:ext cx="10058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“辄拂袖径出，弗少留。”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948672" y="1618488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4592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" y="3282696"/>
            <a:ext cx="2007108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42132"/>
            <a:ext cx="1804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词语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91663" y="3282696"/>
            <a:ext cx="3825850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2247" y="3342132"/>
            <a:ext cx="362285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字面动作／语气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43116" y="3282696"/>
            <a:ext cx="4788713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3700" y="3342132"/>
            <a:ext cx="4585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读者感受到什么？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8952" y="3813048"/>
            <a:ext cx="2007108" cy="419710"/>
          </a:xfrm>
          <a:prstGeom prst="roundRect">
            <a:avLst>
              <a:gd name="adj" fmla="val 54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3877056"/>
            <a:ext cx="174010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辄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791663" y="3813048"/>
            <a:ext cx="3825850" cy="419710"/>
          </a:xfrm>
          <a:prstGeom prst="roundRect">
            <a:avLst>
              <a:gd name="adj" fmla="val 54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7967" y="3877056"/>
            <a:ext cx="355884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一遇到便……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643116" y="3813048"/>
            <a:ext cx="4788713" cy="419710"/>
          </a:xfrm>
          <a:prstGeom prst="roundRect">
            <a:avLst>
              <a:gd name="adj" fmla="val 54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9420" y="3877056"/>
            <a:ext cx="452170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58952" y="4256532"/>
            <a:ext cx="2007108" cy="419710"/>
          </a:xfrm>
          <a:prstGeom prst="roundRect">
            <a:avLst>
              <a:gd name="adj" fmla="val 544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4320540"/>
            <a:ext cx="174010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拂袖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2791663" y="4256532"/>
            <a:ext cx="3825850" cy="419710"/>
          </a:xfrm>
          <a:prstGeom prst="roundRect">
            <a:avLst>
              <a:gd name="adj" fmla="val 544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7967" y="4320540"/>
            <a:ext cx="355884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甩动衣袖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643116" y="4256532"/>
            <a:ext cx="4788713" cy="419710"/>
          </a:xfrm>
          <a:prstGeom prst="roundRect">
            <a:avLst>
              <a:gd name="adj" fmla="val 544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9420" y="4320540"/>
            <a:ext cx="452170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58952" y="4700016"/>
            <a:ext cx="2007108" cy="419710"/>
          </a:xfrm>
          <a:prstGeom prst="roundRect">
            <a:avLst>
              <a:gd name="adj" fmla="val 54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4764024"/>
            <a:ext cx="174010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径出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2791663" y="4700016"/>
            <a:ext cx="3825850" cy="419710"/>
          </a:xfrm>
          <a:prstGeom prst="roundRect">
            <a:avLst>
              <a:gd name="adj" fmla="val 54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37967" y="4764024"/>
            <a:ext cx="355884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径直离开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6643116" y="4700016"/>
            <a:ext cx="4788713" cy="419710"/>
          </a:xfrm>
          <a:prstGeom prst="roundRect">
            <a:avLst>
              <a:gd name="adj" fmla="val 544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9420" y="4764024"/>
            <a:ext cx="452170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758952" y="5143500"/>
            <a:ext cx="2007108" cy="419710"/>
          </a:xfrm>
          <a:prstGeom prst="roundRect">
            <a:avLst>
              <a:gd name="adj" fmla="val 544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" y="5207508"/>
            <a:ext cx="174010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弗少留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2791663" y="5143500"/>
            <a:ext cx="3825850" cy="419710"/>
          </a:xfrm>
          <a:prstGeom prst="roundRect">
            <a:avLst>
              <a:gd name="adj" fmla="val 544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37967" y="5207508"/>
            <a:ext cx="355884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不稍作停留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6643116" y="5143500"/>
            <a:ext cx="4788713" cy="419710"/>
          </a:xfrm>
          <a:prstGeom prst="roundRect">
            <a:avLst>
              <a:gd name="adj" fmla="val 544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89420" y="5207508"/>
            <a:ext cx="452170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反差结构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县令与李歌：谁更像“官”？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874520"/>
            <a:ext cx="5248656" cy="3026664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74520"/>
            <a:ext cx="82296" cy="3026664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10312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县令：外表是官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33472"/>
            <a:ext cx="474573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“冠裳其形”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“欲私之”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“令惊走”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5248656" cy="3026664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874520"/>
            <a:ext cx="82296" cy="3026664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03120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李歌：身份是“倡”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2633472"/>
            <a:ext cx="474573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“为风化首”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“乃真贼尔”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“岂官人耶”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3544" y="5129784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一个原本该成为道德表率的人，为何在对话中丧失了道德权威？</a:t>
            </a:r>
            <a:endParaRPr lang="en-US" sz="2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语气细读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反问句如何形成步步逼近？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83080"/>
            <a:ext cx="10689336" cy="1435608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83080"/>
            <a:ext cx="109728" cy="1435608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47672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“汝纵不能而忍坏之耶？”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“乃真贼尔！岂官人耶？”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948672" y="1563624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9105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" y="3621024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质问行为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200144" y="4233672"/>
            <a:ext cx="265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383024" y="3621024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EEEAF8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2752" y="3959352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做出判断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824216" y="4233672"/>
            <a:ext cx="265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007096" y="3621024"/>
            <a:ext cx="3450336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6824" y="3959352"/>
            <a:ext cx="3230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否定身份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58952" y="5468112"/>
            <a:ext cx="10680192" cy="740664"/>
          </a:xfrm>
          <a:prstGeom prst="rect">
            <a:avLst/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0408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  ·  依次翻译三个语气点：纵／乃／岂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61304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写下：解释反问怎样由行为批评升级到身份否定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朗读实验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为什么重复“汝即来”？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901952"/>
            <a:ext cx="10689336" cy="1472184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901952"/>
            <a:ext cx="109728" cy="1472184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66544"/>
            <a:ext cx="10058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“汝即来，汝即来！</a:t>
            </a:r>
            <a:endParaRPr lang="en-US" sz="3300" dirty="0"/>
          </a:p>
          <a:p>
            <a:pPr algn="l" indent="0" marL="0">
              <a:buNone/>
            </a:pPr>
            <a:r>
              <a:rPr lang="en-US" sz="3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吾先杀汝而后自杀尔！”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948672" y="1682496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7099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758184"/>
            <a:ext cx="5248656" cy="1545336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758184"/>
            <a:ext cx="82296" cy="1545336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98678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版本A｜保留重复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517136"/>
            <a:ext cx="47457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“汝即来，汝即来！”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以停顿和升调朗读。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758184"/>
            <a:ext cx="5248656" cy="1545336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758184"/>
            <a:ext cx="82296" cy="1545336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98678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版本B｜教师删改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517136"/>
            <a:ext cx="47457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“汝即来！”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只读一次，比较力度。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49824"/>
            <a:ext cx="10680192" cy="740664"/>
          </a:xfrm>
          <a:prstGeom prst="rect">
            <a:avLst/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32120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  ·  同桌各朗读一个版本，再交换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43016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写下：找出情绪强度、威慑感和节奏的差别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叙述节奏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作者哪里写得快，哪里写得慢？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47088"/>
            <a:ext cx="2649017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06524"/>
            <a:ext cx="24460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篇章位置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33572" y="1847088"/>
            <a:ext cx="4681728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4156" y="1906524"/>
            <a:ext cx="44787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40903" y="1847088"/>
            <a:ext cx="3290926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487" y="1906524"/>
            <a:ext cx="308792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效果猜想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952" y="2377440"/>
            <a:ext cx="2649017" cy="687172"/>
          </a:xfrm>
          <a:prstGeom prst="roundRect">
            <a:avLst>
              <a:gd name="adj" fmla="val 33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441448"/>
            <a:ext cx="238201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成长与日常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33572" y="2377440"/>
            <a:ext cx="4681728" cy="687172"/>
          </a:xfrm>
          <a:prstGeom prst="roundRect">
            <a:avLst>
              <a:gd name="adj" fmla="val 33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9876" y="2441448"/>
            <a:ext cx="4414723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多句铺叙规则和习惯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40903" y="2377440"/>
            <a:ext cx="3290926" cy="687172"/>
          </a:xfrm>
          <a:prstGeom prst="roundRect">
            <a:avLst>
              <a:gd name="adj" fmla="val 33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7207" y="2441448"/>
            <a:ext cx="302392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8952" y="3088386"/>
            <a:ext cx="2649017" cy="687172"/>
          </a:xfrm>
          <a:prstGeom prst="roundRect">
            <a:avLst>
              <a:gd name="adj" fmla="val 33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152394"/>
            <a:ext cx="238201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与县令冲突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433572" y="3088386"/>
            <a:ext cx="4681728" cy="687172"/>
          </a:xfrm>
          <a:prstGeom prst="roundRect">
            <a:avLst>
              <a:gd name="adj" fmla="val 33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9876" y="3152394"/>
            <a:ext cx="4414723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直接引语、动作、反问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140903" y="3088386"/>
            <a:ext cx="3290926" cy="687172"/>
          </a:xfrm>
          <a:prstGeom prst="roundRect">
            <a:avLst>
              <a:gd name="adj" fmla="val 33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7207" y="3152394"/>
            <a:ext cx="302392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58952" y="3799332"/>
            <a:ext cx="2649017" cy="687172"/>
          </a:xfrm>
          <a:prstGeom prst="roundRect">
            <a:avLst>
              <a:gd name="adj" fmla="val 33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3863340"/>
            <a:ext cx="238201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成婚数年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433572" y="3799332"/>
            <a:ext cx="4681728" cy="687172"/>
          </a:xfrm>
          <a:prstGeom prst="roundRect">
            <a:avLst>
              <a:gd name="adj" fmla="val 33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9876" y="3863340"/>
            <a:ext cx="4414723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“居数年”一笔带过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140903" y="3799332"/>
            <a:ext cx="3290926" cy="687172"/>
          </a:xfrm>
          <a:prstGeom prst="roundRect">
            <a:avLst>
              <a:gd name="adj" fmla="val 332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7207" y="3863340"/>
            <a:ext cx="302392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58952" y="4510278"/>
            <a:ext cx="2649017" cy="687172"/>
          </a:xfrm>
          <a:prstGeom prst="roundRect">
            <a:avLst>
              <a:gd name="adj" fmla="val 33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4574286"/>
            <a:ext cx="238201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遇贼身亡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433572" y="4510278"/>
            <a:ext cx="4681728" cy="687172"/>
          </a:xfrm>
          <a:prstGeom prst="roundRect">
            <a:avLst>
              <a:gd name="adj" fmla="val 33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9876" y="4574286"/>
            <a:ext cx="4414723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短句推进至“并杀之”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140903" y="4510278"/>
            <a:ext cx="3290926" cy="687172"/>
          </a:xfrm>
          <a:prstGeom prst="roundRect">
            <a:avLst>
              <a:gd name="adj" fmla="val 3327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87207" y="4574286"/>
            <a:ext cx="302392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？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58952" y="5678424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573328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为什么作者把最多“声音”留给与县令对峙的一场？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篇章结构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标题只有三字，视角却很鲜明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65376"/>
            <a:ext cx="1068933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65376"/>
            <a:ext cx="109728" cy="13716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29968"/>
            <a:ext cx="100584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“李歌者，霸州人。”                 “倡犹能有是哉！”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9948672" y="1645920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7335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621024"/>
            <a:ext cx="5248656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21024"/>
            <a:ext cx="82296" cy="1618488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8496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开端｜交代身份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379976"/>
            <a:ext cx="47457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作品一开始告诉读者，她是谁、出身什么环境。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621024"/>
            <a:ext cx="5248656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621024"/>
            <a:ext cx="82296" cy="1618488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84962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结尾｜作者评断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379976"/>
            <a:ext cx="47457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作品以感叹句回到她的身份，再评估她的品格。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733288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788152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开头与结尾互相照应，但价值判断完全一致吗？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文学分析练笔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写一段：不要只说“生动形象”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" y="1792224"/>
            <a:ext cx="10543032" cy="3575304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084832"/>
            <a:ext cx="530352" cy="53035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717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09928" y="20574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主张：哪种语言选择最值得分析？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2688" y="2862072"/>
            <a:ext cx="530352" cy="53035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489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09928" y="2834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证据：精确引用1—2个词或短句。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2688" y="3639312"/>
            <a:ext cx="530352" cy="53035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261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09928" y="361188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效果：解释这些字制造的语气或场景。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2688" y="4416552"/>
            <a:ext cx="530352" cy="53035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034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09928" y="438912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意义：这如何影响我们对李歌的理解？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58952" y="5504688"/>
            <a:ext cx="10680192" cy="740664"/>
          </a:xfrm>
          <a:prstGeom prst="rect">
            <a:avLst/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86984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9分钟  ·  写120—160字（课堂练习建议长度）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97880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写下：包含“语言细节→表达效果→人物/主题”，可有不同解读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同伴反馈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同桌读稿：找出缺少的一步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28800"/>
            <a:ext cx="5002682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88236"/>
            <a:ext cx="47996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写作中的一句话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787238" y="1828800"/>
            <a:ext cx="5644591" cy="53035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7822" y="1888236"/>
            <a:ext cx="54415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你需要追问什么？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59152"/>
            <a:ext cx="5002682" cy="90281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23160"/>
            <a:ext cx="4735678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“作者用了语言描写。”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787238" y="2359152"/>
            <a:ext cx="5644591" cy="90281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33542" y="2423160"/>
            <a:ext cx="5377586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是哪一句？有什么特别的语气？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58952" y="3285744"/>
            <a:ext cx="5002682" cy="902818"/>
          </a:xfrm>
          <a:prstGeom prst="roundRect">
            <a:avLst>
              <a:gd name="adj" fmla="val 2532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349752"/>
            <a:ext cx="4735678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“李歌很勇敢。”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787238" y="3285744"/>
            <a:ext cx="5644591" cy="902818"/>
          </a:xfrm>
          <a:prstGeom prst="roundRect">
            <a:avLst>
              <a:gd name="adj" fmla="val 2532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3542" y="3349752"/>
            <a:ext cx="5377586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哪些词更能证明勇敢，而非只是愤怒？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58952" y="4212336"/>
            <a:ext cx="5002682" cy="90281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276344"/>
            <a:ext cx="4735678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“让读者印象深刻。”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787238" y="4212336"/>
            <a:ext cx="5644591" cy="902818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3542" y="4276344"/>
            <a:ext cx="5377586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读者看到什么场景？理解为何改变？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58952" y="5449824"/>
            <a:ext cx="10680192" cy="740664"/>
          </a:xfrm>
          <a:prstGeom prst="rect">
            <a:avLst/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532120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  ·  同桌互相圈一处浅层判断，并写一条可执行修改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0120" y="5843016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写下：每人修订至少一句，使其包含具体词语的效果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   ·   文学表达  /  出口检测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Ticket｜第四课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" y="1773936"/>
            <a:ext cx="10552176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84832"/>
            <a:ext cx="484632" cy="48463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214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3936" y="20665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选一个字：“辄”“径”“乃”“岂”，解释其作用。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15568" y="2999232"/>
            <a:ext cx="484632" cy="48463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73936" y="29809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把“生动表现勇敢”改写成可检验的分析句。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15568" y="3913632"/>
            <a:ext cx="484632" cy="484632"/>
          </a:xfrm>
          <a:prstGeom prst="ellipse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502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73936" y="38953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写一处叙述速度变化，并说明意义。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952" y="5660136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2700">
            <a:solidFill>
              <a:srgbClr val="EEEA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71500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2C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离开前：独立写完，再检查原句依据</a:t>
            </a:r>
            <a:endParaRPr lang="en-US" sz="1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602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585216"/>
            <a:ext cx="1161288" cy="731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3DFC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05  /  谁在评价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6384" y="1892808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赞美，还是带着偏见的赞美？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859536" y="3310128"/>
            <a:ext cx="9784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1DBB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读作者立场，也读我们的判断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10195560" cy="0"/>
          </a:xfrm>
          <a:prstGeom prst="line">
            <a:avLst/>
          </a:prstGeom>
          <a:noFill/>
          <a:ln w="38100">
            <a:solidFill>
              <a:srgbClr val="91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96519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1F3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今天的成果：双视角解读＋有反驳的评价段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77824" y="60716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DBD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 ·  IGCSE 0509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0" y="604418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1160" y="1051560"/>
            <a:ext cx="2212848" cy="2212848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82912" y="1344168"/>
            <a:ext cx="1609344" cy="1609344"/>
          </a:xfrm>
          <a:prstGeom prst="ellipse">
            <a:avLst/>
          </a:prstGeom>
          <a:solidFill>
            <a:srgbClr val="602A39"/>
          </a:solidFill>
          <a:ln w="12700">
            <a:solidFill>
              <a:srgbClr val="602A3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517904"/>
            <a:ext cx="10424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评</a:t>
            </a:r>
            <a:endParaRPr lang="en-US" sz="5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词句切入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读最后一句，先听出“犹”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37944"/>
            <a:ext cx="10689336" cy="1197864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37944"/>
            <a:ext cx="109728" cy="1197864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002536"/>
            <a:ext cx="10058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“吁！倡犹能有是哉！可慨也。”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948672" y="1618488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4592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483864"/>
            <a:ext cx="5248656" cy="1655064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83864"/>
            <a:ext cx="82296" cy="1655064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71246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“犹”字表达赞叹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242816"/>
            <a:ext cx="47457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出身被社会轻视的人，也具有作者赞赏的品格。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483864"/>
            <a:ext cx="5248656" cy="1655064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483864"/>
            <a:ext cx="82296" cy="1655064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71246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“犹”字留下问题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242816"/>
            <a:ext cx="47457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为什么作者预先认为“倡”不容易有高尚品格？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77256"/>
            <a:ext cx="10680192" cy="740664"/>
          </a:xfrm>
          <a:prstGeom prst="rect">
            <a:avLst/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955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6分钟  ·  为两个解读各找一处文本或语境依据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7044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写下：写一句同时承认赞美与质疑的判断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阅读视角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四种判断，不要混在一起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911096"/>
            <a:ext cx="2523744" cy="313639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11096"/>
            <a:ext cx="82296" cy="313639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139696"/>
            <a:ext cx="2075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事实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70048"/>
            <a:ext cx="202082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李歌说了哪些话，做了哪些事？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74720" y="1911096"/>
            <a:ext cx="2523744" cy="313639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911096"/>
            <a:ext cx="82296" cy="3136392"/>
          </a:xfrm>
          <a:prstGeom prst="rect">
            <a:avLst/>
          </a:prstGeom>
          <a:solidFill>
            <a:srgbClr val="D66F57"/>
          </a:solidFill>
          <a:ln w="12700">
            <a:solidFill>
              <a:srgbClr val="D66F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139696"/>
            <a:ext cx="2075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6F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动机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21608" y="2670048"/>
            <a:ext cx="202082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她为什么这样做？哪些需要推断？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99632" y="1911096"/>
            <a:ext cx="2523744" cy="313639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911096"/>
            <a:ext cx="82296" cy="3136392"/>
          </a:xfrm>
          <a:prstGeom prst="rect">
            <a:avLst/>
          </a:prstGeom>
          <a:solidFill>
            <a:srgbClr val="65538A"/>
          </a:solidFill>
          <a:ln w="12700">
            <a:solidFill>
              <a:srgbClr val="6553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139696"/>
            <a:ext cx="2075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553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46520" y="2670048"/>
            <a:ext cx="202082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宋濂为何选“犹能有是哉”？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924544" y="1911096"/>
            <a:ext cx="2523744" cy="313639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24544" y="1911096"/>
            <a:ext cx="82296" cy="3136392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2139696"/>
            <a:ext cx="2075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71432" y="2670048"/>
            <a:ext cx="202082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现代读者可能如何评价她的选择？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58952" y="5614416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66928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同一事件可以被不同角度评价，但必须区分判断来源</a:t>
            </a:r>
            <a:endParaRPr lang="en-US" sz="1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观点竞争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她的价值，只能用“贞洁”解释吗？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73936"/>
            <a:ext cx="10689336" cy="1929384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73936"/>
            <a:ext cx="109728" cy="1929384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38528"/>
            <a:ext cx="100584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“人皆有配偶，我可独为倡耶？”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“或有狎之者，辄拂袖径出。”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“吾宁死，决不从汝作贼也！”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948672" y="1554480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581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950208"/>
            <a:ext cx="5248656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950208"/>
            <a:ext cx="82296" cy="139903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178808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观点A｜守节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709160"/>
            <a:ext cx="4745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文本赞扬她坚贞守节，在威胁面前不屈服。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950208"/>
            <a:ext cx="5248656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950208"/>
            <a:ext cx="82296" cy="139903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178808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观点B｜自主与尊严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709160"/>
            <a:ext cx="4745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文本也显示她反对被当作商品、被强迫和被侵犯。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477256"/>
            <a:ext cx="10680192" cy="740664"/>
          </a:xfrm>
          <a:prstGeom prst="rect">
            <a:avLst/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955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7分钟  ·  两边各找两条证据，再指出一条无法解释的细节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87044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写下：写出更能容纳全篇的一句话判断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时代与今天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作者的标准，和你的标准一样吗？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764792"/>
            <a:ext cx="1900123" cy="5303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24228"/>
            <a:ext cx="16971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比较维度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684678" y="1764792"/>
            <a:ext cx="4360774" cy="5303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5262" y="1824228"/>
            <a:ext cx="41577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文本时代可见的倾向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071055" y="1764792"/>
            <a:ext cx="4360774" cy="5303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1639" y="1824228"/>
            <a:ext cx="41577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今天可以追问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952" y="2295144"/>
            <a:ext cx="1900123" cy="742036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359152"/>
            <a:ext cx="1633118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身份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2684678" y="229514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0982" y="235915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“倡犹能有是哉”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071055" y="229514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7359" y="235915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身份为何决定预期？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58952" y="3060954"/>
            <a:ext cx="1900123" cy="742036"/>
          </a:xfrm>
          <a:prstGeom prst="roundRect">
            <a:avLst>
              <a:gd name="adj" fmla="val 3081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124962"/>
            <a:ext cx="1633118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婚姻与身体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2684678" y="306095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0982" y="312496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“处子”“妻之”是叙事重点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071055" y="306095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7359" y="312496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谁有选择权？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58952" y="3826764"/>
            <a:ext cx="1900123" cy="742036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3890772"/>
            <a:ext cx="1633118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官员权力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2684678" y="382676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0982" y="389077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“风化首”反衬县令失德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071055" y="382676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17359" y="389077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权力应受什么限制？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758952" y="4592574"/>
            <a:ext cx="1900123" cy="742036"/>
          </a:xfrm>
          <a:prstGeom prst="roundRect">
            <a:avLst>
              <a:gd name="adj" fmla="val 3081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4656582"/>
            <a:ext cx="1633118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人物牺牲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2684678" y="459257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0982" y="465658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“可慨也”歌颂气节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071055" y="4592574"/>
            <a:ext cx="4360774" cy="742036"/>
          </a:xfrm>
          <a:prstGeom prst="roundRect">
            <a:avLst>
              <a:gd name="adj" fmla="val 3081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7359" y="4656582"/>
            <a:ext cx="4093769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能否赞赏抵抗而不理想化死亡？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758952" y="5660136"/>
            <a:ext cx="10680192" cy="740664"/>
          </a:xfrm>
          <a:prstGeom prst="rect">
            <a:avLst/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57424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6分钟  ·  任取两行比较“理解作者”与“评价作者”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960120" y="6053328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写下：每点引用一条原文支持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删改实验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删除“倡犹”会失去什么？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883664"/>
            <a:ext cx="5248656" cy="2569464"/>
          </a:xfrm>
          <a:prstGeom prst="roundRect">
            <a:avLst>
              <a:gd name="adj" fmla="val 427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83664"/>
            <a:ext cx="82296" cy="2569464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11226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原文结尾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696" y="2642616"/>
            <a:ext cx="474573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“吁！倡犹能有是哉！可慨也。”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99632" y="1883664"/>
            <a:ext cx="5248656" cy="2569464"/>
          </a:xfrm>
          <a:prstGeom prst="roundRect">
            <a:avLst>
              <a:gd name="adj" fmla="val 427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883664"/>
            <a:ext cx="82296" cy="2569464"/>
          </a:xfrm>
          <a:prstGeom prst="rect">
            <a:avLst/>
          </a:prstGeom>
          <a:solidFill>
            <a:srgbClr val="1E5D57"/>
          </a:solidFill>
          <a:ln w="12700">
            <a:solidFill>
              <a:srgbClr val="1E5D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1226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D5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教师改写（非原文）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2642616"/>
            <a:ext cx="474573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“吁！李歌有是品格，可慨也。”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2688" y="4544568"/>
            <a:ext cx="530352" cy="53035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6314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09928" y="451713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改写后的赞美变得更普遍了吗？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2688" y="5257800"/>
            <a:ext cx="530352" cy="53035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3446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09928" y="52303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原文多出的“倡犹”体现怎样的社会预期？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反驳训练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如何提出真正有力度的反对意见？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65376"/>
            <a:ext cx="2969971" cy="5303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24812"/>
            <a:ext cx="27669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观点与回应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54526" y="1865376"/>
            <a:ext cx="7677302" cy="5303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5110" y="1924812"/>
            <a:ext cx="74743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哪一句更有力度？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95728"/>
            <a:ext cx="2969971" cy="94853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59736"/>
            <a:ext cx="27029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单纯否定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54526" y="2395728"/>
            <a:ext cx="7677302" cy="94853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0830" y="2459736"/>
            <a:ext cx="7410298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“作者太落后，这篇文章没有价值。”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8952" y="3368040"/>
            <a:ext cx="2969971" cy="948538"/>
          </a:xfrm>
          <a:prstGeom prst="roundRect">
            <a:avLst>
              <a:gd name="adj" fmla="val 2410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432048"/>
            <a:ext cx="27029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有条件的反驳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54526" y="3368040"/>
            <a:ext cx="7677302" cy="948538"/>
          </a:xfrm>
          <a:prstGeom prst="roundRect">
            <a:avLst>
              <a:gd name="adj" fmla="val 2410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0830" y="3432048"/>
            <a:ext cx="7410298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“作者肯定她的坚守值得理解，但‘倡犹’也透露出把身份作为道德预设的局限。”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8952" y="4340352"/>
            <a:ext cx="2969971" cy="94853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404360"/>
            <a:ext cx="27029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进一步回应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754526" y="4340352"/>
            <a:ext cx="7677302" cy="94853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0830" y="4404360"/>
            <a:ext cx="7410298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“这种局限不妨碍我们从其言行读出维护尊严的主动性。”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" y="5696712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751576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反驳应先准确呈现对方立场，再指出其证据或范围的限制</a:t>
            </a:r>
            <a:endParaRPr lang="en-US" sz="1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课外文言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迁移读一句：价值标准如何被表达？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0512"/>
            <a:ext cx="10689336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10512"/>
            <a:ext cx="109728" cy="1517904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975104"/>
            <a:ext cx="10058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“富贵不能淫，贫贱不能移，</a:t>
            </a:r>
            <a:endParaRPr lang="en-US" sz="3100" dirty="0"/>
          </a:p>
          <a:p>
            <a:pPr algn="l" indent="0" marL="0">
              <a:buNone/>
            </a:pPr>
            <a:r>
              <a:rPr lang="en-US" sz="3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威武不能屈。”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9948672" y="1591056"/>
            <a:ext cx="1426464" cy="411480"/>
          </a:xfrm>
          <a:prstGeom prst="roundRect">
            <a:avLst>
              <a:gd name="adj" fmla="val 24444"/>
            </a:avLst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9256" y="161848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课外原句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758184"/>
            <a:ext cx="5248656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758184"/>
            <a:ext cx="82296" cy="1517904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98678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先译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6696" y="4517136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三个“不能”指哪三种压力下不改变原则？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3758184"/>
            <a:ext cx="5248656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758184"/>
            <a:ext cx="82296" cy="1517904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986784"/>
            <a:ext cx="4800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再比较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517136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李歌面对了哪些压力？有无不同之处？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58952" y="5696712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751576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迁移来源：《孟子·滕文公下》；不等同于原课文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整合写作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写作任务：你会怎样重新评价李歌？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6384" y="1792224"/>
            <a:ext cx="10616184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03120"/>
            <a:ext cx="530352" cy="53035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899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09928" y="207568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先概括宋濂赞扬的品格，引用一句原文。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2688" y="2880360"/>
            <a:ext cx="530352" cy="53035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672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09928" y="285292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提出你的现代阅读角度（可以支持、补充或质疑）。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2688" y="3657600"/>
            <a:ext cx="530352" cy="53035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444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09928" y="3630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找两处证据解释你的看法，不空贴标签。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2688" y="4434840"/>
            <a:ext cx="530352" cy="53035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17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09928" y="440740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承认一种可能反对意见，并作出回应。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58952" y="5513832"/>
            <a:ext cx="10680192" cy="740664"/>
          </a:xfrm>
          <a:prstGeom prst="rect">
            <a:avLst/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96128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10分钟  ·  写180—240字评价段（课堂建议字数）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0120" y="5907024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写下：必须有“作者观点／我的观点／文本证据／回应”</a:t>
            </a:r>
            <a:endParaRPr lang="en-US" sz="1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自我检查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交稿前，回答这四个问题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1819656"/>
            <a:ext cx="6714439" cy="5303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79092"/>
            <a:ext cx="65114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检测问题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994" y="1819656"/>
            <a:ext cx="3932834" cy="53035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99578" y="1879092"/>
            <a:ext cx="37298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请在你的段落中标出位置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" y="2350008"/>
            <a:ext cx="6714439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14016"/>
            <a:ext cx="644743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我解释作者为什么赞美她了吗？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498994" y="2350008"/>
            <a:ext cx="3932834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5298" y="2414016"/>
            <a:ext cx="366583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作者结尾与一处事件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58952" y="3035808"/>
            <a:ext cx="6714439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099816"/>
            <a:ext cx="644743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我提出独立而具体的判断了吗？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498994" y="3035808"/>
            <a:ext cx="3932834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5298" y="3099816"/>
            <a:ext cx="366583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自己立场句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58952" y="3721608"/>
            <a:ext cx="6714439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785616"/>
            <a:ext cx="644743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每个判断有原文支撑吗？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498994" y="3721608"/>
            <a:ext cx="3932834" cy="662026"/>
          </a:xfrm>
          <a:prstGeom prst="roundRect">
            <a:avLst>
              <a:gd name="adj" fmla="val 3453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5298" y="3785616"/>
            <a:ext cx="366583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至少两处准确原句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58952" y="4407408"/>
            <a:ext cx="6714439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471416"/>
            <a:ext cx="644743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我公平地处理了不同观点吗？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498994" y="4407408"/>
            <a:ext cx="3932834" cy="662026"/>
          </a:xfrm>
          <a:prstGeom prst="roundRect">
            <a:avLst>
              <a:gd name="adj" fmla="val 3453"/>
            </a:avLst>
          </a:prstGeom>
          <a:solidFill>
            <a:srgbClr val="F2F5F4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5298" y="4471416"/>
            <a:ext cx="366583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让步与反驳句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758952" y="5468112"/>
            <a:ext cx="10680192" cy="740664"/>
          </a:xfrm>
          <a:prstGeom prst="rect">
            <a:avLst/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550408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  ·  自查后同桌指出一句最需修改的话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60120" y="5861304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写下：修改一句让判断更准确、更有条件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329184"/>
            <a:ext cx="118872" cy="118872"/>
          </a:xfrm>
          <a:prstGeom prst="rect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" y="2468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5 课   ·   谁在评价  /  出口检测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" y="795528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最后一张纸：你现在怎么读文言文？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71632" cy="0"/>
          </a:xfrm>
          <a:prstGeom prst="line">
            <a:avLst/>
          </a:prstGeom>
          <a:noFill/>
          <a:ln w="19050">
            <a:solidFill>
              <a:srgbClr val="E7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645566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3556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宋濂《记李歌》 · 0509 中文第一语言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36808" y="64282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13E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" y="1773936"/>
            <a:ext cx="10552176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3335">
            <a:solidFill>
              <a:srgbClr val="E7E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84832"/>
            <a:ext cx="484632" cy="48463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214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3936" y="20665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解释“倡犹能有是哉”中“犹”的言外之意。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15568" y="2999232"/>
            <a:ext cx="484632" cy="48463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0358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73936" y="29809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说出一条“事实”和一条“现代评价”，并区分。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15568" y="3913632"/>
            <a:ext cx="484632" cy="484632"/>
          </a:xfrm>
          <a:prstGeom prst="ellipse">
            <a:avLst/>
          </a:prstGeom>
          <a:solidFill>
            <a:srgbClr val="913E50"/>
          </a:solidFill>
          <a:ln w="12700">
            <a:solidFill>
              <a:srgbClr val="913E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5020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73936" y="3895344"/>
            <a:ext cx="918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92634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写下一条你未来读文言文会继续使用的方法。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8952" y="5660136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BE9ED"/>
          </a:solidFill>
          <a:ln w="12700">
            <a:solidFill>
              <a:srgbClr val="FBE9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71500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2A3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离开前：独立写完，再检查原句依据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记李歌｜五课时重制版｜0509 Chinese First Language</dc:title>
  <dc:subject>宋濂《记李歌》五课时：文言精读、人物与冲突、文学技巧、批判性阅读</dc:subject>
  <dc:creator>0509 中文一语备课</dc:creator>
  <cp:lastModifiedBy>0509 中文一语备课</cp:lastModifiedBy>
  <cp:revision>1</cp:revision>
  <dcterms:created xsi:type="dcterms:W3CDTF">2026-10-26T16:50:57Z</dcterms:created>
  <dcterms:modified xsi:type="dcterms:W3CDTF">2026-10-26T16:50:57Z</dcterms:modified>
</cp:coreProperties>
</file>