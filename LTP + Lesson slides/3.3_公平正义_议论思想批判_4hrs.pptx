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90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建议课时：4 × 55–60 分钟。
本单元不要求学生对死刑议题作价值表态；重点是理解作者立场、分析论证方法，并迁移到自己的议论性写作。
教材范围：第120–123页。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先向学生说明：本单元有争议议题，但学习重点是论证质量，不是“站队”。
每个关键活动坚持：独立思考 → 同伴讨论 → 回到文本证据。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产出：完成三文本“观点—理由—证据—说服方式”比较表。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不要要求学生公开个人立场；让他们重点说“我需要什么证据”。
过渡语：接下来三位作者都在回答“怎样才算公平”，但他们选择的论证资源不同。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建议：个人阅读8分钟；三人小组交换6分钟。
提醒学生：题目不等于作者立场，尤其是选段（2）；要从全文判断。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引导学生回答：“可以”承认问题可能有多种理由；“但不应该”限定某一种理由不能成为正当基础。
重点术语：让步、限定、概念辨析。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不要替学生判断作者观点“对不对”；让他们识别“事实/数据”和“价值判断”的边界。
可追问：同一数据能否支持不同结论？为什么？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可结合教材第122页理解题3、4。
提醒：分析排比时不仅指出“用了排比”，还要说明它如何扩大受众、强化价值立场。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建议让不同小组先负责不同“比较维度”，避免机械逐篇复述。
答案不唯一，但必须能指向文本细节。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可以每组完成一题，再轮换检查另一组是否“有证据＋有解释”。
常见问题：只抄原文，没有用自己的话归纳；或只点出手法，没有解释效果。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收集后快速分类：能概括“论点—论据—说服方式” / 只能复述主题。
下一课开头用两个匿名样例做诊断。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产出：一段包含让步、反驳、证据解释的议论段。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学生写完后先不说方法名称，让同伴“猜方法”。
强调：技巧只有服务于观点时才有价值。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可让学生用不同符号标注，不必真的使用颜色。
重点是“动作—作用”，不是术语堆砌。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校园规则示例只作为写作训练，不需要全班辩论。
可选题：“迟到一次就扣留是否公平？”“小组作业同分是否公平？”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强调“事实≠自动得出结论”。
让学生在文本中给不同句子标 F（事实）/ I（解释）/ V（价值判断）。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可让学生用“所以这说明……”补写任意一个个人例子，训练从叙述回到论证。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教师不要直接给满表答案；让学生至少自己找两例。
检查标准：例子准确、归类合理、能解释“为什么有力”。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写完后同伴只检查两件事：有没有真正承认对方合理之处？证据后有没有解释？
优秀段落可匿名投影，下节课迁移到公平贸易。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快速查看学生最常选什么方法；如果多数只选“举证”，下一课强化“解释证据”。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产出：博客写作计划＋两条经过筛选的资料证据。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没有唯一答案，重点是讨论“哪种结构更能显示思考深度”。
过渡：教材的博客任务要求“有说服力”，这不妨碍我们呈现反方并回应。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这一页先不讨论观点内容，只拆任务要求。
提醒：若使用网页资料，必须记录“这条信息来自哪里、它支持哪一个观点”。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这是一张概念图，不提供事实结论。
让学生选2–3个“公平标准”作为自己文章的分析框架。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资料筛选可安排15分钟。
若课堂无法上网，教师提前打印教材脚注网页或其他资料；本页不依赖任何特定外部事实。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让学生把两条已筛选资料各走一遍四步。
重点反馈“解释”是否只是重复证据。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每轮2分钟，交换角色。
优秀回应应体现“真的听到了对方”，而不是机械说“但是”。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这是本课主要产出；教师可收计划，不必当堂写全文。
如果压缩为3课，可在此页后直接进入写作。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建议：60分钟；若需要完整课堂写作可延长至75分钟或把修订作为作业。
产出：完整草稿＋至少一次有目的的修订。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B并非“唯一正确”，但更有问题意识。
让学生把自己的计划首句改到“有争议＋有关键词”的程度。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建议给学生写作计时30–35分钟。
不在投影片上规定字数，按学校当前训练目标或教师要求执行。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可用投影计时器配合。
若学生写作速度慢，可把最后7分钟修订移到课后。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交换文章后先默读3分钟，再填写。
强调：反馈不是评价立场，而是评价表达是否清楚、论证是否完整。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让学生用不同符号圈出三类修订，便于教师快速查看“是否真的修订”。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建议把这6项保存在学生作品档案 / LMS。
便于后续Y11复习时回看“观点—证据—解释—反驳”的成长轨迹。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课件中的所有表格、卡片和结构均为可编辑对象。
中文文字设置为 STKaiti；若电脑未安装该字体，PowerPoint可能使用替代字体显示。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234440"/>
            <a:ext cx="0" cy="3291840"/>
          </a:xfrm>
          <a:prstGeom prst="line">
            <a:avLst/>
          </a:prstGeom>
          <a:noFill/>
          <a:ln w="63500">
            <a:solidFill>
              <a:srgbClr val="254B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2057400"/>
            <a:ext cx="3749040" cy="0"/>
          </a:xfrm>
          <a:prstGeom prst="line">
            <a:avLst/>
          </a:prstGeom>
          <a:noFill/>
          <a:ln w="63500">
            <a:solidFill>
              <a:srgbClr val="254B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2057400"/>
            <a:ext cx="685800" cy="1051560"/>
          </a:xfrm>
          <a:prstGeom prst="line">
            <a:avLst/>
          </a:prstGeom>
          <a:noFill/>
          <a:ln w="25400">
            <a:solidFill>
              <a:srgbClr val="254B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057400"/>
            <a:ext cx="685800" cy="1051560"/>
          </a:xfrm>
          <a:prstGeom prst="line">
            <a:avLst/>
          </a:prstGeom>
          <a:noFill/>
          <a:ln w="25400">
            <a:solidFill>
              <a:srgbClr val="254B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2880360"/>
            <a:ext cx="914400" cy="502920"/>
          </a:xfrm>
          <a:prstGeom prst="arc">
            <a:avLst/>
          </a:prstGeom>
          <a:solidFill>
            <a:srgbClr val="F4F6F9">
              <a:alpha val="0"/>
            </a:srgbClr>
          </a:solidFill>
          <a:ln w="38100">
            <a:solidFill>
              <a:srgbClr val="3F6F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2880360"/>
            <a:ext cx="914400" cy="502920"/>
          </a:xfrm>
          <a:prstGeom prst="arc">
            <a:avLst/>
          </a:prstGeom>
          <a:solidFill>
            <a:srgbClr val="F4F6F9">
              <a:alpha val="0"/>
            </a:srgbClr>
          </a:solidFill>
          <a:ln w="38100">
            <a:solidFill>
              <a:srgbClr val="B46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7772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 3 · 议论 / 思想批判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14173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公平正义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从三种论证方式，到一篇有说服力的博客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49808" y="3401568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01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4160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核心技能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980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概括观点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9572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解释证据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分析说服方式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" y="51206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120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让步与反驳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95728" y="51206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95728" y="5120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受众与文体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26" name="Picture 2" descr="公平称图片素材_免费公平称PNG设计图片大全_图精灵">
            <a:extLst>
              <a:ext uri="{FF2B5EF4-FFF2-40B4-BE49-F238E27FC236}">
                <a16:creationId xmlns:a16="http://schemas.microsoft.com/office/drawing/2014/main" id="{8F15720B-BC6F-1BC6-753A-6B9946438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91" y="796240"/>
            <a:ext cx="4827319" cy="482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本单元学习路线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三个文本不是三个“答案”，而是三种建立说服力的方法。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254B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74520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794760" y="171907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作者到底主张什么？理由和证据是什么？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76148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61488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7452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概念、数据、引证、排比如何让观点更有力？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387705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77056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74520" y="3950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迁移写作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794760" y="3950208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把“公平”的复杂性迁移到公平贸易博客。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99262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992624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74520" y="50657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写作修订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794760" y="506577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明确受众、立场、反方观点，并完成修订。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77240" y="62179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217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课堂讨论原则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619048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理解作者 ≠ 必须赞同作者。所有判断都要回到文本、事实或可验证的例子。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读懂立场与证据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同样谈“公平正义”，三位作者为什么会走向不同的判断？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三文本观点—理由—证据比较表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Starter｜先把“公平”拆开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4分钟独立判断 → 4分钟同伴比较；不需要达成一致。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81965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做错事就受到相同程度的惩罚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367588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3675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69417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保护每个人的基本尊严，即使对方犯了错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462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4536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181965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优先回应受害者与其家属的感受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6948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74536" y="367588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3675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369417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在结果、权利、责任之间寻找可说明的平衡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4462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58064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76856" y="58064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32888" y="58064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51376" y="58064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407408" y="580644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三文本阅读任务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请打开教材第120–122页。先各自读，再交换发现。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p.120–122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吴俊德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“应报”是否等于正义？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62272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罗翔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90872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死刑是否应被废除？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90872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84464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13064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马拉拉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13064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遭受暴力后如何回应？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13064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小组交换后，每人必须能用一句话准确说出三个文本的核心立场。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658368" y="589788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76856" y="58978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32888" y="589788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51376" y="58978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407408" y="589788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细读①｜把“惩罚”与“报复”分开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选段（1）最值得学的不是立场，而是“先界定概念，再限定结论”。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关键句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“可以用任何理由去支持维持死刑，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但不应该是杀人偿命的应报理论……”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思考：这句话承认了什么？又划出了什么底线？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承认复杂性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86968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“可以……”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89864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8986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8712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限定范围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869680" y="2871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“但不应该……”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410565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1056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提出原则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69680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人的尊严 / 正义边界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51663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5321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可迁移句式：我承认________，但这并不意味着________。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细读②｜数据只是起点，解释才是论证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选段（2）先挑战“多数国家废除死刑＝应该废除”的简单推断，再转向受害者、正义与尊严。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p.120–121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作者用了哪些资源？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比例 / 人口数据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反问：谁有资格代替受害者宽恕？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55701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引用 C.S. 路易斯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比喻与强烈措辞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4690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“从这个意义上讲……”重新定义尊严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 → 推论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作者选择了什么信息？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0088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145536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145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30815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这些信息为什么重要？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54880" y="3922776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4078224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0782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价值判断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78040" y="40142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作者认为“正义”应优先保护什么？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54880" y="4855464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501091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5010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946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78040" y="4946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由此支持怎样的立场？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54880" y="58704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挑战：找出一处“事实”和一处“价值判断”，说明两者不能混为一谈。</a:t>
            </a:r>
            <a:endParaRPr lang="en-US" sz="2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细读③｜从“我”到“每一个孩子”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选段（3）用个人经历建立可信度，再用排比与普遍价值扩大议题。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p.121–122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87452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“但是我的生活没有任何改变，除了：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已逝去的懦弱、恐惧与无助。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坚定、力量与勇气诞生了。”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87552" y="38862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这不是“什么都没改变”，而是：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外在目标不变，内在状态发生根本改变。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39712" y="1673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个人经历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66760" y="16733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我遭遇了什么？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7919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791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9712" y="2660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道德选择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26609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我如何回应仇恨？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6674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6667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3648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价值来源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366760" y="364845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 / 宗教 / 思想传统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2336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465429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654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9712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公共呼吁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66760" y="46360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所有孩子都应享有教育权利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72200" y="56235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5733288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可迁移：个人例子只有在“解释它说明了什么”之后，才成为论据。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三文本比较｜不是复述三篇，而是横向找规律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每组负责一行；完成后全班共同补全。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44348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比较维度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选段（1）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选段（2）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选段（3）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关键理由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最重要证据 / 例子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主要说服方式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可迁移到我的写作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60807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76856" y="6080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32888" y="60807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5" name="Text 7"/>
          <p:cNvSpPr/>
          <p:nvPr/>
        </p:nvSpPr>
        <p:spPr>
          <a:xfrm>
            <a:off x="253288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51376" y="6080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407408" y="608076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40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教材活动｜理解题变成“证据型回答”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请打开教材第122页。每题都必须带一个文本依据。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5819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根据选段（1）和（2），归纳作者反对或支持死刑的理由。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15819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先分别概括，再比较：两人对“正义 / 尊严”的理解有什么差异？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67919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79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6609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两位作者用了哪些写作手法使读者认同自己的观点？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6609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不能只写“反问 / 引用”；必须解释作用。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58184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39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“我的生活没有任何改变，除了……”是什么意思？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37398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拆成“外在目标”和“内在变化”。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4837176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37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818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马拉拉如何争取全球人民的认同和支持？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48188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找“个人经历 → 普遍价值”的证据链。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5852160"/>
            <a:ext cx="10378440" cy="502920"/>
          </a:xfrm>
          <a:prstGeom prst="roundRect">
            <a:avLst>
              <a:gd name="adj" fmla="val 14545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952744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回答模板：作者认为 ______。他通过 ______（文本细节）来说明 ______，因此 ______。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Ticket｜一句话证明你真的读懂了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3分钟独立完成；离开前交。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三篇文本最大的共同点不是“都谈公平”，而是：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9784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3F6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7889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它们都先 ____________________，</a:t>
            </a:r>
            <a:endParaRPr lang="en-US" sz="2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再通过 ____________________ 来让读者接受 ____________________。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再写一个你今天学到、下次写议论文可以直接使用的句式。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拆解论证与语言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观点怎样从“我觉得”变成“读者愿意跟着想”？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一段有让步与反驳的议论段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Starter｜把一句“空观点”升级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5分钟：任选一种方式升级，然后找同伴判断你用了哪一招。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013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原句：我认为公平正义很重要。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99008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0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898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概念辨析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54680" y="2898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所谓“公平”，不只是……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99008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90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898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让步转折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95360" y="2898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我承认……，但……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7024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70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178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反问推进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154680" y="41788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如果……，我们是否还能说……？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27024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270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178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价值升华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95360" y="41788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真正值得保护的，不只是……，更是……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" y="58521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76856" y="58521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532888" y="58521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3288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51376" y="58521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07408" y="5852160"/>
            <a:ext cx="1572768" cy="347472"/>
          </a:xfrm>
          <a:prstGeom prst="roundRect">
            <a:avLst/>
          </a:prstGeom>
          <a:solidFill>
            <a:srgbClr val="705C8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说服力工具箱｜六种常见“动作”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不是背术语，而是理解每种动作让读者发生什么变化。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把关键词说清楚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避免偷换概念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承认对方部分合理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显得理性、减少对抗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指出对方推理或证据的限制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推动读者重新判断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提供事实 / 例子 / 引用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让观点可检验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48056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说明证据“为什么重要”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0916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把材料变成论据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27532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升华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从个例回到更大原则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0392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扩大议题意义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任务：回到三篇课文，每篇至少找出两种“动作”，并用箭头标出它们如何推进论证。</a:t>
            </a:r>
            <a:endParaRPr lang="en-US" sz="2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从“简单回答”到“底线原则”：先让步，再限定。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不能“一报还一报”，还公平吗？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93592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犯罪应受惩罚；处罚程度可讨论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62472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9944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1112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11112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但“杀人偿命”的报复逻辑不能成为正义基础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78824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226296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27464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27464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27464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原则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27464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即使犯罪者犯下恶行，其基本人格仍应被保障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05840" y="48920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5120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模仿练习：用“承认 → 限定 → 原则”写三句话，讨论一个校园规则是否公平。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作者如何从“数据”走向“正义 / 尊严”的价值判断？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82496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824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数据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全球国家数量 / 人口比例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24128" y="2084832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7860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786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4688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质疑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不能只凭“多数国家”下结论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24128" y="2980944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7472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74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649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受害者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560320" y="336499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谁有资格代替受害者宽恕？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24128" y="3877056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7083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708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2611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560320" y="4261104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借 C.S. 路易斯强化“仁慈与正义”关系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024128" y="4773168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266944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669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560320" y="5157216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严重犯罪的惩罚也被作者解释为对尊严的维护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915400" y="18288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批判性问题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53728" y="27432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“事实”？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“解释”？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“价值判断”？</a:t>
            </a:r>
            <a:endParaRPr lang="en-US" sz="2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演讲为什么能从个人经历走向全球呼吁？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遭遇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751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枪击与恐吓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9631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923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转变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99923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恐惧 → 坚定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2803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6636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095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3095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不以仇恨回应仇恨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15975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49808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6267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来源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6267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 / 宗教 / 思想传统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9147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82980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439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扩大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99439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为所有孩子的教育权发声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22960" y="516636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写作迁移：个人经历 / 例子不能停在“发生了什么”，必须解释它如何支持更大的观点。</a:t>
            </a:r>
            <a:endParaRPr lang="en-US" sz="2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教材活动｜分析 / 评论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第123页表格：从三篇中挑例子，不要把表格填成“术语清单”。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54480"/>
          <a:ext cx="10789920" cy="33375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文本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简洁 / 准确 / 概括性强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措辞有力 / 立场鲜明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选段（1）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一个简单的回答是……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必须…… / 可以……但不应该……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选段（2）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选段（3）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5230368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3858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每个例子后必须补一句：这个表达使读者更容易 ______，因为 ______。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段落实验室｜让步 + 反驳 + 证据解释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12分钟写作。主题可以选校园规则、手机使用、作业政策等。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18488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1848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对方观点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71800" y="1508760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有人认为 ______，因为 ______。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963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3865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让步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3865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这个观点有一定道理，尤其是 ______。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3374136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7413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转折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1800" y="3264408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但是，如果只看到 ______，就会忽略 ______。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42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④ 证据 / 例子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971800" y="4142232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例如 / 根据 ______，可以看到 ______。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" y="5129784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978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2005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⑤ 解释与回扣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971800" y="5020056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这说明 ______，因此真正的公平应该 ______。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58368" y="598932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76856" y="59893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32888" y="598932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51376" y="59893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407408" y="5989320"/>
            <a:ext cx="1572768" cy="347472"/>
          </a:xfrm>
          <a:prstGeom prst="roundRect">
            <a:avLst/>
          </a:prstGeom>
          <a:solidFill>
            <a:srgbClr val="705C8F"/>
          </a:solidFill>
          <a:ln w="17780">
            <a:solidFill>
              <a:srgbClr val="705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Ticket｜今天最值得带走的不是术语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选择一种说服动作，写出“作用 + 句式”。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0048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25696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36992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升华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10287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090672"/>
            <a:ext cx="9464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我选择：________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它的作用是：________________________________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我可以这样写：________________________________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下一课：把这些方法迁移到“公平贸易咖啡并不公平”的博客任务。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从阅读迁移到写作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当题目只给一句观点时，怎样把它变成一篇有层次的议论？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博客写作计划＋证据清单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Starter｜“鲜明立场”不等于“只写一边”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把下面四种文章结构放到你认为合适的位置。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40280"/>
            <a:ext cx="987552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只强调自己的立场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0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充分呈现不同角度，再作判断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063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999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只列三个支持理由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28803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3063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999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支持两点 + 反方一点 + 回应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43891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3251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双方各两点 + 最后判断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062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43891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43251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先界定“公平” + 比较不同标准 + 作判断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写作任务｜先拆清楚受众、目的、文体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请打开教材第123页“创作”。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“公平贸易咖啡并不公平”，你同意这个观点吗？</a:t>
            </a:r>
            <a:endParaRPr lang="en-US" sz="2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参考注释中的网页资料，写一篇博客，赞同或反对这个观点。你必须写出一篇具有说服力的论述，说明你为什么同意或者不同意这个观点。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538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38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普通网络读者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538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38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说服读者重新思考“公平”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681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681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博客：可以较有声音感，但逻辑必须清楚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681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681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材料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教材脚注网页 / 教师指定资料：只用可核实信息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第一步｜先定义“公平”到底看什么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同一制度可以在一个维度更公平、在另一个维度仍有问题。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2606040"/>
            <a:ext cx="2057400" cy="1417320"/>
          </a:xfrm>
          <a:prstGeom prst="ellipse">
            <a:avLst/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30368" y="2743200"/>
            <a:ext cx="1755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“公平”</a:t>
            </a:r>
            <a:endParaRPr lang="en-US"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用什么标准判断？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992624" y="7772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9784" y="905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29784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谁付得更多？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9904" y="3337560"/>
            <a:ext cx="0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18577" y="18059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5737" y="19339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收益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55737" y="22448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谁得到更多？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904" y="3337560"/>
            <a:ext cx="3325953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8577" y="38633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5737" y="39913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5737" y="43022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劳动条件如何？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9904" y="3337560"/>
            <a:ext cx="3325953" cy="10012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2624" y="48920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5020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风险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9784" y="5330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价格波动 / 成本谁承担？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9904" y="3337560"/>
            <a:ext cx="0" cy="20299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671" y="38633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3831" y="39913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机会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803831" y="43022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谁能进入认证 / 市场？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89904" y="3337560"/>
            <a:ext cx="0" cy="10012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671" y="18059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3831" y="19339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长期发展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803831" y="22448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是否改善长期能力？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89904" y="3337560"/>
            <a:ext cx="0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第二步｜资料不是“越多越好”，而是要筛选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阅读教材脚注网页 / 教师指定资料后，每条信息先通过四个检查。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763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5623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739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这是什么？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 / 个案 / 观点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85623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7739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可靠吗？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086600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来源是谁？时间？是否可核实？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50215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73075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730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648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支持什么？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00200" y="4123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它支持我的哪一个分论点？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350215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73075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730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648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有限制吗？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086600" y="4123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它不能证明什么？有没有另一种解释？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" y="5486400"/>
            <a:ext cx="10469880" cy="612648"/>
          </a:xfrm>
          <a:prstGeom prst="roundRect">
            <a:avLst>
              <a:gd name="adj" fmla="val 11940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623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目标：只保留 2–3 条你能“解释清楚”的资料，而不是堆很多数字。</a:t>
            </a:r>
            <a:endParaRPr lang="en-US" sz="2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第三步｜把材料变成“论证地图”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每个分论点都必须走完：判断 → 证据 → 解释 → 回扣。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我的判断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公平贸易在 ______ 方面……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56432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85032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资料显示 / 例子说明……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71032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18504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47104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这意味着……因为……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33104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0576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81744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81744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回扣“公平”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09176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所以如果以 ______ 为标准……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检查：如果删掉“解释”这一格，你的证据还会自动证明观点吗？通常不会。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第四步｜反方不是“敌人”，而是帮你测试论证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两人一组：A 负责提出最强反方，B 只能先让步，再回应。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019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A｜最强反方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不要故意提出很弱的观点。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哪个“公平标准”被你忽略了？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你的资料还有什么限制？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是否存在另一种解释？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B｜让步 + 回应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629400" y="2487168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先说：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“你指出的 ______ 确实重要。”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再说：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“但是，如果我们以 ______ 为标准，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更关键的是 ______。”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8368" y="55778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078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76856" y="5577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32888" y="55778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07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51376" y="5577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07408" y="5577840"/>
            <a:ext cx="1572768" cy="347472"/>
          </a:xfrm>
          <a:prstGeom prst="roundRect">
            <a:avLst/>
          </a:prstGeom>
          <a:solidFill>
            <a:srgbClr val="507866"/>
          </a:solidFill>
          <a:ln w="17780">
            <a:solidFill>
              <a:srgbClr val="5078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写作计划｜五段不是公式，而是功能顺序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先决定每段“要完成什么”，再填内容。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4526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段落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这段要完成的功能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我的内容 / 证据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1｜引入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提出争议＋界定“公平”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2｜分论点一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用一个公平标准分析＋证据解释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3｜分论点二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换一个公平标准分析＋证据解释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4｜反方与回应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承认合理之处＋指出限制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5｜结论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明确判断＋回到“什么才算公平”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6247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完成后，用荧光笔（或下划线）标出：哪里体现“让步”？哪里体现“解释证据”？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写作、反馈与修订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一篇“有说服力”的博客，读者真正看到的是什么？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完整博客草稿＋修订稿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Starter｜三个开头，哪个更值得继续读？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先判断，再说出“为什么”。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7099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我认为公平贸易咖啡并不公平，因为很多人都这么说。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03580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358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94436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“公平贸易”听起来像一个答案，但“公平”本身才是问题：它公平给谁看？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2702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270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788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咖啡是很多人每天都会喝的饮料，所以公平贸易很重要。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553212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好开头不需要“华丽”，但应该让读者知道：争议是什么、关键词是什么、你准备怎么想。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正式写作｜成功标准先放在桌面上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写作过程中只盯住 5 件事。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52704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270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立场清楚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读者知道你最终怎样判断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8680" y="242316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231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313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概念清楚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337560" y="2313432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你说明自己用什么标准理解“公平”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8680" y="331927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192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2095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证据被解释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337560" y="320954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不是堆资料，而是说明“所以呢？”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8680" y="421538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153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105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有反方与回应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37560" y="410565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至少真正处理一个合理反方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68680" y="511149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1114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01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博客语气合适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337560" y="500176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有读者意识，但不是聊天口吻或口号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68680" y="59436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6044184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写作时遇到“我不知道下一句写什么” → 回到：我的判断？证据？解释？回扣？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写作流程｜先完成，再优化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把“写得漂亮”拆成四次不同任务。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开头＋第一分论点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先把观点写清楚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72968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38728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 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第二分论点＋反方回应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67328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完成文章主体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25896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91656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结论＋通读逻辑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0256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检查段落是否回到“公平”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78824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244584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3184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 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73184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语言修订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73184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只改最影响说服力的句子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" y="5303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写作原则：第一遍不追求完美；修订时才集中处理“逻辑、证据、语言”。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同伴反馈｜只给“可执行”的意见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不要写“很好 / 多写一点”。每人只给 2 条最重要建议。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4297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检查点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我找到的证据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我给你的具体建议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立场是否清楚？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哪一句最清楚？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把 ______ 改得更明确：______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证据是否被解释？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哪里只有资料，没有“所以呢”？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在 ______ 后补一句：这说明……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反方是否够强？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反方是否真实合理？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把弱反方换成：______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结构是否回扣“公平”？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哪一段偏离关键词？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在段末补回：因此以 ______ 为标准……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961888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反馈语言：我读到的是 ______；我还不确定的是 ______；你可以通过 ______ 让它更清楚。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修订阶梯｜不要只改错别字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从最影响读者理解的地方开始。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41732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6272" y="160020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6002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16352" y="1527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语言精度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152704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删重复、换更准确动词 / 连接词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42032" y="2542032"/>
            <a:ext cx="708660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272491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46704" y="2651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证据解释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26517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每条资料后补“这说明什么”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072384" y="366674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6976" y="384962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38496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77056" y="37764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段落逻辑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95544" y="3776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每段只完成一个主要功能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02736" y="4791456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67328" y="497433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4974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07408" y="4901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核心立场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25896" y="49011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全文是否始终回答同一个问题？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今天至少完成：① 一处逻辑修订　② 一处证据解释修订　③ 一处语言修订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作品档案｜把这次写作留给下一次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最终交的不只是一篇作文，而是一条“思考与修订证据链”。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阅读证据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三文本比较表 / 标注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写前计划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公平标准＋论证地图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2104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972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保留原稿，不覆盖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两条可执行建议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2628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修订稿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标出三类关键修订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2104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220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下一步目标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8972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一句话：下次我要优先改进……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2960" y="58521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下一单元开始前，先翻回“F 下一步目标”，检查自己有没有真正进步。</a:t>
            </a:r>
            <a:endParaRPr lang="en-US" sz="2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教师使用页｜课时与压缩方案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此页可隐藏，不必向学生展示。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254B73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927080" cy="35661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课次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建议时间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核心产出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若压缩为3课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第1课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三文本比较表＋理解题证据回答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第2课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论证动作分析＋议论段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与第1课后半合并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第3课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公平贸易资料筛选＋写作计划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第4课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博客草稿＋反馈＋修订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保留；修订可作业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394960"/>
            <a:ext cx="10561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555955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常见提醒：① 不把“题目名称”当作者立场；② 不把“手法名称”当分析；③ 不让学生用未经核实的公平贸易事实；④ 争议议题只评论证，不评个人价值立场。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2434</Words>
  <Application>Microsoft Macintosh PowerPoint</Application>
  <PresentationFormat>Widescreen</PresentationFormat>
  <Paragraphs>715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STKaiti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公平正义：三文本议论与博客写作</dc:title>
  <dc:subject>IGCSE 0509 中文第一语言：公平正义——议论与思想批判</dc:subject>
  <dc:creator>OpenAI</dc:creator>
  <cp:lastModifiedBy>Darcy Duan</cp:lastModifiedBy>
  <cp:revision>2</cp:revision>
  <dcterms:created xsi:type="dcterms:W3CDTF">2026-09-24T15:55:43Z</dcterms:created>
  <dcterms:modified xsi:type="dcterms:W3CDTF">2026-09-25T04:18:12Z</dcterms:modified>
</cp:coreProperties>
</file>