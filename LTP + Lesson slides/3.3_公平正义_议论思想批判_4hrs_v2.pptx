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98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800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封面。说明：这四节课不依赖走动或换组。高参与主要通过手指/小白板速投、桌内角色、纸张轮换、卡片排序、同桌反驳和分项互评来实现。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用这页向学生说明课堂节奏。所有活动都能在原座位完成。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课时封面。建议用时1–2分钟。先告诉学生本课不是“听讲课”，而是每6–10分钟会切换一次动作。学习意图：我能准确说出三篇文本的立场，并用文本证据支持判断。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教师读出命题后，学生同时亮出1–4。1=完全同意；2=比较同意；3=比较不同意；4=完全不同意。不要立即评价答案。先请同桌用“我选……因为……”解释，再追问一两位学生：“哪一句文本证据可能让你改变数字？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四人桌：A读文本（1），B读文本（2），C读文本（3），D做记录/质疑。人数不足时，D角色由教师或组员兼任。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A/B/C三位专家各完成一张“60秒教别人”的证据卡：核心立场＋两处证据＋一句“这说明……”。D记录员准备比较问题。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桌内轮流教学。教师只在最后补正明显误读，不要先把三篇文本完整讲一遍。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桌内A3纸顺时针传：观点→证据→解释→质疑。最后全组只允许用文本补充或修正。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三题逐一亮板。每题先全班同时出数字，再请两位数字差距较大的学生各用一条文本证据解释。允许学生第二次改数字。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5分钟。收走3–2–1作为形成性评价。下一课可挑2–3个“好问题”作为导入。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课时封面。建议用时1–2分钟。先告诉学生本课不是“听讲课”，而是每6–10分钟会切换一次动作。学习意图：我能识别作者的论证动作，并解释这些动作如何增强说服力。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建议答案（不要先显示）：A界定/限定；B反驳（也含限定）；C反问推动反驳；D举证；E解释/推论；F升华。接受有理有据的不同配法，例如把C判断为反驳，只要学生能结合上下文解释。重点不是唯一答案，而是说清“论证动作”。文本均来自用户提供的教材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准备三张A3任务纸A/B/C。学生始终坐原位；时间到只传纸。第二组用不同颜色补充或提出质疑。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A站任务卡。让学生动手排列实体纸条比直接看PPT有效。此页可作为站点投影或打印参考。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B站。重点不是判断作者立场“对错”，而是拆分推理层级。允许不同分类，但必须说明依据。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C站。让学生真正“用声音”体验排比/对比，而不是教师解释术语。可让两位学生表演后由其他人指出关键词。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作品传一桌即可，不做全班画廊。原组收到作品后，只处理一张最重要的挑战便签。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参考顺序：C → D → B → E → A。教材原文中B与E处于同一段内部，学生若把B/E视作一个连续的“让步＋底线限定”也可。关键是解释推进关系。文本来自用户提供的教材截图。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4分钟。下一节课开头随机请2人读自己的“偷走动作”，作为迁移到公平贸易的桥。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课时封面。建议用时1–2分钟。先告诉学生本课不是“听讲课”，而是每6–10分钟会切换一次动作。学习意图：我能建立立场、证据与反方回应，并完成博客写作计划。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STKaiti"/>
              </a:rPr>
              <a:t>教师背景资料：Fairtrade International 当前标准说明，Fairtrade 产品在相关标准下使用最低价格安全网，并支付 Fairtrade Premium；生产者组织民主决定 Premium 的用途。课堂只用这页建立基本概念，不把认证机制直接等同于“公平”的最终结论。来源：Fairtrade International, Fairtrade standards；Fairtrade Minimum Price and Premium Table（2025版本）。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学生同时亮A/B/C/D。不要先判断哪一个“对”。追问：如果两种标准冲突，你会优先哪一个？为什么？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6分钟。避免教师直接讲APF。让四人各负责一项，30秒讲给组员听，最后形成自己的任务清单。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每桌审一份资料，时间到只传材料。每组用不同颜色补充“四道门”：类型、可靠性、支持什么、限制什么。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教师一次展示一条资料，学生小白板出价0–5。每组总预算10。出价不是为了“赢”，而是迫使学生判断证据价值。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两轮投票。第二轮可以不改，但必须说明为什么保留原数字。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第一轮A陈述自己的立场，B必须先复述再让步回应。第二轮角色交换。教师巡视时只检查“有没有准确复述对方”，不要只听谁说得更响。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可直接让学生在四张便签上写“开头/理由一/反方与回应/结尾”，桌面排序，不需要站区。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8–10分钟。教师此时收回活动节奏，让学生安静独立完成计划，形成真正个人产出。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课时封面。建议用时1–2分钟。先告诉学生本课不是“听讲课”，而是每6–10分钟会切换一次动作。学习意图：我能完成博客草稿，并通过结构、证据、反方和语言四个维度进行修订。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8分钟。拍卖只是形式，重点在“用标准说明为何开头有效”：争议、关键词、方向、读者意识。不要把B当成唯一答案，允许学生改造A/C。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一对一或向右传一份即可。绿色便签写可借鉴点；黄色便签写追问。学生只选择一条最有价值的反馈采纳。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8分钟独写后，只与同桌交换，避免大范围移动。反馈只回答一个问题：我看得出“这条证据为什么重要”吗？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14分钟。两人互听后每人立即修一处，不要等到课后。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学生在四项中自选两项：立场、证据、反方、语言。可用计时器每项3分钟。教师优先帮助无法判断“证据解释不足”的学生。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8分钟。要求学生保留前后痕迹，不要擦掉原句，以便作品档案能看见修订过程。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5–6分钟。最后用“前后对照”结束，让学生看到修订是写作的一部分，而不是纠错。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教师页。建议真正上课时不要每个活动都做满；优先保留“动起来后必须产出”的闭环。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打印页。可一页打印后裁开，也可直接把四条写在A4纸上。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打印页。裁成4张角色卡。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打印页。每个动作与对应作用剪开，随机发给学生。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STKaiti"/>
              </a:rPr>
              <a:t>打印时可剪成五条。参考顺序：C→D→B→E→A。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打印页。可直接用A4纸一页打印两张。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155680" cy="0"/>
          </a:xfrm>
          <a:prstGeom prst="line">
            <a:avLst/>
          </a:prstGeom>
          <a:noFill/>
          <a:ln w="15240">
            <a:solidFill>
              <a:srgbClr val="D6D2C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7F5F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7F5F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868680"/>
            <a:ext cx="2473938" cy="438912"/>
          </a:xfrm>
          <a:prstGeom prst="roundRect">
            <a:avLst>
              <a:gd name="adj" fmla="val 41667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23766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IGCSE 0509 中文第一语言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4846320" cy="77724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3400" b="1">
                <a:solidFill>
                  <a:srgbClr val="2C4E73"/>
                </a:solidFill>
                <a:latin typeface="STKaiti"/>
              </a:rPr>
              <a:t>公平正义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13232" y="2523744"/>
            <a:ext cx="5669280" cy="50292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400" b="0">
                <a:solidFill>
                  <a:srgbClr val="5F6974"/>
                </a:solidFill>
                <a:latin typeface="STKaiti"/>
              </a:rPr>
              <a:t>议论 / 思想批判｜4课时小教室高参与版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629400" y="1481328"/>
            <a:ext cx="1143000" cy="1143000"/>
          </a:xfrm>
          <a:prstGeom prst="ellipse">
            <a:avLst/>
          </a:prstGeom>
          <a:solidFill>
            <a:srgbClr val="DCEAF4"/>
          </a:solidFill>
          <a:ln w="1905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29400" y="1481328"/>
            <a:ext cx="1143000" cy="11430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 dirty="0" err="1">
                <a:solidFill>
                  <a:srgbClr val="FF0000"/>
                </a:solidFill>
                <a:latin typeface="STKaiti"/>
              </a:rPr>
              <a:t>选择</a:t>
            </a:r>
            <a:endParaRPr lang="en-US" sz="2100" dirty="0">
              <a:solidFill>
                <a:srgbClr val="FF000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366760" y="1481328"/>
            <a:ext cx="1143000" cy="1143000"/>
          </a:xfrm>
          <a:prstGeom prst="ellipse">
            <a:avLst/>
          </a:prstGeom>
          <a:solidFill>
            <a:srgbClr val="DCE9E1"/>
          </a:solidFill>
          <a:ln w="1905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366760" y="1481328"/>
            <a:ext cx="1143000" cy="11430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 dirty="0" err="1">
                <a:solidFill>
                  <a:srgbClr val="FF0000"/>
                </a:solidFill>
                <a:latin typeface="STKaiti"/>
              </a:rPr>
              <a:t>讨论</a:t>
            </a:r>
            <a:endParaRPr lang="en-US" sz="2100" dirty="0">
              <a:solidFill>
                <a:srgbClr val="FF000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104120" y="1481328"/>
            <a:ext cx="1143000" cy="1143000"/>
          </a:xfrm>
          <a:prstGeom prst="ellipse">
            <a:avLst/>
          </a:prstGeom>
          <a:solidFill>
            <a:srgbClr val="F4E5D7"/>
          </a:solidFill>
          <a:ln w="1905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104120" y="1481328"/>
            <a:ext cx="1143000" cy="11430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 dirty="0" err="1">
                <a:solidFill>
                  <a:srgbClr val="FF0000"/>
                </a:solidFill>
                <a:latin typeface="STKaiti"/>
              </a:rPr>
              <a:t>回文</a:t>
            </a:r>
            <a:endParaRPr lang="en-US" sz="2100" dirty="0">
              <a:solidFill>
                <a:srgbClr val="FF000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0" y="2048256"/>
            <a:ext cx="512064" cy="0"/>
          </a:xfrm>
          <a:prstGeom prst="line">
            <a:avLst/>
          </a:prstGeom>
          <a:noFill/>
          <a:ln w="25400">
            <a:solidFill>
              <a:srgbClr val="D6D2C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509760" y="2048256"/>
            <a:ext cx="512064" cy="0"/>
          </a:xfrm>
          <a:prstGeom prst="line">
            <a:avLst/>
          </a:prstGeom>
          <a:noFill/>
          <a:ln w="25400">
            <a:solidFill>
              <a:srgbClr val="D6D2C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629400" y="3218687"/>
            <a:ext cx="4626864" cy="2011677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903720" y="3429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课堂原则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903720" y="3749040"/>
            <a:ext cx="3886200" cy="603504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>
            <a:normAutofit/>
          </a:bodyPr>
          <a:lstStyle/>
          <a:p>
            <a:pPr marL="0" indent="0" algn="ctr">
              <a:buNone/>
            </a:pPr>
            <a:r>
              <a:rPr sz="2400" b="0">
                <a:solidFill>
                  <a:srgbClr val="2C343F"/>
                </a:solidFill>
                <a:latin typeface="STKaiti"/>
              </a:rPr>
              <a:t>每一个观点都要经过：</a:t>
            </a:r>
            <a:endParaRPr lang="en-US" sz="2000" dirty="0"/>
          </a:p>
          <a:p>
            <a:pPr algn="ctr"/>
            <a:r>
              <a:rPr sz="2400" b="0">
                <a:solidFill>
                  <a:srgbClr val="2C343F"/>
                </a:solidFill>
                <a:latin typeface="STKaiti"/>
              </a:rPr>
              <a:t>先判断 → 说理由 → 找证据 → 再修改</a:t>
            </a:r>
          </a:p>
        </p:txBody>
      </p:sp>
      <p:sp>
        <p:nvSpPr>
          <p:cNvPr id="17" name="Shape 15"/>
          <p:cNvSpPr/>
          <p:nvPr/>
        </p:nvSpPr>
        <p:spPr>
          <a:xfrm>
            <a:off x="713232" y="3840480"/>
            <a:ext cx="5257800" cy="1389888"/>
          </a:xfrm>
          <a:prstGeom prst="roundRect">
            <a:avLst>
              <a:gd name="adj" fmla="val 10526"/>
            </a:avLst>
          </a:prstGeom>
          <a:solidFill>
            <a:srgbClr val="EDEAE2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60120" y="40507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这版课件的变化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60120" y="4416552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800" b="0">
                <a:solidFill>
                  <a:srgbClr val="2C4E73"/>
                </a:solidFill>
                <a:latin typeface="STKaiti"/>
              </a:rPr>
              <a:t>亮板速投、桌内专家、传纸轮转、证据接龙、</a:t>
            </a:r>
            <a:br/>
            <a:r>
              <a:rPr sz="1800" b="0">
                <a:solidFill>
                  <a:srgbClr val="2C4E73"/>
                </a:solidFill>
                <a:latin typeface="STKaiti"/>
              </a:rPr>
              <a:t>同桌反驳、桌面传阅、分项修订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434340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3200" b="1" dirty="0" err="1">
                <a:solidFill>
                  <a:srgbClr val="2C4E73"/>
                </a:solidFill>
                <a:latin typeface="STKaiti"/>
              </a:rPr>
              <a:t>四节课的“高参与路线</a:t>
            </a:r>
            <a:r>
              <a:rPr sz="3200" b="1" dirty="0">
                <a:solidFill>
                  <a:srgbClr val="2C4E73"/>
                </a:solidFill>
                <a:latin typeface="STKaiti"/>
              </a:rPr>
              <a:t>”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1106424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000" b="0" dirty="0" err="1">
                <a:solidFill>
                  <a:srgbClr val="5F6974"/>
                </a:solidFill>
                <a:latin typeface="STKaiti"/>
              </a:rPr>
              <a:t>教室不需要移动：人不动，观点动；座位不换，角色换；材料在桌面轮转</a:t>
            </a:r>
            <a:r>
              <a:rPr sz="2000" b="0" dirty="0">
                <a:solidFill>
                  <a:srgbClr val="5F6974"/>
                </a:solidFill>
                <a:latin typeface="STKaiti"/>
              </a:rPr>
              <a:t>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" y="1572768"/>
            <a:ext cx="1074420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240">
            <a:solidFill>
              <a:srgbClr val="DCEA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14400" y="1709928"/>
            <a:ext cx="530352" cy="530352"/>
          </a:xfrm>
          <a:prstGeom prst="ellipse">
            <a:avLst/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1700784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64208" y="17099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读懂立场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54680" y="1709928"/>
            <a:ext cx="7909560" cy="54864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2C343F"/>
                </a:solidFill>
                <a:latin typeface="STKaiti"/>
              </a:rPr>
              <a:t>手指速投 → 桌内专家 → 证据接龙 → 立场刻度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13232" y="2651760"/>
            <a:ext cx="1074420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240">
            <a:solidFill>
              <a:srgbClr val="DCE9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14400" y="2788920"/>
            <a:ext cx="530352" cy="530352"/>
          </a:xfrm>
          <a:prstGeom prst="ellipse">
            <a:avLst/>
          </a:prstGeom>
          <a:solidFill>
            <a:srgbClr val="DCE9E1"/>
          </a:solidFill>
          <a:ln w="12700">
            <a:solidFill>
              <a:srgbClr val="DCE9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14400" y="2779776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64208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拆解论证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54680" y="2788920"/>
            <a:ext cx="7909560" cy="54864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2C343F"/>
                </a:solidFill>
                <a:latin typeface="STKaiti"/>
              </a:rPr>
              <a:t>文本配对 → 任务纸轮转 → 静默质疑 → 文本排序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13232" y="3730752"/>
            <a:ext cx="1074420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240">
            <a:solidFill>
              <a:srgbClr val="F4E5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14400" y="3867912"/>
            <a:ext cx="530352" cy="530352"/>
          </a:xfrm>
          <a:prstGeom prst="ellipse">
            <a:avLst/>
          </a:prstGeom>
          <a:solidFill>
            <a:srgbClr val="F4E5D7"/>
          </a:solidFill>
          <a:ln w="12700">
            <a:solidFill>
              <a:srgbClr val="F4E5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" y="3858768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64208" y="38679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迁移写作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154680" y="3867912"/>
            <a:ext cx="7909560" cy="54864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2C343F"/>
                </a:solidFill>
                <a:latin typeface="STKaiti"/>
              </a:rPr>
              <a:t>背景理解 → 公平标准速投 → 证据拍卖 → 同桌反驳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13232" y="4809744"/>
            <a:ext cx="1074420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240">
            <a:solidFill>
              <a:srgbClr val="E9E1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14400" y="4946904"/>
            <a:ext cx="530352" cy="530352"/>
          </a:xfrm>
          <a:prstGeom prst="ellipse">
            <a:avLst/>
          </a:prstGeom>
          <a:solidFill>
            <a:srgbClr val="E9E1F0"/>
          </a:solidFill>
          <a:ln w="12700">
            <a:solidFill>
              <a:srgbClr val="E9E1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14400" y="4937760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664208" y="494690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写作修订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154680" y="4946904"/>
            <a:ext cx="7909560" cy="54864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2C343F"/>
                </a:solidFill>
                <a:latin typeface="STKaiti"/>
              </a:rPr>
              <a:t>开头拍卖 → 桌面传阅 → 写作冲刺 → 四项修订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960120"/>
            <a:ext cx="1353312" cy="530352"/>
          </a:xfrm>
          <a:prstGeom prst="roundRect">
            <a:avLst>
              <a:gd name="adj" fmla="val 37931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读懂立场与证据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76656" y="26700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同样谈“公平正义”，三位作者为什么会走向不同判断？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3794760"/>
            <a:ext cx="5029200" cy="1143000"/>
          </a:xfrm>
          <a:prstGeom prst="roundRect">
            <a:avLst>
              <a:gd name="adj" fmla="val 12800"/>
            </a:avLst>
          </a:prstGeom>
          <a:solidFill>
            <a:srgbClr val="DCEAF4"/>
          </a:solidFill>
          <a:ln w="1524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39867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学习意图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84832" y="3904487"/>
            <a:ext cx="3291840" cy="80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我能准确说出三篇文本的立场，并用文本证据支持判断。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89319" y="3794760"/>
            <a:ext cx="5742237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199632" y="39867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课堂节奏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52358" y="3904487"/>
            <a:ext cx="3995929" cy="871793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0" dirty="0" err="1">
                <a:solidFill>
                  <a:srgbClr val="5F6974"/>
                </a:solidFill>
                <a:latin typeface="STKaiti"/>
              </a:rPr>
              <a:t>判断</a:t>
            </a:r>
            <a:r>
              <a:rPr sz="2000" b="0" dirty="0">
                <a:solidFill>
                  <a:srgbClr val="5F6974"/>
                </a:solidFill>
                <a:latin typeface="STKaiti"/>
              </a:rPr>
              <a:t> → </a:t>
            </a:r>
            <a:r>
              <a:rPr sz="2000" b="0" dirty="0" err="1">
                <a:solidFill>
                  <a:srgbClr val="5F6974"/>
                </a:solidFill>
                <a:latin typeface="STKaiti"/>
              </a:rPr>
              <a:t>讨论</a:t>
            </a:r>
            <a:r>
              <a:rPr sz="2000" b="0" dirty="0">
                <a:solidFill>
                  <a:srgbClr val="5F6974"/>
                </a:solidFill>
                <a:latin typeface="STKaiti"/>
              </a:rPr>
              <a:t> → </a:t>
            </a:r>
            <a:r>
              <a:rPr sz="2000" b="0" dirty="0" err="1">
                <a:solidFill>
                  <a:srgbClr val="5F6974"/>
                </a:solidFill>
                <a:latin typeface="STKaiti"/>
              </a:rPr>
              <a:t>回到文本</a:t>
            </a:r>
            <a:r>
              <a:rPr sz="2000" b="0" dirty="0">
                <a:solidFill>
                  <a:srgbClr val="5F6974"/>
                </a:solidFill>
                <a:latin typeface="STKaiti"/>
              </a:rPr>
              <a:t> → </a:t>
            </a:r>
            <a:r>
              <a:rPr sz="2000" b="0" dirty="0" err="1">
                <a:solidFill>
                  <a:srgbClr val="5F6974"/>
                </a:solidFill>
                <a:latin typeface="STKaiti"/>
              </a:rPr>
              <a:t>产出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手指 / 小白板速投｜“惩罚越重，越公平吗？”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5F6974"/>
                </a:solidFill>
                <a:latin typeface="STKaiti"/>
              </a:rPr>
              <a:t>不离座。先独立选择，再同桌解释理由。手指和小白板都可以。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" y="1600200"/>
            <a:ext cx="5285232" cy="1600200"/>
          </a:xfrm>
          <a:prstGeom prst="roundRect">
            <a:avLst>
              <a:gd name="adj" fmla="val 9143"/>
            </a:avLst>
          </a:prstGeom>
          <a:solidFill>
            <a:srgbClr val="DCEAF4"/>
          </a:solidFill>
          <a:ln w="1524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530352" cy="384048"/>
          </a:xfrm>
          <a:prstGeom prst="roundRect">
            <a:avLst>
              <a:gd name="adj" fmla="val 42857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530352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STKaiti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81912" y="1783080"/>
            <a:ext cx="4069080" cy="56692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2C4E73"/>
                </a:solidFill>
                <a:latin typeface="STKaiti"/>
              </a:rPr>
              <a:t>完全同意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81912" y="2441448"/>
            <a:ext cx="406908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0">
                <a:solidFill>
                  <a:srgbClr val="2C343F"/>
                </a:solidFill>
                <a:latin typeface="STKaiti"/>
              </a:rPr>
              <a:t>举 1 个手指</a:t>
            </a:r>
            <a:endParaRPr lang="en-US" sz="1700" dirty="0"/>
          </a:p>
          <a:p>
            <a:pPr algn="ctr"/>
            <a:r>
              <a:rPr sz="1800" b="0">
                <a:solidFill>
                  <a:srgbClr val="2C343F"/>
                </a:solidFill>
                <a:latin typeface="STKaiti"/>
              </a:rPr>
              <a:t>或小白板写 1</a:t>
            </a:r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285232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524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373368" y="1783080"/>
            <a:ext cx="530352" cy="384048"/>
          </a:xfrm>
          <a:prstGeom prst="roundRect">
            <a:avLst>
              <a:gd name="adj" fmla="val 42857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373368" y="1783080"/>
            <a:ext cx="530352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STKaiti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1783080"/>
            <a:ext cx="4069080" cy="56692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2C4E73"/>
                </a:solidFill>
                <a:latin typeface="STKaiti"/>
              </a:rPr>
              <a:t>比较同意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040880" y="2441448"/>
            <a:ext cx="406908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0">
                <a:solidFill>
                  <a:srgbClr val="2C343F"/>
                </a:solidFill>
                <a:latin typeface="STKaiti"/>
              </a:rPr>
              <a:t>举 2 个手指</a:t>
            </a:r>
            <a:endParaRPr lang="en-US" sz="1700" dirty="0"/>
          </a:p>
          <a:p>
            <a:pPr algn="ctr"/>
            <a:r>
              <a:rPr sz="1800" b="0">
                <a:solidFill>
                  <a:srgbClr val="2C343F"/>
                </a:solidFill>
                <a:latin typeface="STKaiti"/>
              </a:rPr>
              <a:t>或小白板写 2</a:t>
            </a:r>
          </a:p>
        </p:txBody>
      </p:sp>
      <p:sp>
        <p:nvSpPr>
          <p:cNvPr id="15" name="Shape 13"/>
          <p:cNvSpPr/>
          <p:nvPr/>
        </p:nvSpPr>
        <p:spPr>
          <a:xfrm>
            <a:off x="713232" y="3730752"/>
            <a:ext cx="5285232" cy="1600200"/>
          </a:xfrm>
          <a:prstGeom prst="roundRect">
            <a:avLst>
              <a:gd name="adj" fmla="val 9143"/>
            </a:avLst>
          </a:prstGeom>
          <a:solidFill>
            <a:srgbClr val="DCEAF4"/>
          </a:solidFill>
          <a:ln w="1524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14400" y="3913632"/>
            <a:ext cx="530352" cy="384048"/>
          </a:xfrm>
          <a:prstGeom prst="roundRect">
            <a:avLst>
              <a:gd name="adj" fmla="val 42857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" y="3913632"/>
            <a:ext cx="530352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STKaiti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81912" y="3913632"/>
            <a:ext cx="4069080" cy="56692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2C4E73"/>
                </a:solidFill>
                <a:latin typeface="STKaiti"/>
              </a:rPr>
              <a:t>比较不同意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81912" y="4572000"/>
            <a:ext cx="406908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0">
                <a:solidFill>
                  <a:srgbClr val="2C343F"/>
                </a:solidFill>
                <a:latin typeface="STKaiti"/>
              </a:rPr>
              <a:t>举 3 个手指</a:t>
            </a:r>
            <a:endParaRPr lang="en-US" sz="1700" dirty="0"/>
          </a:p>
          <a:p>
            <a:pPr algn="ctr"/>
            <a:r>
              <a:rPr sz="1800" b="0">
                <a:solidFill>
                  <a:srgbClr val="2C343F"/>
                </a:solidFill>
                <a:latin typeface="STKaiti"/>
              </a:rPr>
              <a:t>或小白板写 3</a:t>
            </a:r>
          </a:p>
        </p:txBody>
      </p:sp>
      <p:sp>
        <p:nvSpPr>
          <p:cNvPr id="20" name="Shape 18"/>
          <p:cNvSpPr/>
          <p:nvPr/>
        </p:nvSpPr>
        <p:spPr>
          <a:xfrm>
            <a:off x="6172200" y="3730752"/>
            <a:ext cx="5285232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524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373368" y="3913632"/>
            <a:ext cx="530352" cy="384048"/>
          </a:xfrm>
          <a:prstGeom prst="roundRect">
            <a:avLst>
              <a:gd name="adj" fmla="val 42857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373368" y="3913632"/>
            <a:ext cx="530352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STKaiti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3913632"/>
            <a:ext cx="4069080" cy="56692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2C4E73"/>
                </a:solidFill>
                <a:latin typeface="STKaiti"/>
              </a:rPr>
              <a:t>完全不同意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040880" y="4572000"/>
            <a:ext cx="406908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0">
                <a:solidFill>
                  <a:srgbClr val="2C343F"/>
                </a:solidFill>
                <a:latin typeface="STKaiti"/>
              </a:rPr>
              <a:t>举 4 个手指</a:t>
            </a:r>
            <a:endParaRPr lang="en-US" sz="1700" dirty="0"/>
          </a:p>
          <a:p>
            <a:pPr algn="ctr"/>
            <a:r>
              <a:rPr sz="1800" b="0">
                <a:solidFill>
                  <a:srgbClr val="2C343F"/>
                </a:solidFill>
                <a:latin typeface="STKaiti"/>
              </a:rPr>
              <a:t>或小白板写 4</a:t>
            </a:r>
          </a:p>
        </p:txBody>
      </p:sp>
      <p:sp>
        <p:nvSpPr>
          <p:cNvPr id="25" name="Shape 23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3F6FA6"/>
                </a:solidFill>
                <a:latin typeface="STKaiti"/>
              </a:rPr>
              <a:t>速投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591056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591056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3F6FA6"/>
                </a:solidFill>
                <a:latin typeface="STKaiti"/>
              </a:rPr>
              <a:t>解释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523744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523744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3F6FA6"/>
                </a:solidFill>
                <a:latin typeface="STKaiti"/>
              </a:rPr>
              <a:t>回文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桌内专家阅读｜每个人都有一个任务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81912" y="112471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2000" b="0" dirty="0">
                <a:solidFill>
                  <a:srgbClr val="5F6974"/>
                </a:solidFill>
                <a:latin typeface="STKaiti"/>
              </a:rPr>
              <a:t>请打开教材第120–122页。四人不换座位，各自负责一项，8分钟后桌内互教。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" y="1600200"/>
            <a:ext cx="5029200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02920" cy="384048"/>
          </a:xfrm>
          <a:prstGeom prst="roundRect">
            <a:avLst>
              <a:gd name="adj" fmla="val 42857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81912" y="1764792"/>
            <a:ext cx="1298448" cy="877824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 dirty="0">
                <a:solidFill>
                  <a:srgbClr val="2C4E73"/>
                </a:solidFill>
                <a:latin typeface="STKaiti"/>
              </a:rPr>
              <a:t>文本（1）专家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44952" y="1764792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>
            <a:normAutofit/>
          </a:bodyPr>
          <a:lstStyle/>
          <a:p>
            <a:pPr marL="0" indent="0" algn="ctr">
              <a:buNone/>
            </a:pPr>
            <a:r>
              <a:rPr sz="1800" b="0">
                <a:solidFill>
                  <a:srgbClr val="2C343F"/>
                </a:solidFill>
                <a:latin typeface="STKaiti"/>
              </a:rPr>
              <a:t>读选段（1）：立场＋2处证据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99632" y="1600200"/>
            <a:ext cx="5029200" cy="1298448"/>
          </a:xfrm>
          <a:prstGeom prst="roundRect">
            <a:avLst>
              <a:gd name="adj" fmla="val 11268"/>
            </a:avLst>
          </a:prstGeom>
          <a:solidFill>
            <a:srgbClr val="DCEAF4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02920" cy="384048"/>
          </a:xfrm>
          <a:prstGeom prst="roundRect">
            <a:avLst>
              <a:gd name="adj" fmla="val 42857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0" y="18288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68312" y="1764792"/>
            <a:ext cx="1297475" cy="71323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 dirty="0">
                <a:solidFill>
                  <a:srgbClr val="2C4E73"/>
                </a:solidFill>
                <a:latin typeface="STKaiti"/>
              </a:rPr>
              <a:t>文本（2）专家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531352" y="1764792"/>
            <a:ext cx="2331720" cy="65836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>
            <a:normAutofit/>
          </a:bodyPr>
          <a:lstStyle/>
          <a:p>
            <a:pPr marL="0" indent="0" algn="ctr">
              <a:buNone/>
            </a:pPr>
            <a:r>
              <a:rPr sz="1800" b="0">
                <a:solidFill>
                  <a:srgbClr val="2C343F"/>
                </a:solidFill>
                <a:latin typeface="STKaiti"/>
              </a:rPr>
              <a:t>读选段（2）：立场＋2处证据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13232" y="3172968"/>
            <a:ext cx="5029200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14400" y="3401568"/>
            <a:ext cx="502920" cy="384048"/>
          </a:xfrm>
          <a:prstGeom prst="roundRect">
            <a:avLst>
              <a:gd name="adj" fmla="val 42857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" y="34015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81912" y="3337559"/>
            <a:ext cx="1298448" cy="658367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sz="2000" b="1" dirty="0">
                <a:solidFill>
                  <a:srgbClr val="2C4E73"/>
                </a:solidFill>
                <a:latin typeface="STKaiti"/>
              </a:rPr>
              <a:t>文本（3）专家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044952" y="33375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找1处最有力量的表达并解释作用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199632" y="3172968"/>
            <a:ext cx="5029200" cy="1298448"/>
          </a:xfrm>
          <a:prstGeom prst="roundRect">
            <a:avLst>
              <a:gd name="adj" fmla="val 11268"/>
            </a:avLst>
          </a:prstGeom>
          <a:solidFill>
            <a:srgbClr val="DCEAF4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00800" y="3401568"/>
            <a:ext cx="502920" cy="384048"/>
          </a:xfrm>
          <a:prstGeom prst="roundRect">
            <a:avLst>
              <a:gd name="adj" fmla="val 42857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0" y="34015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68312" y="3337560"/>
            <a:ext cx="1097280" cy="82296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 dirty="0" err="1">
                <a:solidFill>
                  <a:srgbClr val="2C4E73"/>
                </a:solidFill>
                <a:latin typeface="STKaiti"/>
              </a:rPr>
              <a:t>记录</a:t>
            </a:r>
            <a:r>
              <a:rPr sz="2000" b="1" dirty="0">
                <a:solidFill>
                  <a:srgbClr val="2C4E73"/>
                </a:solidFill>
                <a:latin typeface="STKaiti"/>
              </a:rPr>
              <a:t> / </a:t>
            </a:r>
            <a:r>
              <a:rPr sz="2000" b="1" dirty="0" err="1">
                <a:solidFill>
                  <a:srgbClr val="2C4E73"/>
                </a:solidFill>
                <a:latin typeface="STKaiti"/>
              </a:rPr>
              <a:t>质疑员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31352" y="33375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提出1个作者必须回答的问题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713232" y="4864608"/>
            <a:ext cx="10515600" cy="868680"/>
          </a:xfrm>
          <a:prstGeom prst="roundRect">
            <a:avLst>
              <a:gd name="adj" fmla="val 16842"/>
            </a:avLst>
          </a:prstGeom>
          <a:solidFill>
            <a:srgbClr val="EDEAE2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14400" y="4864608"/>
            <a:ext cx="10104120" cy="89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专家组分工</a:t>
            </a:r>
            <a:r>
              <a:rPr lang="en-US" sz="21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：①选段（1）吴俊德　</a:t>
            </a:r>
          </a:p>
          <a:p>
            <a:pPr marL="0" indent="0">
              <a:buNone/>
            </a:pPr>
            <a:r>
              <a:rPr lang="zh-CN" altLang="en-US" sz="21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                        </a:t>
            </a:r>
            <a:r>
              <a:rPr lang="en-US" sz="21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②选段（2）罗翔　</a:t>
            </a:r>
          </a:p>
          <a:p>
            <a:pPr marL="0" indent="0">
              <a:buNone/>
            </a:pPr>
            <a:r>
              <a:rPr lang="zh-CN" altLang="en-US" sz="21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                        </a:t>
            </a:r>
            <a:r>
              <a:rPr lang="en-US" sz="21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③选段（3）马拉拉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回文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591056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591056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分工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523744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2523744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标注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专家任务｜完成一张“60秒教别人”的证据卡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不是复述全文：只保留别人理解这篇所必需的信息。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2651760" cy="3337560"/>
          </a:xfrm>
          <a:prstGeom prst="roundRect">
            <a:avLst>
              <a:gd name="adj" fmla="val 5517"/>
            </a:avLst>
          </a:prstGeom>
          <a:solidFill>
            <a:srgbClr val="DCEAF4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① 核心立场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95528" y="257860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作者到底主张什么？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限制在25字以内。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77824" y="4160520"/>
            <a:ext cx="2011680" cy="475488"/>
          </a:xfrm>
          <a:prstGeom prst="roundRect">
            <a:avLst>
              <a:gd name="adj" fmla="val 23077"/>
            </a:avLst>
          </a:prstGeom>
          <a:solidFill>
            <a:srgbClr val="EDEAE2"/>
          </a:solidFill>
          <a:ln w="12700">
            <a:solidFill>
              <a:srgbClr val="EDEA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77824" y="41605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写在便签 / 小白板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19856" y="1645920"/>
            <a:ext cx="2651760" cy="33375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584448" y="1874520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② 两个证据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648456" y="257860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每个证据后补：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“这说明……”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730752" y="4160520"/>
            <a:ext cx="2011680" cy="475488"/>
          </a:xfrm>
          <a:prstGeom prst="roundRect">
            <a:avLst>
              <a:gd name="adj" fmla="val 23077"/>
            </a:avLst>
          </a:prstGeom>
          <a:solidFill>
            <a:srgbClr val="EDEAE2"/>
          </a:solidFill>
          <a:ln w="12700">
            <a:solidFill>
              <a:srgbClr val="EDEA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730752" y="41605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写在便签 / 小白板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72784" y="1645920"/>
            <a:ext cx="2651760" cy="33375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37376" y="1874520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③ 一种写法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01384" y="257860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指出表达方式，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解释它如何影响读者。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583680" y="4160520"/>
            <a:ext cx="2011680" cy="475488"/>
          </a:xfrm>
          <a:prstGeom prst="roundRect">
            <a:avLst>
              <a:gd name="adj" fmla="val 23077"/>
            </a:avLst>
          </a:prstGeom>
          <a:solidFill>
            <a:srgbClr val="EDEAE2"/>
          </a:solidFill>
          <a:ln w="12700">
            <a:solidFill>
              <a:srgbClr val="EDEA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583680" y="41605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写在便签 / 小白板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25712" y="1645920"/>
            <a:ext cx="2651760" cy="33375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290304" y="1874520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④ 一个质疑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354312" y="257860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作者的推理、证据或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价值标准哪里值得追问？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9436608" y="4160520"/>
            <a:ext cx="2011680" cy="475488"/>
          </a:xfrm>
          <a:prstGeom prst="roundRect">
            <a:avLst>
              <a:gd name="adj" fmla="val 23077"/>
            </a:avLst>
          </a:prstGeom>
          <a:solidFill>
            <a:srgbClr val="EDEAE2"/>
          </a:solidFill>
          <a:ln w="12700">
            <a:solidFill>
              <a:srgbClr val="EDEA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36608" y="41605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写在便签 / 小白板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535838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完成后，组内进行一次60秒试讲：听的人只能问“你的证据在哪里？”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合作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591056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591056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523744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523744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试讲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桌内教学｜每个人都要教、都要听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5F6974"/>
                </a:solidFill>
                <a:latin typeface="STKaiti"/>
              </a:rPr>
              <a:t>不换组：A、B、C三位专家轮流90秒；D记录共通点与差异。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1481328"/>
            <a:ext cx="1033272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05840" y="1664208"/>
            <a:ext cx="512064" cy="512064"/>
          </a:xfrm>
          <a:prstGeom prst="ellipse">
            <a:avLst/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1655064"/>
            <a:ext cx="512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64208" y="1609344"/>
            <a:ext cx="9345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90秒｜A专家教文本（1）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64208" y="1956816"/>
            <a:ext cx="9345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听者只记：立场＋最强证据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41248" y="2560320"/>
            <a:ext cx="1033272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05840" y="2743200"/>
            <a:ext cx="512064" cy="512064"/>
          </a:xfrm>
          <a:prstGeom prst="ellipse">
            <a:avLst/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05840" y="2734056"/>
            <a:ext cx="512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64208" y="2688336"/>
            <a:ext cx="9345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90秒｜B专家教文本（2）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64208" y="3035808"/>
            <a:ext cx="9345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听者只记：立场＋最强证据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639312"/>
            <a:ext cx="1033272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005840" y="3822192"/>
            <a:ext cx="512064" cy="512064"/>
          </a:xfrm>
          <a:prstGeom prst="ellipse">
            <a:avLst/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05840" y="3813048"/>
            <a:ext cx="512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64208" y="3767328"/>
            <a:ext cx="9345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90秒｜C专家教文本（3）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64208" y="4114800"/>
            <a:ext cx="9345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听者只记：立场＋最强证据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41248" y="4718304"/>
            <a:ext cx="10332720" cy="1005840"/>
          </a:xfrm>
          <a:prstGeom prst="roundRect">
            <a:avLst>
              <a:gd name="adj" fmla="val 14545"/>
            </a:avLst>
          </a:prstGeom>
          <a:solidFill>
            <a:srgbClr val="DCEAF4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005840" y="4901184"/>
            <a:ext cx="512064" cy="512064"/>
          </a:xfrm>
          <a:prstGeom prst="ellipse">
            <a:avLst/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05840" y="4892040"/>
            <a:ext cx="512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64208" y="4846320"/>
            <a:ext cx="9345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3分钟｜全组完成比较句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64208" y="5193792"/>
            <a:ext cx="9345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“三篇都……，但（1）更强调……，（2）……，（3）……”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换组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591056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591056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口头表达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816352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816352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倾听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桌面证据接龙｜一张纸传四次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5F6974"/>
                </a:solidFill>
                <a:latin typeface="STKaiti"/>
              </a:rPr>
              <a:t>每桌一张A3纸，顺时针传。每人只完成自己的那一步，不能替别人补答案。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3429000" cy="3337560"/>
          </a:xfrm>
          <a:prstGeom prst="roundRect">
            <a:avLst>
              <a:gd name="adj" fmla="val 4384"/>
            </a:avLst>
          </a:prstGeom>
          <a:solidFill>
            <a:srgbClr val="D9ECEA"/>
          </a:solidFill>
          <a:ln w="15240">
            <a:solidFill>
              <a:srgbClr val="3B7F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51560" y="1856232"/>
            <a:ext cx="2971800" cy="50292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2C4E73"/>
                </a:solidFill>
                <a:latin typeface="STKaiti"/>
              </a:rPr>
              <a:t>第1轮｜观点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4712" y="2633472"/>
            <a:ext cx="2825496" cy="1600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0">
                <a:solidFill>
                  <a:srgbClr val="2C343F"/>
                </a:solidFill>
                <a:latin typeface="STKaiti"/>
              </a:rPr>
              <a:t>写清作者主张</a:t>
            </a:r>
            <a:endParaRPr lang="en-US" sz="1900" dirty="0"/>
          </a:p>
          <a:p>
            <a:pPr algn="ctr"/>
            <a:r>
              <a:rPr sz="1800" b="0">
                <a:solidFill>
                  <a:srgbClr val="2C343F"/>
                </a:solidFill>
                <a:latin typeface="STKaiti"/>
              </a:rPr>
              <a:t>限25字以内</a:t>
            </a:r>
          </a:p>
        </p:txBody>
      </p:sp>
      <p:sp>
        <p:nvSpPr>
          <p:cNvPr id="8" name="Shape 6"/>
          <p:cNvSpPr/>
          <p:nvPr/>
        </p:nvSpPr>
        <p:spPr>
          <a:xfrm>
            <a:off x="4572000" y="1600200"/>
            <a:ext cx="3429000" cy="3337560"/>
          </a:xfrm>
          <a:prstGeom prst="roundRect">
            <a:avLst>
              <a:gd name="adj" fmla="val 4384"/>
            </a:avLst>
          </a:prstGeom>
          <a:solidFill>
            <a:srgbClr val="F6EBCB"/>
          </a:solidFill>
          <a:ln w="15240">
            <a:solidFill>
              <a:srgbClr val="B58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800600" y="1856232"/>
            <a:ext cx="2971800" cy="50292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2C4E73"/>
                </a:solidFill>
                <a:latin typeface="STKaiti"/>
              </a:rPr>
              <a:t>第2轮｜证据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73752" y="2633472"/>
            <a:ext cx="2825496" cy="1600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0">
                <a:solidFill>
                  <a:srgbClr val="2C343F"/>
                </a:solidFill>
                <a:latin typeface="STKaiti"/>
              </a:rPr>
              <a:t>从文本找一处细节</a:t>
            </a:r>
            <a:endParaRPr lang="en-US" sz="1900" dirty="0"/>
          </a:p>
          <a:p>
            <a:pPr algn="ctr"/>
            <a:r>
              <a:rPr sz="1800" b="0">
                <a:solidFill>
                  <a:srgbClr val="2C343F"/>
                </a:solidFill>
                <a:latin typeface="STKaiti"/>
              </a:rPr>
              <a:t>抄关键词即可</a:t>
            </a:r>
          </a:p>
        </p:txBody>
      </p:sp>
      <p:sp>
        <p:nvSpPr>
          <p:cNvPr id="11" name="Shape 9"/>
          <p:cNvSpPr/>
          <p:nvPr/>
        </p:nvSpPr>
        <p:spPr>
          <a:xfrm>
            <a:off x="8321040" y="1600200"/>
            <a:ext cx="3429000" cy="3337560"/>
          </a:xfrm>
          <a:prstGeom prst="roundRect">
            <a:avLst>
              <a:gd name="adj" fmla="val 4384"/>
            </a:avLst>
          </a:prstGeom>
          <a:solidFill>
            <a:srgbClr val="F1DEDE"/>
          </a:solidFill>
          <a:ln w="15240">
            <a:solidFill>
              <a:srgbClr val="A34B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549640" y="1856232"/>
            <a:ext cx="2971800" cy="50292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2C4E73"/>
                </a:solidFill>
                <a:latin typeface="STKaiti"/>
              </a:rPr>
              <a:t>第3＋4轮｜解释 / 质疑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22792" y="2633472"/>
            <a:ext cx="2825496" cy="1600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0">
                <a:solidFill>
                  <a:srgbClr val="2C343F"/>
                </a:solidFill>
                <a:latin typeface="STKaiti"/>
              </a:rPr>
              <a:t>第三人写“这说明……”</a:t>
            </a:r>
            <a:endParaRPr lang="en-US" sz="1900" dirty="0"/>
          </a:p>
          <a:p>
            <a:pPr algn="ctr"/>
            <a:r>
              <a:rPr sz="1800" b="0">
                <a:solidFill>
                  <a:srgbClr val="2C343F"/>
                </a:solidFill>
                <a:latin typeface="STKaiti"/>
              </a:rPr>
              <a:t>第四人写一个追问</a:t>
            </a:r>
          </a:p>
        </p:txBody>
      </p:sp>
      <p:sp>
        <p:nvSpPr>
          <p:cNvPr id="14" name="Text 12"/>
          <p:cNvSpPr/>
          <p:nvPr/>
        </p:nvSpPr>
        <p:spPr>
          <a:xfrm>
            <a:off x="822960" y="5321808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目标：看清“证据 ≠ 解释 ≠ 价值判断”。好的议论会把三者连起来。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chemeClr val="accent1"/>
                </a:solidFill>
                <a:latin typeface="STKaiti"/>
              </a:rPr>
              <a:t>传纸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591056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591056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分类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523744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523744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纠错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立场刻度｜听完文本后，你的数字变了吗？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5F6974"/>
                </a:solidFill>
                <a:latin typeface="STKaiti"/>
              </a:rPr>
              <a:t>每题用小白板写1–5：1＝完全不同意，5＝完全同意。亮板后再听两位同学的证据。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469880" cy="896112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24128" y="1737360"/>
            <a:ext cx="502920" cy="384048"/>
          </a:xfrm>
          <a:prstGeom prst="roundRect">
            <a:avLst>
              <a:gd name="adj" fmla="val 42857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24128" y="17373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83080" y="1600200"/>
            <a:ext cx="9052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“公平正义”必须优先考虑惩罚是否相称。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2724912"/>
            <a:ext cx="10469880" cy="896112"/>
          </a:xfrm>
          <a:prstGeom prst="roundRect">
            <a:avLst>
              <a:gd name="adj" fmla="val 16327"/>
            </a:avLst>
          </a:prstGeom>
          <a:solidFill>
            <a:srgbClr val="DCEAF4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24128" y="2953512"/>
            <a:ext cx="502920" cy="384048"/>
          </a:xfrm>
          <a:prstGeom prst="roundRect">
            <a:avLst>
              <a:gd name="adj" fmla="val 42857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24128" y="29535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83080" y="2816352"/>
            <a:ext cx="9052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只要一个论点有数据，就比没有数据更有说服力。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" y="3941064"/>
            <a:ext cx="10469880" cy="896112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24128" y="4169664"/>
            <a:ext cx="502920" cy="384048"/>
          </a:xfrm>
          <a:prstGeom prst="roundRect">
            <a:avLst>
              <a:gd name="adj" fmla="val 42857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24128" y="41696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83080" y="4032504"/>
            <a:ext cx="9052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个人经历也可以成为有力论据，但必须解释它说明什么。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097280" y="5394960"/>
            <a:ext cx="9509760" cy="0"/>
          </a:xfrm>
          <a:prstGeom prst="line">
            <a:avLst/>
          </a:prstGeom>
          <a:noFill/>
          <a:ln w="508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68680" y="55595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完全不同意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85248" y="555955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完全同意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chemeClr val="accent1"/>
                </a:solidFill>
                <a:latin typeface="STKaiti"/>
              </a:rPr>
              <a:t>亮板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591056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591056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引用文本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816352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816352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3F6FA6"/>
                </a:solidFill>
                <a:latin typeface="STKaiti"/>
              </a:rPr>
              <a:t>再亮板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离堂反馈｜3–2–1 证据票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3分钟独立完成，离开前交。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78992" y="1600200"/>
            <a:ext cx="9966960" cy="969264"/>
          </a:xfrm>
          <a:prstGeom prst="roundRect">
            <a:avLst>
              <a:gd name="adj" fmla="val 15094"/>
            </a:avLst>
          </a:prstGeom>
          <a:solidFill>
            <a:srgbClr val="DCEAF4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325880" y="1783080"/>
            <a:ext cx="530352" cy="530352"/>
          </a:xfrm>
          <a:prstGeom prst="ellipse">
            <a:avLst/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48840" y="17647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三篇文本各写一个核心关键词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1078992" y="2862072"/>
            <a:ext cx="9966960" cy="969264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325880" y="3044952"/>
            <a:ext cx="530352" cy="530352"/>
          </a:xfrm>
          <a:prstGeom prst="ellipse">
            <a:avLst/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325880" y="30449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48840" y="302666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写出两种不同的“正义 / 公平”理解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078992" y="4123944"/>
            <a:ext cx="9966960" cy="969264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325880" y="4306824"/>
            <a:ext cx="530352" cy="530352"/>
          </a:xfrm>
          <a:prstGeom prst="ellipse">
            <a:avLst/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325880" y="4306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48840" y="4288536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写出一个你仍然想追问作者的问题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051560" y="5532120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家庭作业：完成教材第122页中尚未完成的一题；答案必须包含一个文本细节。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960120"/>
            <a:ext cx="1353312" cy="530352"/>
          </a:xfrm>
          <a:prstGeom prst="roundRect">
            <a:avLst>
              <a:gd name="adj" fmla="val 37931"/>
            </a:avLst>
          </a:prstGeom>
          <a:solidFill>
            <a:srgbClr val="4F7B62"/>
          </a:solidFill>
          <a:ln w="1270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拆解论证与语言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76656" y="26700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观点怎样从“我觉得”变成“读者愿意跟着想”？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3794760"/>
            <a:ext cx="5029200" cy="1143000"/>
          </a:xfrm>
          <a:prstGeom prst="roundRect">
            <a:avLst>
              <a:gd name="adj" fmla="val 12800"/>
            </a:avLst>
          </a:prstGeom>
          <a:solidFill>
            <a:srgbClr val="DCE9E1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39867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学习意图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84832" y="39044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我能识别作者的论证动作，并解释这些动作如何增强说服力。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89320" y="3794760"/>
            <a:ext cx="507492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199632" y="39867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课堂节奏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52360" y="3904488"/>
            <a:ext cx="3246120" cy="56692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0">
                <a:solidFill>
                  <a:srgbClr val="5F6974"/>
                </a:solidFill>
                <a:latin typeface="STKaiti"/>
              </a:rPr>
              <a:t>配对 → 讨论 → 回到文本 → 产出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8368" y="6016752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8368" y="6016752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rgbClr val="00B050"/>
                </a:solidFill>
                <a:latin typeface="STKaiti"/>
              </a:rPr>
              <a:t>配对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591056" y="6016752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591056" y="60167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讨论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523744" y="6016752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523744" y="60167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回文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56432" y="6016752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456432" y="60167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活动一｜论证方法配对：哪一种方法对应哪一句？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4F7B62"/>
          </a:solidFill>
          <a:ln w="1270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1900" b="0">
                <a:solidFill>
                  <a:srgbClr val="5F6974"/>
                </a:solidFill>
                <a:latin typeface="STKaiti"/>
              </a:rPr>
              <a:t>两人一组。左边是6种论证方法，右边是课文原句A–F。先配对，再说出“为什么”。</a:t>
            </a:r>
            <a:endParaRPr lang="en-US" sz="1700" dirty="0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61288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664208"/>
            <a:ext cx="2057400" cy="530352"/>
          </a:xfrm>
          <a:prstGeom prst="roundRect">
            <a:avLst/>
          </a:prstGeom>
          <a:solidFill>
            <a:srgbClr val="EBF1F8"/>
          </a:solidFill>
          <a:ln w="15240">
            <a:solidFill>
              <a:srgbClr val="3F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000" b="1">
                <a:solidFill>
                  <a:srgbClr val="2C4E73"/>
                </a:solidFill>
                <a:latin typeface="STKaiti"/>
              </a:rPr>
              <a:t>① 界定 / 限定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2057400" cy="530352"/>
          </a:xfrm>
          <a:prstGeom prst="roundRect">
            <a:avLst/>
          </a:prstGeom>
          <a:solidFill>
            <a:srgbClr val="EBF1F8"/>
          </a:solidFill>
          <a:ln w="15240">
            <a:solidFill>
              <a:srgbClr val="3F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000" b="1">
                <a:solidFill>
                  <a:srgbClr val="2C4E73"/>
                </a:solidFill>
                <a:latin typeface="STKaiti"/>
              </a:rPr>
              <a:t>② 让步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90672"/>
            <a:ext cx="2057400" cy="530352"/>
          </a:xfrm>
          <a:prstGeom prst="roundRect">
            <a:avLst/>
          </a:prstGeom>
          <a:solidFill>
            <a:srgbClr val="EBF1F8"/>
          </a:solidFill>
          <a:ln w="15240">
            <a:solidFill>
              <a:srgbClr val="3F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000" b="1">
                <a:solidFill>
                  <a:srgbClr val="2C4E73"/>
                </a:solidFill>
                <a:latin typeface="STKaiti"/>
              </a:rPr>
              <a:t>③ 反驳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803904"/>
            <a:ext cx="2057400" cy="530352"/>
          </a:xfrm>
          <a:prstGeom prst="roundRect">
            <a:avLst/>
          </a:prstGeom>
          <a:solidFill>
            <a:srgbClr val="EBF1F8"/>
          </a:solidFill>
          <a:ln w="15240">
            <a:solidFill>
              <a:srgbClr val="3F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000" b="1">
                <a:solidFill>
                  <a:srgbClr val="2C4E73"/>
                </a:solidFill>
                <a:latin typeface="STKaiti"/>
              </a:rPr>
              <a:t>④ 举证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517136"/>
            <a:ext cx="2057400" cy="530352"/>
          </a:xfrm>
          <a:prstGeom prst="roundRect">
            <a:avLst/>
          </a:prstGeom>
          <a:solidFill>
            <a:srgbClr val="EBF1F8"/>
          </a:solidFill>
          <a:ln w="15240">
            <a:solidFill>
              <a:srgbClr val="3F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000" b="1">
                <a:solidFill>
                  <a:srgbClr val="2C4E73"/>
                </a:solidFill>
                <a:latin typeface="STKaiti"/>
              </a:rPr>
              <a:t>⑤ 解释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230368"/>
            <a:ext cx="2057400" cy="530352"/>
          </a:xfrm>
          <a:prstGeom prst="roundRect">
            <a:avLst/>
          </a:prstGeom>
          <a:solidFill>
            <a:srgbClr val="EBF1F8"/>
          </a:solidFill>
          <a:ln w="15240">
            <a:solidFill>
              <a:srgbClr val="3F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000" b="1">
                <a:solidFill>
                  <a:srgbClr val="2C4E73"/>
                </a:solidFill>
                <a:latin typeface="STKaiti"/>
              </a:rPr>
              <a:t>⑥ 升华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572768"/>
            <a:ext cx="82296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/>
            <a:r>
              <a:rPr sz="1700" b="0">
                <a:solidFill>
                  <a:srgbClr val="2C343F"/>
                </a:solidFill>
                <a:latin typeface="STKaiti"/>
              </a:rPr>
              <a:t>A  “至于什么样的处罚比较恰当，可以有讨论的空间，但是底线是，必须把犯罪者当人看待……”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322576"/>
            <a:ext cx="82296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/>
            <a:r>
              <a:rPr sz="1700" b="0">
                <a:solidFill>
                  <a:srgbClr val="2C343F"/>
                </a:solidFill>
                <a:latin typeface="STKaiti"/>
              </a:rPr>
              <a:t>B  “可以用任何理由去支持维持死刑，但不应该是杀人偿命的应报理论……”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3072384"/>
            <a:ext cx="82296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/>
            <a:r>
              <a:rPr sz="1700" b="0">
                <a:solidFill>
                  <a:srgbClr val="2C343F"/>
                </a:solidFill>
                <a:latin typeface="STKaiti"/>
              </a:rPr>
              <a:t>C  “对于那些亲人被杀的被害人，我们有什么权利要求他们宽恕犯罪人？”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3822191"/>
            <a:ext cx="82296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/>
            <a:r>
              <a:rPr sz="1700" b="0">
                <a:solidFill>
                  <a:srgbClr val="2C343F"/>
                </a:solidFill>
                <a:latin typeface="STKaiti"/>
              </a:rPr>
              <a:t>D  “时至今日，全球已经有超过2/3的国家在法律中或在事实上废除了死刑。”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4572000"/>
            <a:ext cx="82296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/>
            <a:r>
              <a:rPr sz="1700" b="0">
                <a:solidFill>
                  <a:srgbClr val="2C343F"/>
                </a:solidFill>
                <a:latin typeface="STKaiti"/>
              </a:rPr>
              <a:t>E  “只有面对死刑的威胁，犯罪人才可能会生出真诚的悔改。”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5321807"/>
            <a:ext cx="82296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/>
            <a:r>
              <a:rPr sz="1700" b="0">
                <a:solidFill>
                  <a:srgbClr val="2C343F"/>
                </a:solidFill>
                <a:latin typeface="STKaiti"/>
              </a:rPr>
              <a:t>F  “我在这儿为每一位孩子能接受教育的权利发言……爱好和平，爱每一个人。”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61888"/>
            <a:ext cx="1042416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800" b="0">
                <a:solidFill>
                  <a:srgbClr val="5F6974"/>
                </a:solidFill>
                <a:latin typeface="STKaiti"/>
              </a:rPr>
              <a:t>完成后回到教材核对上下文：配对不是猜术语，而是解释这句话在论证中“做了什么”。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三任务纸轮转｜人不动，任务纸动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4F7B62"/>
          </a:solidFill>
          <a:ln w="1270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5F6974"/>
                </a:solidFill>
                <a:latin typeface="STKaiti"/>
              </a:rPr>
              <a:t>每桌先做一张，6–7分钟后把任务纸传给下一桌；下一组只能补充或挑战。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456432" cy="3429000"/>
          </a:xfrm>
          <a:prstGeom prst="roundRect">
            <a:avLst>
              <a:gd name="adj" fmla="val 4267"/>
            </a:avLst>
          </a:prstGeom>
          <a:solidFill>
            <a:srgbClr val="DCE9E1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86968" y="1847088"/>
            <a:ext cx="566928" cy="384048"/>
          </a:xfrm>
          <a:prstGeom prst="roundRect">
            <a:avLst>
              <a:gd name="adj" fmla="val 42857"/>
            </a:avLst>
          </a:prstGeom>
          <a:solidFill>
            <a:srgbClr val="4F7B62"/>
          </a:solidFill>
          <a:ln w="1270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86968" y="18470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792224"/>
            <a:ext cx="2240280" cy="47548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2C4E73"/>
                </a:solidFill>
                <a:latin typeface="STKaiti"/>
              </a:rPr>
              <a:t>任务A｜结构拼图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05840" y="248716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选段（1）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14984" y="3108960"/>
            <a:ext cx="27797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把“问题—承认—限定—原则”排成合理顺序，并用原文验证。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80560" y="1600200"/>
            <a:ext cx="3456432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681728" y="1847088"/>
            <a:ext cx="566928" cy="384048"/>
          </a:xfrm>
          <a:prstGeom prst="roundRect">
            <a:avLst>
              <a:gd name="adj" fmla="val 42857"/>
            </a:avLst>
          </a:prstGeom>
          <a:solidFill>
            <a:srgbClr val="4F7B62"/>
          </a:solidFill>
          <a:ln w="1270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81728" y="18470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1792224"/>
            <a:ext cx="2240280" cy="47548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2C4E73"/>
                </a:solidFill>
                <a:latin typeface="STKaiti"/>
              </a:rPr>
              <a:t>任务B｜事实还是判断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800600" y="248716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选段（2）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09744" y="3108960"/>
            <a:ext cx="27797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把信息分成“事实/解释/价值判断”，再画出推理箭头。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75320" y="1600200"/>
            <a:ext cx="3456432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476488" y="1847088"/>
            <a:ext cx="566928" cy="384048"/>
          </a:xfrm>
          <a:prstGeom prst="roundRect">
            <a:avLst>
              <a:gd name="adj" fmla="val 42857"/>
            </a:avLst>
          </a:prstGeom>
          <a:solidFill>
            <a:srgbClr val="4F7B62"/>
          </a:solidFill>
          <a:ln w="1270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76488" y="18470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89720" y="1792224"/>
            <a:ext cx="2240280" cy="47548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2C4E73"/>
                </a:solidFill>
                <a:latin typeface="STKaiti"/>
              </a:rPr>
              <a:t>任务C｜声音与感染力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595360" y="248716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选段（3）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04504" y="3108960"/>
            <a:ext cx="27797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读出两种语气，比较哪种更能体现排比与价值升华。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5422392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每站离开前必须留下一个“可见产出”：排序 / 分类 / 朗读标记。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rgbClr val="00B050"/>
                </a:solidFill>
                <a:latin typeface="STKaiti"/>
              </a:rPr>
              <a:t>传纸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591056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591056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合作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523744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523744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A站｜结构拼图：作者怎样把立场“推出来”？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4F7B62"/>
          </a:solidFill>
          <a:ln w="1270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先不看顺序，把四张结构卡排好；再回原文验证。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2514600" cy="2377440"/>
          </a:xfrm>
          <a:prstGeom prst="roundRect">
            <a:avLst>
              <a:gd name="adj" fmla="val 6154"/>
            </a:avLst>
          </a:prstGeom>
          <a:solidFill>
            <a:srgbClr val="DCE9E1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问题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1832" y="278892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不能“一报还一报”，还公平吗？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02152" y="1874520"/>
            <a:ext cx="251460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730752" y="20848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承认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758184" y="278892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犯罪应受处罚；处罚程度可讨论。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18504" y="1874520"/>
            <a:ext cx="2514600" cy="2377440"/>
          </a:xfrm>
          <a:prstGeom prst="roundRect">
            <a:avLst>
              <a:gd name="adj" fmla="val 6154"/>
            </a:avLst>
          </a:prstGeom>
          <a:solidFill>
            <a:srgbClr val="DCE9E1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547104" y="20848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限定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74536" y="278892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不能把“杀人偿命”的报复逻辑当成正义的唯一基础。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34856" y="1874520"/>
            <a:ext cx="251460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363456" y="20848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原则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390888" y="278892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即使面对严重犯罪，论证仍要说明人的尊严与正义边界。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加分：找出原文中一个“承认 + 转折”的句式，写在结构卡下面。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B站｜“事实”不会自动变成结论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4F7B62"/>
          </a:solidFill>
          <a:ln w="1270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把信息放入三栏，并用箭头标出作者如何从事实走向判断。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401568" cy="3200400"/>
          </a:xfrm>
          <a:prstGeom prst="roundRect">
            <a:avLst>
              <a:gd name="adj" fmla="val 4571"/>
            </a:avLst>
          </a:prstGeom>
          <a:solidFill>
            <a:srgbClr val="D9ECEA"/>
          </a:solidFill>
          <a:ln w="15240">
            <a:solidFill>
              <a:srgbClr val="3B7F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185623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7F7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事实 / 数据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0704" y="2697480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从选段（2）找至少两例。</a:t>
            </a:r>
            <a:endParaRPr lang="en-US" sz="1900" dirty="0"/>
          </a:p>
          <a:p>
            <a:pPr marL="0" indent="0" algn="ctr">
              <a:buNone/>
            </a:pP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然后补一句：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“作者为什么需要这一类信息？”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498848" y="1645920"/>
            <a:ext cx="3401568" cy="3200400"/>
          </a:xfrm>
          <a:prstGeom prst="roundRect">
            <a:avLst>
              <a:gd name="adj" fmla="val 4571"/>
            </a:avLst>
          </a:prstGeom>
          <a:solidFill>
            <a:srgbClr val="F6EBCB"/>
          </a:solidFill>
          <a:ln w="15240">
            <a:solidFill>
              <a:srgbClr val="B58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727448" y="185623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58A2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 / 推论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28032" y="2697480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从选段（2）找至少两例。</a:t>
            </a:r>
            <a:endParaRPr lang="en-US" sz="1900" dirty="0"/>
          </a:p>
          <a:p>
            <a:pPr marL="0" indent="0" algn="ctr">
              <a:buNone/>
            </a:pP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然后补一句：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“作者为什么需要这一类信息？”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66176" y="1645920"/>
            <a:ext cx="3401568" cy="3200400"/>
          </a:xfrm>
          <a:prstGeom prst="roundRect">
            <a:avLst>
              <a:gd name="adj" fmla="val 4571"/>
            </a:avLst>
          </a:prstGeom>
          <a:solidFill>
            <a:srgbClr val="F1DEDE"/>
          </a:solidFill>
          <a:ln w="15240">
            <a:solidFill>
              <a:srgbClr val="A34B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494776" y="185623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34B4B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价值判断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95360" y="2697480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从选段（2）找至少两例。</a:t>
            </a:r>
            <a:endParaRPr lang="en-US" sz="1900" dirty="0"/>
          </a:p>
          <a:p>
            <a:pPr marL="0" indent="0" algn="ctr">
              <a:buNone/>
            </a:pP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然后补一句：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“作者为什么需要这一类信息？”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68680" y="5321808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挑战：找一处你认为“证据不足以直接推出结论”的位置，写一个追问。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C站｜把文字读出“力量”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4F7B62"/>
          </a:solidFill>
          <a:ln w="1270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同一句话用两种方式朗读；听众指出哪里让语气发生变化。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1572768"/>
            <a:ext cx="10515600" cy="1234440"/>
          </a:xfrm>
          <a:prstGeom prst="roundRect">
            <a:avLst>
              <a:gd name="adj" fmla="val 11852"/>
            </a:avLst>
          </a:prstGeom>
          <a:solidFill>
            <a:srgbClr val="DCE9E1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143000" y="1810512"/>
            <a:ext cx="9857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“我的生活没有任何改变，除了：已逝去的懦弱、恐惧与无助；坚定、力量与勇气诞生了。”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14400" y="3182112"/>
            <a:ext cx="489204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78992" y="3364992"/>
            <a:ext cx="512064" cy="512064"/>
          </a:xfrm>
          <a:prstGeom prst="ellipse">
            <a:avLst/>
          </a:prstGeom>
          <a:solidFill>
            <a:srgbClr val="4F7B62"/>
          </a:solidFill>
          <a:ln w="1270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78992" y="3355848"/>
            <a:ext cx="512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3310128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第一遍：平读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3657600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不做停顿设计，只把句子读完整。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55080" y="3182112"/>
            <a:ext cx="489204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519672" y="3364992"/>
            <a:ext cx="512064" cy="512064"/>
          </a:xfrm>
          <a:prstGeom prst="ellipse">
            <a:avLst/>
          </a:prstGeom>
          <a:solidFill>
            <a:srgbClr val="4F7B62"/>
          </a:solidFill>
          <a:ln w="1270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519672" y="3355848"/>
            <a:ext cx="512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3310128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第二遍：设计停顿与重音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78040" y="3657600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圈出重复 / 对比词，决定哪里停、哪里重读。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4681728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听众写一句：这种声音处理让“个人经历”怎样变成“公共呼吁”？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朗读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591056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591056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表演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523744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2523744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解释效果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静默质疑｜作品传一桌，不需要走动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4F7B62"/>
          </a:solidFill>
          <a:ln w="1270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5F6974"/>
                </a:solidFill>
                <a:latin typeface="STKaiti"/>
              </a:rPr>
              <a:t>每桌把产出传给右边一桌。4分钟静默阅读，只留下两种便签。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4800600" cy="2606040"/>
          </a:xfrm>
          <a:prstGeom prst="roundRect">
            <a:avLst>
              <a:gd name="adj" fmla="val 5614"/>
            </a:avLst>
          </a:prstGeom>
          <a:solidFill>
            <a:srgbClr val="DCE9E1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234440" y="197510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★ 星星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263347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“这一处分析最清楚，因为……”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“你们用文本证据证明了……”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480060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20840" y="197510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? 挑战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720840" y="263347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“这里我还不确定，因为……”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“你们需要再找什么证据？”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68680" y="4892040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回到原组后，只处理一张最重要的“挑战”便签，并修改产出。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STKaiti"/>
              </a:rPr>
              <a:t>传阅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591056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591056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反馈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523744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523744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修改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活动三｜文本排序：作者的论证是怎样一步步推进的？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4F7B62"/>
          </a:solidFill>
          <a:ln w="1270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1900" b="0">
                <a:solidFill>
                  <a:srgbClr val="5F6974"/>
                </a:solidFill>
                <a:latin typeface="STKaiti"/>
              </a:rPr>
              <a:t>下面5张都是选段（1）的原文片段。两人先在纸上写出顺序，再说出每一步的功能。</a:t>
            </a:r>
            <a:endParaRPr lang="en-US" sz="1700" dirty="0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61288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257800" cy="749808"/>
          </a:xfrm>
          <a:prstGeom prst="roundRect">
            <a:avLst/>
          </a:prstGeom>
          <a:solidFill>
            <a:srgbClr val="EBF1F8"/>
          </a:solidFill>
          <a:ln w="15240">
            <a:solidFill>
              <a:srgbClr val="3F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/>
            <a:r>
              <a:rPr sz="1900" b="0">
                <a:solidFill>
                  <a:srgbClr val="2C343F"/>
                </a:solidFill>
                <a:latin typeface="STKaiti"/>
              </a:rPr>
              <a:t>A  “所以，我们可以从上述观点来看死刑存废的议题……”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0749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/>
            <a:r>
              <a:rPr sz="1900" b="0">
                <a:solidFill>
                  <a:srgbClr val="2C343F"/>
                </a:solidFill>
                <a:latin typeface="STKaiti"/>
              </a:rPr>
              <a:t>B  “至于什么样的处罚比较恰当，可以有讨论的空间……”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88920"/>
            <a:ext cx="5257800" cy="749808"/>
          </a:xfrm>
          <a:prstGeom prst="roundRect">
            <a:avLst/>
          </a:prstGeom>
          <a:solidFill>
            <a:srgbClr val="EBF1F8"/>
          </a:solidFill>
          <a:ln w="15240">
            <a:solidFill>
              <a:srgbClr val="3F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/>
            <a:r>
              <a:rPr sz="1900" b="0">
                <a:solidFill>
                  <a:srgbClr val="2C343F"/>
                </a:solidFill>
                <a:latin typeface="STKaiti"/>
              </a:rPr>
              <a:t>C  “如果不能一报还一报，这世间还有公平正义吗？”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788920"/>
            <a:ext cx="50749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/>
            <a:r>
              <a:rPr sz="1900" b="0">
                <a:solidFill>
                  <a:srgbClr val="2C343F"/>
                </a:solidFill>
                <a:latin typeface="STKaiti"/>
              </a:rPr>
              <a:t>D  “一个简单的回答是：公平正义的实践在于犯罪就要受到处罚……”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3840480"/>
            <a:ext cx="7498079" cy="822960"/>
          </a:xfrm>
          <a:prstGeom prst="roundRect">
            <a:avLst/>
          </a:prstGeom>
          <a:solidFill>
            <a:srgbClr val="EBF1F8"/>
          </a:solidFill>
          <a:ln w="15240">
            <a:solidFill>
              <a:srgbClr val="3F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/>
            <a:r>
              <a:rPr sz="1900" b="0">
                <a:solidFill>
                  <a:srgbClr val="2C343F"/>
                </a:solidFill>
                <a:latin typeface="STKaiti"/>
              </a:rPr>
              <a:t>E  “但是底线是，必须把犯罪者当人看待，不能毁弃他的人性尊严……”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4983480"/>
            <a:ext cx="937260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800" b="0">
                <a:solidFill>
                  <a:srgbClr val="2C4E73"/>
                </a:solidFill>
                <a:latin typeface="STKaiti"/>
              </a:rPr>
              <a:t>写下：顺序 ______ → ______ → ______ → ______ → ______</a:t>
            </a:r>
          </a:p>
          <a:p>
            <a:pPr algn="ctr"/>
            <a:r>
              <a:rPr sz="1800" b="0">
                <a:solidFill>
                  <a:srgbClr val="2C4E73"/>
                </a:solidFill>
                <a:latin typeface="STKaiti"/>
              </a:rPr>
              <a:t>挑战：给每一步贴标签——提问 / 回答 / 让步 / 限定 / 回扣议题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700" b="0">
                <a:solidFill>
                  <a:srgbClr val="5F6974"/>
                </a:solidFill>
                <a:latin typeface="STKaiti"/>
              </a:rPr>
              <a:t>排完必须回教材验证；如果你的顺序不同，用上下文证明。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离堂反馈｜“偷走”一个写作动作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4F7B62"/>
          </a:solidFill>
          <a:ln w="1270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不是抄术语，而是带走一个你下次会真的使用的动作。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97280" y="1691640"/>
            <a:ext cx="996696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508760" y="201168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我今天决定“偷走”的动作是：________________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508760" y="28346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它的作用是：__________________________________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508760" y="365760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我可以这样写：________________________________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143000" y="5440680"/>
            <a:ext cx="9875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家庭作业：把今天的“人体段落”改写成完整书面段落。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960120"/>
            <a:ext cx="1353312" cy="530352"/>
          </a:xfrm>
          <a:prstGeom prst="roundRect">
            <a:avLst>
              <a:gd name="adj" fmla="val 37931"/>
            </a:avLst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从阅读迁移到写作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76656" y="26700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当题目只给一句观点时，怎样把它变成一篇有层次的议论？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3794760"/>
            <a:ext cx="5029200" cy="1143000"/>
          </a:xfrm>
          <a:prstGeom prst="roundRect">
            <a:avLst>
              <a:gd name="adj" fmla="val 12800"/>
            </a:avLst>
          </a:prstGeom>
          <a:solidFill>
            <a:srgbClr val="F4E5D7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39867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学习意图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84832" y="39044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我能建立立场、证据与反方回应，并完成博客写作计划。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89320" y="3794760"/>
            <a:ext cx="507492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199632" y="39867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课堂节奏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52360" y="3904488"/>
            <a:ext cx="3246120" cy="56692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0">
                <a:solidFill>
                  <a:srgbClr val="5F6974"/>
                </a:solidFill>
                <a:latin typeface="STKaiti"/>
              </a:rPr>
              <a:t>背景理解 → 速投 → 讨论 → 写作计划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8368" y="6016752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8368" y="6016752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chemeClr val="accent2"/>
                </a:solidFill>
                <a:latin typeface="STKaiti"/>
              </a:rPr>
              <a:t>速投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591056" y="6016752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591056" y="60167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讨论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523744" y="6016752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523744" y="60167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回文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56432" y="6016752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456432" y="60167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01168"/>
            <a:ext cx="5394960" cy="36576"/>
          </a:xfrm>
          <a:prstGeom prst="rect">
            <a:avLst/>
          </a:prstGeom>
          <a:solidFill>
            <a:srgbClr val="D1D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88136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3200" b="1">
                <a:solidFill>
                  <a:srgbClr val="2C4E73"/>
                </a:solidFill>
                <a:latin typeface="STKaiti"/>
              </a:rPr>
              <a:t>先搞清楚｜什么是“公平贸易咖啡”？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987552"/>
            <a:ext cx="9509760" cy="38404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900" b="0">
                <a:solidFill>
                  <a:srgbClr val="5F6974"/>
                </a:solidFill>
                <a:latin typeface="STKaiti"/>
              </a:rPr>
              <a:t>先理解机制，再讨论它是否真的“公平”。这里以 Fairtrade 认证机制作为背景例子。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429000" cy="2011680"/>
          </a:xfrm>
          <a:prstGeom prst="roundRect">
            <a:avLst/>
          </a:prstGeom>
          <a:solidFill>
            <a:srgbClr val="EBF1F8"/>
          </a:solidFill>
          <a:ln w="15240">
            <a:solidFill>
              <a:srgbClr val="3F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100" b="0">
                <a:solidFill>
                  <a:srgbClr val="2C343F"/>
                </a:solidFill>
                <a:latin typeface="STKaiti"/>
              </a:rPr>
              <a:t>① 价格保障</a:t>
            </a:r>
          </a:p>
          <a:p>
            <a:pPr algn="ctr"/>
            <a:endParaRPr sz="2100" b="0">
              <a:solidFill>
                <a:srgbClr val="2C343F"/>
              </a:solidFill>
              <a:latin typeface="STKaiti"/>
            </a:endParaRPr>
          </a:p>
          <a:p>
            <a:pPr algn="ctr"/>
            <a:r>
              <a:rPr sz="2100" b="0">
                <a:solidFill>
                  <a:srgbClr val="2C343F"/>
                </a:solidFill>
                <a:latin typeface="STKaiti"/>
              </a:rPr>
              <a:t>认证交易中，买家支付“公平贸易最低价”或市场价（取较高者）。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4290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100" b="0">
                <a:solidFill>
                  <a:srgbClr val="2C343F"/>
                </a:solidFill>
                <a:latin typeface="STKaiti"/>
              </a:rPr>
              <a:t>② 额外溢价</a:t>
            </a:r>
          </a:p>
          <a:p>
            <a:pPr algn="ctr"/>
            <a:endParaRPr sz="2100" b="0">
              <a:solidFill>
                <a:srgbClr val="2C343F"/>
              </a:solidFill>
              <a:latin typeface="STKaiti"/>
            </a:endParaRPr>
          </a:p>
          <a:p>
            <a:pPr algn="ctr"/>
            <a:r>
              <a:rPr sz="2100" b="0">
                <a:solidFill>
                  <a:srgbClr val="2C343F"/>
                </a:solidFill>
                <a:latin typeface="STKaiti"/>
              </a:rPr>
              <a:t>在咖啡价格之外，还需支付 Fairtrade Premium（公平贸易溢价）。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737360"/>
            <a:ext cx="3429000" cy="2011680"/>
          </a:xfrm>
          <a:prstGeom prst="roundRect">
            <a:avLst/>
          </a:prstGeom>
          <a:solidFill>
            <a:srgbClr val="EBF1F8"/>
          </a:solidFill>
          <a:ln w="15240">
            <a:solidFill>
              <a:srgbClr val="3F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100" b="0">
                <a:solidFill>
                  <a:srgbClr val="2C343F"/>
                </a:solidFill>
                <a:latin typeface="STKaiti"/>
              </a:rPr>
              <a:t>③ 共同决定用途</a:t>
            </a:r>
          </a:p>
          <a:p>
            <a:pPr algn="ctr"/>
            <a:endParaRPr sz="2100" b="0">
              <a:solidFill>
                <a:srgbClr val="2C343F"/>
              </a:solidFill>
              <a:latin typeface="STKaiti"/>
            </a:endParaRPr>
          </a:p>
          <a:p>
            <a:pPr algn="ctr"/>
            <a:r>
              <a:rPr sz="2100" b="0">
                <a:solidFill>
                  <a:srgbClr val="2C343F"/>
                </a:solidFill>
                <a:latin typeface="STKaiti"/>
              </a:rPr>
              <a:t>生产者组织民主决定溢价用于业务、生计或社区项目。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60520"/>
            <a:ext cx="103327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1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900" b="0">
                <a:solidFill>
                  <a:srgbClr val="2C4E73"/>
                </a:solidFill>
                <a:latin typeface="STKaiti"/>
              </a:rPr>
              <a:t>关键提醒：这不等于“消费者每多付1元，就有1元直接进入某一位咖啡农的口袋”。</a:t>
            </a:r>
          </a:p>
          <a:p>
            <a:pPr algn="ctr"/>
            <a:r>
              <a:rPr sz="1900" b="0">
                <a:solidFill>
                  <a:srgbClr val="2C4E73"/>
                </a:solidFill>
                <a:latin typeface="STKaiti"/>
              </a:rPr>
              <a:t>判断“公平”，仍然要问：谁得益？谁承担风险？谁有决定权？是否带来长期改善？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32720" cy="43891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2100" b="1">
                <a:solidFill>
                  <a:srgbClr val="3F6FA6"/>
                </a:solidFill>
                <a:latin typeface="STKaiti"/>
              </a:rPr>
              <a:t>接下来活动一：你判断“公平贸易”时，最看重哪一个标准？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600" b="0">
                <a:solidFill>
                  <a:srgbClr val="5F6974"/>
                </a:solidFill>
                <a:latin typeface="STKaiti"/>
              </a:rPr>
              <a:t>写作时仍以教材题目与教师指定资料为依据。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活动一｜公平标准速投：你最看重哪一个？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5F6974"/>
                </a:solidFill>
                <a:latin typeface="STKaiti"/>
              </a:rPr>
              <a:t>不离座：小白板写A/B/C/D，同时亮板。然后同桌用一句话解释选择。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5230368" cy="1554480"/>
          </a:xfrm>
          <a:prstGeom prst="roundRect">
            <a:avLst>
              <a:gd name="adj" fmla="val 9412"/>
            </a:avLst>
          </a:prstGeom>
          <a:solidFill>
            <a:srgbClr val="F4E5D7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14400" y="1810512"/>
            <a:ext cx="530352" cy="384048"/>
          </a:xfrm>
          <a:prstGeom prst="roundRect">
            <a:avLst>
              <a:gd name="adj" fmla="val 42857"/>
            </a:avLst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27632" y="179222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收益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34640" y="179222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生产者最终得到多少？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1627632"/>
            <a:ext cx="5230368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355080" y="1810512"/>
            <a:ext cx="530352" cy="384048"/>
          </a:xfrm>
          <a:prstGeom prst="roundRect">
            <a:avLst>
              <a:gd name="adj" fmla="val 42857"/>
            </a:avLst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355080" y="181051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68312" y="179222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劳动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75320" y="179222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劳动条件与尊严如何？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3675888"/>
            <a:ext cx="5230368" cy="1554480"/>
          </a:xfrm>
          <a:prstGeom prst="roundRect">
            <a:avLst>
              <a:gd name="adj" fmla="val 9412"/>
            </a:avLst>
          </a:prstGeom>
          <a:solidFill>
            <a:srgbClr val="F4E5D7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14400" y="3858768"/>
            <a:ext cx="530352" cy="384048"/>
          </a:xfrm>
          <a:prstGeom prst="roundRect">
            <a:avLst>
              <a:gd name="adj" fmla="val 42857"/>
            </a:avLst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" y="385876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27632" y="38404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风险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834640" y="3840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成本与价格波动由谁承担？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172200" y="3675888"/>
            <a:ext cx="5230368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355080" y="3858768"/>
            <a:ext cx="530352" cy="384048"/>
          </a:xfrm>
          <a:prstGeom prst="roundRect">
            <a:avLst>
              <a:gd name="adj" fmla="val 42857"/>
            </a:avLst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355080" y="385876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68312" y="38404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长期发展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275320" y="3840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是否带来可持续改善？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chemeClr val="accent2"/>
                </a:solidFill>
                <a:latin typeface="STKaiti"/>
              </a:rPr>
              <a:t>亮板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591056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591056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定义概念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816352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816352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举例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任务拆解接力｜四个人各拿走一个问题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请打开教材第123页“创作”。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2651760" cy="3017520"/>
          </a:xfrm>
          <a:prstGeom prst="roundRect">
            <a:avLst>
              <a:gd name="adj" fmla="val 5517"/>
            </a:avLst>
          </a:prstGeom>
          <a:solidFill>
            <a:srgbClr val="F4E5D7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68096" y="1901952"/>
            <a:ext cx="512064" cy="384048"/>
          </a:xfrm>
          <a:prstGeom prst="roundRect">
            <a:avLst>
              <a:gd name="adj" fmla="val 42857"/>
            </a:avLst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68096" y="1901952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35608" y="1828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受众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谁会读这篇博客？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40782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写一个可执行提醒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29000" y="1691640"/>
            <a:ext cx="2651760" cy="3017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630168" y="1901952"/>
            <a:ext cx="512064" cy="384048"/>
          </a:xfrm>
          <a:prstGeom prst="roundRect">
            <a:avLst>
              <a:gd name="adj" fmla="val 42857"/>
            </a:avLst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630168" y="1901952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297680" y="1828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目的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30752" y="27432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你想让读者怎么想？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13048" y="40782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写一个可执行提醒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91072" y="1691640"/>
            <a:ext cx="2651760" cy="3017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92240" y="1901952"/>
            <a:ext cx="512064" cy="384048"/>
          </a:xfrm>
          <a:prstGeom prst="roundRect">
            <a:avLst>
              <a:gd name="adj" fmla="val 42857"/>
            </a:avLst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92240" y="1901952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159752" y="1828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文体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92824" y="27432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博客怎样“有声音”又不失逻辑？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75120" y="40782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写一个可执行提醒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53144" y="1691640"/>
            <a:ext cx="2651760" cy="3017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354312" y="1901952"/>
            <a:ext cx="512064" cy="384048"/>
          </a:xfrm>
          <a:prstGeom prst="roundRect">
            <a:avLst>
              <a:gd name="adj" fmla="val 42857"/>
            </a:avLst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54312" y="1901952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021824" y="1828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材料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454896" y="27432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哪些信息能用？怎样判断可信度？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537192" y="40782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写一个可执行提醒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8680" y="5230368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30秒轮流汇报后，组内把四个提醒合成一张“写作任务清单”。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分工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591056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591056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汇报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523744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2523744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整合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资料轮转｜人不动，资料动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5F6974"/>
                </a:solidFill>
                <a:latin typeface="STKaiti"/>
              </a:rPr>
              <a:t>使用教材脚注网页 / 教师指定资料。每组先审一份，再把资料传给下一桌。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2633472" cy="2834640"/>
          </a:xfrm>
          <a:prstGeom prst="roundRect">
            <a:avLst>
              <a:gd name="adj" fmla="val 5556"/>
            </a:avLst>
          </a:prstGeom>
          <a:solidFill>
            <a:srgbClr val="F4E5D7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645920" y="1874520"/>
            <a:ext cx="530352" cy="384048"/>
          </a:xfrm>
          <a:prstGeom prst="roundRect">
            <a:avLst>
              <a:gd name="adj" fmla="val 42857"/>
            </a:avLst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59689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这是什么？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31012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事实 / 数据 / 个案 / 观点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20440" y="1627632"/>
            <a:ext cx="2633472" cy="2834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530352" cy="384048"/>
          </a:xfrm>
          <a:prstGeom prst="roundRect">
            <a:avLst>
              <a:gd name="adj" fmla="val 42857"/>
            </a:avLst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26280" y="187452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21608" y="259689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可靠吗？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94760" y="331012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来源、时间、是否可核实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0" y="1627632"/>
            <a:ext cx="2633472" cy="2834640"/>
          </a:xfrm>
          <a:prstGeom prst="roundRect">
            <a:avLst>
              <a:gd name="adj" fmla="val 5556"/>
            </a:avLst>
          </a:prstGeom>
          <a:solidFill>
            <a:srgbClr val="F4E5D7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06640" y="1874520"/>
            <a:ext cx="530352" cy="384048"/>
          </a:xfrm>
          <a:prstGeom prst="roundRect">
            <a:avLst>
              <a:gd name="adj" fmla="val 42857"/>
            </a:avLst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406640" y="187452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01968" y="259689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支持什么？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331012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它能支持哪一个分论点？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81160" y="1627632"/>
            <a:ext cx="2633472" cy="2834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0287000" y="1874520"/>
            <a:ext cx="530352" cy="384048"/>
          </a:xfrm>
          <a:prstGeom prst="roundRect">
            <a:avLst>
              <a:gd name="adj" fmla="val 42857"/>
            </a:avLst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287000" y="187452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82328" y="259689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有什么限制？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555480" y="331012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它不能证明什么？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4992624"/>
            <a:ext cx="10287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每轮3分钟：在资料上贴一张“可用 / 谨慎 / 不用”便签，并写理由。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轮转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591056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591056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判断资料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816352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816352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贴标签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证据拍卖｜10分预算，怎么买最值？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5F6974"/>
                </a:solidFill>
                <a:latin typeface="STKaiti"/>
              </a:rPr>
              <a:t>每组有10分预算。教师逐条展示资料，你们决定出0–5分；预算不能超支。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120640" cy="3291840"/>
          </a:xfrm>
          <a:prstGeom prst="roundRect">
            <a:avLst>
              <a:gd name="adj" fmla="val 4444"/>
            </a:avLst>
          </a:prstGeom>
          <a:solidFill>
            <a:srgbClr val="F4E5D7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51560" y="1901952"/>
            <a:ext cx="2057400" cy="43891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2C4E73"/>
                </a:solidFill>
                <a:latin typeface="STKaiti"/>
              </a:rPr>
              <a:t>出价前先判断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2587752"/>
            <a:ext cx="4160520" cy="132588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t">
            <a:normAutofit/>
          </a:bodyPr>
          <a:lstStyle/>
          <a:p>
            <a:pPr marL="0" indent="0" algn="l">
              <a:buNone/>
            </a:pPr>
            <a:r>
              <a:rPr sz="1800" b="0">
                <a:solidFill>
                  <a:srgbClr val="2C343F"/>
                </a:solidFill>
                <a:latin typeface="STKaiti"/>
              </a:rPr>
              <a:t>① 它支持哪个分论点？</a:t>
            </a:r>
            <a:endParaRPr lang="en-US" sz="2100" dirty="0"/>
          </a:p>
          <a:p>
            <a:pPr algn="l"/>
            <a:r>
              <a:rPr sz="1800" b="0">
                <a:solidFill>
                  <a:srgbClr val="2C343F"/>
                </a:solidFill>
                <a:latin typeface="STKaiti"/>
              </a:rPr>
              <a:t>② 来源可靠吗？</a:t>
            </a:r>
          </a:p>
          <a:p>
            <a:pPr algn="l"/>
            <a:r>
              <a:rPr sz="1800" b="0">
                <a:solidFill>
                  <a:srgbClr val="2C343F"/>
                </a:solidFill>
                <a:latin typeface="STKaiti"/>
              </a:rPr>
              <a:t>③ 能解释“为什么”吗？</a:t>
            </a:r>
          </a:p>
          <a:p>
            <a:pPr algn="l"/>
            <a:r>
              <a:rPr sz="1800" b="0">
                <a:solidFill>
                  <a:srgbClr val="2C343F"/>
                </a:solidFill>
                <a:latin typeface="STKaiti"/>
              </a:rPr>
              <a:t>④ 最大限制是什么？</a:t>
            </a:r>
          </a:p>
        </p:txBody>
      </p:sp>
      <p:sp>
        <p:nvSpPr>
          <p:cNvPr id="8" name="Shape 6"/>
          <p:cNvSpPr/>
          <p:nvPr/>
        </p:nvSpPr>
        <p:spPr>
          <a:xfrm>
            <a:off x="6355080" y="1645920"/>
            <a:ext cx="507492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675120" y="1901952"/>
            <a:ext cx="1508760" cy="43891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2C4E73"/>
                </a:solidFill>
                <a:latin typeface="STKaiti"/>
              </a:rPr>
              <a:t>拍卖规则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75120" y="2578608"/>
            <a:ext cx="4133088" cy="148132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1800" b="0">
                <a:solidFill>
                  <a:srgbClr val="2C343F"/>
                </a:solidFill>
                <a:latin typeface="STKaiti"/>
              </a:rPr>
              <a:t>小白板写：资料编号＋出价</a:t>
            </a:r>
            <a:endParaRPr lang="en-US" sz="2100" dirty="0"/>
          </a:p>
          <a:p>
            <a:pPr algn="l"/>
            <a:r>
              <a:rPr sz="1800" b="0">
                <a:solidFill>
                  <a:srgbClr val="2C343F"/>
                </a:solidFill>
                <a:latin typeface="STKaiti"/>
              </a:rPr>
              <a:t>教师揭示各组出价后，请最高出价组解释：</a:t>
            </a:r>
          </a:p>
          <a:p>
            <a:pPr algn="l"/>
            <a:r>
              <a:rPr sz="1800" b="0">
                <a:solidFill>
                  <a:srgbClr val="2C343F"/>
                </a:solidFill>
                <a:latin typeface="STKaiti"/>
              </a:rPr>
              <a:t>“为什么它值得这么多？”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5230368"/>
            <a:ext cx="10287000" cy="50292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0">
                <a:solidFill>
                  <a:srgbClr val="2C343F"/>
                </a:solidFill>
                <a:latin typeface="STKaiti"/>
              </a:rPr>
              <a:t>目标：最后只保留3条“真的会写进文章”的证据，并写清它们分别证明什么。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chemeClr val="accent2"/>
                </a:solidFill>
                <a:latin typeface="STKaiti"/>
              </a:rPr>
              <a:t>出价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591056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591056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chemeClr val="accent2"/>
                </a:solidFill>
                <a:latin typeface="STKaiti"/>
              </a:rPr>
              <a:t>判断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23744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523744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解释证据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立场刻度｜“公平贸易咖啡并不公平”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5F6974"/>
                </a:solidFill>
                <a:latin typeface="STKaiti"/>
              </a:rPr>
              <a:t>小白板写1–5：1＝完全反对，5＝完全赞同。听完两位同学的证据后，可以改数字。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143000" y="3063240"/>
            <a:ext cx="9829800" cy="0"/>
          </a:xfrm>
          <a:prstGeom prst="line">
            <a:avLst/>
          </a:prstGeom>
          <a:noFill/>
          <a:ln w="635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3310128"/>
            <a:ext cx="1143000" cy="43891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2C4E73"/>
                </a:solidFill>
                <a:latin typeface="STKaiti"/>
              </a:rPr>
              <a:t>1</a:t>
            </a:r>
            <a:endParaRPr lang="en-US" sz="1800" dirty="0"/>
          </a:p>
          <a:p>
            <a:pPr algn="ctr"/>
            <a:r>
              <a:rPr sz="1700" b="1">
                <a:solidFill>
                  <a:srgbClr val="2C4E73"/>
                </a:solidFill>
                <a:latin typeface="STKaiti"/>
              </a:rPr>
              <a:t>完全反对</a:t>
            </a:r>
          </a:p>
        </p:txBody>
      </p:sp>
      <p:sp>
        <p:nvSpPr>
          <p:cNvPr id="7" name="Text 5"/>
          <p:cNvSpPr/>
          <p:nvPr/>
        </p:nvSpPr>
        <p:spPr>
          <a:xfrm>
            <a:off x="3154680" y="3310128"/>
            <a:ext cx="1143000" cy="43891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2C4E73"/>
                </a:solidFill>
                <a:latin typeface="STKaiti"/>
              </a:rPr>
              <a:t>2</a:t>
            </a:r>
            <a:endParaRPr lang="en-US" sz="1800" dirty="0"/>
          </a:p>
          <a:p>
            <a:pPr algn="ctr"/>
            <a:r>
              <a:rPr sz="1700" b="1">
                <a:solidFill>
                  <a:srgbClr val="2C4E73"/>
                </a:solidFill>
                <a:latin typeface="STKaiti"/>
              </a:rPr>
              <a:t>比较反对</a:t>
            </a:r>
          </a:p>
        </p:txBody>
      </p:sp>
      <p:sp>
        <p:nvSpPr>
          <p:cNvPr id="8" name="Text 6"/>
          <p:cNvSpPr/>
          <p:nvPr/>
        </p:nvSpPr>
        <p:spPr>
          <a:xfrm>
            <a:off x="5577840" y="3310128"/>
            <a:ext cx="1143000" cy="43891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2C4E73"/>
                </a:solidFill>
                <a:latin typeface="STKaiti"/>
              </a:rPr>
              <a:t>3</a:t>
            </a:r>
            <a:endParaRPr lang="en-US" sz="1800" dirty="0"/>
          </a:p>
          <a:p>
            <a:pPr algn="ctr"/>
            <a:r>
              <a:rPr sz="1700" b="1">
                <a:solidFill>
                  <a:srgbClr val="2C4E73"/>
                </a:solidFill>
                <a:latin typeface="STKaiti"/>
              </a:rPr>
              <a:t>暂不确定</a:t>
            </a:r>
          </a:p>
        </p:txBody>
      </p:sp>
      <p:sp>
        <p:nvSpPr>
          <p:cNvPr id="9" name="Text 7"/>
          <p:cNvSpPr/>
          <p:nvPr/>
        </p:nvSpPr>
        <p:spPr>
          <a:xfrm>
            <a:off x="7680960" y="3310128"/>
            <a:ext cx="1143000" cy="43891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2C4E73"/>
                </a:solidFill>
                <a:latin typeface="STKaiti"/>
              </a:rPr>
              <a:t>4</a:t>
            </a:r>
            <a:endParaRPr lang="en-US" sz="1800" dirty="0"/>
          </a:p>
          <a:p>
            <a:pPr algn="ctr"/>
            <a:r>
              <a:rPr sz="1700" b="1">
                <a:solidFill>
                  <a:srgbClr val="2C4E73"/>
                </a:solidFill>
                <a:latin typeface="STKaiti"/>
              </a:rPr>
              <a:t>比较赞同</a:t>
            </a:r>
          </a:p>
        </p:txBody>
      </p:sp>
      <p:sp>
        <p:nvSpPr>
          <p:cNvPr id="10" name="Text 8"/>
          <p:cNvSpPr/>
          <p:nvPr/>
        </p:nvSpPr>
        <p:spPr>
          <a:xfrm>
            <a:off x="10012680" y="3310128"/>
            <a:ext cx="1143000" cy="43891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2C4E73"/>
                </a:solidFill>
                <a:latin typeface="STKaiti"/>
              </a:rPr>
              <a:t>5</a:t>
            </a:r>
            <a:endParaRPr lang="en-US" sz="1800" dirty="0"/>
          </a:p>
          <a:p>
            <a:pPr algn="ctr"/>
            <a:r>
              <a:rPr sz="1700" b="1">
                <a:solidFill>
                  <a:srgbClr val="2C4E73"/>
                </a:solidFill>
                <a:latin typeface="STKaiti"/>
              </a:rPr>
              <a:t>完全赞同</a:t>
            </a:r>
          </a:p>
        </p:txBody>
      </p:sp>
      <p:sp>
        <p:nvSpPr>
          <p:cNvPr id="11" name="Shape 9"/>
          <p:cNvSpPr/>
          <p:nvPr/>
        </p:nvSpPr>
        <p:spPr>
          <a:xfrm>
            <a:off x="914400" y="1508760"/>
            <a:ext cx="10378440" cy="868680"/>
          </a:xfrm>
          <a:prstGeom prst="roundRect">
            <a:avLst>
              <a:gd name="adj" fmla="val 16842"/>
            </a:avLst>
          </a:prstGeom>
          <a:solidFill>
            <a:srgbClr val="F4E5D7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234440" y="170078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发言格式：我的位置是 ______；我目前最重视的“公平标准”是 ______；证据是 ______。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60120" y="4709160"/>
            <a:ext cx="10287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2C4E73"/>
                </a:solidFill>
                <a:latin typeface="STKaiti"/>
              </a:rPr>
              <a:t>第二轮：必须先复述一个与你不同的位置，再决定是否改数字。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chemeClr val="accent2"/>
                </a:solidFill>
                <a:latin typeface="STKaiti"/>
              </a:rPr>
              <a:t>亮板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591056" y="6236208"/>
            <a:ext cx="141732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591056" y="62362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用证据发言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118104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118104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chemeClr val="accent2"/>
                </a:solidFill>
                <a:latin typeface="STKaiti"/>
              </a:rPr>
              <a:t>改数字</a:t>
            </a:r>
            <a:endParaRPr lang="en-US" sz="15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同桌双轮辩论｜先替对方说清楚，再回应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5F6974"/>
                </a:solidFill>
                <a:latin typeface="STKaiti"/>
              </a:rPr>
              <a:t>第一轮A先说、B回应；第二轮交换角色。每轮2分钟，不换座位。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60120" y="1627632"/>
            <a:ext cx="2880360" cy="2880360"/>
          </a:xfrm>
          <a:prstGeom prst="ellipse">
            <a:avLst/>
          </a:prstGeom>
          <a:solidFill>
            <a:srgbClr val="F4E5D7">
              <a:alpha val="95000"/>
            </a:srgbClr>
          </a:solidFill>
          <a:ln w="254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536192" y="2203704"/>
            <a:ext cx="1737360" cy="1737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874520" y="2596896"/>
            <a:ext cx="1060704" cy="786384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2C4E73"/>
                </a:solidFill>
                <a:latin typeface="STKaiti"/>
              </a:rPr>
              <a:t>A ↔ B</a:t>
            </a:r>
            <a:endParaRPr lang="en-US" sz="2400" dirty="0"/>
          </a:p>
          <a:p>
            <a:pPr algn="ctr"/>
            <a:r>
              <a:rPr sz="2000" b="1">
                <a:solidFill>
                  <a:srgbClr val="2C4E73"/>
                </a:solidFill>
                <a:latin typeface="STKaiti"/>
              </a:rPr>
              <a:t>换角色</a:t>
            </a:r>
          </a:p>
        </p:txBody>
      </p:sp>
      <p:sp>
        <p:nvSpPr>
          <p:cNvPr id="8" name="Shape 6"/>
          <p:cNvSpPr/>
          <p:nvPr/>
        </p:nvSpPr>
        <p:spPr>
          <a:xfrm>
            <a:off x="4370832" y="1572768"/>
            <a:ext cx="685800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709160" y="18105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每轮必须完成三步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09160" y="2514600"/>
            <a:ext cx="5897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① 先准确复述对方观点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② 让步：“你指出的 ______ 确实重要。”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③ 回应：“但是，如果以 ______ 为标准，更关键的是 ______。”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5193792"/>
            <a:ext cx="10287000" cy="50292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0">
                <a:solidFill>
                  <a:srgbClr val="2C343F"/>
                </a:solidFill>
                <a:latin typeface="STKaiti"/>
              </a:rPr>
              <a:t>两轮结束：各自写下“最难回应的反方观点”。它应该进入你的文章。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58368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8368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chemeClr val="accent2"/>
                </a:solidFill>
                <a:latin typeface="STKaiti"/>
              </a:rPr>
              <a:t>换角色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883664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883664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倾听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816352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816352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让步反驳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桌面文章｜先把文章“排出来”，再写下来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5F6974"/>
                </a:solidFill>
                <a:latin typeface="STKaiti"/>
              </a:rPr>
              <a:t>四张段落功能卡放在桌上。小组先排顺序，再为每张写一句“这一段必须出现的话”。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719072"/>
            <a:ext cx="2670048" cy="2926080"/>
          </a:xfrm>
          <a:prstGeom prst="roundRect">
            <a:avLst>
              <a:gd name="adj" fmla="val 5479"/>
            </a:avLst>
          </a:prstGeom>
          <a:solidFill>
            <a:srgbClr val="F4E5D7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95681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开头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86968" y="2816352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界定“公平”＋提出判断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474720" y="1719072"/>
            <a:ext cx="2670048" cy="292608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703320" y="195681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理由一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767328" y="2816352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判断 → 证据 → 解释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355080" y="1719072"/>
            <a:ext cx="2670048" cy="2926080"/>
          </a:xfrm>
          <a:prstGeom prst="roundRect">
            <a:avLst>
              <a:gd name="adj" fmla="val 5479"/>
            </a:avLst>
          </a:prstGeom>
          <a:solidFill>
            <a:srgbClr val="F4E5D7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583680" y="195681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反方与回应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647688" y="2816352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最强反方 → 让步 → 回应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235440" y="1719072"/>
            <a:ext cx="2670048" cy="292608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464040" y="195681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结尾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9528048" y="2816352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回到“真正的公平”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8680" y="5010912"/>
            <a:ext cx="1046988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900" b="0">
                <a:solidFill>
                  <a:srgbClr val="2C343F"/>
                </a:solidFill>
                <a:latin typeface="STKaiti"/>
              </a:rPr>
              <a:t>4分钟共写四句关键句 → 按文章顺序读一遍 → 检查有没有逻辑跳步。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chemeClr val="accent2"/>
                </a:solidFill>
                <a:latin typeface="STKaiti"/>
              </a:rPr>
              <a:t>排序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591056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591056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共写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523744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2523744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拼成文章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个人写作计划｜现在才回到自己的纸上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A96B33"/>
          </a:solidFill>
          <a:ln w="1270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把刚才的讨论收束成你自己的文章，不复制小组答案。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75488" y="1664208"/>
            <a:ext cx="2139696" cy="3291840"/>
          </a:xfrm>
          <a:prstGeom prst="roundRect">
            <a:avLst>
              <a:gd name="adj" fmla="val 6838"/>
            </a:avLst>
          </a:prstGeom>
          <a:solidFill>
            <a:srgbClr val="F4E5D7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58368" y="190195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立场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04088" y="283464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我最终怎样判断？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07208" y="1664208"/>
            <a:ext cx="2139696" cy="3291840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990088" y="190195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标准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035808" y="283464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我主要用什么“公平标准”？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38928" y="1664208"/>
            <a:ext cx="2139696" cy="3291840"/>
          </a:xfrm>
          <a:prstGeom prst="roundRect">
            <a:avLst>
              <a:gd name="adj" fmla="val 6838"/>
            </a:avLst>
          </a:prstGeom>
          <a:solidFill>
            <a:srgbClr val="F4E5D7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321808" y="190195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367528" y="283464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我只保留哪3条？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70648" y="1664208"/>
            <a:ext cx="2139696" cy="3291840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653528" y="190195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反方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699248" y="283464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最强反方是什么？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802368" y="1664208"/>
            <a:ext cx="2139696" cy="3291840"/>
          </a:xfrm>
          <a:prstGeom prst="roundRect">
            <a:avLst>
              <a:gd name="adj" fmla="val 6838"/>
            </a:avLst>
          </a:prstGeom>
          <a:solidFill>
            <a:srgbClr val="F4E5D7"/>
          </a:solidFill>
          <a:ln w="15240">
            <a:solidFill>
              <a:srgbClr val="A96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985248" y="190195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A96B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回应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030968" y="283464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我怎样让步后再回应？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230368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离堂前交：一句中心判断 + 一句最强反方。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5705856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家庭作业：完成个人写作计划；下一课带回全部资料与证据卡。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960120"/>
            <a:ext cx="1353312" cy="530352"/>
          </a:xfrm>
          <a:prstGeom prst="roundRect">
            <a:avLst>
              <a:gd name="adj" fmla="val 37931"/>
            </a:avLst>
          </a:prstGeom>
          <a:solidFill>
            <a:srgbClr val="735A8F"/>
          </a:solidFill>
          <a:ln w="1270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4 课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写作、反馈与修订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76656" y="26700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怎样让同伴反馈真正改变文章，而不是只改错别字？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3794760"/>
            <a:ext cx="5029200" cy="1143000"/>
          </a:xfrm>
          <a:prstGeom prst="roundRect">
            <a:avLst>
              <a:gd name="adj" fmla="val 12800"/>
            </a:avLst>
          </a:prstGeom>
          <a:solidFill>
            <a:srgbClr val="E9E1F0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39867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学习意图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84831" y="3904488"/>
            <a:ext cx="3382113" cy="94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我能完成博客草稿，并通过结构、证据、反方和语言四个维度进行修订。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89319" y="3794760"/>
            <a:ext cx="5761693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199632" y="39867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课堂节奏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52360" y="3904488"/>
            <a:ext cx="3995928" cy="70408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0" dirty="0" err="1">
                <a:solidFill>
                  <a:srgbClr val="5F6974"/>
                </a:solidFill>
                <a:latin typeface="STKaiti"/>
              </a:rPr>
              <a:t>判断</a:t>
            </a:r>
            <a:r>
              <a:rPr sz="2000" b="0" dirty="0">
                <a:solidFill>
                  <a:srgbClr val="5F6974"/>
                </a:solidFill>
                <a:latin typeface="STKaiti"/>
              </a:rPr>
              <a:t> → </a:t>
            </a:r>
            <a:r>
              <a:rPr sz="2000" b="0" dirty="0" err="1">
                <a:solidFill>
                  <a:srgbClr val="5F6974"/>
                </a:solidFill>
                <a:latin typeface="STKaiti"/>
              </a:rPr>
              <a:t>独写</a:t>
            </a:r>
            <a:r>
              <a:rPr sz="2000" b="0" dirty="0">
                <a:solidFill>
                  <a:srgbClr val="5F6974"/>
                </a:solidFill>
                <a:latin typeface="STKaiti"/>
              </a:rPr>
              <a:t> → </a:t>
            </a:r>
            <a:r>
              <a:rPr sz="2000" b="0" dirty="0" err="1">
                <a:solidFill>
                  <a:srgbClr val="5F6974"/>
                </a:solidFill>
                <a:latin typeface="STKaiti"/>
              </a:rPr>
              <a:t>同桌反馈</a:t>
            </a:r>
            <a:r>
              <a:rPr sz="2000" b="0" dirty="0">
                <a:solidFill>
                  <a:srgbClr val="5F6974"/>
                </a:solidFill>
                <a:latin typeface="STKaiti"/>
              </a:rPr>
              <a:t> → </a:t>
            </a:r>
            <a:r>
              <a:rPr sz="2000" b="0" dirty="0" err="1">
                <a:solidFill>
                  <a:srgbClr val="5F6974"/>
                </a:solidFill>
                <a:latin typeface="STKaiti"/>
              </a:rPr>
              <a:t>修订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8368" y="6016752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8368" y="6016752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rgbClr val="7030A0"/>
                </a:solidFill>
                <a:latin typeface="STKaiti"/>
              </a:rPr>
              <a:t>互评</a:t>
            </a:r>
            <a:endParaRPr lang="en-US" sz="1500" dirty="0">
              <a:solidFill>
                <a:srgbClr val="7030A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591056" y="6016752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591056" y="60167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讨论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523744" y="6016752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523744" y="60167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回文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56432" y="6016752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456432" y="60167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产出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开头拍卖｜每组只有100元，你愿意把钱投给谁？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735A8F"/>
          </a:solidFill>
          <a:ln w="1270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先小组“下注”，再说明为什么。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3493008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59536" y="1874520"/>
            <a:ext cx="566928" cy="384048"/>
          </a:xfrm>
          <a:prstGeom prst="roundRect">
            <a:avLst>
              <a:gd name="adj" fmla="val 42857"/>
            </a:avLst>
          </a:prstGeom>
          <a:solidFill>
            <a:srgbClr val="735A8F"/>
          </a:solidFill>
          <a:ln w="1270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59536" y="18745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651760"/>
            <a:ext cx="2743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我认为公平贸易咖啡并不公平，因为很多人都这么说。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61872" y="435254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你愿意投：____ 元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80560" y="1627632"/>
            <a:ext cx="3493008" cy="3246120"/>
          </a:xfrm>
          <a:prstGeom prst="roundRect">
            <a:avLst>
              <a:gd name="adj" fmla="val 4507"/>
            </a:avLst>
          </a:prstGeom>
          <a:solidFill>
            <a:srgbClr val="E9E1F0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681728" y="1874520"/>
            <a:ext cx="566928" cy="384048"/>
          </a:xfrm>
          <a:prstGeom prst="roundRect">
            <a:avLst>
              <a:gd name="adj" fmla="val 42857"/>
            </a:avLst>
          </a:prstGeom>
          <a:solidFill>
            <a:srgbClr val="735A8F"/>
          </a:solidFill>
          <a:ln w="1270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681728" y="18745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651760"/>
            <a:ext cx="2743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“公平贸易”听起来像一个答案，但“公平”本身才是问题：它公平给谁看？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84064" y="435254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你愿意投：____ 元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02752" y="1627632"/>
            <a:ext cx="3493008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503920" y="1874520"/>
            <a:ext cx="566928" cy="384048"/>
          </a:xfrm>
          <a:prstGeom prst="roundRect">
            <a:avLst>
              <a:gd name="adj" fmla="val 42857"/>
            </a:avLst>
          </a:prstGeom>
          <a:solidFill>
            <a:srgbClr val="735A8F"/>
          </a:solidFill>
          <a:ln w="1270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503920" y="18745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68512" y="2651760"/>
            <a:ext cx="2743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咖啡是很多人每天都会喝的饮料，所以公平贸易很重要。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06256" y="435254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你愿意投：____ 元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230368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拍卖后：每组必须“改造”一个最弱开头，使它值得更多钱。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讨论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591056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591056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决策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523744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523744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改写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桌面传阅｜只看写作计划，不看整篇作文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735A8F"/>
          </a:solidFill>
          <a:ln w="1270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5F6974"/>
                </a:solidFill>
                <a:latin typeface="STKaiti"/>
              </a:rPr>
              <a:t>把计划传给右边一位同学，安静阅读4分钟；写完两张便签后传回。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1755648"/>
            <a:ext cx="4892040" cy="2880360"/>
          </a:xfrm>
          <a:prstGeom prst="roundRect">
            <a:avLst>
              <a:gd name="adj" fmla="val 5079"/>
            </a:avLst>
          </a:prstGeom>
          <a:solidFill>
            <a:srgbClr val="DCE9E1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188720" y="199339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绿色便签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2743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我最想借鉴的一点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88720" y="34930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因为它让论证更清楚……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46520" y="1755648"/>
            <a:ext cx="4892040" cy="2880360"/>
          </a:xfrm>
          <a:prstGeom prst="roundRect">
            <a:avLst>
              <a:gd name="adj" fmla="val 5079"/>
            </a:avLst>
          </a:prstGeom>
          <a:solidFill>
            <a:srgbClr val="F6EBCB"/>
          </a:solidFill>
          <a:ln w="15240">
            <a:solidFill>
              <a:srgbClr val="B58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720840" y="199339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58A2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黄色便签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720840" y="2743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我最想追问的一点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720840" y="34930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我还不明白 / 我需要更多证据……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138928"/>
            <a:ext cx="10287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回到座位后，只接受一条你认为真的会改善文章的反馈。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rgbClr val="7030A0"/>
                </a:solidFill>
                <a:latin typeface="STKaiti"/>
              </a:rPr>
              <a:t>传阅</a:t>
            </a:r>
            <a:endParaRPr lang="en-US" sz="1500" dirty="0">
              <a:solidFill>
                <a:srgbClr val="7030A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591056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591056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阅读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523744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523744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筛反馈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写作冲刺①｜8分钟：开头 + 第一分论点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735A8F"/>
          </a:solidFill>
          <a:ln w="1270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计时开始后不讨论；只解决“立场清楚”和“证据解释”。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1572768"/>
            <a:ext cx="10515600" cy="1828800"/>
          </a:xfrm>
          <a:prstGeom prst="roundRect">
            <a:avLst>
              <a:gd name="adj" fmla="val 8000"/>
            </a:avLst>
          </a:prstGeom>
          <a:solidFill>
            <a:srgbClr val="E9E1F0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51560" y="18745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8:00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703320" y="1810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写作检查点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703320" y="23774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□ 开头界定“公平”或指出争议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□ 第一分论点有证据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□ 证据后写出“这说明……”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3886200"/>
            <a:ext cx="1033272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88720" y="4087368"/>
            <a:ext cx="9784080" cy="50292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900" b="0">
                <a:solidFill>
                  <a:srgbClr val="2C343F"/>
                </a:solidFill>
                <a:latin typeface="STKaiti"/>
              </a:rPr>
              <a:t>时间到 → 与同桌交换，只读对方“第一分论点”的最后两句。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05840" y="519379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问一句：我看得出“这条证据为什么重要”吗？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591056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591056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rgbClr val="7030A0"/>
                </a:solidFill>
                <a:latin typeface="STKaiti"/>
              </a:rPr>
              <a:t>同桌交换</a:t>
            </a:r>
            <a:endParaRPr lang="en-US" sz="1500" dirty="0">
              <a:solidFill>
                <a:srgbClr val="7030A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816352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816352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证据检查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写作冲刺②｜12分钟：第二分论点 + 最强反方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735A8F"/>
          </a:solidFill>
          <a:ln w="1270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这一次只盯“有没有真正处理对方观点”。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1572768"/>
            <a:ext cx="1051560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51560" y="18745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12:00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703320" y="1810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反方检查点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703320" y="23774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□ 对方观点不是“稻草人”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□ 先准确复述，再让步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□ 回应回到自己的“公平标准”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3931920"/>
            <a:ext cx="10332720" cy="987552"/>
          </a:xfrm>
          <a:prstGeom prst="roundRect">
            <a:avLst>
              <a:gd name="adj" fmla="val 14815"/>
            </a:avLst>
          </a:prstGeom>
          <a:solidFill>
            <a:srgbClr val="E9E1F0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88720" y="4133088"/>
            <a:ext cx="9784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时间到 → 两人面对面，各用30秒口头读出“反方 + 回应”。听者只说：哪一步最弱？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58368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58368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独写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591056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591056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口头测试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816352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816352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修一处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2C4E73"/>
                </a:solidFill>
                <a:latin typeface="STKaiti"/>
              </a:rPr>
              <a:t>四项修订｜任选两项，直接在原座位修改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735A8F"/>
          </a:solidFill>
          <a:ln w="1270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2000" b="0">
                <a:solidFill>
                  <a:srgbClr val="5F6974"/>
                </a:solidFill>
                <a:latin typeface="STKaiti"/>
              </a:rPr>
              <a:t>先诊断自己最需要哪两项。每项3分钟；每做一项，草稿上必须留下一个可见修改。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2670048" cy="2971800"/>
          </a:xfrm>
          <a:prstGeom prst="roundRect">
            <a:avLst>
              <a:gd name="adj" fmla="val 5479"/>
            </a:avLst>
          </a:prstGeom>
          <a:solidFill>
            <a:srgbClr val="E9E1F0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95528" y="195681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① 立场诊所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86968" y="2907792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全文是否一直回答同一个问题？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1691640"/>
            <a:ext cx="2670048" cy="297180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75888" y="195681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② 证据诊所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767328" y="2907792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每条资料后有没有解释“所以呢”？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2670048" cy="2971800"/>
          </a:xfrm>
          <a:prstGeom prst="roundRect">
            <a:avLst>
              <a:gd name="adj" fmla="val 5479"/>
            </a:avLst>
          </a:prstGeom>
          <a:solidFill>
            <a:srgbClr val="E9E1F0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556248" y="195681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③ 反方诊所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47688" y="2907792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是否真正理解并回应了合理反方？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35440" y="1691640"/>
            <a:ext cx="2670048" cy="297180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436608" y="195681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④ 语言诊所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528048" y="2907792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哪些句子太空、太绝对或太重复？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4956048"/>
            <a:ext cx="1046988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900" b="0">
                <a:solidFill>
                  <a:srgbClr val="2C343F"/>
                </a:solidFill>
                <a:latin typeface="STKaiti"/>
              </a:rPr>
              <a:t>建议顺序：先修“立场 / 证据”，再修“反方 / 语言”。不要只改错别字。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58368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58368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rgbClr val="7030A0"/>
                </a:solidFill>
                <a:latin typeface="STKaiti"/>
              </a:rPr>
              <a:t>自选两项</a:t>
            </a:r>
            <a:endParaRPr lang="en-US" sz="1500" dirty="0">
              <a:solidFill>
                <a:srgbClr val="7030A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883664" y="6236208"/>
            <a:ext cx="82296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883664" y="6236208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 dirty="0" err="1">
                <a:solidFill>
                  <a:srgbClr val="7030A0"/>
                </a:solidFill>
                <a:latin typeface="STKaiti"/>
              </a:rPr>
              <a:t>诊断</a:t>
            </a:r>
            <a:endParaRPr lang="en-US" sz="1500" dirty="0">
              <a:solidFill>
                <a:srgbClr val="7030A0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816352" y="6236208"/>
            <a:ext cx="1115568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397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2816352" y="623620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直接修稿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修订任务板｜任选两项，但必须留下“前后对照”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735A8F"/>
          </a:solidFill>
          <a:ln w="1270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不要只改错别字；先修最影响说服力的地方。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3493008" cy="1417320"/>
          </a:xfrm>
          <a:prstGeom prst="roundRect">
            <a:avLst>
              <a:gd name="adj" fmla="val 10323"/>
            </a:avLst>
          </a:prstGeom>
          <a:solidFill>
            <a:srgbClr val="E9E1F0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86968" y="1755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任务A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6968" y="22677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把一个绝对化句子改得更准确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80560" y="1572768"/>
            <a:ext cx="3493008" cy="1417320"/>
          </a:xfrm>
          <a:prstGeom prst="roundRect">
            <a:avLst>
              <a:gd name="adj" fmla="val 10323"/>
            </a:avLst>
          </a:prstGeom>
          <a:solidFill>
            <a:srgbClr val="E9E1F0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709160" y="1755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任务B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9160" y="22677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在一条证据后补“这说明……”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02752" y="1572768"/>
            <a:ext cx="3493008" cy="1417320"/>
          </a:xfrm>
          <a:prstGeom prst="roundRect">
            <a:avLst>
              <a:gd name="adj" fmla="val 10323"/>
            </a:avLst>
          </a:prstGeom>
          <a:solidFill>
            <a:srgbClr val="E9E1F0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531352" y="1755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任务C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31352" y="22677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把一个弱反方改成更强的版本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8368" y="3401568"/>
            <a:ext cx="3493008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86968" y="35844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任务D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86968" y="4096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删掉一句重复或空泛的话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480560" y="3401568"/>
            <a:ext cx="3493008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09160" y="35844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任务E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09160" y="4096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让结尾重新回答“什么才算公平？”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02752" y="3401568"/>
            <a:ext cx="3493008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531352" y="35844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任务F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531352" y="4096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换一个更精确的动词 / 连接方式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537667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完成后圈出两处修改，并在旁边写：为什么更有说服力？</a:t>
            </a:r>
            <a:endParaRPr lang="en-US" sz="2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最后分享｜只展示“一个修改”，不读整篇作文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735A8F"/>
          </a:solidFill>
          <a:ln w="1270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两人一组：30秒展示“修改前 → 修改后 → 为什么更好”。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97280" y="1600200"/>
            <a:ext cx="996696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371600" y="176479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修改前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788920" y="1755648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我原来写：________________________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97280" y="2715768"/>
            <a:ext cx="9966960" cy="868680"/>
          </a:xfrm>
          <a:prstGeom prst="roundRect">
            <a:avLst>
              <a:gd name="adj" fmla="val 16842"/>
            </a:avLst>
          </a:prstGeom>
          <a:solidFill>
            <a:srgbClr val="E9E1F0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71600" y="288036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修改后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788920" y="2871216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我改成：__________________________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831336"/>
            <a:ext cx="996696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371600" y="399592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理由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788920" y="3986784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这样更好，因为：______________________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5212080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离堂反馈：下次写议论文，我最需要优先改进的是 ____________________。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5687568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家庭作业：提交修订稿 + 一句修订反思。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000" b="1">
                <a:solidFill>
                  <a:srgbClr val="2C4E73"/>
                </a:solidFill>
                <a:latin typeface="STKaiti"/>
              </a:rPr>
              <a:t>教师使用页｜小教室版操作提醒与可压缩项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此页可隐藏，不必向学生展示。</a:t>
            </a:r>
            <a:endParaRPr lang="en-US" sz="17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81328"/>
          <a:ext cx="10881360" cy="34290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933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课次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933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核心活动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933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时间不足时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第1课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四角站位 / 拼图阅读 / 证据接力 / 人体光谱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可删人体光谱第2题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第2课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站立配对 / 三站轮转 / 画廊质疑 / 段落接力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可缩短画廊至3分钟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第3课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公平四角 / 资料轮转 / 证据市场 / 立场线 / 反驳速配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可删证据市场，保留轮转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第4课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开头拍卖 / 静默画廊 / 两次写作冲刺 / 修订诊所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时间不足只去1个门诊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5193792"/>
            <a:ext cx="10607040" cy="685800"/>
          </a:xfrm>
          <a:prstGeom prst="roundRect">
            <a:avLst>
              <a:gd name="adj" fmla="val 21333"/>
            </a:avLst>
          </a:prstGeom>
          <a:solidFill>
            <a:srgbClr val="EDEAE2"/>
          </a:solidFill>
          <a:ln w="15240">
            <a:solidFill>
              <a:srgbClr val="D6D2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987552" y="5340096"/>
            <a:ext cx="10149840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0">
                <a:solidFill>
                  <a:srgbClr val="2C343F"/>
                </a:solidFill>
                <a:latin typeface="STKaiti"/>
              </a:rPr>
              <a:t>原则：每个活动之后一定要有“文本证据 / 口头解释 / 书面产出”之一。</a:t>
            </a:r>
            <a:endParaRPr lang="en-US" sz="2000" dirty="0"/>
          </a:p>
          <a:p>
            <a:pPr algn="ctr"/>
            <a:r>
              <a:rPr sz="1800" b="0">
                <a:solidFill>
                  <a:srgbClr val="2C343F"/>
                </a:solidFill>
                <a:latin typeface="STKaiti"/>
              </a:rPr>
              <a:t>小教室不需要降低参与度：优先用亮板、传纸、桌面卡片、同桌反驳和分项互评。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000" b="1">
                <a:solidFill>
                  <a:srgbClr val="2C4E73"/>
                </a:solidFill>
                <a:latin typeface="STKaiti"/>
              </a:rPr>
              <a:t>附录A｜第1课“手指 / 小白板速投”提示卡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1800" b="0">
                <a:solidFill>
                  <a:srgbClr val="5F6974"/>
                </a:solidFill>
                <a:latin typeface="STKaiti"/>
              </a:rPr>
              <a:t>可投影或打印一份放在教室前方。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058400" y="640080"/>
            <a:ext cx="1325880" cy="384048"/>
          </a:xfrm>
          <a:prstGeom prst="roundRect">
            <a:avLst>
              <a:gd name="adj" fmla="val 42857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0" y="640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可打印附录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5257800" cy="1664208"/>
          </a:xfrm>
          <a:prstGeom prst="roundRect">
            <a:avLst>
              <a:gd name="adj" fmla="val 8791"/>
            </a:avLst>
          </a:prstGeom>
          <a:solidFill>
            <a:srgbClr val="DCEAF4"/>
          </a:solidFill>
          <a:ln w="1524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86968" y="1783080"/>
            <a:ext cx="621792" cy="384048"/>
          </a:xfrm>
          <a:prstGeom prst="roundRect">
            <a:avLst>
              <a:gd name="adj" fmla="val 42857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86968" y="1783080"/>
            <a:ext cx="621792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STKaiti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09928" y="1792224"/>
            <a:ext cx="3822192" cy="96012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0">
                <a:solidFill>
                  <a:srgbClr val="2C4E73"/>
                </a:solidFill>
                <a:latin typeface="STKaiti"/>
              </a:rPr>
              <a:t>完全同意</a:t>
            </a:r>
            <a:endParaRPr lang="en-US" sz="2500" dirty="0"/>
          </a:p>
          <a:p>
            <a:pPr algn="ctr"/>
            <a:r>
              <a:rPr sz="2000" b="0">
                <a:solidFill>
                  <a:srgbClr val="2C4E73"/>
                </a:solidFill>
                <a:latin typeface="STKaiti"/>
              </a:rPr>
              <a:t>举1个手指 / 写1</a:t>
            </a:r>
          </a:p>
        </p:txBody>
      </p:sp>
      <p:sp>
        <p:nvSpPr>
          <p:cNvPr id="11" name="Shape 9"/>
          <p:cNvSpPr/>
          <p:nvPr/>
        </p:nvSpPr>
        <p:spPr>
          <a:xfrm>
            <a:off x="6144768" y="1554480"/>
            <a:ext cx="5257800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524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373368" y="1783080"/>
            <a:ext cx="621792" cy="384048"/>
          </a:xfrm>
          <a:prstGeom prst="roundRect">
            <a:avLst>
              <a:gd name="adj" fmla="val 42857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373368" y="1783080"/>
            <a:ext cx="621792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STKaiti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96328" y="1792224"/>
            <a:ext cx="3822192" cy="96012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0">
                <a:solidFill>
                  <a:srgbClr val="2C4E73"/>
                </a:solidFill>
                <a:latin typeface="STKaiti"/>
              </a:rPr>
              <a:t>比较同意</a:t>
            </a:r>
            <a:endParaRPr lang="en-US" sz="2500" dirty="0"/>
          </a:p>
          <a:p>
            <a:pPr algn="ctr"/>
            <a:r>
              <a:rPr sz="2000" b="0">
                <a:solidFill>
                  <a:srgbClr val="2C4E73"/>
                </a:solidFill>
                <a:latin typeface="STKaiti"/>
              </a:rPr>
              <a:t>举2个手指 / 写2</a:t>
            </a:r>
          </a:p>
        </p:txBody>
      </p:sp>
      <p:sp>
        <p:nvSpPr>
          <p:cNvPr id="15" name="Shape 13"/>
          <p:cNvSpPr/>
          <p:nvPr/>
        </p:nvSpPr>
        <p:spPr>
          <a:xfrm>
            <a:off x="658368" y="3749040"/>
            <a:ext cx="5257800" cy="1664208"/>
          </a:xfrm>
          <a:prstGeom prst="roundRect">
            <a:avLst>
              <a:gd name="adj" fmla="val 8791"/>
            </a:avLst>
          </a:prstGeom>
          <a:solidFill>
            <a:srgbClr val="DCEAF4"/>
          </a:solidFill>
          <a:ln w="1524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86968" y="3977640"/>
            <a:ext cx="621792" cy="384048"/>
          </a:xfrm>
          <a:prstGeom prst="roundRect">
            <a:avLst>
              <a:gd name="adj" fmla="val 42857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86968" y="3977640"/>
            <a:ext cx="621792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STKaiti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09928" y="3986784"/>
            <a:ext cx="3822192" cy="96012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0">
                <a:solidFill>
                  <a:srgbClr val="2C4E73"/>
                </a:solidFill>
                <a:latin typeface="STKaiti"/>
              </a:rPr>
              <a:t>比较不同意</a:t>
            </a:r>
            <a:endParaRPr lang="en-US" sz="2500" dirty="0"/>
          </a:p>
          <a:p>
            <a:pPr algn="ctr"/>
            <a:r>
              <a:rPr sz="2000" b="0">
                <a:solidFill>
                  <a:srgbClr val="2C4E73"/>
                </a:solidFill>
                <a:latin typeface="STKaiti"/>
              </a:rPr>
              <a:t>举3个手指 / 写3</a:t>
            </a:r>
          </a:p>
        </p:txBody>
      </p:sp>
      <p:sp>
        <p:nvSpPr>
          <p:cNvPr id="19" name="Shape 17"/>
          <p:cNvSpPr/>
          <p:nvPr/>
        </p:nvSpPr>
        <p:spPr>
          <a:xfrm>
            <a:off x="6144768" y="3749040"/>
            <a:ext cx="5257800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524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373368" y="3977640"/>
            <a:ext cx="621792" cy="384048"/>
          </a:xfrm>
          <a:prstGeom prst="roundRect">
            <a:avLst>
              <a:gd name="adj" fmla="val 42857"/>
            </a:avLst>
          </a:prstGeom>
          <a:solidFill>
            <a:srgbClr val="3C6E99"/>
          </a:solidFill>
          <a:ln w="1270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373368" y="3977640"/>
            <a:ext cx="621792" cy="384048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STKaiti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96328" y="3986784"/>
            <a:ext cx="3822192" cy="96012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2000" b="0">
                <a:solidFill>
                  <a:srgbClr val="2C4E73"/>
                </a:solidFill>
                <a:latin typeface="STKaiti"/>
              </a:rPr>
              <a:t>完全不同意</a:t>
            </a:r>
            <a:endParaRPr lang="en-US" sz="2500" dirty="0"/>
          </a:p>
          <a:p>
            <a:pPr algn="ctr"/>
            <a:r>
              <a:rPr sz="2000" b="0">
                <a:solidFill>
                  <a:srgbClr val="2C4E73"/>
                </a:solidFill>
                <a:latin typeface="STKaiti"/>
              </a:rPr>
              <a:t>举4个手指 / 写4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附录B｜专家拼图角色卡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F6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每组4人；人数不同可兼任。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058400" y="640080"/>
            <a:ext cx="1325880" cy="384048"/>
          </a:xfrm>
          <a:prstGeom prst="roundRect">
            <a:avLst>
              <a:gd name="adj" fmla="val 42857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0" y="640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可打印附录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" y="1554480"/>
            <a:ext cx="5166360" cy="1572768"/>
          </a:xfrm>
          <a:prstGeom prst="roundRect">
            <a:avLst>
              <a:gd name="adj" fmla="val 9302"/>
            </a:avLst>
          </a:prstGeom>
          <a:solidFill>
            <a:srgbClr val="DCEAF4"/>
          </a:solidFill>
          <a:ln w="1524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69848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观点侦探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24328" y="175564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用25字以内说清作者主张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166360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3796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证据猎人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092440" y="175564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找2处关键文本细节，并写“这说明……”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9808" y="3657600"/>
            <a:ext cx="5166360" cy="1572768"/>
          </a:xfrm>
          <a:prstGeom prst="roundRect">
            <a:avLst>
              <a:gd name="adj" fmla="val 9302"/>
            </a:avLst>
          </a:prstGeom>
          <a:solidFill>
            <a:srgbClr val="DCEAF4"/>
          </a:solidFill>
          <a:ln w="1524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69848" y="3886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语言分析员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24328" y="385876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找1处有力量的表达，解释对读者的作用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3657600"/>
            <a:ext cx="5166360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3C6E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37960" y="3886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C6E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质疑者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092440" y="385876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提出1个作者必须回答的问题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000" b="1">
                <a:solidFill>
                  <a:srgbClr val="2C4E73"/>
                </a:solidFill>
                <a:latin typeface="STKaiti"/>
              </a:rPr>
              <a:t>附录C｜“论证方法配对”教师备课卡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1800" b="0">
                <a:solidFill>
                  <a:srgbClr val="5F6974"/>
                </a:solidFill>
                <a:latin typeface="STKaiti"/>
              </a:rPr>
              <a:t>课堂主活动已把课文原句直接放在投影上；此页保留方法与作用，便于教师核对。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058400" y="640080"/>
            <a:ext cx="1325880" cy="384048"/>
          </a:xfrm>
          <a:prstGeom prst="roundRect">
            <a:avLst>
              <a:gd name="adj" fmla="val 42857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0" y="640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可打印附录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1234440" cy="1234440"/>
          </a:xfrm>
          <a:prstGeom prst="roundRect">
            <a:avLst>
              <a:gd name="adj" fmla="val 11852"/>
            </a:avLst>
          </a:prstGeom>
          <a:solidFill>
            <a:srgbClr val="DCE9E1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界定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2057400" y="1417320"/>
            <a:ext cx="201168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194560" y="152704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把关键词说清楚，避免偷换概念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80560" y="1417320"/>
            <a:ext cx="1234440" cy="1234440"/>
          </a:xfrm>
          <a:prstGeom prst="roundRect">
            <a:avLst>
              <a:gd name="adj" fmla="val 11852"/>
            </a:avLst>
          </a:prstGeom>
          <a:solidFill>
            <a:srgbClr val="DCE9E1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480560" y="14173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让步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5897880" y="1417320"/>
            <a:ext cx="201168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035040" y="152704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承认对方部分合理，降低对抗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321040" y="1417320"/>
            <a:ext cx="1234440" cy="1234440"/>
          </a:xfrm>
          <a:prstGeom prst="roundRect">
            <a:avLst>
              <a:gd name="adj" fmla="val 11852"/>
            </a:avLst>
          </a:prstGeom>
          <a:solidFill>
            <a:srgbClr val="DCE9E1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321040" y="14173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反驳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9738360" y="1417320"/>
            <a:ext cx="201168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875520" y="152704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指出推理或证据的限制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1234440" cy="1234440"/>
          </a:xfrm>
          <a:prstGeom prst="roundRect">
            <a:avLst>
              <a:gd name="adj" fmla="val 11852"/>
            </a:avLst>
          </a:prstGeom>
          <a:solidFill>
            <a:srgbClr val="DCE9E1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举证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2057400" y="3749040"/>
            <a:ext cx="201168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194560" y="385876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让观点有可检验的依据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480560" y="3749040"/>
            <a:ext cx="1234440" cy="1234440"/>
          </a:xfrm>
          <a:prstGeom prst="roundRect">
            <a:avLst>
              <a:gd name="adj" fmla="val 11852"/>
            </a:avLst>
          </a:prstGeom>
          <a:solidFill>
            <a:srgbClr val="DCE9E1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480560" y="37490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5897880" y="3749040"/>
            <a:ext cx="201168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035040" y="385876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说明证据为什么支持观点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0" y="3749040"/>
            <a:ext cx="1234440" cy="1234440"/>
          </a:xfrm>
          <a:prstGeom prst="roundRect">
            <a:avLst>
              <a:gd name="adj" fmla="val 11852"/>
            </a:avLst>
          </a:prstGeom>
          <a:solidFill>
            <a:srgbClr val="DCE9E1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321040" y="37490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F7B62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升华</a:t>
            </a:r>
            <a:endParaRPr lang="en-US" sz="2500" dirty="0"/>
          </a:p>
        </p:txBody>
      </p:sp>
      <p:sp>
        <p:nvSpPr>
          <p:cNvPr id="29" name="Shape 27"/>
          <p:cNvSpPr/>
          <p:nvPr/>
        </p:nvSpPr>
        <p:spPr>
          <a:xfrm>
            <a:off x="9738360" y="3749040"/>
            <a:ext cx="201168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9875520" y="385876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把个例连接到更大的原则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000" b="1">
                <a:solidFill>
                  <a:srgbClr val="2C4E73"/>
                </a:solidFill>
                <a:latin typeface="STKaiti"/>
              </a:rPr>
              <a:t>附录D｜选段（1）文本排序卡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1800" b="0">
                <a:solidFill>
                  <a:srgbClr val="5F6974"/>
                </a:solidFill>
                <a:latin typeface="STKaiti"/>
              </a:rPr>
              <a:t>可打印剪开；也可以直接使用第2课“活动三”的投影完成。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058400" y="640080"/>
            <a:ext cx="1325880" cy="384048"/>
          </a:xfrm>
          <a:prstGeom prst="roundRect">
            <a:avLst>
              <a:gd name="adj" fmla="val 42857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0" y="640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可打印附录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353312"/>
            <a:ext cx="10515600" cy="749808"/>
          </a:xfrm>
          <a:prstGeom prst="roundRect">
            <a:avLst>
              <a:gd name="adj" fmla="val 19512"/>
            </a:avLst>
          </a:prstGeom>
          <a:solidFill>
            <a:srgbClr val="DCE9E1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78992" y="1463040"/>
            <a:ext cx="1508760" cy="457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2C4E73"/>
                </a:solidFill>
                <a:latin typeface="STKaiti"/>
              </a:rPr>
              <a:t>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0" y="1463040"/>
            <a:ext cx="8138160" cy="457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1700" b="0">
                <a:solidFill>
                  <a:srgbClr val="2C343F"/>
                </a:solidFill>
                <a:latin typeface="STKaiti"/>
              </a:rPr>
              <a:t>“如果不能一报还一报，这世间还有公平正义吗？”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2313432"/>
            <a:ext cx="1051560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78992" y="2423160"/>
            <a:ext cx="1508760" cy="457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2C4E73"/>
                </a:solidFill>
                <a:latin typeface="STKaiti"/>
              </a:rPr>
              <a:t>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43200" y="2423160"/>
            <a:ext cx="8138160" cy="457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1700" b="0">
                <a:solidFill>
                  <a:srgbClr val="2C343F"/>
                </a:solidFill>
                <a:latin typeface="STKaiti"/>
              </a:rPr>
              <a:t>“一个简单的回答是：公平正义的实践在于犯罪就要受到处罚……”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3273552"/>
            <a:ext cx="10515600" cy="749808"/>
          </a:xfrm>
          <a:prstGeom prst="roundRect">
            <a:avLst>
              <a:gd name="adj" fmla="val 19512"/>
            </a:avLst>
          </a:prstGeom>
          <a:solidFill>
            <a:srgbClr val="DCE9E1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78992" y="3383280"/>
            <a:ext cx="1508760" cy="457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2C4E73"/>
                </a:solidFill>
                <a:latin typeface="STKaiti"/>
              </a:rPr>
              <a:t>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43200" y="3383280"/>
            <a:ext cx="8138160" cy="457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1700" b="0">
                <a:solidFill>
                  <a:srgbClr val="2C343F"/>
                </a:solidFill>
                <a:latin typeface="STKaiti"/>
              </a:rPr>
              <a:t>“至于什么样的处罚比较恰当，可以有讨论的空间……”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4233672"/>
            <a:ext cx="1051560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78992" y="4343400"/>
            <a:ext cx="1508760" cy="457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2C4E73"/>
                </a:solidFill>
                <a:latin typeface="STKaiti"/>
              </a:rPr>
              <a:t>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43200" y="4343400"/>
            <a:ext cx="8138160" cy="457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1700" b="0">
                <a:solidFill>
                  <a:srgbClr val="2C343F"/>
                </a:solidFill>
                <a:latin typeface="STKaiti"/>
              </a:rPr>
              <a:t>“但是底线是，必须把犯罪者当人看待，不能毁弃他的人性尊严……”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22960" y="5193792"/>
            <a:ext cx="10515600" cy="749808"/>
          </a:xfrm>
          <a:prstGeom prst="roundRect">
            <a:avLst>
              <a:gd name="adj" fmla="val 19512"/>
            </a:avLst>
          </a:prstGeom>
          <a:solidFill>
            <a:srgbClr val="DCE9E1"/>
          </a:solidFill>
          <a:ln w="15240">
            <a:solidFill>
              <a:srgbClr val="4F7B6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78992" y="5303520"/>
            <a:ext cx="1508760" cy="457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2C4E73"/>
                </a:solidFill>
                <a:latin typeface="STKaiti"/>
              </a:rPr>
              <a:t>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743200" y="5303520"/>
            <a:ext cx="8138160" cy="457200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1700" b="0">
                <a:solidFill>
                  <a:srgbClr val="2C343F"/>
                </a:solidFill>
                <a:latin typeface="STKaiti"/>
              </a:rPr>
              <a:t>“所以，我们可以从上述观点来看死刑存废的议题……”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3000" b="1">
                <a:solidFill>
                  <a:srgbClr val="2C4E73"/>
                </a:solidFill>
                <a:latin typeface="STKaiti"/>
              </a:rPr>
              <a:t>附录E｜四项修订清单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22960" cy="73152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554480" y="987552"/>
            <a:ext cx="9509760" cy="347472"/>
          </a:xfrm>
          <a:prstGeom prst="rect">
            <a:avLst/>
          </a:prstGeom>
          <a:noFill/>
          <a:ln/>
        </p:spPr>
        <p:txBody>
          <a:bodyPr wrap="square" lIns="50800" tIns="25400" rIns="50800" bIns="25400" rtlCol="0" anchor="ctr">
            <a:normAutofit/>
          </a:bodyPr>
          <a:lstStyle/>
          <a:p>
            <a:pPr marL="0" indent="0" algn="l">
              <a:buNone/>
            </a:pPr>
            <a:r>
              <a:rPr sz="1800" b="0">
                <a:solidFill>
                  <a:srgbClr val="5F6974"/>
                </a:solidFill>
                <a:latin typeface="STKaiti"/>
              </a:rPr>
              <a:t>学生不移动，任选两项直接修改草稿。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058400" y="640080"/>
            <a:ext cx="1325880" cy="384048"/>
          </a:xfrm>
          <a:prstGeom prst="roundRect">
            <a:avLst>
              <a:gd name="adj" fmla="val 42857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0" y="640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可打印附录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1572768"/>
            <a:ext cx="5257800" cy="1600200"/>
          </a:xfrm>
          <a:prstGeom prst="roundRect">
            <a:avLst>
              <a:gd name="adj" fmla="val 9143"/>
            </a:avLst>
          </a:prstGeom>
          <a:solidFill>
            <a:srgbClr val="E9E1F0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立场诊所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679192" y="180136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全文是否一直回答同一个问题？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72200" y="1572768"/>
            <a:ext cx="525780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4652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证据诊所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138160" y="180136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每条资料后有没有解释“所以呢”？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13232" y="3703320"/>
            <a:ext cx="5257800" cy="1600200"/>
          </a:xfrm>
          <a:prstGeom prst="roundRect">
            <a:avLst>
              <a:gd name="adj" fmla="val 9143"/>
            </a:avLst>
          </a:prstGeom>
          <a:solidFill>
            <a:srgbClr val="E9E1F0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87552" y="39593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反方诊所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2679192" y="39319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是否真正理解并回应了合理反方？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72200" y="3703320"/>
            <a:ext cx="525780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5240">
            <a:solidFill>
              <a:srgbClr val="735A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46520" y="39593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735A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语言诊所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138160" y="39319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93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哪些句子太空、太绝对或太重复？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Kait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Kait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2905</Words>
  <Application>Microsoft Macintosh PowerPoint</Application>
  <PresentationFormat>Widescreen</PresentationFormat>
  <Paragraphs>689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STKaiti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公平正义｜议论 / 思想批判｜4课时小教室高参与版</dc:title>
  <dc:subject>IGCSE 0509 中文第一语言：公平正义（小教室高参与版）</dc:subject>
  <dc:creator>OpenAI</dc:creator>
  <cp:lastModifiedBy>Darcy Duan</cp:lastModifiedBy>
  <cp:revision>2</cp:revision>
  <dcterms:created xsi:type="dcterms:W3CDTF">2026-09-30T04:01:04Z</dcterms:created>
  <dcterms:modified xsi:type="dcterms:W3CDTF">2026-09-30T09:52:13Z</dcterms:modified>
</cp:coreProperties>
</file>