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5c36bcfa804d83" /><Relationship Type="http://schemas.openxmlformats.org/officeDocument/2006/relationships/extended-properties" Target="/docProps/app.xml" Id="R79c4ac8ba0be4908" /><Relationship Type="http://schemas.openxmlformats.org/officeDocument/2006/relationships/officeDocument" Target="/ppt/presentation.xml" Id="R170566ad84aa4d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6b465a5d7547ed"/>
  </p:sldMasterIdLst>
  <p:notesMasterIdLst>
    <p:notesMasterId xmlns:r="http://schemas.openxmlformats.org/officeDocument/2006/relationships" r:id="Rbc517482d3bd44a3"/>
  </p:notesMasterIdLst>
  <p:sldIdLst>
    <p:sldId xmlns:r="http://schemas.openxmlformats.org/officeDocument/2006/relationships" id="256" r:id="R1dbf22ff588246fb"/>
    <p:sldId xmlns:r="http://schemas.openxmlformats.org/officeDocument/2006/relationships" id="257" r:id="R3e233390a2c44522"/>
    <p:sldId xmlns:r="http://schemas.openxmlformats.org/officeDocument/2006/relationships" id="258" r:id="R8d2b6a4d79a14ed1"/>
    <p:sldId xmlns:r="http://schemas.openxmlformats.org/officeDocument/2006/relationships" id="259" r:id="Rb826a16157c242d8"/>
    <p:sldId xmlns:r="http://schemas.openxmlformats.org/officeDocument/2006/relationships" id="260" r:id="R06a46582dd3649da"/>
    <p:sldId xmlns:r="http://schemas.openxmlformats.org/officeDocument/2006/relationships" id="261" r:id="R74bbd01936a04674"/>
    <p:sldId xmlns:r="http://schemas.openxmlformats.org/officeDocument/2006/relationships" id="262" r:id="Refcbbf53e2364247"/>
    <p:sldId xmlns:r="http://schemas.openxmlformats.org/officeDocument/2006/relationships" id="263" r:id="R6be6b30f85f34dd8"/>
    <p:sldId xmlns:r="http://schemas.openxmlformats.org/officeDocument/2006/relationships" id="264" r:id="R539a679822fc4e98"/>
    <p:sldId xmlns:r="http://schemas.openxmlformats.org/officeDocument/2006/relationships" id="265" r:id="R6970584060f14f29"/>
    <p:sldId xmlns:r="http://schemas.openxmlformats.org/officeDocument/2006/relationships" id="266" r:id="Rf992411cbbaf49b2"/>
    <p:sldId xmlns:r="http://schemas.openxmlformats.org/officeDocument/2006/relationships" id="267" r:id="Rf5dba4e545c54ee5"/>
    <p:sldId xmlns:r="http://schemas.openxmlformats.org/officeDocument/2006/relationships" id="268" r:id="Rc1934b1760094aba"/>
    <p:sldId xmlns:r="http://schemas.openxmlformats.org/officeDocument/2006/relationships" id="269" r:id="R2b35221476b94d05"/>
    <p:sldId xmlns:r="http://schemas.openxmlformats.org/officeDocument/2006/relationships" id="270" r:id="Re55dfaef35d84971"/>
    <p:sldId xmlns:r="http://schemas.openxmlformats.org/officeDocument/2006/relationships" id="271" r:id="Reb2ab4a287ef4108"/>
    <p:sldId xmlns:r="http://schemas.openxmlformats.org/officeDocument/2006/relationships" id="272" r:id="Rca28ee13625148f1"/>
    <p:sldId xmlns:r="http://schemas.openxmlformats.org/officeDocument/2006/relationships" id="273" r:id="Rc53c64eb7d374eb4"/>
    <p:sldId xmlns:r="http://schemas.openxmlformats.org/officeDocument/2006/relationships" id="274" r:id="R67dba6f6149742df"/>
    <p:sldId xmlns:r="http://schemas.openxmlformats.org/officeDocument/2006/relationships" id="275" r:id="Rd4c67f8027fe4611"/>
    <p:sldId xmlns:r="http://schemas.openxmlformats.org/officeDocument/2006/relationships" id="276" r:id="R87ce2418e679495e"/>
    <p:sldId xmlns:r="http://schemas.openxmlformats.org/officeDocument/2006/relationships" id="277" r:id="Rb8600f38ac914a53"/>
    <p:sldId xmlns:r="http://schemas.openxmlformats.org/officeDocument/2006/relationships" id="278" r:id="Rb59daa5555534c38"/>
    <p:sldId xmlns:r="http://schemas.openxmlformats.org/officeDocument/2006/relationships" id="279" r:id="R2a9fa2f5af6c4298"/>
    <p:sldId xmlns:r="http://schemas.openxmlformats.org/officeDocument/2006/relationships" id="280" r:id="R7ba23637fc0e4100"/>
    <p:sldId xmlns:r="http://schemas.openxmlformats.org/officeDocument/2006/relationships" id="281" r:id="R719d30b1deae4406"/>
    <p:sldId xmlns:r="http://schemas.openxmlformats.org/officeDocument/2006/relationships" id="282" r:id="R5ffdbbb81e8d4f6a"/>
    <p:sldId xmlns:r="http://schemas.openxmlformats.org/officeDocument/2006/relationships" id="283" r:id="R0c4f57362fe445bb"/>
    <p:sldId xmlns:r="http://schemas.openxmlformats.org/officeDocument/2006/relationships" id="284" r:id="R5a5872ad15ba427e"/>
    <p:sldId xmlns:r="http://schemas.openxmlformats.org/officeDocument/2006/relationships" id="285" r:id="R13ffb2b6da674aa5"/>
    <p:sldId xmlns:r="http://schemas.openxmlformats.org/officeDocument/2006/relationships" id="286" r:id="R9f007b15ddae45eb"/>
    <p:sldId xmlns:r="http://schemas.openxmlformats.org/officeDocument/2006/relationships" id="287" r:id="R5c8aab71a6c844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303395855940a6" /><Relationship Type="http://schemas.openxmlformats.org/officeDocument/2006/relationships/slideMaster" Target="/ppt/slideMasters/slideMaster1.xml" Id="R4c6b465a5d7547ed" /><Relationship Type="http://schemas.openxmlformats.org/officeDocument/2006/relationships/notesMaster" Target="/ppt/notesMasters/notesMaster1.xml" Id="Rbc517482d3bd44a3" /><Relationship Type="http://schemas.openxmlformats.org/officeDocument/2006/relationships/presProps" Target="/ppt/presProps.xml" Id="Ra598917cbd0b4471" /><Relationship Type="http://schemas.openxmlformats.org/officeDocument/2006/relationships/tableStyles" Target="/ppt/tableStyles.xml" Id="R3cf18fe8d0ee446e" /><Relationship Type="http://schemas.openxmlformats.org/officeDocument/2006/relationships/slide" Target="/ppt/slides/slide1.xml" Id="R1dbf22ff588246fb" /><Relationship Type="http://schemas.openxmlformats.org/officeDocument/2006/relationships/slide" Target="/ppt/slides/slide2.xml" Id="R3e233390a2c44522" /><Relationship Type="http://schemas.openxmlformats.org/officeDocument/2006/relationships/slide" Target="/ppt/slides/slide3.xml" Id="R8d2b6a4d79a14ed1" /><Relationship Type="http://schemas.openxmlformats.org/officeDocument/2006/relationships/slide" Target="/ppt/slides/slide4.xml" Id="Rb826a16157c242d8" /><Relationship Type="http://schemas.openxmlformats.org/officeDocument/2006/relationships/slide" Target="/ppt/slides/slide5.xml" Id="R06a46582dd3649da" /><Relationship Type="http://schemas.openxmlformats.org/officeDocument/2006/relationships/slide" Target="/ppt/slides/slide6.xml" Id="R74bbd01936a04674" /><Relationship Type="http://schemas.openxmlformats.org/officeDocument/2006/relationships/slide" Target="/ppt/slides/slide7.xml" Id="Refcbbf53e2364247" /><Relationship Type="http://schemas.openxmlformats.org/officeDocument/2006/relationships/slide" Target="/ppt/slides/slide8.xml" Id="R6be6b30f85f34dd8" /><Relationship Type="http://schemas.openxmlformats.org/officeDocument/2006/relationships/slide" Target="/ppt/slides/slide9.xml" Id="R539a679822fc4e98" /><Relationship Type="http://schemas.openxmlformats.org/officeDocument/2006/relationships/slide" Target="/ppt/slides/slide10.xml" Id="R6970584060f14f29" /><Relationship Type="http://schemas.openxmlformats.org/officeDocument/2006/relationships/slide" Target="/ppt/slides/slide11.xml" Id="Rf992411cbbaf49b2" /><Relationship Type="http://schemas.openxmlformats.org/officeDocument/2006/relationships/slide" Target="/ppt/slides/slide12.xml" Id="Rf5dba4e545c54ee5" /><Relationship Type="http://schemas.openxmlformats.org/officeDocument/2006/relationships/slide" Target="/ppt/slides/slide13.xml" Id="Rc1934b1760094aba" /><Relationship Type="http://schemas.openxmlformats.org/officeDocument/2006/relationships/slide" Target="/ppt/slides/slide14.xml" Id="R2b35221476b94d05" /><Relationship Type="http://schemas.openxmlformats.org/officeDocument/2006/relationships/slide" Target="/ppt/slides/slide15.xml" Id="Re55dfaef35d84971" /><Relationship Type="http://schemas.openxmlformats.org/officeDocument/2006/relationships/slide" Target="/ppt/slides/slide16.xml" Id="Reb2ab4a287ef4108" /><Relationship Type="http://schemas.openxmlformats.org/officeDocument/2006/relationships/slide" Target="/ppt/slides/slide17.xml" Id="Rca28ee13625148f1" /><Relationship Type="http://schemas.openxmlformats.org/officeDocument/2006/relationships/slide" Target="/ppt/slides/slide18.xml" Id="Rc53c64eb7d374eb4" /><Relationship Type="http://schemas.openxmlformats.org/officeDocument/2006/relationships/slide" Target="/ppt/slides/slide19.xml" Id="R67dba6f6149742df" /><Relationship Type="http://schemas.openxmlformats.org/officeDocument/2006/relationships/slide" Target="/ppt/slides/slide20.xml" Id="Rd4c67f8027fe4611" /><Relationship Type="http://schemas.openxmlformats.org/officeDocument/2006/relationships/slide" Target="/ppt/slides/slide21.xml" Id="R87ce2418e679495e" /><Relationship Type="http://schemas.openxmlformats.org/officeDocument/2006/relationships/slide" Target="/ppt/slides/slide22.xml" Id="Rb8600f38ac914a53" /><Relationship Type="http://schemas.openxmlformats.org/officeDocument/2006/relationships/slide" Target="/ppt/slides/slide23.xml" Id="Rb59daa5555534c38" /><Relationship Type="http://schemas.openxmlformats.org/officeDocument/2006/relationships/slide" Target="/ppt/slides/slide24.xml" Id="R2a9fa2f5af6c4298" /><Relationship Type="http://schemas.openxmlformats.org/officeDocument/2006/relationships/slide" Target="/ppt/slides/slide25.xml" Id="R7ba23637fc0e4100" /><Relationship Type="http://schemas.openxmlformats.org/officeDocument/2006/relationships/slide" Target="/ppt/slides/slide26.xml" Id="R719d30b1deae4406" /><Relationship Type="http://schemas.openxmlformats.org/officeDocument/2006/relationships/slide" Target="/ppt/slides/slide27.xml" Id="R5ffdbbb81e8d4f6a" /><Relationship Type="http://schemas.openxmlformats.org/officeDocument/2006/relationships/slide" Target="/ppt/slides/slide28.xml" Id="R0c4f57362fe445bb" /><Relationship Type="http://schemas.openxmlformats.org/officeDocument/2006/relationships/slide" Target="/ppt/slides/slide29.xml" Id="R5a5872ad15ba427e" /><Relationship Type="http://schemas.openxmlformats.org/officeDocument/2006/relationships/slide" Target="/ppt/slides/slide30.xml" Id="R13ffb2b6da674aa5" /><Relationship Type="http://schemas.openxmlformats.org/officeDocument/2006/relationships/slide" Target="/ppt/slides/slide31.xml" Id="R9f007b15ddae45eb" /><Relationship Type="http://schemas.openxmlformats.org/officeDocument/2006/relationships/slide" Target="/ppt/slides/slide32.xml" Id="R5c8aab71a6c844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56c79de21947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604f0ae13843bb" /><Relationship Type="http://schemas.openxmlformats.org/officeDocument/2006/relationships/notesMaster" Target="/ppt/notesMasters/notesMaster1.xml" Id="Rd113b16b5ad04a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8602e778654a1a" /><Relationship Type="http://schemas.openxmlformats.org/officeDocument/2006/relationships/notesMaster" Target="/ppt/notesMasters/notesMaster1.xml" Id="Re32b2674bb9f46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c6ea40b0134b69" /><Relationship Type="http://schemas.openxmlformats.org/officeDocument/2006/relationships/notesMaster" Target="/ppt/notesMasters/notesMaster1.xml" Id="Ra351428fa5b846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8990ca7ca345a4" /><Relationship Type="http://schemas.openxmlformats.org/officeDocument/2006/relationships/notesMaster" Target="/ppt/notesMasters/notesMaster1.xml" Id="Rb4033298f4234a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1b961599584b06" /><Relationship Type="http://schemas.openxmlformats.org/officeDocument/2006/relationships/notesMaster" Target="/ppt/notesMasters/notesMaster1.xml" Id="Rd82d6387240748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9af98e2e5c4f51" /><Relationship Type="http://schemas.openxmlformats.org/officeDocument/2006/relationships/notesMaster" Target="/ppt/notesMasters/notesMaster1.xml" Id="R7f1672b6fc9047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6df6d00bd3408a" /><Relationship Type="http://schemas.openxmlformats.org/officeDocument/2006/relationships/notesMaster" Target="/ppt/notesMasters/notesMaster1.xml" Id="Rfb930abfb9a84d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bd726233c14ca9" /><Relationship Type="http://schemas.openxmlformats.org/officeDocument/2006/relationships/notesMaster" Target="/ppt/notesMasters/notesMaster1.xml" Id="R5343140f40784b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ddc51be2654d88" /><Relationship Type="http://schemas.openxmlformats.org/officeDocument/2006/relationships/notesMaster" Target="/ppt/notesMasters/notesMaster1.xml" Id="R894c6f6c8dfe4c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73834d3f904db4" /><Relationship Type="http://schemas.openxmlformats.org/officeDocument/2006/relationships/notesMaster" Target="/ppt/notesMasters/notesMaster1.xml" Id="Rbe9bacbae1f844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8da5e213574353" /><Relationship Type="http://schemas.openxmlformats.org/officeDocument/2006/relationships/notesMaster" Target="/ppt/notesMasters/notesMaster1.xml" Id="Ref0aaf3e07d64f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eb15cb959e47d9" /><Relationship Type="http://schemas.openxmlformats.org/officeDocument/2006/relationships/notesMaster" Target="/ppt/notesMasters/notesMaster1.xml" Id="R3d00055aa9804b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cdb9af675240d3" /><Relationship Type="http://schemas.openxmlformats.org/officeDocument/2006/relationships/notesMaster" Target="/ppt/notesMasters/notesMaster1.xml" Id="Rde507511fa5340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8056ea3c854688" /><Relationship Type="http://schemas.openxmlformats.org/officeDocument/2006/relationships/notesMaster" Target="/ppt/notesMasters/notesMaster1.xml" Id="R1c778d4d801048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849f54079d4311" /><Relationship Type="http://schemas.openxmlformats.org/officeDocument/2006/relationships/notesMaster" Target="/ppt/notesMasters/notesMaster1.xml" Id="R1b7b17dee52c4b5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67e428194274bff" /><Relationship Type="http://schemas.openxmlformats.org/officeDocument/2006/relationships/notesMaster" Target="/ppt/notesMasters/notesMaster1.xml" Id="R35c1ad54e294412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f4a7f43ead648ff" /><Relationship Type="http://schemas.openxmlformats.org/officeDocument/2006/relationships/notesMaster" Target="/ppt/notesMasters/notesMaster1.xml" Id="Rc4f85f12109e446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02cdd052e114a1c" /><Relationship Type="http://schemas.openxmlformats.org/officeDocument/2006/relationships/notesMaster" Target="/ppt/notesMasters/notesMaster1.xml" Id="R21ec3d7033f04ef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ae7d8c4f2a24013" /><Relationship Type="http://schemas.openxmlformats.org/officeDocument/2006/relationships/notesMaster" Target="/ppt/notesMasters/notesMaster1.xml" Id="R9717f1c0f0fe4e7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3597919d1204d78" /><Relationship Type="http://schemas.openxmlformats.org/officeDocument/2006/relationships/notesMaster" Target="/ppt/notesMasters/notesMaster1.xml" Id="Rcbb83880e8f44e6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40d01704ed84a45" /><Relationship Type="http://schemas.openxmlformats.org/officeDocument/2006/relationships/notesMaster" Target="/ppt/notesMasters/notesMaster1.xml" Id="R24238a6d7ce143a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3b740f71def4c11" /><Relationship Type="http://schemas.openxmlformats.org/officeDocument/2006/relationships/notesMaster" Target="/ppt/notesMasters/notesMaster1.xml" Id="R6e441f01398843b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c4f466e900f493a" /><Relationship Type="http://schemas.openxmlformats.org/officeDocument/2006/relationships/notesMaster" Target="/ppt/notesMasters/notesMaster1.xml" Id="R2bdb2f0b31c44d5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6b795618586402d" /><Relationship Type="http://schemas.openxmlformats.org/officeDocument/2006/relationships/notesMaster" Target="/ppt/notesMasters/notesMaster1.xml" Id="Rdc611c33719544f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846495d1b3e4008" /><Relationship Type="http://schemas.openxmlformats.org/officeDocument/2006/relationships/notesMaster" Target="/ppt/notesMasters/notesMaster1.xml" Id="R3847e5a8cff548c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b9b551d5f5d41fe" /><Relationship Type="http://schemas.openxmlformats.org/officeDocument/2006/relationships/notesMaster" Target="/ppt/notesMasters/notesMaster1.xml" Id="Rf9e6fa3179174cc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bb68dbabcef435a" /><Relationship Type="http://schemas.openxmlformats.org/officeDocument/2006/relationships/notesMaster" Target="/ppt/notesMasters/notesMaster1.xml" Id="R342a9619580e4dc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fe8375b91bc4af8" /><Relationship Type="http://schemas.openxmlformats.org/officeDocument/2006/relationships/notesMaster" Target="/ppt/notesMasters/notesMaster1.xml" Id="Ra468bedab59a4ef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6340709763444f4" /><Relationship Type="http://schemas.openxmlformats.org/officeDocument/2006/relationships/notesMaster" Target="/ppt/notesMasters/notesMaster1.xml" Id="R987b6eb2f17f469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eadf004a702404f" /><Relationship Type="http://schemas.openxmlformats.org/officeDocument/2006/relationships/notesMaster" Target="/ppt/notesMasters/notesMaster1.xml" Id="R581ae887245d4e8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81dc96daf054afb" /><Relationship Type="http://schemas.openxmlformats.org/officeDocument/2006/relationships/notesMaster" Target="/ppt/notesMasters/notesMaster1.xml" Id="R5112137cd8cd4e4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c0517a6f2864818" /><Relationship Type="http://schemas.openxmlformats.org/officeDocument/2006/relationships/notesMaster" Target="/ppt/notesMasters/notesMaster1.xml" Id="Rfe5f4520df2546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开场。请学生先看插图中的物件，再回答：什么东西能让人想起自己的家人、语言或地方？不要求学生分享私密经历。</a:t>
            </a:r>
          </a:p>
          <a:p xmlns:a="http://schemas.openxmlformats.org/drawingml/2006/main">
            <a:r>
              <a:t>插图为原创 AI 插图，只用作课堂引入。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用本页说明学期产出。逐项阅读即可，不需要讲评分细则。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让学生安静书写 2 分钟。可选一题作答，保留到单元末回看。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用学生熟悉的节日、语言或家庭习惯示范。提醒学生：同一文化背景的人不一定有相同经验。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课导入。先不解释人物身份。请学生看画面，写下两项可以观察到的事实和一项不能从画面确定的事。</a:t>
            </a:r>
          </a:p>
          <a:p xmlns:a="http://schemas.openxmlformats.org/drawingml/2006/main">
            <a:r>
              <a:t>插图为原创 AI 插图，不代表文本人物的真实肖像。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课。请各组先阅读指定段落，再在课本标出一个称呼和一处关系细节。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教师先示范一个不涉及标准答案的例子。学生随后从课本挑选另一个细节完成同样的三步。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课。先投票，再阅读课文。讨论时不评价人物“好不好”，只解释她为什么这样做。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替换为一张横向风景照片。图片只作情境，不承担文本证据。建议把照片裁切成左侧留出空白。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让每组任选一项细节完成三层解释。课堂只接受有课文依据的推断。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课。先让学生以小组将事件排成时间线，然后回到标题。不要先给出作者意图。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课。投影后先给 8 分钟构思，再写开头。学生可改写自己的经验，也可从提供的虚构情境出发。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交换段落。每位学生只写两条反馈，并圈出相应句子。避免“很好”“多一点细节”等泛泛评价。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用《假黎婆》一小段或陌生现代文。先让学生标出题目动词，再独立完成其中一题。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本节以教材《新加坡多种族政策》的两则短文为材料组。先让学生看到：这是一项指导写作练习，不是分别概括两篇短文。插图只作课堂情境。</a:t>
            </a:r>
          </a:p>
          <a:p xmlns:a="http://schemas.openxmlformats.org/drawingml/2006/main">
            <a:r>
              <a:t>材料依据：用户提供的教材页面截图。</a:t>
            </a:r>
          </a:p>
          <a:p xmlns:a="http://schemas.openxmlformats.org/drawingml/2006/main">
            <a:r>
              <a:t>教学重点：用 ①A1、①B1 等标注，将材料信息归入题目的三个要点。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步：用本页建立任务意识。强调写作不是压缩材料，而是选取、整合和评价两则短文中的相关信息。</a:t>
            </a:r>
          </a:p>
          <a:p xmlns:a="http://schemas.openxmlformats.org/drawingml/2006/main">
            <a:r>
              <a:t>材料依据：用户提供的教材页面截图；字数与任务形式依据 Cambridge IGCSE 0509 Paper 1 Section 2。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步：投影仿真题干。学生用三种颜色圈出题目要点，并口头复述每一个要点要他们做什么。第 3 点要特别提示：它要求整合和评价，不是重复前两点。</a:t>
            </a:r>
          </a:p>
          <a:p xmlns:a="http://schemas.openxmlformats.org/drawingml/2006/main">
            <a:r>
              <a:t>本题为根据用户提供材料编制的课堂仿真任务。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步：示范编号。学生在教材上直接做标记，优先圈关键词。要求学生在页边补半句话，例如“平等地位”后写“保障文化特点”。这样编号保留了信息的用途，而不是成为摘抄。</a:t>
            </a:r>
          </a:p>
          <a:p xmlns:a="http://schemas.openxmlformats.org/drawingml/2006/main">
            <a:r>
              <a:t>材料依据：用户提供的教材页面截图。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步：全班共同完成短文一的示范。先由学生提议编号，教师再追问“它回答①还是②？为什么？”无需把所有内容都标完。</a:t>
            </a:r>
          </a:p>
          <a:p xmlns:a="http://schemas.openxmlformats.org/drawingml/2006/main">
            <a:r>
              <a:t>材料依据：用户提供的教材页面截图。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步：学生两人一组完成短文二的编号，再与投影答案核对。特别讨论③B1：它为什么不是单纯的活动例子，而是说明“共同认同”形成的过程。</a:t>
            </a:r>
          </a:p>
          <a:p xmlns:a="http://schemas.openxmlformats.org/drawingml/2006/main">
            <a:r>
              <a:t>材料依据：用户提供的教材页面截图。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步：教师示范从①A1、②A1、②B1、③B1抽取信息，写成一个整合判断。提醒学生：这不是外加的个人例子，而是根据材料关系作出的解释。</a:t>
            </a:r>
          </a:p>
          <a:p xmlns:a="http://schemas.openxmlformats.org/drawingml/2006/main">
            <a:r>
              <a:t>材料依据：用户提供的教材页面截图。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步：50 分钟限时练习可分为读题与编号 10 分钟、计划 5 分钟、写作 30 分钟、检查 5 分钟。批改与同伴反馈分开记录内容目标和写作目标。</a:t>
            </a:r>
          </a:p>
          <a:p xmlns:a="http://schemas.openxmlformats.org/drawingml/2006/main">
            <a:r>
              <a:t>评分结构与字数依据 Cambridge IGCSE 0509 Paper 1 Section 2。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本课为独立议论文阅读。先让学生从标题说出他们预测的争议，再读课文验证标题是否等于作者真正的立场。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将此处替换成一张具有对比感的横向照片。投影后先让学生写下“我以为问题在于……”。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把课文分为四段阅读。每组负责一部分，分享时只用一句“作者在这里想让读者看到……”。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在学生读完全文后使用。让学生先完成左右两栏，再结合第 5 至 8 段修订自己的答案。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让学生各找一处论点和一项对应证据。若认为推理不足，也要说明缺少什么信息。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课本列有多种论证法。本页只保留最适合本篇的四种，便于学生真正找得到例子。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先让每位学生写下个人立场，再组成四人小组。要求学生至少引用课文一个例子，也可以保留条件式立场。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提示学生先选立场与文体。不要要求全班得出同一个结论。可作为 30 分钟计划练习或卷二作文准备。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本页用于期末回顾。请学生将原稿、反馈和修订稿放在一起，以便下一学期继续使用。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教师页，可不投影。检查教材页码、课时安排和校内任务字数。插图位置均可替换，图片只用于导入或场景感，不承担阅读证据。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94a12a41d740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70d89518514ae5" /><Relationship Type="http://schemas.openxmlformats.org/officeDocument/2006/relationships/slideLayout" Target="/ppt/slideLayouts/slideLayout1.xml" Id="R89e5cd533f8d4b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e5cd533f8d4b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3e71ef434401a" /><Relationship Type="http://schemas.openxmlformats.org/officeDocument/2006/relationships/image" Target="/ppt/media/image.png" Id="R2d2d1bb06b4e46e0" /><Relationship Type="http://schemas.openxmlformats.org/officeDocument/2006/relationships/notesSlide" Target="/ppt/notesSlides/notesSlide1.xml" Id="Rd24a0d4dd8f045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56d22166344c9" /><Relationship Type="http://schemas.openxmlformats.org/officeDocument/2006/relationships/notesSlide" Target="/ppt/notesSlides/notesSlide2.xml" Id="Rf7abf0ee289c4d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b4a23d27f44f2" /><Relationship Type="http://schemas.openxmlformats.org/officeDocument/2006/relationships/notesSlide" Target="/ppt/notesSlides/notesSlide3.xml" Id="R3dee72a276684d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0a55f422343b5" /><Relationship Type="http://schemas.openxmlformats.org/officeDocument/2006/relationships/notesSlide" Target="/ppt/notesSlides/notesSlide4.xml" Id="Ra261e422035944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adb68dc4a4e41" /><Relationship Type="http://schemas.openxmlformats.org/officeDocument/2006/relationships/image" Target="/ppt/media/image2.png" Id="R1f02e4df73f24f36" /><Relationship Type="http://schemas.openxmlformats.org/officeDocument/2006/relationships/notesSlide" Target="/ppt/notesSlides/notesSlide5.xml" Id="R7947a86acb8146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db9cc27ff4794" /><Relationship Type="http://schemas.openxmlformats.org/officeDocument/2006/relationships/notesSlide" Target="/ppt/notesSlides/notesSlide6.xml" Id="Rd9cd5b1e9c9a41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3531a1c9f491c" /><Relationship Type="http://schemas.openxmlformats.org/officeDocument/2006/relationships/notesSlide" Target="/ppt/notesSlides/notesSlide7.xml" Id="Rf2c0e470235246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a294a58ab4a97" /><Relationship Type="http://schemas.openxmlformats.org/officeDocument/2006/relationships/notesSlide" Target="/ppt/notesSlides/notesSlide8.xml" Id="R71b9d2e3dfce4a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29c0e9bbd40f1" /><Relationship Type="http://schemas.openxmlformats.org/officeDocument/2006/relationships/notesSlide" Target="/ppt/notesSlides/notesSlide9.xml" Id="R03a7210d13db4f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62e660c1c44cd" /><Relationship Type="http://schemas.openxmlformats.org/officeDocument/2006/relationships/notesSlide" Target="/ppt/notesSlides/notesSlide10.xml" Id="Re41d9e501aa34a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f4770506a4f68" /><Relationship Type="http://schemas.openxmlformats.org/officeDocument/2006/relationships/notesSlide" Target="/ppt/notesSlides/notesSlide11.xml" Id="Rf6053834ad1745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ff4f5ae134f5f" /><Relationship Type="http://schemas.openxmlformats.org/officeDocument/2006/relationships/notesSlide" Target="/ppt/notesSlides/notesSlide12.xml" Id="R38247871b78d43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08dee3b0f4be7" /><Relationship Type="http://schemas.openxmlformats.org/officeDocument/2006/relationships/notesSlide" Target="/ppt/notesSlides/notesSlide13.xml" Id="R675fbeccecb841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cfdd7715448d8" /><Relationship Type="http://schemas.openxmlformats.org/officeDocument/2006/relationships/notesSlide" Target="/ppt/notesSlides/notesSlide14.xml" Id="Rba1d89e5546946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d27cefeee4956" /><Relationship Type="http://schemas.openxmlformats.org/officeDocument/2006/relationships/image" Target="/ppt/media/image3.png" Id="R2891718d27bb4146" /><Relationship Type="http://schemas.openxmlformats.org/officeDocument/2006/relationships/notesSlide" Target="/ppt/notesSlides/notesSlide15.xml" Id="Re2fc07dcacf4440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68eea6300434e" /><Relationship Type="http://schemas.openxmlformats.org/officeDocument/2006/relationships/notesSlide" Target="/ppt/notesSlides/notesSlide16.xml" Id="R92b4f1fb9ffb414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a0aa212f44980" /><Relationship Type="http://schemas.openxmlformats.org/officeDocument/2006/relationships/notesSlide" Target="/ppt/notesSlides/notesSlide17.xml" Id="R3978874d38584a0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f1e26b3fc4f6a" /><Relationship Type="http://schemas.openxmlformats.org/officeDocument/2006/relationships/notesSlide" Target="/ppt/notesSlides/notesSlide18.xml" Id="R843d91dfcb044e0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325c7d38d4a79" /><Relationship Type="http://schemas.openxmlformats.org/officeDocument/2006/relationships/notesSlide" Target="/ppt/notesSlides/notesSlide19.xml" Id="R006031269673487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6b384fdf340a6" /><Relationship Type="http://schemas.openxmlformats.org/officeDocument/2006/relationships/notesSlide" Target="/ppt/notesSlides/notesSlide20.xml" Id="R00a4d2bf11194b4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d3ad6b33e4e92" /><Relationship Type="http://schemas.openxmlformats.org/officeDocument/2006/relationships/notesSlide" Target="/ppt/notesSlides/notesSlide21.xml" Id="Rfe245a06c72d4d7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5673972994148" /><Relationship Type="http://schemas.openxmlformats.org/officeDocument/2006/relationships/notesSlide" Target="/ppt/notesSlides/notesSlide22.xml" Id="R98db42edcd0f4f2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d99b2edbd4914" /><Relationship Type="http://schemas.openxmlformats.org/officeDocument/2006/relationships/notesSlide" Target="/ppt/notesSlides/notesSlide23.xml" Id="Raabe345f585e43c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1a5d9e0eb4c33" /><Relationship Type="http://schemas.openxmlformats.org/officeDocument/2006/relationships/notesSlide" Target="/ppt/notesSlides/notesSlide24.xml" Id="R0ba1162ac1c6429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42947da574172" /><Relationship Type="http://schemas.openxmlformats.org/officeDocument/2006/relationships/notesSlide" Target="/ppt/notesSlides/notesSlide25.xml" Id="R7070548968b34d6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81195cd9a4348" /><Relationship Type="http://schemas.openxmlformats.org/officeDocument/2006/relationships/notesSlide" Target="/ppt/notesSlides/notesSlide26.xml" Id="R602686e2d0ed438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655578ce642d8" /><Relationship Type="http://schemas.openxmlformats.org/officeDocument/2006/relationships/notesSlide" Target="/ppt/notesSlides/notesSlide27.xml" Id="R1cb557fbd70a426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33566c62d4236" /><Relationship Type="http://schemas.openxmlformats.org/officeDocument/2006/relationships/notesSlide" Target="/ppt/notesSlides/notesSlide28.xml" Id="R6e53bc63e3ac4ff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1d0f966cb4364" /><Relationship Type="http://schemas.openxmlformats.org/officeDocument/2006/relationships/notesSlide" Target="/ppt/notesSlides/notesSlide29.xml" Id="R798e1782a9644f9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8de8eb38b4ee3" /><Relationship Type="http://schemas.openxmlformats.org/officeDocument/2006/relationships/notesSlide" Target="/ppt/notesSlides/notesSlide30.xml" Id="Rbea1ddf2c17d449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2a510cae0431a" /><Relationship Type="http://schemas.openxmlformats.org/officeDocument/2006/relationships/notesSlide" Target="/ppt/notesSlides/notesSlide31.xml" Id="Rb8ccde6375c8419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518fa10834d47" /><Relationship Type="http://schemas.openxmlformats.org/officeDocument/2006/relationships/notesSlide" Target="/ppt/notesSlides/notesSlide32.xml" Id="Re52efb3c43a04b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715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d1bb06b4e46e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06FC6-AC73-47C3-8925-B214CF9F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2E">
              <a:alpha val="9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5DCF9-C03A-47AE-9E8F-DC8B7366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E9E1D3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E9E1D3"/>
                </a:solidFill>
                <a:latin typeface="STKaiti"/>
                <a:ea typeface="STKaiti"/>
                <a:cs typeface="STKaiti"/>
              </a:rPr>
              <a:t>IGCSE 0509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E9E1D3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E9E1D3"/>
                </a:solidFill>
                <a:latin typeface="STKaiti"/>
                <a:ea typeface="STKaiti"/>
                <a:cs typeface="STKaiti"/>
              </a:rPr>
              <a:t>中文第一语言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E170D-BAC9-471B-AD7B-13FFF301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400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46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第一单元</a:t>
            </a:r>
          </a:p>
          <a:p xmlns:a="http://schemas.openxmlformats.org/drawingml/2006/main">
            <a:pPr>
              <a:buNone/>
              <a:defRPr sz="46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文化认同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46876-FEE9-4323-88A3-B0481214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>
              <a:buNone/>
              <a:defRPr sz="195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95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Y10 第一个学期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F9F32-BC8C-4047-BBC0-E0C518B2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381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《假黎婆》</a:t>
            </a:r>
          </a:p>
          <a:p xmlns:a="http://schemas.openxmlformats.org/drawingml/2006/main">
            <a:pPr>
              <a:buNone/>
              <a:def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回应概括性写作</a:t>
            </a:r>
          </a:p>
          <a:p xmlns:a="http://schemas.openxmlformats.org/drawingml/2006/main">
            <a:pPr>
              <a:buNone/>
              <a:def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《文化入侵故宫星巴克的伪问题》</a:t>
            </a:r>
          </a:p>
        </p:txBody>
      </p:sp>
    </p:spTree>
    <p:extLst>
      <p:ext uri="{BB962C8B-B14F-4D97-AF65-F5344CB8AC3E}">
        <p14:creationId xmlns:p14="http://schemas.microsoft.com/office/powerpoint/2010/main" val="211324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92EDC-8E0B-4F9A-89DD-B3050E86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B1035-820B-40FC-AA2E-D547FE9B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本单元的学习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C7F34-4D59-4A53-921F-5609FEF5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课文学习要留下可以看见的阅读与写作证据。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A41BD-9DB4-4ED0-87E1-1F110CCE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3C863-7E07-4F67-9120-5E8B82F8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14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03"/>
          </a:bodyPr>
          <a:lstStyle xmlns:a="http://schemas.openxmlformats.org/drawingml/2006/main"/>
          <a:p xmlns:a="http://schemas.openxmlformats.org/drawingml/2006/main">
            <a:pPr>
              <a:buNone/>
              <a:defRPr sz="46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98359-0E77-4B2D-998D-61C46F14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05025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从细节推断人物、立场和表达效果。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B2CBB-4AFC-40C1-BBAC-478C62B3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DA29A-3466-48B0-97BF-CA01DCEE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14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03"/>
          </a:bodyPr>
          <a:lstStyle xmlns:a="http://schemas.openxmlformats.org/drawingml/2006/main"/>
          <a:p xmlns:a="http://schemas.openxmlformats.org/drawingml/2006/main">
            <a:pPr>
              <a:buNone/>
              <a:defRPr sz="46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EC96A-8BEA-4EBE-A9DF-4581872C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81400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把两篇材料放在同一问题下，选择真正有用的信息。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7200B-A5FA-4E8E-909B-79382173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B70EA-FA6F-49E1-9A25-69580A37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114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03"/>
          </a:bodyPr>
          <a:lstStyle xmlns:a="http://schemas.openxmlformats.org/drawingml/2006/main"/>
          <a:p xmlns:a="http://schemas.openxmlformats.org/drawingml/2006/main">
            <a:pPr>
              <a:buNone/>
              <a:defRPr sz="465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D2F39-9F09-4E8F-80AD-08DB9179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让具体细节、清楚组织和恰当语气服务题目。</a:t>
            </a:r>
          </a:p>
        </p:txBody>
      </p:sp>
    </p:spTree>
    <p:extLst>
      <p:ext uri="{BB962C8B-B14F-4D97-AF65-F5344CB8AC3E}">
        <p14:creationId xmlns:p14="http://schemas.microsoft.com/office/powerpoint/2010/main" val="1134930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4888A-82C4-48D1-8160-996D5A0A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2F227-5B28-403B-84D6-4459D456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文化认同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56B00-7135-4411-AFD3-B39ABA7F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先观察，再解释；先理解差异，再提出判断。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F0C93-FA8E-4308-AD8B-0B6EFC5B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6DAF9-C8C7-469A-A8C1-A77DD48B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一个人如何认识自己？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D5277-0E28-43FB-A3AA-54FD7A1E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谁给一个人命名？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887BC-994E-48CF-8067-50EE4223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语言、记忆和地方怎样影响归属感？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12D89-6C7D-4578-81A1-24E5874B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57375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71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F0B25-7304-40D1-B331-FAF67BA4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812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609"/>
          </a:bodyPr>
          <a:lstStyle xmlns:a="http://schemas.openxmlformats.org/drawingml/2006/main"/>
          <a:p xmlns:a="http://schemas.openxmlformats.org/drawingml/2006/main">
            <a:pPr>
              <a:buNone/>
              <a:defRPr sz="217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17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写下一个初步回答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2F33C-2891-4713-A978-0065F50C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89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先写一个具体观察，</a:t>
            </a:r>
          </a:p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再写你的判断。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F037C-0C76-46C7-B330-76337465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93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284024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CD399-3A99-410D-9552-F8E2406E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48C70-DFB3-4C80-9D48-44D689CF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从现象走向意义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9A2EC-7F6B-47E1-8543-1CE90CB6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文化分析不是给人贴标签，而是寻找行为背后的经验和价值。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E3AE4-C282-40B5-9BED-037F9319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22D39-7698-4B7B-9237-3B9CCFB3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56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看见什么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0578A-6F09-4E9D-974D-A02FF46E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333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一顿年夜饭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一种称呼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一首熟悉的歌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9AA91-8CE3-4140-8FAA-E0D59BC1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4325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71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2D844-41AA-41A1-A202-3A2AFD76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431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56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怎样做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F8695-1CC4-4211-89EB-CE46AE67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在什么时间做？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和谁一起做？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什么反复出现？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3B9B4-F137-40C2-A13C-9AE05281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71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7FB64-3DB3-4E8D-9859-5BB46966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431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56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意味着什么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197B7-3886-4EF7-9F33-6C73B25B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171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355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关系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归属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记忆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C5315-ACBA-46B0-909E-843E9AA0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buNone/>
              <a:defRPr sz="21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1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好答案会说明：哪一个文本细节支持我的解释？</a:t>
            </a:r>
          </a:p>
        </p:txBody>
      </p:sp>
    </p:spTree>
    <p:extLst>
      <p:ext uri="{BB962C8B-B14F-4D97-AF65-F5344CB8AC3E}">
        <p14:creationId xmlns:p14="http://schemas.microsoft.com/office/powerpoint/2010/main" val="5065320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715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2e4df73f24f36"/>
          <a:srcRect xmlns:a="http://schemas.openxmlformats.org/drawingml/2006/main" l="19124" t="0" r="191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0"/>
            <a:ext cx="7524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28B0C-0735-44BD-A4F3-A786A036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62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2E">
              <a:alpha val="9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B3FC4-6A7F-4B94-9F0D-EC079698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课文一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185D2-C9E7-4CA1-A85A-1C0A09A9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38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《假黎婆》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5A2AD-3FF1-41F6-9D71-5D8427FD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defRPr>
            </a:pPr>
            <a:r>
              <a: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rPr>
              <a:t>人物、称呼、记忆与归属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36A94-A387-46E3-989A-FF04B67F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4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阅读要落到证据；写作要回应目的和受众。</a:t>
            </a:r>
          </a:p>
        </p:txBody>
      </p:sp>
    </p:spTree>
    <p:extLst>
      <p:ext uri="{BB962C8B-B14F-4D97-AF65-F5344CB8AC3E}">
        <p14:creationId xmlns:p14="http://schemas.microsoft.com/office/powerpoint/2010/main" val="14487505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90E6F-F4F8-4968-B515-496FA0E2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3F077-B6EF-445F-A6A3-D08EFF24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谁在命名她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25FC2-552A-46C1-8962-022F9726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别人给的称呼与“我”认识的人，可能并不相同。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F2A5F-0505-4C0B-B14C-48FD8AA2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61186-124F-42FF-909F-B0BF5350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818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别人看到的她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BDBD8-C7BC-43FF-B613-C5924D0B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333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59"/>
          </a:bodyPr>
          <a:lstStyle xmlns:a="http://schemas.openxmlformats.org/drawingml/2006/main"/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称呼</a:t>
            </a:r>
          </a:p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外貌</a:t>
            </a:r>
          </a:p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住处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83A28-8F2A-4265-939A-A0833767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57375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3A86F-624F-4FDC-8016-F4D2AD26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526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818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“我”认识的她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45F54-A54E-4A1F-AB1B-56D38851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62250"/>
            <a:ext cx="2809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59"/>
          </a:bodyPr>
          <a:lstStyle xmlns:a="http://schemas.openxmlformats.org/drawingml/2006/main"/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动作</a:t>
            </a:r>
          </a:p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语言</a:t>
            </a:r>
          </a:p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共同经历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9A17E-8795-4693-9D72-43ACA9E6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0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100" b="0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说一说：我们目前认为她是一个怎样的人？哪一处细节支持这个判断？</a:t>
            </a:r>
          </a:p>
        </p:txBody>
      </p:sp>
    </p:spTree>
    <p:extLst>
      <p:ext uri="{BB962C8B-B14F-4D97-AF65-F5344CB8AC3E}">
        <p14:creationId xmlns:p14="http://schemas.microsoft.com/office/powerpoint/2010/main" val="7485575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E0898-518B-43C2-A60E-EAFD5685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4D4D8-9614-4506-AB4B-F42F435C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从细节到推断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4842B-9116-4973-A5E1-D0C2ABE3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把“她很……”改成能够被同学核对的解释。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1277E-6680-418A-AE4F-2388491D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72B81-649A-4199-8E68-919B64C1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778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文本写了什么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8B598-196C-455C-800B-E5433187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232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动作、语气、物件或称呼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1A9E5-15F4-47A6-8386-3207D0DD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241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758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AF46B-FA72-4778-96A5-EB0B6616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778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我怎样理解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97E43-24AF-4A07-B35C-2C2E82B2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90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68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这个细节可能暗示……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0D03F-44EF-44EC-ADC2-2843EA0D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241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758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EBBD8-82B4-4168-98B1-31090578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0002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95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为什么这样理解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A4AE0-3BBE-46F5-B11F-928F3C8F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8003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82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联系上下文，说明理由。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EB5B6-F81F-45D5-BDFE-91B3869B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148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答题句：作者写“……”。这个细节显示……，因为……。</a:t>
            </a:r>
          </a:p>
        </p:txBody>
      </p:sp>
    </p:spTree>
    <p:extLst>
      <p:ext uri="{BB962C8B-B14F-4D97-AF65-F5344CB8AC3E}">
        <p14:creationId xmlns:p14="http://schemas.microsoft.com/office/powerpoint/2010/main" val="4221173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FCF04-33EC-4310-AC69-72006E20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0EBB7-E53F-4651-8CC2-AA0E2D25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一包盐，一斗米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E5824-0ABA-4E27-B030-EEECF371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人物的选择常常透露处境、原则与关系。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F40D6-A019-4525-828D-86DFBD96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FAB86-25E3-43DB-BA70-8FEC7BDF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5"/>
          </a:bodyPr>
          <a:lstStyle xmlns:a="http://schemas.openxmlformats.org/drawingml/2006/main"/>
          <a:p xmlns:a="http://schemas.openxmlformats.org/drawingml/2006/main">
            <a:pPr>
              <a:buNone/>
              <a:defRPr sz="2625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625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如果是你，会怎样处理？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28A38-6229-46D8-BC96-C327A489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903"/>
          </a:bodyPr>
          <a:lstStyle xmlns:a="http://schemas.openxmlformats.org/drawingml/2006/main"/>
          <a:p xmlns:a="http://schemas.openxmlformats.org/drawingml/2006/main">
            <a:pPr>
              <a:buNone/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收下</a:t>
            </a:r>
          </a:p>
          <a:p xmlns:a="http://schemas.openxmlformats.org/drawingml/2006/main">
            <a:pPr>
              <a:buNone/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拒绝</a:t>
            </a:r>
          </a:p>
          <a:p xmlns:a="http://schemas.openxmlformats.org/drawingml/2006/main">
            <a:pPr>
              <a:buNone/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留下部分</a:t>
            </a:r>
          </a:p>
          <a:p xmlns:a="http://schemas.openxmlformats.org/drawingml/2006/main">
            <a:pPr>
              <a:buNone/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另想办法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DFF17-EB46-460D-86E9-352384CD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62125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BA4C9-B88D-4188-A0F7-7485992F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5"/>
          </a:bodyPr>
          <a:lstStyle xmlns:a="http://schemas.openxmlformats.org/drawingml/2006/main"/>
          <a:p xmlns:a="http://schemas.openxmlformats.org/drawingml/2006/main">
            <a:pPr>
              <a:buNone/>
              <a:defRPr sz="262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62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读完后改写你的选择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8113F-0018-4CA1-9258-A2786315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4286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她的行动回应了什么处境？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她的语气怎样帮助读者理解？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哪一个词或动作最能支持你的说法？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E179E-5116-4B8A-B063-8AF4A128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>
              <a:buNone/>
              <a:defRPr sz="2025" b="0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025" b="0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可以有不同解释，但每一种解释都要回到文本。</a:t>
            </a:r>
          </a:p>
        </p:txBody>
      </p:sp>
    </p:spTree>
    <p:extLst>
      <p:ext uri="{BB962C8B-B14F-4D97-AF65-F5344CB8AC3E}">
        <p14:creationId xmlns:p14="http://schemas.microsoft.com/office/powerpoint/2010/main" val="18105909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26B7E-75AA-4FFE-9720-1D1B875F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A6D91-EC56-4FF1-AD06-B57C0FC6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山路上的歌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6AEC1-B93E-4C34-93BB-A89FF69D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场景的变化，怎样让读者看见奶奶与“我”的不同感受？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CC382-4812-4896-8CDE-58A3C260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72A7F-CE80-4274-841B-92629F41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85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9525">
            <a:solidFill>
              <a:srgbClr val="9D8A7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ADF1A-CED9-44B3-8FB1-B05DF080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3400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>
              <a:buNone/>
              <a:defRPr sz="20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0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插图位置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46A3D-9AC3-4C82-87F3-7541B9CF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14600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D8A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A9361-319A-4ABD-826D-53C6B603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32099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建议搜寻：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雾气中的山路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或树林里的人影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避免使用人物肖像替代课文人物。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46BB9-1C72-4633-9428-C5AD81D2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奶奶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D2153-8CAC-49F5-AD2A-30D64011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19375"/>
            <a:ext cx="1714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起点：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过程：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终点：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3C626-D9CF-43A8-B5A9-86B12756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“我”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B0931-3FDF-476A-99FB-38952636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1714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起点：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过程：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终点：</a:t>
            </a:r>
          </a:p>
        </p:txBody>
      </p:sp>
    </p:spTree>
    <p:extLst>
      <p:ext uri="{BB962C8B-B14F-4D97-AF65-F5344CB8AC3E}">
        <p14:creationId xmlns:p14="http://schemas.microsoft.com/office/powerpoint/2010/main" val="13055512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A165D-ABCA-492A-99E6-B884B838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703BC-12A2-4A7F-96F8-B58E0F8D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看得见的细节，看不见的经历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BC84B-5518-47FC-A48A-FDD223A2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用文化冰山帮助解释山路、歌声、语言和服饰。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746CA-1C86-416E-8518-BFAA2114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070F7-78BC-4C42-BAD4-640AAF4D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28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课文细节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2EBE0-53B9-441F-BA93-D1656212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0325"/>
            <a:ext cx="2381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61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走山路</a:t>
            </a:r>
          </a:p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唱歌</a:t>
            </a:r>
          </a:p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使用的语言</a:t>
            </a:r>
          </a:p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穿着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54967-1267-4ABA-AB1A-2FC18BA5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242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71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BA5C9-A0F4-4489-9B73-B3A489BB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28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经验与习惯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DA18D-E1BC-4A49-9BF0-2F8DD51E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86050"/>
            <a:ext cx="2714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02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哪些生活经验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让这个行为显得自然？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FAFF9-EAC5-46AE-9BC3-DFBD6C1B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242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71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3A936-2BDB-4B86-95A6-24B629DF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71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可以推断的意义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588F8-EBC1-4CBB-BEBE-B4AEC4E4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622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762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归属、记忆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被忽略的自我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0D946-A909-422B-A94F-0C6BB7F6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862"/>
          </a:bodyPr>
          <a:lstStyle xmlns:a="http://schemas.openxmlformats.org/drawingml/2006/main"/>
          <a:p xmlns:a="http://schemas.openxmlformats.org/drawingml/2006/main">
            <a:pPr>
              <a:buNone/>
              <a:defRPr sz="21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1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提醒：推断不是猜测。每一步都要带着课文细节。</a:t>
            </a:r>
          </a:p>
        </p:txBody>
      </p:sp>
    </p:spTree>
    <p:extLst>
      <p:ext uri="{BB962C8B-B14F-4D97-AF65-F5344CB8AC3E}">
        <p14:creationId xmlns:p14="http://schemas.microsoft.com/office/powerpoint/2010/main" val="12071648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A5022-0CF7-4110-9B74-13C7AA3C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D1936-C2EB-418C-A724-0E0543DD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标题与结构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FF6BA-1116-457D-BF6C-ED2054C1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“假黎婆”这个标题，保留了谁的眼光？又改变了什么？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C87BA-12D8-4FE9-A13A-5EF52729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14858-3D31-4C2C-A916-731C83F3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17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时间线拼图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55132-AB53-4C00-82E0-DB222641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571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童年相处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上山唱歌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离家求学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再见弟弟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扫墓回忆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04161-9A7B-4E4E-903A-6815F8CA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52600"/>
            <a:ext cx="0" cy="3286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02EA1-0822-4228-BE26-B81058B3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57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17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标题再读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4B78A-7801-4EB4-8968-41CB83FD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如果题目叫《我的奶奶》，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文章会少掉什么？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称呼怎样呈现社会的眼光？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“我”的理解怎样变化？</a:t>
            </a:r>
          </a:p>
        </p:txBody>
      </p:sp>
    </p:spTree>
    <p:extLst>
      <p:ext uri="{BB962C8B-B14F-4D97-AF65-F5344CB8AC3E}">
        <p14:creationId xmlns:p14="http://schemas.microsoft.com/office/powerpoint/2010/main" val="9222813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0D2BC-C013-49C5-B773-15F9717C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BC31E-99EE-4D6F-9727-F4D5CC04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描写：一个瞬间，看见一个人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675EC-64A4-4152-8E14-72B0C10A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把“文化”放进人物、物件、动作和环境，不写成口号。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A47D0-A4CD-48AB-9F1F-FD709F45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A9FEC-DE1C-4D98-B93C-305E4878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一个人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92567-075B-44F0-9E61-5C69F14B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28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谁在做什么？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9F99E-79A8-4E01-B299-4CAF8D46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00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一个物件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E0355-0889-45DC-B343-6B13DC48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717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308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什么东西留下记忆？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69286-717B-4637-BC07-883B6B2D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00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一个场景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D4930-C21C-401A-AB7D-1C0AB894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717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068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时间、声音和光线怎样变化？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E19DE-33B0-4754-AEE8-E083A9CC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2C567-0685-4EFC-9529-05F280E7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任务：描写一位熟悉的人在一个具体场景中的样子，让读者从细节发现这个人与一种生活文化的联系。</a:t>
            </a:r>
          </a:p>
        </p:txBody>
      </p:sp>
    </p:spTree>
    <p:extLst>
      <p:ext uri="{BB962C8B-B14F-4D97-AF65-F5344CB8AC3E}">
        <p14:creationId xmlns:p14="http://schemas.microsoft.com/office/powerpoint/2010/main" val="4271098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404C9-38AA-4357-9EFB-DEA2BF62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8C10A-49C9-4AA9-944C-0F30DA1C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描写的同伴反馈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E49BB-9178-4F3A-BE9C-390B94A8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反馈要告诉作者：哪一处有效，下一步应该改哪里。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B24BE-C6D8-4969-B4E6-C351FBD3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DE70E-C495-43CE-AD9B-0C633D03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我看见了……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2B430-CC13-41A2-B976-193B3CBC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145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“……”这一个细节让我看见</a:t>
            </a:r>
          </a:p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人物、场景或关系。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DC4EC-B617-483D-86DD-1AF8081A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57375"/>
            <a:ext cx="0" cy="266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9B970-6E49-4AA8-A53D-D3C31BB9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我还想看见……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BD0FF-7C8B-49B0-B613-02860F57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146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如果补上“……”，</a:t>
            </a:r>
          </a:p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读者会更理解……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6FA1E-2443-4B7F-AA84-34F8CF0F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最后检查：删掉“文化”二字后，文章中的人物和场景仍然成立吗？</a:t>
            </a:r>
          </a:p>
        </p:txBody>
      </p:sp>
    </p:spTree>
    <p:extLst>
      <p:ext uri="{BB962C8B-B14F-4D97-AF65-F5344CB8AC3E}">
        <p14:creationId xmlns:p14="http://schemas.microsoft.com/office/powerpoint/2010/main" val="17804373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6259F-33C5-4481-BCD5-A6777CB7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B019A-7514-4D0F-9051-11E71243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阅读短答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317E3-7687-403D-BF64-3E8A641B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语言理解题通常要求理解、推断或分析表达效果。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E78C8-8E9D-4B67-B277-BEE85DEB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89B1A-E8AD-4E5F-B799-3281D554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38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理解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DA832-104B-404C-914F-BDA123BB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发生了什么？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人物怎样反应？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A43D3-B94D-470C-8E67-B24C87C4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38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推断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8083E-AB3A-4EF8-8CAF-70E676F4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19375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247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这句话暗示什么？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哪一个细节支持？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9E891-B66E-4D66-A8B2-72ABA7CA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8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C7458-7749-44D7-BDA2-26D4401A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19375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11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作者怎样写？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这给读者什么感受？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468DF-7CBF-4A6C-8BC5-B60F1B04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效果题的答案要有两部分：语言特征 + 对读者理解的影响。</a:t>
            </a:r>
          </a:p>
        </p:txBody>
      </p:sp>
    </p:spTree>
    <p:extLst>
      <p:ext uri="{BB962C8B-B14F-4D97-AF65-F5344CB8AC3E}">
        <p14:creationId xmlns:p14="http://schemas.microsoft.com/office/powerpoint/2010/main" val="5110711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715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1718d27bb4146"/>
          <a:srcRect xmlns:a="http://schemas.openxmlformats.org/drawingml/2006/main" l="19124" t="0" r="191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0"/>
            <a:ext cx="7524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4DD27-14E6-4B9A-88F4-279D8E2A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62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2E">
              <a:alpha val="9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F7DD8-A2D9-45AF-86AC-96E30B2D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课文二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97BCD-B231-4B0B-9913-3733A6AC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38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270"/>
          </a:bodyPr>
          <a:lstStyle xmlns:a="http://schemas.openxmlformats.org/drawingml/2006/main"/>
          <a:p xmlns:a="http://schemas.openxmlformats.org/drawingml/2006/main">
            <a:pPr>
              <a:buNone/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新加坡多种族</a:t>
            </a:r>
          </a:p>
          <a:p xmlns:a="http://schemas.openxmlformats.org/drawingml/2006/main">
            <a:pPr>
              <a:buNone/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政策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5D714-CD37-4673-B268-6E242EAC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defRPr>
            </a:pPr>
            <a:r>
              <a: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rPr>
              <a:t>指导写作：双文本整合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B1C6E-E6EB-477F-AA5B-05E3BBAA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用编号找证据，用段落完成论证。</a:t>
            </a:r>
          </a:p>
        </p:txBody>
      </p:sp>
    </p:spTree>
    <p:extLst>
      <p:ext uri="{BB962C8B-B14F-4D97-AF65-F5344CB8AC3E}">
        <p14:creationId xmlns:p14="http://schemas.microsoft.com/office/powerpoint/2010/main" val="15620880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D4B9B6-8730-4B3B-829F-AB1E25DB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B17FF-97B5-4EF3-9142-19CF35D2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两则短文，一个题目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B109C-8266-4097-A289-A2124095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短文一介绍政策设计；短文二呈现促进交流的社会实践。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A3FD6-7A25-4BF1-BF6C-96AC3CC0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4C52E-20CD-4EF1-A045-A56DC0BB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28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短文一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78826-3E49-4D4A-B0E3-08CDBEF0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342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政策与制度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CMIO 模式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语言、住房、融入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D83A7-77A8-4141-B279-9D921D49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57375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67C33-56F7-4B48-917F-07F4CFF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短文二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AAE75-79AD-4898-8E4F-C1988C81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3905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966"/>
          </a:bodyPr>
          <a:lstStyle xmlns:a="http://schemas.openxmlformats.org/drawingml/2006/main"/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社会实践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跨族群活动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公共假日、国民服役、种族和谐日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CD178-F208-410F-9132-41899FF3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先问：每一则短文在回答同一个问题时，能提供什么不同帮助？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B3852-7C0D-44A8-96AE-A857B778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E2518-CB13-49F9-89F7-2EDC8908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3EF7D-C59E-4485-AB29-D0C2211E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指导写作：从材料到有针对性的文章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D4EB80-C34F-4005-B1D8-40EFE2CA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两篇材料服务同一问题；答案必须回答题目指定的三个要点。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2B562-C967-4295-ABF2-EE4CD7EB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393536-AAA6-4783-868B-B2ECAAD5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4767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4D226E-45B8-4E62-B9BF-0D9E6C84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9826C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99826C"/>
                </a:solidFill>
                <a:latin typeface="STKaiti"/>
                <a:ea typeface="STKaiti"/>
                <a:cs typeface="STKaiti"/>
              </a:rPr>
              <a:t>材料输入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C61CD-B1FE-45BD-8A19-EBCC6A71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765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短文一</a:t>
            </a:r>
          </a:p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政策、制度与融入安排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1BE2E2-9E65-4E6C-9B9F-5494EC50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CMIO、双语、居住配额、</a:t>
            </a:r>
          </a:p>
          <a:p xmlns:a="http://schemas.openxmlformats.org/drawingml/2006/main">
            <a:pPr>
              <a:defRPr sz="135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融入与归化倡导员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1D9DB8-AC98-4B3E-8F3C-F7DCC4CE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815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C0"/>
          </a:solidFill>
          <a:ln xmlns:a="http://schemas.openxmlformats.org/drawingml/2006/main" w="0">
            <a:solidFill>
              <a:srgbClr val="D7CDC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96DEB2-EE04-49A6-B5B5-D02C67F5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720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4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短文二</a:t>
            </a:r>
          </a:p>
          <a:p xmlns:a="http://schemas.openxmlformats.org/drawingml/2006/main">
            <a:pPr>
              <a:defRPr sz="165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学校、社区与共同经历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BF3666-7232-4423-A1E1-632F982D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190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C0"/>
          </a:solidFill>
          <a:ln xmlns:a="http://schemas.openxmlformats.org/drawingml/2006/main" w="0">
            <a:solidFill>
              <a:srgbClr val="D7CDC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801CB7-4D5A-4C6C-BE99-839E7E15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7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文章产出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5803C2-8D68-49D4-BD22-DC65A8C3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8605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7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向指定读者写一篇</a:t>
            </a:r>
          </a:p>
          <a:p xmlns:a="http://schemas.openxmlformats.org/drawingml/2006/main">
            <a:pPr>
              <a:defRPr sz="187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7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论证／讨论性回应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A26AB4-BED9-4C5F-8573-B65F8BEC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9570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答全三个要点</a:t>
            </a:r>
          </a:p>
          <a:p xmlns:a="http://schemas.openxmlformats.org/drawingml/2006/main">
            <a:pPr>
              <a:defRPr sz="150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使用两篇材料</a:t>
            </a:r>
          </a:p>
          <a:p xmlns:a="http://schemas.openxmlformats.org/drawingml/2006/main">
            <a:pPr>
              <a:defRPr sz="150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250–350 字，以自己的话表达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E5F1C6-2A51-467B-B0AE-142E47CD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编号帮助你覆盖题目；它不是文章的最终结构。</a:t>
            </a:r>
          </a:p>
        </p:txBody>
      </p:sp>
    </p:spTree>
    <p:extLst>
      <p:ext uri="{BB962C8B-B14F-4D97-AF65-F5344CB8AC3E}">
        <p14:creationId xmlns:p14="http://schemas.microsoft.com/office/powerpoint/2010/main" val="13597725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98D005-9BBD-41C2-B083-2ABAC7C1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136CC-5214-467F-9F64-25B1A3C7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第一遍阅读：给信息分类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521D7-2FF1-4178-9216-14994590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不急着写答案，先分清事实、想法和意见。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E65F7-EF1E-47E1-A7A0-D7340AD0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9E9D5-6312-4F55-9299-20CB9254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37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事实信息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5817E-DEF6-4F6F-B456-57CADE8C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可核对的政策、做法、时间或活动。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8C4EB-83DF-4B76-B7DA-D3447676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52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37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想法信息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76101-D014-473C-9CE7-278820CC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作者怎样解释一项做法的意义。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D4C86-551B-4E30-BD7E-D3D42D42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52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37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意见信息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2120E-701D-4C5D-A01C-41385BB9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作者或材料希望读者接受的判断。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B5C25-974C-404F-9D24-CC320047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DD840-6360-4529-866D-B0FA505A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写在页边：这条信息将来可以回答题目中的哪一个要求？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72E7B-DFA1-49BD-8F97-F1463AA2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20E78-3F0A-45C3-8E89-8CC43D2F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590F5-87B2-4A7B-A8A6-522B3F30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先拆题：三个要点就是三项写作任务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F2B62B-CC44-40E6-B73D-AF6F432B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先圈身份、读者、目的，再给每一个内容要求编号。 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3DBDE-1B6A-4A0F-BF4F-34B4D2E5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12FCD1-56E3-40DB-9D8D-C70630BF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1043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49286F-4302-4E87-A205-9E7B7E6E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3360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校报正在讨论：多元社会如何形成真正的归属感？请根据两则短文，给同学写一篇文章。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BCAC48-B214-4AFD-9C1F-AAC7B820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70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F84419-E364-4726-8020-4D81D23B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21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B8F121-FD35-4838-A93D-0183B873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385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说明政府怎样维护不同族群的平等地位与文化特点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EACF91-741D-4989-82CF-0422796A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70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EC6266-EF87-4820-839B-9F312C77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21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C5063A-D875-4250-B793-87AA5F13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3385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说明学校、社区等怎样创造跨族群交流的机会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5E5A94-C9E0-45F6-B0C8-D878B805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70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9"/>
          </a:solidFill>
          <a:ln xmlns:a="http://schemas.openxmlformats.org/drawingml/2006/main" w="0">
            <a:solidFill>
              <a:srgbClr val="E7EEE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361B8E-19FC-4D69-AC0F-AA215C78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2100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12A904-B940-40E5-8CC5-C6FC72AC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292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结合两则短文，评价制度安排和日常互动怎样共同促进认同</a:t>
            </a:r>
          </a:p>
        </p:txBody>
      </p:sp>
    </p:spTree>
    <p:extLst>
      <p:ext uri="{BB962C8B-B14F-4D97-AF65-F5344CB8AC3E}">
        <p14:creationId xmlns:p14="http://schemas.microsoft.com/office/powerpoint/2010/main" val="16561471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022A6-5454-4D91-90AD-54ED6484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ED9ED-7FAF-4292-87C9-6136CB21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从材料到问题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F47E5-31AA-44C9-A4E8-DE571BAD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政策怎样回应身份认同、接触机会和融入社会的需要？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A25DD-198B-407E-87BC-F8223C0B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9E4D8-434A-4A49-B6A7-820D9513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家庭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DDB22-4E49-4E09-B143-5C012824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95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希望保留什么？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担心什么？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9C3EA-A5B6-4A66-83E7-B9FE2F40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19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学校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C4E47-7B9E-476E-80A0-C9A086E9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9080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38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怎样创造交流机会？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哪一种活动最有用？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84C5B-0DDC-4FFE-9EEF-DF6EEA32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19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社区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7943B-7210-40B9-A47E-D58CAA18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9080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38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什么让人愿意参与？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谁可能被遗漏？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F0EAC-3366-4289-9A0F-C10440FF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19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新移民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510FF-06A7-4D15-A4D2-35ED7601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90800"/>
            <a:ext cx="1666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最需要哪一种支持？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D0856-1A18-4671-B239-943A5AA9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每一组只能用短文一、二中的两项信息，提出一项具体建议。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28D5D-68AB-4BA1-BB8E-14A00DDA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C54B4-BD37-4D44-9864-7FA52177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FDF10-BAE7-4E35-B9DC-2B5AE411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证据编号法：每个标签都说明“答什么、来自哪里”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461F60-1043-43FA-A395-B1852841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格式：题目要点＋材料来源＋该要点下的序号。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FBE17-2359-476B-A7D7-99261101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82703A-BDEA-436C-A29E-BEF9602E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43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3225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① A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F176A2-AB81-45B3-ABEF-468D1A2A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955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①  对应题目的第一个要点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BF2AA5-4263-48CF-BC98-5EB04686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62225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A  来自短文一；B 来自短文二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F6122F-4827-4043-BAF8-92BFE835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2895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1  同一要点下的第一项可用信息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9AB3AA-1CFF-4B73-A2F3-EF87F7D8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C0"/>
          </a:solidFill>
          <a:ln xmlns:a="http://schemas.openxmlformats.org/drawingml/2006/main" w="0">
            <a:solidFill>
              <a:srgbClr val="D7CDC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50E94C-A651-496F-B5F0-FBCE8C20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在原文边上这样标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01F6BC-367E-4127-A722-7DE169FE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8429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7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①A1  CMIO：不同族群享有平等地位</a:t>
            </a:r>
          </a:p>
          <a:p xmlns:a="http://schemas.openxmlformats.org/drawingml/2006/main">
            <a:pPr>
              <a:defRPr sz="157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7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①A2  双语教育保留母语与族群语言</a:t>
            </a:r>
          </a:p>
          <a:p xmlns:a="http://schemas.openxmlformats.org/drawingml/2006/main">
            <a:pPr>
              <a:defRPr sz="157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7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②B1  跨族群课外活动创造交流机会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DEF740-9B3F-4170-BCC4-4C397F78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86275"/>
            <a:ext cx="1666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不要抄整句。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圈关键词，再写“它说明什么”。</a:t>
            </a:r>
          </a:p>
        </p:txBody>
      </p:sp>
    </p:spTree>
    <p:extLst>
      <p:ext uri="{BB962C8B-B14F-4D97-AF65-F5344CB8AC3E}">
        <p14:creationId xmlns:p14="http://schemas.microsoft.com/office/powerpoint/2010/main" val="7028375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E7FA6-4B02-42CA-9CE4-D18DD165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E0E07-F057-47F2-B1C5-A3D6C18A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两则短文的比较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28D59-7E83-4EED-8522-4D6AC859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先分别找信息，再判断共通与差异。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58261-793F-43E5-A1C6-3655193C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742950" y="1952625"/>
          <a:ext xmlns:a="http://schemas.openxmlformats.org/drawingml/2006/main" cx="106680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56000"/>
                <a:gridCol w="3556000"/>
                <a:gridCol w="35560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材料问题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短文一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短文二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政策或做法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页码／关键词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页码／关键词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回应的问题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页码／关键词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页码／关键词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我怎样使用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比较／举例／评价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比较／举例／评价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1FDBB-D3D3-4412-B5C6-1D77CBBE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115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你的每一格都要能够回到原文。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F63265-52F4-4C0C-8ADD-9DEDDB9E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E8CA6-8622-4701-8D6D-6B0D7145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830E8-671D-404E-8E01-25E31849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短文一 A：政策怎样为认同提供基础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77000-E5F3-4EB8-8CE1-3F997E40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先把短文一的材料放进最合适的题目要点，不求每一句都编号。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0DEA3-701C-4EF7-B548-E1C966AB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7C0AF-D916-4DBF-B1C4-9A85B5B7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3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1AE69B-FC4E-49ED-B23D-88923FB9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977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编号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F98CC-7D4C-4EDB-BF85-4CE70EE0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09775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材料关键词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109BB-8BBC-4EB3-85B7-C84B8324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97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它回答什么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15C011-5CA9-4613-B36C-AB9BA621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518420-5593-474F-88CB-DC7FABE6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①A1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59FF48-0DE6-4B5D-977F-27FC66A7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CMIO 模式让华人、马来人、印度人与其他族群享有平等地位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1854A1-0B03-4FE6-82F4-49603414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维护平等地位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B74A42-4E0E-4F96-893B-0C704FE1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3D61AA-B3C8-45C7-BFF2-4721286D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8612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①A2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82B361-09A6-4D3A-A67E-B7828FFC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385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双语教育中的母语学习保留各族群的语言特点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41B41D-857F-4BE0-8243-7A4CDB2D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861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保留文化特点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CF599D-7BC1-4773-A7BA-CFB35AE5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1CC220-FE79-4EF7-9393-6FF62804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②A1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B4F3CE-C934-4F50-BF5B-E6D26DDC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5287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种族配额制与公共场所让不同族群有接触机会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B0407C-ABCD-4EEB-8C4B-69AA93FA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创造交流条件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06A96C-682E-4593-896F-3739993A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553531-607F-4F04-8236-3EA79520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②A2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62CC69-6DED-4352-90EC-780CCD89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6725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融入与归化倡导员协助新移民参与社区生活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7754D1-326C-4DDF-916F-58F765DB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148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帮助融入社会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9CD5E0-4550-46FF-B8F2-A22AF369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学生核对：我标的不是“有趣的信息”，而是能直接回应题目的一点。</a:t>
            </a:r>
          </a:p>
        </p:txBody>
      </p:sp>
    </p:spTree>
    <p:extLst>
      <p:ext uri="{BB962C8B-B14F-4D97-AF65-F5344CB8AC3E}">
        <p14:creationId xmlns:p14="http://schemas.microsoft.com/office/powerpoint/2010/main" val="10828080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4D528-B740-46B6-905C-86B97B65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FA530-188E-423D-845E-107001BE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回应概括性写作任务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BC691-2CCC-45E3-90F4-364C223D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以学生代表身份，为“多元文化周”开幕活动写一篇发言。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583AF-220A-494B-9E74-5E398B44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92A1D-C142-44CE-815E-7423882C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你的读者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E44F4-2269-4A2E-BF97-F465F5AF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74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同学、家长和社区成员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A7311-1F6B-4238-8D06-648E7A6B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24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你的目的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D6447-AABD-4650-92F4-5383B100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3365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12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说明一项成效、一项挑战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并提出一项有根据的建议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52D25-A6E8-4320-B311-54B12380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24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材料要求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D800A-0D7F-497F-B988-C71C4979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33650"/>
            <a:ext cx="223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874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两则短文都要发挥作用。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用自己的话表达。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2C6F3-0D2F-46FC-8458-30832125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B637D-3F7E-46D4-9AE7-CBBCEA46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18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交稿前问自己：我的每一段都在回答任务吗？我有没有把材料改写成自己的表达？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5F13DD-6BDD-4A6D-99B4-8E7E7F99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4CE04-D287-4662-8CCF-4AD3D3B5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63F7E-F34D-4A35-AD34-AD5DE2C7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短文二 B：共同经历怎样把“接触”变成理解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C5D959-8EC2-4D4C-8792-54B14275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短文二主要帮助回答第②与第③点。 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DC0525-82F6-4661-A090-3CA0794A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1B6BB1-6954-4F09-B72B-7879E722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3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737DDE-21B1-4014-8CC0-3DE16491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977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编号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C20426-0DE5-476F-9D6E-FC711F23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09775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材料关键词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C78E93-F9DB-421B-A599-EF4D04A1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97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它回答什么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C62306-9AE2-4DA6-9D79-80DEE551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A36000-FF46-443F-AB93-02D0FD3B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②B1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6565E6-E6BC-4ABF-961D-BEAECA90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跨越种族的课外活动让学生一起参与、消磨课余时间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3EDBDA-FF5F-4458-94B1-01B84BB7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学校中的交流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0BEA1A-43C3-4805-B555-8AFC5E8E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F97555-A20F-4647-A818-4D5FE299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8612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②B2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9B9E7E-8BAA-46CB-BD8A-94C90113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385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种族和谐日、校园庆祝与社区文化周让居民共同参与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E376DB-50E7-4258-8988-73E9C898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861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社区中的交流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85E6B2-9873-471D-BEDD-AE09DD9C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F3AF37-8594-4DF1-9D27-FA43C815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②B3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57F3F7-E00F-4490-A2EA-8CF12FE4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5287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国民服役让不同背景的人共同维护国家安全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9E039F-F015-4DBE-922C-E8211956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共同经历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2E4461-261D-45F6-96BB-0CADF001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69150F-6A13-4705-B07A-89611D12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③B1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57E436-C663-495C-A0B6-F39FA3B6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6725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共同经历使人学习相互理解与尊重，体会社会多元性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F10576-7CCA-4D3F-AEEF-7410B7C7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148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认同如何形成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B52768-F64C-45BB-9FD5-06F12EE6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一个信息先归入最主要的要点；写作时可以在另一段把它用于联结。</a:t>
            </a:r>
          </a:p>
        </p:txBody>
      </p:sp>
    </p:spTree>
    <p:extLst>
      <p:ext uri="{BB962C8B-B14F-4D97-AF65-F5344CB8AC3E}">
        <p14:creationId xmlns:p14="http://schemas.microsoft.com/office/powerpoint/2010/main" val="53818459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1445D-3253-4723-AE26-22F93DE5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DFFDD-A68B-4F7D-879B-383888CE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写前计划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3549D-0A19-4852-B177-0BC6B28D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写之前决定每一则材料在答案中的工作。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00688-E48D-41DD-856E-9ED08DB7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17C6D-A7D3-4C44-8634-08179312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24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开头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74562-E465-44E9-9850-582280A2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14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身份、受众、我要回应的问题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19C1E-D8C1-4620-95DF-ACA98EE2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24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第一段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E5239-7660-4951-9040-5304F330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146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一项有用的做法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来自哪则材料？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D9AFD-F667-42FA-B533-5B38C346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24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第二段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745A3-88B1-430E-AD59-8193EA32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一个需要面对的问题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如何回应？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905A8-E999-44CE-B805-8BEC3D5E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924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结尾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C6FAA-0863-4525-82F8-9FB14E40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514600"/>
            <a:ext cx="119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232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具体建议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7465F-F525-4D6A-8750-9B6DDA9F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不要为每一则短文各写一段。围绕问题组织信息，才能真正整合材料。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10E7B-45AA-4DF4-9EDA-1828676F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D81B02-8D74-4573-A4AC-6767F6B6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87F3A-2B9C-46C3-B0EA-8EE19A9D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第三个要点：把两篇材料放进同一个判断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6E20B4-63DC-402E-8C24-64F006D9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整合不是“短文一说……短文二说……”，而是说明两者怎样共同回答问题。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8A6B5-98BB-4A1E-B8F3-26B968E5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FDE4FD-5DFD-4A05-B818-DC0C6518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191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B2BBAC-F85C-4B37-A0EB-C5260793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47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短文一提供条件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0133EA-535D-4357-B7FE-0639B740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336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平等地位、文化空间、</a:t>
            </a:r>
          </a:p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接触机会与融入安排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4ECA23-A4C8-4538-93EE-D303C5C0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00250"/>
            <a:ext cx="4191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9"/>
          </a:solidFill>
          <a:ln xmlns:a="http://schemas.openxmlformats.org/drawingml/2006/main" w="0">
            <a:solidFill>
              <a:srgbClr val="E7EEE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0EDE82-E2AF-4E00-88C7-9F067AD7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47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短文二呈现过程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E66FED-4365-4FC8-A40A-4BB57FDB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一起学习、参与活动、</a:t>
            </a:r>
          </a:p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承担共同责任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3DFC02-B889-477D-ADEB-04119478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33625"/>
            <a:ext cx="1371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6CF286-38FD-4252-8990-EC5EBE9B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66975"/>
            <a:ext cx="1371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875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共同</a:t>
            </a:r>
          </a:p>
          <a:p xmlns:a="http://schemas.openxmlformats.org/drawingml/2006/main">
            <a:pPr>
              <a:defRPr sz="1875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875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认同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2651B2-3965-4D56-882E-6D753DC2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C0"/>
          </a:solidFill>
          <a:ln xmlns:a="http://schemas.openxmlformats.org/drawingml/2006/main" w="0">
            <a:solidFill>
              <a:srgbClr val="D7CDC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49434D-5478-4181-91AD-83C6EE04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005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把编号改写成判断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F0A6B9-0707-4131-8A16-8DF6C6E9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制度安排让不同群体有平等地位和相遇的机会；学校、社区与国民服役中的共同经历，</a:t>
            </a:r>
          </a:p>
          <a:p xmlns:a="http://schemas.openxmlformats.org/drawingml/2006/main">
            <a:pPr>
              <a:defRPr sz="165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则把“有机会接触”转化为理解、尊重与较稳定的归属感。</a:t>
            </a:r>
          </a:p>
        </p:txBody>
      </p:sp>
    </p:spTree>
    <p:extLst>
      <p:ext uri="{BB962C8B-B14F-4D97-AF65-F5344CB8AC3E}">
        <p14:creationId xmlns:p14="http://schemas.microsoft.com/office/powerpoint/2010/main" val="12893008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2283D-779F-425D-A35E-0455EAC2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121B5-D1DB-48E3-A0A5-A67670CA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回应概括性写作反馈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E37CD-F64D-4F92-9146-20C021E3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批改时看材料怎样被使用，而不只看材料出现了几次。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A4990-4634-4E1A-90A6-BC5D2C40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88B81-0486-44D0-B5AD-C7569412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59C40-4718-4DE6-9D0C-013E9552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33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598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我选的信息是否服务题目？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75C7E-CE5F-4CDE-BCED-A0F77268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整合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A9C5A-5E55-4804-8E21-1413C58A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7175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598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两则材料是否在同一回答中发生关系？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FA485-19A6-451A-A2ED-DDE3B293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改写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3150D-446B-4815-89F9-5F6CD72C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2714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598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我是否用自己的语言表达材料？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85F2B-38DB-4EC7-8AAE-7DE41A96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002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语体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1B5D3F-C9D4-430E-8F98-B10AA990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71750"/>
            <a:ext cx="1190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219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读者能听出我是向谁说话吗？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723F7-B7AF-4B67-83A1-50C7CBA3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一个优点：__________     下一次我先做到：__________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7C9E9E-44C3-4E7F-BB0E-3C0F8D57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17185-9535-4FC0-B2EF-7D94F849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F3736-C96B-470E-B95B-E46CDD20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从编号到限时写作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58B674-1C0F-4C94-8B10-586C48FD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按题目要点组织文章；提交前分别检查“内容”与“表达”。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6F2F0E-A310-42DD-B295-DEA533E4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C7BB7A-8273-41AC-8E85-BBBF4F83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B3C3FF-F01F-47FA-9880-F3CEF022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开头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F11844-19EA-4D63-BD9C-37FB9D88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约30字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说明议题与对象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DA86D0-00EB-4284-B807-48401590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C82B65-9861-4785-9A41-70D59524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48F350-CBFB-4FFB-81CE-6A7872DA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098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约70字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选①A1、①A2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8EEEB0-D907-4573-8C2B-3BC3C8CE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FBFFDD-FE27-41FA-B24F-8C102B71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313B37-6B5B-40D4-B8D2-BDED975F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098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约70字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整合②A、②B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8D3CE9-E58B-44F7-99C9-455FAEE1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9"/>
          </a:solidFill>
          <a:ln xmlns:a="http://schemas.openxmlformats.org/drawingml/2006/main" w="0">
            <a:solidFill>
              <a:srgbClr val="E7EEE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71C7BB-D296-47AD-829F-A97F5E26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CF0997-5F94-49A9-828F-A11C34C7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098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约90字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作出整合判断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02A873-27D7-431C-8DD6-C6B0C161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F24FFA-7331-41F4-9733-0362E109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结尾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2E99C9-B32D-4189-BC8C-EB3F7535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098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约30字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回应核心问题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124A71-C582-46B8-ABD7-22CEBA48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4762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C2880D-83F4-41DF-BF48-5A9BE8DF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内容 15 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21652B-8511-4E57-9916-4B1B1C91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371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三个要点都回应了吗？</a:t>
            </a:r>
          </a:p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两则短文都发挥作用了吗？</a:t>
            </a:r>
          </a:p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我的判断能回到材料吗？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18294F-DEFA-4E35-B530-FF120DB5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05250"/>
            <a:ext cx="4972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9"/>
          </a:solidFill>
          <a:ln xmlns:a="http://schemas.openxmlformats.org/drawingml/2006/main" w="0">
            <a:solidFill>
              <a:srgbClr val="E7EEE9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C7CB4B-0086-46E0-A866-6DE89733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33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写作 10 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3C1F2C-0F69-41C8-BFA4-DA7D3DE5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52950"/>
            <a:ext cx="3905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语气适合校报读者吗？</a:t>
            </a:r>
          </a:p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我用自己的话组织了吗？</a:t>
            </a:r>
          </a:p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250–350 字，字词与标点准确吗？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D67D1B-1425-4753-ADC2-66180DD3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反馈只留一个内容目标和一个写作目标，例如：③段要真正整合两篇材料。</a:t>
            </a:r>
          </a:p>
        </p:txBody>
      </p:sp>
    </p:spTree>
    <p:extLst>
      <p:ext uri="{BB962C8B-B14F-4D97-AF65-F5344CB8AC3E}">
        <p14:creationId xmlns:p14="http://schemas.microsoft.com/office/powerpoint/2010/main" val="94416912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715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C1C37-CE46-42B9-A400-4DF6728C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89198-81B0-4617-9A9D-21BE4107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课文三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5050C-32A1-446E-932A-239824C6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38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270"/>
          </a:bodyPr>
          <a:lstStyle xmlns:a="http://schemas.openxmlformats.org/drawingml/2006/main"/>
          <a:p xmlns:a="http://schemas.openxmlformats.org/drawingml/2006/main">
            <a:pPr>
              <a:buNone/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文化入侵故宫</a:t>
            </a:r>
          </a:p>
          <a:p xmlns:a="http://schemas.openxmlformats.org/drawingml/2006/main">
            <a:pPr>
              <a:buNone/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星巴克的伪问题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A1E62-299D-44DB-94EC-D9A29285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defRPr>
            </a:pPr>
            <a:r>
              <a: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rPr>
              <a:t>议论文阅读、论证与评价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B27D1-E614-4065-8879-62A04ECF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4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阅读要落到证据；写作要回应目的和受众。</a:t>
            </a:r>
          </a:p>
        </p:txBody>
      </p:sp>
    </p:spTree>
    <p:extLst>
      <p:ext uri="{BB962C8B-B14F-4D97-AF65-F5344CB8AC3E}">
        <p14:creationId xmlns:p14="http://schemas.microsoft.com/office/powerpoint/2010/main" val="184778347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168F5-594A-45C0-BB29-CF239925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214C6-0601-4325-B7EA-8BAF2872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争议的表面与核心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7D97F-17E0-44D0-8243-82DB5AE2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一间星巴克进驻故宫，为什么会引起“文化入侵”的讨论？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48537-8963-4F15-A217-D00E6C6D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7F6DD-654A-4520-9F71-505C5E54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957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9525">
            <a:solidFill>
              <a:srgbClr val="9D8A7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DACDD-FDCD-4141-8EBE-25383234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>
              <a:buNone/>
              <a:defRPr sz="20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0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插图位置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58C90-8551-4901-81CA-85FDD47C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14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D8A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1270D-B399-479A-A99E-32D5FF4F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34480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建议搜寻：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故宫外景与现代咖啡店招牌的对照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选择版权清晰、没有人物特写的图片。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B7869-39F6-4E26-A522-D5797BC3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526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381"/>
          </a:bodyPr>
          <a:lstStyle xmlns:a="http://schemas.openxmlformats.org/drawingml/2006/main"/>
          <a:p xmlns:a="http://schemas.openxmlformats.org/drawingml/2006/main">
            <a:pPr>
              <a:buNone/>
              <a:defRPr sz="2625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625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标题中的问题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F4C15-6213-471C-A76C-5C60028E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1937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46"/>
          </a:bodyPr>
          <a:lstStyle xmlns:a="http://schemas.openxmlformats.org/drawingml/2006/main"/>
          <a:p xmlns:a="http://schemas.openxmlformats.org/drawingml/2006/main">
            <a:pPr>
              <a:buNone/>
              <a:defRPr sz="31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1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“星巴克在故宫”</a:t>
            </a:r>
          </a:p>
          <a:p xmlns:a="http://schemas.openxmlformats.org/drawingml/2006/main">
            <a:pPr>
              <a:buNone/>
              <a:defRPr sz="31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1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是不是文化入侵？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88B1F-C3A9-453C-9E7D-DB76366E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957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5"/>
          </a:bodyPr>
          <a:lstStyle xmlns:a="http://schemas.openxmlformats.org/drawingml/2006/main"/>
          <a:p xmlns:a="http://schemas.openxmlformats.org/drawingml/2006/main">
            <a:pPr>
              <a:buNone/>
              <a:defRPr sz="2475" b="0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0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阅读后再问：</a:t>
            </a:r>
          </a:p>
          <a:p xmlns:a="http://schemas.openxmlformats.org/drawingml/2006/main">
            <a:pPr>
              <a:buNone/>
              <a:defRPr sz="2475" b="0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0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作者认为真正需要讨论的是什么？</a:t>
            </a:r>
          </a:p>
        </p:txBody>
      </p:sp>
    </p:spTree>
    <p:extLst>
      <p:ext uri="{BB962C8B-B14F-4D97-AF65-F5344CB8AC3E}">
        <p14:creationId xmlns:p14="http://schemas.microsoft.com/office/powerpoint/2010/main" val="203344265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040F1-3E61-4DE3-AD32-BA1DC7B0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2ECDC-D36A-4A71-91A0-9AB62CD9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阅读路线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69EC4-1187-4D7D-B5C7-33523F8B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先追踪作者的思路，再评价他的结论。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43928-F628-458A-B5C9-021AB4CC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52A16-E6B3-433B-9179-858A7C83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第 1 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2B954-85B1-417B-B667-191A2B17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初进故宫的错愕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8760D-586F-4B5A-B471-258FD05F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52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第 3 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DEBBA-C3BA-4EA1-9883-2CE25C66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559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什么让作者“又难堪又心痛”？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7539F-081F-4842-9D25-B6D12495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第 4 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B8FC8-C2D4-4A71-95AF-26B3A90C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45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公众争论了什么？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67E4C-C0BF-4923-A345-4EE5FCC2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526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第 5 至 8 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AFE5C-11AC-4810-BDFB-D1C96FA3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7175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559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作者把焦点放在哪里？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BA1B3-29C4-453A-A7ED-1C0E7055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小组汇报句：这一部分的事实是……；作者的判断是……。</a:t>
            </a:r>
          </a:p>
        </p:txBody>
      </p:sp>
    </p:spTree>
    <p:extLst>
      <p:ext uri="{BB962C8B-B14F-4D97-AF65-F5344CB8AC3E}">
        <p14:creationId xmlns:p14="http://schemas.microsoft.com/office/powerpoint/2010/main" val="17148447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0E848-69B2-4BD3-8482-33A404D8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5AA53-3924-4BF6-ACAE-D99946A4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把问题读清楚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4014C-49C9-4E48-829F-BA72E2C9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“伪问题”不是否认争议，而是把注意力从口号转向场地管理与文化形象。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95560-40FF-4E58-B439-3D422BA2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1E438-9DD6-4248-AE35-F5641D49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公众最容易争论的事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A0CD2-412D-46FF-9C0E-A46CB37C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1"/>
          </a:bodyPr>
          <a:lstStyle xmlns:a="http://schemas.openxmlformats.org/drawingml/2006/main"/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星巴克该不该离开故宫？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4C369-67B9-4AA2-BFB8-6B66FD08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1F510-2095-42BA-AD5D-1D92BF2F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526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作者真正追问的事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52DA8-C27F-481D-8923-536C4A49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4048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941"/>
          </a:bodyPr>
          <a:lstStyle xmlns:a="http://schemas.openxmlformats.org/drawingml/2006/main"/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故宫要留下怎样的整体形象？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管理者怎样安排空间、商店与游客体验？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10150-898B-4FC1-996E-F41D5BE3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回答必须同时写出“表面争议”和“作者的核心问题”。</a:t>
            </a:r>
          </a:p>
        </p:txBody>
      </p:sp>
    </p:spTree>
    <p:extLst>
      <p:ext uri="{BB962C8B-B14F-4D97-AF65-F5344CB8AC3E}">
        <p14:creationId xmlns:p14="http://schemas.microsoft.com/office/powerpoint/2010/main" val="102564930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FAE2B-7B74-4D35-B8B4-84F6F2F6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B83CE-6119-416E-AE64-D66C6B5D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论点、证据、推理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75F79-4390-4BF3-9F77-4C8D3E55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评价议论文时，先看作者怎样把读者带到结论。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34A7E-9C42-42C2-9043-18BAB908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74CC5-6EEA-4B23-BAF2-7F93276D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论点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F035D-B4C4-4129-A881-1D620C85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263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作者希望读者接受什么？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62BFF-435B-4F1E-A79F-360F1204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337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758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3FF79-500D-4DFB-AD88-D04EE125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526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01803-399D-4D22-A56E-B52725BF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19375"/>
            <a:ext cx="2905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495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他举了什么事例、对比或现象？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59CD7-56FB-4936-ADE6-1D9B5E31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337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758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1F8CF-918D-486D-9688-F55B5086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526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推理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90D06-E9E7-46D4-93F1-797BA1EC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19375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495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证据怎样支持结论？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62367-7E18-4501-977E-B098FA22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评价句：这个事例能说明……，但还不能完全说明……，因为……。</a:t>
            </a:r>
          </a:p>
        </p:txBody>
      </p:sp>
    </p:spTree>
    <p:extLst>
      <p:ext uri="{BB962C8B-B14F-4D97-AF65-F5344CB8AC3E}">
        <p14:creationId xmlns:p14="http://schemas.microsoft.com/office/powerpoint/2010/main" val="135659131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5A7EC-AF52-4635-B234-2194442C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CCAB1-A1D5-4095-8EA1-E6F6A943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论证手法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A0468-ED03-48C2-AC72-7424B1D3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作者怎样安排事例、对比和提问，来增强自己的立场？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6FD6C-5E6D-4DD0-BB01-150C25B1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381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19500"/>
                <a:gridCol w="3619500"/>
                <a:gridCol w="3619500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手法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课文中可找的地方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可能的作用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举例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故宫中的具体景象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让问题可见、可感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对比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不同场地与不同商业安排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突出场地定位的差异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反问或追问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作者连续提出的问题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推动读者重新思考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类比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以其他地点说明管理逻辑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让抽象判断更容易理解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6094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7ECC2-CCF5-4DD4-92A0-01C5C106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9F5BC-2BC1-42FB-984D-9084C67F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小组讨论：文化空间与商业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D1F25-27C3-40F1-87C4-8AF41792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传统文化景点应该完全拒绝商业活动吗？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B974E-CC54-4818-94FC-F3A3BC15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CCC32-A6DC-45E2-B7A5-3507F9B4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可以完全拒绝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D2E44-9973-478D-93B8-6170EB01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098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重点保护神圣性与整体形象。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1DDC6-263C-4EF8-A6FA-97522368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95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可以有条件允许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F5508-243D-44B1-B955-21944C50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09875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看场地定位、品牌选择和空间设计。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B3B9D-536F-4F66-AF87-920623AE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还需要更多资料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188D4-17E5-42BC-88D6-37976B7C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098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375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先了解管理目标、游客需求与当地居民看法。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27482-613B-4CA0-A949-6830E253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讨论规则：不同意观点，可以；忽略证据，不可以。</a:t>
            </a:r>
          </a:p>
        </p:txBody>
      </p:sp>
    </p:spTree>
    <p:extLst>
      <p:ext uri="{BB962C8B-B14F-4D97-AF65-F5344CB8AC3E}">
        <p14:creationId xmlns:p14="http://schemas.microsoft.com/office/powerpoint/2010/main" val="148290821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048DF-075A-4C3B-98CA-91CCB23C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A245D-CF26-4ED7-A73A-8B74DD5A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从议论文到自己的写作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BEC26-4CDA-41AB-8A4A-AFF672FE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把一篇时事评论的阅读方法，迁移到自己的论证或讨论文。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5279A-8287-473B-8E90-FCDF8108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20B23-5BF5-4C7C-A21E-8ACD408F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题目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01DDE-F581-4602-97BE-3E614050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036"/>
          </a:bodyPr>
          <a:lstStyle xmlns:a="http://schemas.openxmlformats.org/drawingml/2006/main"/>
          <a:p xmlns:a="http://schemas.openxmlformats.org/drawingml/2006/main">
            <a:pPr>
              <a:buNone/>
              <a:defRPr sz="27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传统文化受到全球化影响，是难以避免的问题。</a:t>
            </a:r>
          </a:p>
          <a:p xmlns:a="http://schemas.openxmlformats.org/drawingml/2006/main">
            <a:pPr>
              <a:buNone/>
              <a:defRPr sz="27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我们应该怎样保护传统文化？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D9781-3957-47F1-9098-433C5CAC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3DFE8-086A-4839-9673-13E6C2C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>
              <a:buNone/>
              <a:def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我的文体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A5891-EEA7-42B1-AA52-DE435323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591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议论 / 讨论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30EFC-6374-4107-BA3B-079E9007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291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>
              <a:buNone/>
              <a:def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我的判断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57F74-AF0C-4F6D-9B58-3A9F07BA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953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591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________________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EE288-85D5-4822-8605-14D300AE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29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>
              <a:buNone/>
              <a:def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我要用的例子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F2D1C-6D45-48EA-8A10-75B7FF26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53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591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14055094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FA9BA-4A95-49EE-BAC0-DB72B051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A846D-A2F4-4F92-88B4-A156253A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本学期的作品档案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5DE23-B8C6-41D6-B767-6487BF6D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每一次完成后，只记录一个稳定优势和一个下一步目标。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DE5C2-9401-4CAF-B0F0-0F2560DF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33C7F-9E75-4D11-99E9-35C0237D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阅读证据表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40AB1-E948-4E2D-A219-2787DE6D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我能用哪一处细节支持推断？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A8DF7-A45F-479A-9F6B-2F200668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指导写作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23567-54DF-4B68-8E0B-AA15AC58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我怎样用③段整合两则材料？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09449-78A9-432B-8E67-AFA08C2F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描写或议论文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66B45-75DF-4D5B-96A6-DCD856CD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我下一次优先改善什么？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6EAFF-F8C2-40F5-88AD-F1EFD626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2C533-B525-40D5-AC53-8D8CB00E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>
              <a:buNone/>
              <a:defRPr sz="240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40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下一步目标句：下一次写作前，我先……。</a:t>
            </a:r>
          </a:p>
        </p:txBody>
      </p:sp>
    </p:spTree>
    <p:extLst>
      <p:ext uri="{BB962C8B-B14F-4D97-AF65-F5344CB8AC3E}">
        <p14:creationId xmlns:p14="http://schemas.microsoft.com/office/powerpoint/2010/main" val="79747696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581BB-AD03-483D-9147-6631125D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E2005-5DE6-4B6B-8C8C-67B6A168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教师使用提示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E4211-48A8-4156-AA94-27C766F7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这套投影片按课文与技能重新排序，教材文本仍以学校版本为准。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484C1-B71F-40BE-AF06-2518FF04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8E994-894B-4EC3-A955-408F1640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使用顺序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81ABF-ED52-4124-8BAD-A3D005F7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476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6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《假黎婆》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回应概括性写作：新加坡多种族政策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《文化入侵故宫星巴克的伪问题》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EC233-5096-4D06-9B83-1BFF0DFD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57375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F578E-90C9-462A-80CC-1B42D693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课堂原则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9ED7E-83AD-45F2-B898-EFD0C59B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71750"/>
            <a:ext cx="3381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995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先独立思考，再讨论。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答案必须回到材料。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反馈只给一个优点和一个下一步。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5EF15-EC90-44C4-BB6B-932EBA5A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862"/>
          </a:bodyPr>
          <a:lstStyle xmlns:a="http://schemas.openxmlformats.org/drawingml/2006/main"/>
          <a:p xmlns:a="http://schemas.openxmlformats.org/drawingml/2006/main">
            <a:pPr>
              <a:buNone/>
              <a:defRPr sz="217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17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中文文字均设为 STKaiti（楷体）。</a:t>
            </a:r>
          </a:p>
        </p:txBody>
      </p:sp>
    </p:spTree>
    <p:extLst>
      <p:ext uri="{BB962C8B-B14F-4D97-AF65-F5344CB8AC3E}">
        <p14:creationId xmlns:p14="http://schemas.microsoft.com/office/powerpoint/2010/main" val="15340342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2026-09-24T04:50:10.5820000Z</dcterms:created>
  <dcterms:modified xsi:type="dcterms:W3CDTF">2026-09-24T04:50:10.5820000Z</dcterms:modified>
</coreProperties>
</file>